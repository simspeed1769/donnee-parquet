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1533" r:id="rId5"/>
    <p:sldId id="11534" r:id="rId9"/>
    <p:sldId id="11535" r:id="rId8"/>
    <p:sldId id="11536" r:id="rId7"/>
    <p:sldId id="11537" r:id="rId6"/>
    <p:sldId id="11538" r:id="rId17"/>
    <p:sldId id="11539" r:id="rId18"/>
    <p:sldId id="11540" r:id="rId19"/>
    <p:sldId id="11541" r:id="rId20"/>
    <p:sldId id="11530" r:id="rId10"/>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4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1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8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2023</c:v>
                </c:pt>
              </c:strCache>
            </c:strRef>
          </c:tx>
          <c:spPr>
            <a:solidFill>
              <a:srgbClr val="A5B6C5"/>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8.2</c:v>
                </c:pt>
                <c:pt idx="1">
                  <c:v>13.7</c:v>
                </c:pt>
                <c:pt idx="2">
                  <c:v>15.9</c:v>
                </c:pt>
                <c:pt idx="3">
                  <c:v>29.6</c:v>
                </c:pt>
                <c:pt idx="4">
                  <c:v>59.4</c:v>
                </c:pt>
                <c:pt idx="5">
                  <c:v>92.1</c:v>
                </c:pt>
                <c:pt idx="6">
                  <c:v>141.0</c:v>
                </c:pt>
                <c:pt idx="7">
                  <c:v>186.2</c:v>
                </c:pt>
              </c:numCache>
            </c:numRef>
          </c:val>
        </c:ser>
        <c:ser>
          <c:idx val="1"/>
          <c:order val="1"/>
          <c:tx>
            <c:strRef>
              <c:f>Sheet1!$C$1</c:f>
              <c:strCache>
                <c:ptCount val="1"/>
                <c:pt idx="0">
                  <c:v>2024</c:v>
                </c:pt>
              </c:strCache>
            </c:strRef>
          </c:tx>
          <c:spPr>
            <a:solidFill>
              <a:srgbClr val="EF4647"/>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78.0</c:v>
                </c:pt>
                <c:pt idx="5">
                  <c:v>94.2</c:v>
                </c:pt>
                <c:pt idx="6">
                  <c:v>124.6</c:v>
                </c:pt>
                <c:pt idx="7">
                  <c:v>127.9</c:v>
                </c:pt>
              </c:numCache>
            </c:numRef>
          </c:val>
        </c:ser>
        <c:ser>
          <c:idx val="2"/>
          <c:order val="2"/>
          <c:tx>
            <c:strRef>
              <c:f>Sheet1!$D$1</c:f>
              <c:strCache>
                <c:ptCount val="1"/>
                <c:pt idx="0">
                  <c:v>2025*</c:v>
                </c:pt>
              </c:strCache>
            </c:strRef>
          </c:tx>
          <c:spPr>
            <a:solidFill>
              <a:srgbClr val="5B0C02"/>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88.0</c:v>
                </c:pt>
                <c:pt idx="5">
                  <c:v>102.0</c:v>
                </c:pt>
                <c:pt idx="6">
                  <c:v>128.3</c:v>
                </c:pt>
                <c:pt idx="7">
                  <c:v>114.6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2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5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6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mso-contentType ?>
<FormTemplates xmlns="http://schemas.microsoft.com/sharepoint/v3/contenttype/forms">
  <Display>DocumentLibraryForm</Display>
  <Edit>DocumentLibraryForm</Edit>
  <New>DocumentLibraryForm</New>
</FormTemplates>
</file>

<file path=ppt/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ppt/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ppt/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ppt/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idx="13" sz="quarter"/>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gridCol w="4114800"/>
              </a:tblGrid>
              <a:tr h="292608">
                <a:tc>
                  <a:txBody>
                    <a:bodyPr/>
                    <a:lstStyle/>
                    <a:p>
                      <a:pPr algn="l">
                        <a:lnSpc>
                          <a:spcPct val="100000"/>
                        </a:lnSpc>
                        <a:spcBef>
                          <a:spcPts val="0"/>
                        </a:spcBef>
                        <a:spcAft>
                          <a:spcPts val="0"/>
                        </a:spcAft>
                      </a:pPr>
                      <a:r>
                        <a:rPr sz="1100" b="1" lang="fr-FR">
                          <a:solidFill>
                            <a:srgbClr val="404040"/>
                          </a:solidFill>
                          <a:latin typeface="Avenir Next LT Pro Light"/>
                        </a:rPr>
                        <a:t>Ce que DAMIR contient</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Ce que DAMIR ne contient pas</a:t>
                      </a:r>
                    </a:p>
                  </a:txBody>
                  <a:tcPr marL="64008" marR="64008" marT="22860" marB="22860" anchor="ctr">
                    <a:solidFill>
                      <a:srgbClr val="BFBFBF">
                        <a:lumMod val="18000"/>
                        <a:lumOff val="82000"/>
                      </a:srgbClr>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Soins de ville et séjours en clinique</a:t>
                      </a:r>
                    </a:p>
                    <a:p>
                      <a:pPr algn="l">
                        <a:lnSpc>
                          <a:spcPct val="100000"/>
                        </a:lnSpc>
                        <a:spcBef>
                          <a:spcPts val="0"/>
                        </a:spcBef>
                        <a:spcAft>
                          <a:spcPts val="0"/>
                        </a:spcAft>
                      </a:pPr>
                      <a:r>
                        <a:rPr sz="1100" b="0" lang="fr-FR">
                          <a:solidFill>
                            <a:srgbClr val="404040"/>
                          </a:solidFill>
                          <a:latin typeface="Avenir Next LT Pro Light"/>
                        </a:rPr>
                        <a:t>Dépense, remboursement AMO, dépassements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Séjours de l’hôpital public</a:t>
                      </a:r>
                    </a:p>
                    <a:p>
                      <a:pPr algn="l">
                        <a:lnSpc>
                          <a:spcPct val="100000"/>
                        </a:lnSpc>
                        <a:spcBef>
                          <a:spcPts val="0"/>
                        </a:spcBef>
                        <a:spcAft>
                          <a:spcPts val="0"/>
                        </a:spcAft>
                      </a:pPr>
                      <a:r>
                        <a:rPr sz="1100" b="0" lang="fr-FR">
                          <a:solidFill>
                            <a:srgbClr val="404040"/>
                          </a:solidFill>
                          <a:latin typeface="Avenir Next LT Pro Light"/>
                        </a:rPr>
                        <a:t>Chambre particulière, part payée par la complémentaire</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Mois de soins, prestation, région, âge, sexe,</a:t>
                      </a:r>
                    </a:p>
                    <a:p>
                      <a:pPr algn="l">
                        <a:lnSpc>
                          <a:spcPct val="100000"/>
                        </a:lnSpc>
                        <a:spcBef>
                          <a:spcPts val="0"/>
                        </a:spcBef>
                        <a:spcAft>
                          <a:spcPts val="0"/>
                        </a:spcAft>
                      </a:pPr>
                      <a:r>
                        <a:rPr sz="1100" b="0" lang="fr-FR">
                          <a:solidFill>
                            <a:srgbClr val="404040"/>
                          </a:solidFill>
                          <a:latin typeface="Avenir Next LT Pro Light"/>
                        </a:rPr>
                        <a:t>nature d’assurance et ALD</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Établissement identifié</a:t>
                      </a:r>
                    </a:p>
                    <a:p>
                      <a:pPr algn="l">
                        <a:lnSpc>
                          <a:spcPct val="100000"/>
                        </a:lnSpc>
                        <a:spcBef>
                          <a:spcPts val="0"/>
                        </a:spcBef>
                        <a:spcAft>
                          <a:spcPts val="0"/>
                        </a:spcAft>
                      </a:pPr>
                      <a:r>
                        <a:rPr sz="1100" b="0" lang="fr-FR">
                          <a:solidFill>
                            <a:srgbClr val="404040"/>
                          </a:solidFill>
                          <a:latin typeface="Avenir Next LT Pro Light"/>
                        </a:rPr>
                        <a:t>Statut ROC ou non ROC</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457200" y="3639312"/>
            <a:ext cx="38404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sz="950" b="0" lang="fr-FR"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idx="13" sz="quarter"/>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rIns="0" tIns="0" bIns="0">
            <a:noAutofit/>
          </a:bodyPr>
          <a:lstStyle/>
          <a:p>
            <a:pPr>
              <a:lnSpc>
                <a:spcPct val="112000"/>
              </a:lnSpc>
              <a:spcBef>
                <a:spcPts val="0"/>
              </a:spcBef>
              <a:spcAft>
                <a:spcPts val="0"/>
              </a:spcAft>
            </a:pPr>
            <a:r>
              <a:rPr sz="1200" b="0" lang="fr-FR"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gridCol w="3611880"/>
                <a:gridCol w="3355848"/>
              </a:tblGrid>
              <a:tr h="292608">
                <a:tc>
                  <a:txBody>
                    <a:bodyPr/>
                    <a:lstStyle/>
                    <a:p>
                      <a:pPr algn="l">
                        <a:lnSpc>
                          <a:spcPct val="100000"/>
                        </a:lnSpc>
                        <a:spcBef>
                          <a:spcPts val="0"/>
                        </a:spcBef>
                        <a:spcAft>
                          <a:spcPts val="0"/>
                        </a:spcAft>
                      </a:pPr>
                      <a:r>
                        <a:rPr sz="1050" b="1" lang="fr-FR">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r>
              <a:tr h="384048">
                <a:tc>
                  <a:txBody>
                    <a:bodyPr/>
                    <a:lstStyle/>
                    <a:p>
                      <a:pPr algn="l">
                        <a:lnSpc>
                          <a:spcPct val="100000"/>
                        </a:lnSpc>
                        <a:spcBef>
                          <a:spcPts val="0"/>
                        </a:spcBef>
                        <a:spcAft>
                          <a:spcPts val="0"/>
                        </a:spcAft>
                      </a:pPr>
                      <a:r>
                        <a:rPr sz="1000" b="0" lang="fr-FR">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66928">
                <a:tc>
                  <a:txBody>
                    <a:bodyPr/>
                    <a:lstStyle/>
                    <a:p>
                      <a:pPr algn="l">
                        <a:lnSpc>
                          <a:spcPct val="100000"/>
                        </a:lnSpc>
                        <a:spcBef>
                          <a:spcPts val="0"/>
                        </a:spcBef>
                        <a:spcAft>
                          <a:spcPts val="0"/>
                        </a:spcAft>
                      </a:pPr>
                      <a:r>
                        <a:rPr sz="1000" b="0" lang="fr-FR">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11480">
                <a:tc>
                  <a:txBody>
                    <a:bodyPr/>
                    <a:lstStyle/>
                    <a:p>
                      <a:pPr algn="l">
                        <a:lnSpc>
                          <a:spcPct val="100000"/>
                        </a:lnSpc>
                        <a:spcBef>
                          <a:spcPts val="0"/>
                        </a:spcBef>
                        <a:spcAft>
                          <a:spcPts val="0"/>
                        </a:spcAft>
                      </a:pPr>
                      <a:r>
                        <a:rPr sz="1000" b="0" lang="fr-FR">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20040">
                <a:tc>
                  <a:txBody>
                    <a:bodyPr/>
                    <a:lstStyle/>
                    <a:p>
                      <a:pPr algn="l">
                        <a:lnSpc>
                          <a:spcPct val="100000"/>
                        </a:lnSpc>
                        <a:spcBef>
                          <a:spcPts val="0"/>
                        </a:spcBef>
                        <a:spcAft>
                          <a:spcPts val="0"/>
                        </a:spcAft>
                      </a:pPr>
                      <a:r>
                        <a:rPr sz="1000" b="0" lang="fr-FR">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bl>
          </a:graphicData>
        </a:graphic>
      </p:graphicFrame>
      <p:sp>
        <p:nvSpPr>
          <p:cNvPr id="7" name="TextBox 6"/>
          <p:cNvSpPr txBox="1"/>
          <p:nvPr/>
        </p:nvSpPr>
        <p:spPr>
          <a:xfrm>
            <a:off x="457200" y="4297680"/>
            <a:ext cx="3977639" cy="393192"/>
          </a:xfrm>
          <a:prstGeom prst="rect">
            <a:avLst/>
          </a:prstGeom>
          <a:noFill/>
        </p:spPr>
        <p:txBody>
          <a:bodyPr wrap="square" lIns="0" rIns="0" tIns="0" bIns="0">
            <a:noAutofit/>
          </a:bodyPr>
          <a:lstStyle/>
          <a:p>
            <a:pPr>
              <a:lnSpc>
                <a:spcPct val="112000"/>
              </a:lnSpc>
              <a:spcBef>
                <a:spcPts val="0"/>
              </a:spcBef>
              <a:spcAft>
                <a:spcPts val="0"/>
              </a:spcAft>
            </a:pPr>
            <a:r>
              <a:rPr sz="2100" b="0" lang="fr-FR"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rIns="0" tIns="0" bIns="0">
            <a:noAutofit/>
          </a:bodyPr>
          <a:lstStyle/>
          <a:p>
            <a:pPr>
              <a:lnSpc>
                <a:spcPct val="112000"/>
              </a:lnSpc>
              <a:spcBef>
                <a:spcPts val="0"/>
              </a:spcBef>
              <a:spcAft>
                <a:spcPts val="0"/>
              </a:spcAft>
            </a:pPr>
            <a:r>
              <a:rPr sz="1000" b="1" lang="fr-FR"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En 2025, le ROC joue à l’hôpital public, dont les séjours ne sont pas dans DAMIR. Son 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Les ruptures à prendre en compte</a:t>
            </a:r>
          </a:p>
        </p:txBody>
      </p:sp>
      <p:sp>
        <p:nvSpPr>
          <p:cNvPr id="3" name="Text Placeholder 2"/>
          <p:cNvSpPr>
            <a:spLocks noGrp="1"/>
          </p:cNvSpPr>
          <p:nvPr>
            <p:ph type="body" idx="13" sz="quarter"/>
          </p:nvPr>
        </p:nvSpPr>
        <p:spPr>
          <a:xfrm>
            <a:off x="466344" y="612648"/>
            <a:ext cx="6766560" cy="292608"/>
          </a:xfrm>
        </p:spPr>
        <p:txBody>
          <a:bodyPr/>
          <a:lstStyle/>
          <a:p>
            <a:r>
              <a:t>Trois blocs : séjours ordinaires, rééducation, anesthésie</a:t>
            </a:r>
          </a:p>
        </p:txBody>
      </p:sp>
      <p:sp>
        <p:nvSpPr>
          <p:cNvPr id="4" name="TextBox 3"/>
          <p:cNvSpPr txBox="1"/>
          <p:nvPr/>
        </p:nvSpPr>
        <p:spPr>
          <a:xfrm>
            <a:off x="457200" y="1088136"/>
            <a:ext cx="4800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Réformes et changements d’enregistrement</a:t>
            </a:r>
          </a:p>
        </p:txBody>
      </p:sp>
      <p:graphicFrame>
        <p:nvGraphicFramePr>
          <p:cNvPr id="5" name="Table 4"/>
          <p:cNvGraphicFramePr>
            <a:graphicFrameLocks noGrp="1"/>
          </p:cNvGraphicFramePr>
          <p:nvPr/>
        </p:nvGraphicFramePr>
        <p:xfrm>
          <a:off x="457200" y="1463040"/>
          <a:ext cx="4736591" cy="2340864"/>
        </p:xfrm>
        <a:graphic>
          <a:graphicData uri="http://schemas.openxmlformats.org/drawingml/2006/table">
            <a:tbl>
              <a:tblPr>
                <a:tableStyleId>{5C22544A-7EE6-4342-B048-85BDC9FD1C3A}</a:tableStyleId>
              </a:tblPr>
              <a:tblGrid>
                <a:gridCol w="914400"/>
                <a:gridCol w="3822191"/>
              </a:tblGrid>
              <a:tr h="274320">
                <a:tc>
                  <a:txBody>
                    <a:bodyPr/>
                    <a:lstStyle/>
                    <a:p>
                      <a:pPr algn="l">
                        <a:lnSpc>
                          <a:spcPct val="100000"/>
                        </a:lnSpc>
                        <a:spcBef>
                          <a:spcPts val="0"/>
                        </a:spcBef>
                        <a:spcAft>
                          <a:spcPts val="0"/>
                        </a:spcAft>
                      </a:pPr>
                      <a:r>
                        <a:rPr sz="1050" b="1" lang="fr-FR">
                          <a:solidFill>
                            <a:srgbClr val="404040"/>
                          </a:solidFill>
                          <a:latin typeface="Avenir Next LT Pro Light"/>
                        </a:rPr>
                        <a:t>Date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50" b="1" lang="fr-FR">
                          <a:solidFill>
                            <a:srgbClr val="404040"/>
                          </a:solidFill>
                          <a:latin typeface="Avenir Next LT Pro Light"/>
                        </a:rPr>
                        <a:t>Événement</a:t>
                      </a:r>
                    </a:p>
                  </a:txBody>
                  <a:tcPr marL="64008" marR="64008" marT="22860" marB="22860" anchor="ctr">
                    <a:solidFill>
                      <a:srgbClr val="BFBFBF">
                        <a:lumMod val="18000"/>
                        <a:lumOff val="82000"/>
                      </a:srgbClr>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01/2024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du financement de la rééducation (SMR) : nouveaux tarifs, factures retardées</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10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Doublement des franchises et participations forfaitaires</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11/2024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Forfait journalier : dépense absente de la base à partir de novembre 2024</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07/2025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Prestations hospitalières nouvelles (262 M€) sans libellé dans la base</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00" b="0" lang="fr-FR">
                          <a:solidFill>
                            <a:srgbClr val="404040"/>
                          </a:solidFill>
                          <a:latin typeface="Avenir Next LT Pro Light"/>
                        </a:rPr>
                        <a:t>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à préciser</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5477256" y="1088136"/>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Cadence de paiement de l’Assurance Maladie</a:t>
            </a:r>
          </a:p>
        </p:txBody>
      </p:sp>
      <p:graphicFrame>
        <p:nvGraphicFramePr>
          <p:cNvPr id="7" name="Table 6"/>
          <p:cNvGraphicFramePr>
            <a:graphicFrameLocks noGrp="1"/>
          </p:cNvGraphicFramePr>
          <p:nvPr/>
        </p:nvGraphicFramePr>
        <p:xfrm>
          <a:off x="5477256" y="1463040"/>
          <a:ext cx="3209544" cy="1234439"/>
        </p:xfrm>
        <a:graphic>
          <a:graphicData uri="http://schemas.openxmlformats.org/drawingml/2006/table">
            <a:tbl>
              <a:tblPr>
                <a:tableStyleId>{5C22544A-7EE6-4342-B048-85BDC9FD1C3A}</a:tableStyleId>
              </a:tblPr>
              <a:tblGrid>
                <a:gridCol w="1728216"/>
                <a:gridCol w="740664"/>
                <a:gridCol w="740664"/>
              </a:tblGrid>
              <a:tr h="274320">
                <a:tc>
                  <a:txBody>
                    <a:bodyPr/>
                    <a:lstStyle/>
                    <a:p>
                      <a:pPr algn="l">
                        <a:lnSpc>
                          <a:spcPct val="100000"/>
                        </a:lnSpc>
                        <a:spcBef>
                          <a:spcPts val="0"/>
                        </a:spcBef>
                        <a:spcAft>
                          <a:spcPts val="0"/>
                        </a:spcAft>
                      </a:pPr>
                      <a:r>
                        <a:rPr sz="950" b="1" lang="fr-FR">
                          <a:solidFill>
                            <a:srgbClr val="404040"/>
                          </a:solidFill>
                          <a:latin typeface="Avenir Next LT Pro Light"/>
                        </a:rPr>
                        <a:t>Part réglée dans l’année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Séjours ordinaires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91,3 %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Anesthésie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93,9 %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Rééducation</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84,4 %</a:t>
                      </a:r>
                    </a:p>
                  </a:txBody>
                  <a:tcPr marL="64008" marR="64008" marT="22860" marB="22860" anchor="ctr">
                    <a:solidFill>
                      <a:srgbClr val="FFFFFF"/>
                    </a:solidFill>
                    <a:lnL w="0">
                      <a:noFill/>
                    </a:lnL>
                    <a:lnR w="0">
                      <a:noFill/>
                    </a:lnR>
                    <a:lnT w="0">
                      <a:noFill/>
                    </a:lnT>
                    <a:lnB w="0">
                      <a:noFill/>
                    </a:lnB>
                  </a:tcPr>
                </a:tc>
              </a:tr>
            </a:tbl>
          </a:graphicData>
        </a:graphic>
      </p:graphicFrame>
      <p:sp>
        <p:nvSpPr>
          <p:cNvPr id="8" name="TextBox 7"/>
          <p:cNvSpPr txBox="1"/>
          <p:nvPr/>
        </p:nvSpPr>
        <p:spPr>
          <a:xfrm>
            <a:off x="5477256" y="2834640"/>
            <a:ext cx="3209544" cy="109728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Sur 100 € de soins d’une année, part déjà remboursée par l’Assurance Maladie au 31 décembre. Stable pour les séjours et l’anesthésie. Ralentie en 2024 pour la rééducation, dont les factures ont été retardées par la réforme. Aucune accélération côté Assurance Maladie.</a:t>
            </a:r>
          </a:p>
        </p:txBody>
      </p:sp>
      <p:sp>
        <p:nvSpPr>
          <p:cNvPr id="10" name="TextBox 9"/>
          <p:cNvSpPr txBox="1"/>
          <p:nvPr/>
        </p:nvSpPr>
        <p:spPr>
          <a:xfrm>
            <a:off x="457200" y="4224528"/>
            <a:ext cx="8229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Pourquoi trois blocs</a:t>
            </a:r>
          </a:p>
        </p:txBody>
      </p:sp>
      <p:sp>
        <p:nvSpPr>
          <p:cNvPr id="11" name="TextBox 10"/>
          <p:cNvSpPr txBox="1"/>
          <p:nvPr/>
        </p:nvSpPr>
        <p:spPr>
          <a:xfrm>
            <a:off x="457200" y="4498848"/>
            <a:ext cx="8229600" cy="77724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Tous les postes de l’hospitalisation en clinique ont été parcourus. Ce qui reste à payer après l’Assurance Maladie n’augmente qu’à deux endroits : la rééducation et les honoraires d’anesthésie. Les séjours ordinaires, le poste le plus lourd, restent stables et servent de témoin. Le forfait journalier et la chambre particulière ne sont pas lisibles dans ces données.</a:t>
            </a:r>
          </a:p>
        </p:txBody>
      </p:sp>
      <p:sp>
        <p:nvSpPr>
          <p:cNvPr id="12" name="TextBox 11"/>
          <p:cNvSpPr txBox="1"/>
          <p:nvPr/>
        </p:nvSpPr>
        <p:spPr>
          <a:xfrm>
            <a:off x="457200" y="5340096"/>
            <a:ext cx="813816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486400"/>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8 155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8 833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7 823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8 488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8 463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330</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95,9 %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9 405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7 785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9 039</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329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366</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545336"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+2,4 %</a:t>
            </a:r>
          </a:p>
        </p:txBody>
      </p:sp>
      <p:sp>
        <p:nvSpPr>
          <p:cNvPr id="8" name="TextBox 7"/>
          <p:cNvSpPr txBox="1"/>
          <p:nvPr/>
        </p:nvSpPr>
        <p:spPr>
          <a:xfrm>
            <a:off x="6922008" y="4069080"/>
            <a:ext cx="1755648"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idx="13" sz="quarter"/>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3 665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4 144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4 315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3 682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633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3 893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4 953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3 351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4 232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721</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+33,2 %</a:t>
            </a:r>
          </a:p>
        </p:txBody>
      </p:sp>
      <p:sp>
        <p:nvSpPr>
          <p:cNvPr id="8" name="TextBox 7"/>
          <p:cNvSpPr txBox="1"/>
          <p:nvPr/>
        </p:nvSpPr>
        <p:spPr>
          <a:xfrm>
            <a:off x="7141464" y="4069080"/>
            <a:ext cx="1545336"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Hausse du reste après AMO entre 2024 et 2025, en date de paiement</a:t>
            </a:r>
          </a:p>
        </p:txBody>
      </p:sp>
      <p:sp>
        <p:nvSpPr>
          <p:cNvPr id="9" name="TextBox 8"/>
          <p:cNvSpPr txBox="1"/>
          <p:nvPr/>
        </p:nvSpPr>
        <p:spPr>
          <a:xfrm>
            <a:off x="457200" y="4572000"/>
            <a:ext cx="8229600" cy="310896"/>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846320"/>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56632"/>
            <a:ext cx="8229600" cy="310896"/>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Niveaux de dépense 2023/2024 non comparables (réforme). * 2025 observée, liquidée à ~90 %, non redressée.</a:t>
            </a:r>
          </a:p>
          <a:p>
            <a:pPr>
              <a:lnSpc>
                <a:spcPct val="112000"/>
              </a:lnSpc>
              <a:spcBef>
                <a:spcPts val="0"/>
              </a:spcBef>
              <a:spcAft>
                <a:spcPts val="0"/>
              </a:spcAft>
            </a:pPr>
            <a:r>
              <a:rPr sz="850" b="0" lang="fr-FR" cap="none">
                <a:solidFill>
                  <a:srgbClr val="404040"/>
                </a:solidFill>
                <a:latin typeface="Avenir Next LT Pro Light"/>
              </a:rPr>
              <a:t>À maturité : reste après AMO +20 à +27 % en 2025, sous hypothèse de liquidation de 84–89 %.</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r:id="rId2"/>
          </a:graphicData>
        </a:graphic>
      </p:graphicFrame>
      <p:sp>
        <p:nvSpPr>
          <p:cNvPr id="6" name="TextBox 5"/>
          <p:cNvSpPr txBox="1"/>
          <p:nvPr/>
        </p:nvSpPr>
        <p:spPr>
          <a:xfrm>
            <a:off x="6455664" y="1764792"/>
            <a:ext cx="2231136" cy="448056"/>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0–49 ans</a:t>
            </a:r>
          </a:p>
          <a:p>
            <a:pPr>
              <a:lnSpc>
                <a:spcPct val="112000"/>
              </a:lnSpc>
              <a:spcBef>
                <a:spcPts val="0"/>
              </a:spcBef>
              <a:spcAft>
                <a:spcPts val="0"/>
              </a:spcAft>
            </a:pPr>
            <a:r>
              <a:rPr sz="1100" b="0" lang="fr-FR"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gridCol w="914400"/>
                <a:gridCol w="914400"/>
                <a:gridCol w="914400"/>
                <a:gridCol w="914400"/>
                <a:gridCol w="914400"/>
                <a:gridCol w="914400"/>
                <a:gridCol w="914400"/>
                <a:gridCol w="914400"/>
              </a:tblGrid>
              <a:tr h="237744">
                <a:tc>
                  <a:txBody>
                    <a:bodyPr/>
                    <a:lstStyle/>
                    <a:p>
                      <a:pPr algn="l">
                        <a:lnSpc>
                          <a:spcPct val="100000"/>
                        </a:lnSpc>
                        <a:spcBef>
                          <a:spcPts val="0"/>
                        </a:spcBef>
                        <a:spcAft>
                          <a:spcPts val="0"/>
                        </a:spcAft>
                      </a:pPr>
                      <a:r>
                        <a:rPr sz="900" b="1" lang="fr-FR">
                          <a:solidFill>
                            <a:srgbClr val="404040"/>
                          </a:solidFill>
                          <a:latin typeface="Avenir Next LT Pro Light"/>
                        </a:rPr>
                        <a:t>En M€</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0–19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20–29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30–39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40–49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50–59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60–69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70–79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80 +</a:t>
                      </a:r>
                    </a:p>
                  </a:txBody>
                  <a:tcPr marL="64008" marR="64008" marT="22860" marB="22860" anchor="ctr">
                    <a:solidFill>
                      <a:srgbClr val="BFBFBF">
                        <a:lumMod val="18000"/>
                        <a:lumOff val="82000"/>
                      </a:srgbClr>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13,7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15,9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29,6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92,1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141,0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186,2</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31,3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30,6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48,2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78,0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94,2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127,9</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67,8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102,0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128,3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114,6</a:t>
                      </a:r>
                    </a:p>
                  </a:txBody>
                  <a:tcPr marL="64008" marR="64008" marT="22860" marB="22860" anchor="ctr">
                    <a:solidFill>
                      <a:srgbClr val="FFFFFF"/>
                    </a:solidFill>
                    <a:lnL w="0">
                      <a:noFill/>
                    </a:lnL>
                    <a:lnR w="0">
                      <a:noFill/>
                    </a:lnR>
                    <a:lnT w="0">
                      <a:noFill/>
                    </a:lnT>
                    <a:lnB w="0">
                      <a:noFill/>
                    </a:lnB>
                  </a:tcPr>
                </a:tc>
              </a:tr>
            </a:tbl>
          </a:graphicData>
        </a:graphic>
      </p:graphicFrame>
      <p:sp>
        <p:nvSpPr>
          <p:cNvPr id="11" name="TextBox 10"/>
          <p:cNvSpPr txBox="1"/>
          <p:nvPr/>
        </p:nvSpPr>
        <p:spPr>
          <a:xfrm>
            <a:off x="457200" y="5029200"/>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gridCol w="731520"/>
                <a:gridCol w="731520"/>
                <a:gridCol w="731520"/>
                <a:gridCol w="731520"/>
              </a:tblGrid>
              <a:tr h="227685">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1 322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65,3 %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64,3 %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35,7 %</a:t>
                      </a:r>
                    </a:p>
                  </a:txBody>
                  <a:tcPr marL="64008" marR="64008" marT="22860" marB="22860" anchor="ctr">
                    <a:solidFill>
                      <a:srgbClr val="FFFFFF"/>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1 478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69,2 %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64,5 %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34,5 %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r:id="rId2"/>
          </a:graphicData>
        </a:graphic>
      </p:graphicFrame>
      <p:sp>
        <p:nvSpPr>
          <p:cNvPr id="7" name="TextBox 6"/>
          <p:cNvSpPr txBox="1"/>
          <p:nvPr/>
        </p:nvSpPr>
        <p:spPr>
          <a:xfrm>
            <a:off x="5541264" y="4069080"/>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+10,0 %</a:t>
            </a:r>
          </a:p>
        </p:txBody>
      </p:sp>
      <p:sp>
        <p:nvSpPr>
          <p:cNvPr id="8" name="TextBox 7"/>
          <p:cNvSpPr txBox="1"/>
          <p:nvPr/>
        </p:nvSpPr>
        <p:spPr>
          <a:xfrm>
            <a:off x="7141464" y="4069080"/>
            <a:ext cx="1545336"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313432"/>
        </p:xfrm>
        <a:graphic>
          <a:graphicData uri="http://schemas.openxmlformats.org/drawingml/2006/table">
            <a:tbl>
              <a:tblPr>
                <a:tableStyleId>{5C22544A-7EE6-4342-B048-85BDC9FD1C3A}</a:tableStyleId>
              </a:tblPr>
              <a:tblGrid>
                <a:gridCol w="1938528"/>
                <a:gridCol w="3520440"/>
                <a:gridCol w="2770632"/>
              </a:tblGrid>
              <a:tr h="274320">
                <a:tc>
                  <a:txBody>
                    <a:bodyPr/>
                    <a:lstStyle/>
                    <a:p>
                      <a:pPr algn="l">
                        <a:lnSpc>
                          <a:spcPct val="100000"/>
                        </a:lnSpc>
                        <a:spcBef>
                          <a:spcPts val="0"/>
                        </a:spcBef>
                        <a:spcAft>
                          <a:spcPts val="0"/>
                        </a:spcAft>
                      </a:pPr>
                      <a:r>
                        <a:rPr sz="1000" b="1" lang="fr-FR">
                          <a:solidFill>
                            <a:srgbClr val="404040"/>
                          </a:solidFill>
                          <a:latin typeface="Avenir Next LT Pro Light"/>
                        </a:rPr>
                        <a:t>Poste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Observation 2022–2025</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Lecture</a:t>
                      </a:r>
                    </a:p>
                  </a:txBody>
                  <a:tcPr marL="64008" marR="64008" marT="22860" marB="22860" anchor="ctr">
                    <a:solidFill>
                      <a:srgbClr val="BFBFBF">
                        <a:lumMod val="18000"/>
                        <a:lumOff val="82000"/>
                      </a:srgbClr>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Séjours ordinaires en clinique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+2 % en 2024, sans effet de calendrier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Pas de dérive</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Honoraires d’anesthésie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Dépassements +10 % par an, en date de soins comme en date de paiement</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Dérive de sinistralité, indépendante du ROC</a:t>
                      </a:r>
                    </a:p>
                  </a:txBody>
                  <a:tcPr marL="64008" marR="64008" marT="22860" marB="22860" anchor="ctr">
                    <a:solidFill>
                      <a:srgbClr val="FFFFFF"/>
                    </a:solidFill>
                    <a:lnL w="0">
                      <a:noFill/>
                    </a:lnL>
                    <a:lnR w="0">
                      <a:noFill/>
                    </a:lnR>
                    <a:lnT w="0">
                      <a:noFill/>
                    </a:lnT>
                    <a:lnB w="0">
                      <a:noFill/>
                    </a:lnB>
                  </a:tcPr>
                </a:tc>
              </a:tr>
              <a:tr h="502920">
                <a:tc>
                  <a:txBody>
                    <a:bodyPr/>
                    <a:lstStyle/>
                    <a:p>
                      <a:pPr algn="l">
                        <a:lnSpc>
                          <a:spcPct val="100000"/>
                        </a:lnSpc>
                        <a:spcBef>
                          <a:spcPts val="0"/>
                        </a:spcBef>
                        <a:spcAft>
                          <a:spcPts val="0"/>
                        </a:spcAft>
                      </a:pPr>
                      <a:r>
                        <a:rPr sz="950" b="0" lang="fr-FR">
                          <a:solidFill>
                            <a:srgbClr val="404040"/>
                          </a:solidFill>
                          <a:latin typeface="Avenir Next LT Pro Light"/>
                        </a:rPr>
                        <a:t>Séjours de rééducation (SSR, SMR)</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Hausse réelle, née de la réforme SMR de 2024</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Rééducation, factures 2024 payées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+33 % en date de paiement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Effet de calendrier, propre aux cliniques</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ROC</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Effet de calendrier possible, non mesurable ici</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457200" y="3703320"/>
            <a:ext cx="8229600" cy="256032"/>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Ce que l’étude montre</a:t>
            </a:r>
          </a:p>
        </p:txBody>
      </p:sp>
      <p:sp>
        <p:nvSpPr>
          <p:cNvPr id="6" name="TextBox 5"/>
          <p:cNvSpPr txBox="1"/>
          <p:nvPr/>
        </p:nvSpPr>
        <p:spPr>
          <a:xfrm>
            <a:off x="457200" y="3977639"/>
            <a:ext cx="8229600" cy="118872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Les remboursements de l’Assurance Maladie montrent une hausse réelle de ce qui reste à payer après elle sur deux postes de l’hospitalisation en clinique : les honoraires d’anesthésie, où les dépassements augmentent de 10 % par an, et la rééducation, où le ticket modérateur augmente depuis la réforme de 2024. Cette hausse est une dérive de la sinistralité. Elle existe avant le ROC et ne lui doit rien. Le ROC, lui, change la vitesse à laquelle les factures des hôpitaux publics arrivent aux complémentaires. Ces factures ne sont pas dans les données utilisées, et le rythme de paiement de l’Assurance Maladie n’a pas changé : aucun effet du ROC n’apparaît ici. S’il en a un, c’est un décalage dans le temps qui s’ajoute à la dérive, sans l’expliquer.</a:t>
            </a:r>
          </a:p>
        </p:txBody>
      </p:sp>
      <p:sp>
        <p:nvSpPr>
          <p:cNvPr id="7" name="TextBox 6"/>
          <p:cNvSpPr txBox="1"/>
          <p:nvPr/>
        </p:nvSpPr>
        <p:spPr>
          <a:xfrm>
            <a:off x="457200" y="5175504"/>
            <a:ext cx="8229600" cy="22860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3852</TotalTime>
  <Words>937</Words>
  <Application>Microsoft Office PowerPoint</Application>
  <PresentationFormat>Affichage à l'écran (16:10)</PresentationFormat>
  <Paragraphs>117</Paragraphs>
  <Slides>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Ce que l'on regarde, et comment</vt:lpstr>
      <vt:lpstr>Hospitalisation Honoraires, une vraie dérive</vt:lpstr>
      <vt:lpstr>Hospitalisation globale =&gt; une piste ROC</vt:lpstr>
      <vt:lpstr>Dérive observée et hypothèse ROC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creator>Forsides</dc:creator>
  <cp:lastModifiedBy>Simon MALAURENT</cp:lastModifiedBy>
  <cp:revision>58</cp:revision>
  <dcterms:created xsi:type="dcterms:W3CDTF">2024-05-03T13:43:52Z</dcterms:created>
  <dcterms:modified xsi:type="dcterms:W3CDTF">2026-09-18T12:31:32Z</dcterms:modified>
  <dc:subject>Analyse par poste des remboursements AMO 2022–2025</dc:subject>
  <cp:keywords>Hospitalisation, Open DAMIR, ROC, SSR, SMR, anesthésie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