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6"/>
    <p:sldId id="11535" r:id="rId7"/>
    <p:sldId id="11536" r:id="rId8"/>
    <p:sldId id="11537" r:id="rId9"/>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comptable 2023</c:v>
                </c:pt>
              </c:strCache>
            </c:strRef>
          </c:tx>
          <c:spPr>
            <a:solidFill>
              <a:srgbClr val="A5B6C5"/>
            </a:solidFill>
          </c:spPr>
          <c:invertIfNegative val="1"/>
          <c:dLbls>
            <c:numFmt formatCode="0.00" sourceLinked="0"/>
            <c:spPr>
              <a:noFill/>
              <a:ln>
                <a:noFill/>
              </a:ln>
              <a:effectLst/>
            </c:spPr>
            <c:txPr>
              <a:bodyPr/>
              <a:lstStyle/>
              <a:p>
                <a:pPr>
                  <a:defRPr sz="900" b="1">
                    <a:solidFill>
                      <a:srgbClr val="404040"/>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Dépense</c:v>
                </c:pt>
                <c:pt idx="1">
                  <c:v>Remboursement AMO</c:v>
                </c:pt>
              </c:strCache>
            </c:strRef>
          </c:cat>
          <c:val>
            <c:numRef>
              <c:f>Sheet1!$B$2:$B$3</c:f>
              <c:numCache>
                <c:formatCode>General</c:formatCode>
                <c:ptCount val="2"/>
                <c:pt idx="0">
                  <c:v>1.31809</c:v>
                </c:pt>
                <c:pt idx="1">
                  <c:v>0.88383999999999996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760-43E0-9CE0-49BB76E1C217}"/>
            </c:ext>
          </c:extLst>
        </c:ser>
        <c:ser>
          <c:idx val="1"/>
          <c:order val="1"/>
          <c:tx>
            <c:strRef>
              <c:f>Sheet1!$C$1</c:f>
              <c:strCache>
                <c:ptCount val="1"/>
                <c:pt idx="0">
                  <c:v>Année comptable 2025</c:v>
                </c:pt>
              </c:strCache>
            </c:strRef>
          </c:tx>
          <c:spPr>
            <a:solidFill>
              <a:srgbClr val="EF4647"/>
            </a:solidFill>
          </c:spPr>
          <c:invertIfNegative val="1"/>
          <c:dLbls>
            <c:numFmt formatCode="0.00" sourceLinked="0"/>
            <c:spPr>
              <a:noFill/>
              <a:ln>
                <a:noFill/>
              </a:ln>
              <a:effectLst/>
            </c:spPr>
            <c:txPr>
              <a:bodyPr/>
              <a:lstStyle/>
              <a:p>
                <a:pPr>
                  <a:defRPr sz="900" b="1">
                    <a:solidFill>
                      <a:srgbClr val="404040"/>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Dépense</c:v>
                </c:pt>
                <c:pt idx="1">
                  <c:v>Remboursement AMO</c:v>
                </c:pt>
              </c:strCache>
            </c:strRef>
          </c:cat>
          <c:val>
            <c:numRef>
              <c:f>Sheet1!$C$2:$C$3</c:f>
              <c:numCache>
                <c:formatCode>General</c:formatCode>
                <c:ptCount val="2"/>
                <c:pt idx="0">
                  <c:v>1.478</c:v>
                </c:pt>
                <c:pt idx="1">
                  <c:v>0.95354000000000005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760-43E0-9CE0-49BB76E1C217}"/>
            </c:ext>
          </c:extLst>
        </c:ser>
        <c:dLbls>
          <c:dLblPos val="outEnd"/>
          <c:showLegendKey val="0"/>
          <c:showVal val="1"/>
          <c:showCatName val="0"/>
          <c:showSerName val="0"/>
          <c:showPercent val="0"/>
          <c:showBubbleSize val="0"/>
        </c:dLbls>
        <c:gapWidth val="9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fr-FR"/>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900"/>
          </a:pPr>
          <a:endParaRPr lang="fr-FR"/>
        </a:p>
      </c:txPr>
    </c:legend>
    <c:plotVisOnly val="1"/>
    <c:dispBlanksAs val="gap"/>
    <c:showDLblsOverMax val="1"/>
  </c:chart>
  <c:txPr>
    <a:bodyPr/>
    <a:lstStyle/>
    <a:p>
      <a:pPr>
        <a:defRPr sz="900">
          <a:solidFill>
            <a:srgbClr val="40404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Part de l'Assurance Maladie</c:v>
                </c:pt>
              </c:strCache>
            </c:strRef>
          </c:tx>
          <c:invertIfNegative val="1"/>
          <c:dPt>
            <c:idx val="0"/>
            <c:invertIfNegative val="1"/>
            <c:bubble3D val="0"/>
            <c:spPr>
              <a:solidFill>
                <a:srgbClr val="A5B6C5"/>
              </a:solidFill>
            </c:spPr>
            <c:extLst>
              <c:ext xmlns:c16="http://schemas.microsoft.com/office/drawing/2014/chart" uri="{C3380CC4-5D6E-409C-BE32-E72D297353CC}">
                <c16:uniqueId val="{00000001-08CC-4698-B0EE-F36BEDC7490D}"/>
              </c:ext>
            </c:extLst>
          </c:dPt>
          <c:dPt>
            <c:idx val="1"/>
            <c:invertIfNegative val="1"/>
            <c:bubble3D val="0"/>
            <c:spPr>
              <a:solidFill>
                <a:srgbClr val="F5A3A4"/>
              </a:solidFill>
            </c:spPr>
            <c:extLst>
              <c:ext xmlns:c16="http://schemas.microsoft.com/office/drawing/2014/chart" uri="{C3380CC4-5D6E-409C-BE32-E72D297353CC}">
                <c16:uniqueId val="{00000003-08CC-4698-B0EE-F36BEDC7490D}"/>
              </c:ext>
            </c:extLst>
          </c:dPt>
          <c:dPt>
            <c:idx val="2"/>
            <c:invertIfNegative val="1"/>
            <c:bubble3D val="0"/>
            <c:spPr>
              <a:solidFill>
                <a:srgbClr val="EF4647"/>
              </a:solidFill>
            </c:spPr>
            <c:extLst>
              <c:ext xmlns:c16="http://schemas.microsoft.com/office/drawing/2014/chart" uri="{C3380CC4-5D6E-409C-BE32-E72D297353CC}">
                <c16:uniqueId val="{00000005-08CC-4698-B0EE-F36BEDC7490D}"/>
              </c:ext>
            </c:extLst>
          </c:dPt>
          <c:dLbls>
            <c:numFmt formatCode="0.0&quot; %&quot;" sourceLinked="0"/>
            <c:spPr>
              <a:noFill/>
              <a:ln>
                <a:noFill/>
              </a:ln>
              <a:effectLst/>
            </c:spPr>
            <c:txPr>
              <a:bodyPr/>
              <a:lstStyle/>
              <a:p>
                <a:pPr>
                  <a:defRPr sz="900" b="1">
                    <a:solidFill>
                      <a:srgbClr val="404040"/>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67</c:v>
                </c:pt>
                <c:pt idx="1">
                  <c:v>65.3</c:v>
                </c:pt>
                <c:pt idx="2">
                  <c:v>64.3</c:v>
                </c:pt>
              </c:numCache>
            </c:numRef>
          </c:val>
          <c:extLst>
            <c:ext xmlns:c16="http://schemas.microsoft.com/office/drawing/2014/chart" uri="{C3380CC4-5D6E-409C-BE32-E72D297353CC}">
              <c16:uniqueId val="{00000006-08CC-4698-B0EE-F36BEDC7490D}"/>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fr-FR"/>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40404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comptable 2023</c:v>
                </c:pt>
              </c:strCache>
            </c:strRef>
          </c:tx>
          <c:spPr>
            <a:solidFill>
              <a:srgbClr val="A5B6C5"/>
            </a:solidFill>
          </c:spPr>
          <c:invertIfNegative val="1"/>
          <c:dLbls>
            <c:numFmt formatCode="0.0" sourceLinked="0"/>
            <c:spPr>
              <a:noFill/>
              <a:ln>
                <a:noFill/>
              </a:ln>
              <a:effectLst/>
            </c:spPr>
            <c:txPr>
              <a:bodyPr/>
              <a:lstStyle/>
              <a:p>
                <a:pPr>
                  <a:defRPr sz="900" b="1">
                    <a:solidFill>
                      <a:srgbClr val="404040"/>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Dépense</c:v>
                </c:pt>
                <c:pt idx="1">
                  <c:v>Remboursement AMO</c:v>
                </c:pt>
              </c:strCache>
            </c:strRef>
          </c:cat>
          <c:val>
            <c:numRef>
              <c:f>Sheet1!$B$2:$B$3</c:f>
              <c:numCache>
                <c:formatCode>General</c:formatCode>
                <c:ptCount val="2"/>
                <c:pt idx="0">
                  <c:v>28.173999999999999</c:v>
                </c:pt>
                <c:pt idx="1">
                  <c:v>24.096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CF6-4369-94CD-4BC57DAA6C37}"/>
            </c:ext>
          </c:extLst>
        </c:ser>
        <c:ser>
          <c:idx val="1"/>
          <c:order val="1"/>
          <c:tx>
            <c:strRef>
              <c:f>Sheet1!$C$1</c:f>
              <c:strCache>
                <c:ptCount val="1"/>
                <c:pt idx="0">
                  <c:v>Année comptable 2025</c:v>
                </c:pt>
              </c:strCache>
            </c:strRef>
          </c:tx>
          <c:spPr>
            <a:solidFill>
              <a:srgbClr val="EF4647"/>
            </a:solidFill>
          </c:spPr>
          <c:invertIfNegative val="1"/>
          <c:dLbls>
            <c:numFmt formatCode="0.0" sourceLinked="0"/>
            <c:spPr>
              <a:noFill/>
              <a:ln>
                <a:noFill/>
              </a:ln>
              <a:effectLst/>
            </c:spPr>
            <c:txPr>
              <a:bodyPr/>
              <a:lstStyle/>
              <a:p>
                <a:pPr>
                  <a:defRPr sz="900" b="1">
                    <a:solidFill>
                      <a:srgbClr val="404040"/>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Dépense</c:v>
                </c:pt>
                <c:pt idx="1">
                  <c:v>Remboursement AMO</c:v>
                </c:pt>
              </c:strCache>
            </c:strRef>
          </c:cat>
          <c:val>
            <c:numRef>
              <c:f>Sheet1!$C$2:$C$3</c:f>
              <c:numCache>
                <c:formatCode>General</c:formatCode>
                <c:ptCount val="2"/>
                <c:pt idx="0">
                  <c:v>29.695</c:v>
                </c:pt>
                <c:pt idx="1">
                  <c:v>27.702999999999999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CF6-4369-94CD-4BC57DAA6C37}"/>
            </c:ext>
          </c:extLst>
        </c:ser>
        <c:dLbls>
          <c:dLblPos val="outEnd"/>
          <c:showLegendKey val="0"/>
          <c:showVal val="1"/>
          <c:showCatName val="0"/>
          <c:showSerName val="0"/>
          <c:showPercent val="0"/>
          <c:showBubbleSize val="0"/>
        </c:dLbls>
        <c:gapWidth val="9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fr-FR"/>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900"/>
          </a:pPr>
          <a:endParaRPr lang="fr-FR"/>
        </a:p>
      </c:txPr>
    </c:legend>
    <c:plotVisOnly val="1"/>
    <c:dispBlanksAs val="gap"/>
    <c:showDLblsOverMax val="1"/>
  </c:chart>
  <c:txPr>
    <a:bodyPr/>
    <a:lstStyle/>
    <a:p>
      <a:pPr>
        <a:defRPr sz="900">
          <a:solidFill>
            <a:srgbClr val="40404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Part de l'Assurance Maladie</c:v>
                </c:pt>
              </c:strCache>
            </c:strRef>
          </c:tx>
          <c:invertIfNegative val="1"/>
          <c:dPt>
            <c:idx val="0"/>
            <c:invertIfNegative val="1"/>
            <c:bubble3D val="0"/>
            <c:spPr>
              <a:solidFill>
                <a:srgbClr val="A5B6C5"/>
              </a:solidFill>
            </c:spPr>
            <c:extLst>
              <c:ext xmlns:c16="http://schemas.microsoft.com/office/drawing/2014/chart" uri="{C3380CC4-5D6E-409C-BE32-E72D297353CC}">
                <c16:uniqueId val="{00000001-2FB3-4766-9CE0-DDBAEECC118E}"/>
              </c:ext>
            </c:extLst>
          </c:dPt>
          <c:dPt>
            <c:idx val="1"/>
            <c:invertIfNegative val="1"/>
            <c:bubble3D val="0"/>
            <c:spPr>
              <a:solidFill>
                <a:srgbClr val="F5A3A4"/>
              </a:solidFill>
            </c:spPr>
            <c:extLst>
              <c:ext xmlns:c16="http://schemas.microsoft.com/office/drawing/2014/chart" uri="{C3380CC4-5D6E-409C-BE32-E72D297353CC}">
                <c16:uniqueId val="{00000003-2FB3-4766-9CE0-DDBAEECC118E}"/>
              </c:ext>
            </c:extLst>
          </c:dPt>
          <c:dPt>
            <c:idx val="2"/>
            <c:invertIfNegative val="1"/>
            <c:bubble3D val="0"/>
            <c:spPr>
              <a:solidFill>
                <a:srgbClr val="EF4647"/>
              </a:solidFill>
            </c:spPr>
            <c:extLst>
              <c:ext xmlns:c16="http://schemas.microsoft.com/office/drawing/2014/chart" uri="{C3380CC4-5D6E-409C-BE32-E72D297353CC}">
                <c16:uniqueId val="{00000005-2FB3-4766-9CE0-DDBAEECC118E}"/>
              </c:ext>
            </c:extLst>
          </c:dPt>
          <c:dLbls>
            <c:numFmt formatCode="0.0&quot; %&quot;" sourceLinked="0"/>
            <c:spPr>
              <a:noFill/>
              <a:ln>
                <a:noFill/>
              </a:ln>
              <a:effectLst/>
            </c:spPr>
            <c:txPr>
              <a:bodyPr/>
              <a:lstStyle/>
              <a:p>
                <a:pPr>
                  <a:defRPr sz="900" b="1">
                    <a:solidFill>
                      <a:srgbClr val="404040"/>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 *</c:v>
                </c:pt>
              </c:strCache>
            </c:strRef>
          </c:cat>
          <c:val>
            <c:numRef>
              <c:f>Sheet1!$B$2:$B$4</c:f>
              <c:numCache>
                <c:formatCode>General</c:formatCode>
                <c:ptCount val="3"/>
                <c:pt idx="0">
                  <c:v>85.5</c:v>
                </c:pt>
                <c:pt idx="1">
                  <c:v>87.7</c:v>
                </c:pt>
                <c:pt idx="2">
                  <c:v>93.1</c:v>
                </c:pt>
              </c:numCache>
            </c:numRef>
          </c:val>
          <c:extLst>
            <c:ext xmlns:c16="http://schemas.microsoft.com/office/drawing/2014/chart" uri="{C3380CC4-5D6E-409C-BE32-E72D297353CC}">
              <c16:uniqueId val="{00000006-2FB3-4766-9CE0-DDBAEECC118E}"/>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fr-FR"/>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40404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64A845C-32FB-4A18-97E1-E276771F3835}" type="slidenum">
              <a:rPr lang="fr-FR" smtClean="0"/>
              <a:t>4</a:t>
            </a:fld>
            <a:endParaRPr lang="fr-FR"/>
          </a:p>
        </p:txBody>
      </p:sp>
    </p:spTree>
    <p:extLst>
      <p:ext uri="{BB962C8B-B14F-4D97-AF65-F5344CB8AC3E}">
        <p14:creationId xmlns:p14="http://schemas.microsoft.com/office/powerpoint/2010/main" val="17073660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3913632"/>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182880"/>
          </a:xfrm>
        </p:spPr>
        <p:txBody>
          <a:bodyPr/>
          <a:lstStyle/>
          <a:p>
            <a:r>
              <a:rPr dirty="0" err="1"/>
              <a:t>Remboursements</a:t>
            </a:r>
            <a:r>
              <a:rPr dirty="0"/>
              <a:t> de </a:t>
            </a:r>
            <a:r>
              <a:rPr dirty="0" err="1"/>
              <a:t>l'Assurance</a:t>
            </a:r>
            <a:r>
              <a:rPr dirty="0"/>
              <a:t> </a:t>
            </a:r>
            <a:r>
              <a:rPr dirty="0" err="1"/>
              <a:t>Maladie</a:t>
            </a:r>
            <a:r>
              <a:rPr dirty="0"/>
              <a:t>, 2023 </a:t>
            </a:r>
            <a:r>
              <a:rPr lang="fr-FR" dirty="0"/>
              <a:t>à</a:t>
            </a:r>
            <a:r>
              <a:rPr dirty="0"/>
              <a:t> 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dirty="0">
                <a:solidFill>
                  <a:srgbClr val="EF4647"/>
                </a:solidFill>
              </a:rPr>
              <a:t>Ce </a:t>
            </a:r>
            <a:r>
              <a:rPr dirty="0" err="1">
                <a:solidFill>
                  <a:srgbClr val="EF4647"/>
                </a:solidFill>
              </a:rPr>
              <a:t>que</a:t>
            </a:r>
            <a:r>
              <a:rPr dirty="0">
                <a:solidFill>
                  <a:srgbClr val="EF4647"/>
                </a:solidFill>
              </a:rPr>
              <a:t> </a:t>
            </a:r>
            <a:r>
              <a:rPr dirty="0" err="1">
                <a:solidFill>
                  <a:srgbClr val="EF4647"/>
                </a:solidFill>
              </a:rPr>
              <a:t>l'on</a:t>
            </a:r>
            <a:r>
              <a:rPr dirty="0">
                <a:solidFill>
                  <a:srgbClr val="EF4647"/>
                </a:solidFill>
              </a:rPr>
              <a:t> </a:t>
            </a:r>
            <a:r>
              <a:rPr dirty="0" err="1">
                <a:solidFill>
                  <a:srgbClr val="EF4647"/>
                </a:solidFill>
              </a:rPr>
              <a:t>regarde</a:t>
            </a:r>
            <a:r>
              <a:rPr dirty="0">
                <a:solidFill>
                  <a:srgbClr val="EF4647"/>
                </a:solidFill>
              </a:rPr>
              <a:t>, et comment</a:t>
            </a:r>
          </a:p>
        </p:txBody>
      </p:sp>
      <p:sp>
        <p:nvSpPr>
          <p:cNvPr id="3" name="Text Placeholder 2"/>
          <p:cNvSpPr>
            <a:spLocks noGrp="1"/>
          </p:cNvSpPr>
          <p:nvPr>
            <p:ph type="body" sz="quarter" idx="13"/>
          </p:nvPr>
        </p:nvSpPr>
        <p:spPr>
          <a:xfrm>
            <a:off x="466344" y="612648"/>
            <a:ext cx="6766560" cy="292608"/>
          </a:xfrm>
        </p:spPr>
        <p:txBody>
          <a:bodyPr/>
          <a:lstStyle/>
          <a:p>
            <a:r>
              <a:rPr dirty="0"/>
              <a:t>Deux </a:t>
            </a:r>
            <a:r>
              <a:rPr dirty="0" err="1"/>
              <a:t>postes</a:t>
            </a:r>
            <a:r>
              <a:rPr dirty="0"/>
              <a:t>, deux lectures</a:t>
            </a:r>
          </a:p>
        </p:txBody>
      </p:sp>
      <p:sp>
        <p:nvSpPr>
          <p:cNvPr id="4" name="Rounded Rectangle 3"/>
          <p:cNvSpPr/>
          <p:nvPr/>
        </p:nvSpPr>
        <p:spPr>
          <a:xfrm>
            <a:off x="457200" y="1097280"/>
            <a:ext cx="8229600" cy="10515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66928" y="1188720"/>
            <a:ext cx="8010144" cy="932563"/>
          </a:xfrm>
          <a:prstGeom prst="rect">
            <a:avLst/>
          </a:prstGeom>
          <a:noFill/>
        </p:spPr>
        <p:txBody>
          <a:bodyPr wrap="square" lIns="45720" tIns="27432" rIns="45720" bIns="27432" anchor="t">
            <a:spAutoFit/>
          </a:bodyPr>
          <a:lstStyle/>
          <a:p>
            <a:pPr>
              <a:spcAft>
                <a:spcPts val="600"/>
              </a:spcAft>
            </a:pPr>
            <a:r>
              <a:rPr lang="fr-FR" sz="1300" b="1" dirty="0">
                <a:solidFill>
                  <a:srgbClr val="5B0C02"/>
                </a:solidFill>
              </a:rPr>
              <a:t>Les deux périmètres analysés</a:t>
            </a:r>
          </a:p>
          <a:p>
            <a:pPr>
              <a:spcAft>
                <a:spcPts val="600"/>
              </a:spcAft>
            </a:pPr>
            <a:r>
              <a:rPr sz="1100" b="1" dirty="0" err="1">
                <a:solidFill>
                  <a:srgbClr val="404040"/>
                </a:solidFill>
              </a:rPr>
              <a:t>Hospitalisation</a:t>
            </a:r>
            <a:r>
              <a:rPr sz="1100" b="1" dirty="0">
                <a:solidFill>
                  <a:srgbClr val="404040"/>
                </a:solidFill>
              </a:rPr>
              <a:t> </a:t>
            </a:r>
            <a:r>
              <a:rPr sz="1100" b="1" dirty="0" err="1">
                <a:solidFill>
                  <a:srgbClr val="404040"/>
                </a:solidFill>
              </a:rPr>
              <a:t>Honoraires</a:t>
            </a:r>
            <a:r>
              <a:rPr lang="fr-FR" sz="1100" b="1" dirty="0">
                <a:solidFill>
                  <a:srgbClr val="404040"/>
                </a:solidFill>
              </a:rPr>
              <a:t> </a:t>
            </a:r>
            <a:r>
              <a:rPr sz="1100" b="0" dirty="0">
                <a:solidFill>
                  <a:srgbClr val="404040"/>
                </a:solidFill>
              </a:rPr>
              <a:t>: les </a:t>
            </a:r>
            <a:r>
              <a:rPr sz="1100" b="0" dirty="0" err="1">
                <a:solidFill>
                  <a:srgbClr val="404040"/>
                </a:solidFill>
              </a:rPr>
              <a:t>honoraires</a:t>
            </a:r>
            <a:r>
              <a:rPr sz="1100" b="0" dirty="0">
                <a:solidFill>
                  <a:srgbClr val="404040"/>
                </a:solidFill>
              </a:rPr>
              <a:t> des </a:t>
            </a:r>
            <a:r>
              <a:rPr sz="1100" b="0" dirty="0" err="1">
                <a:solidFill>
                  <a:srgbClr val="404040"/>
                </a:solidFill>
              </a:rPr>
              <a:t>praticiens</a:t>
            </a:r>
            <a:r>
              <a:rPr sz="1100" b="0" dirty="0">
                <a:solidFill>
                  <a:srgbClr val="404040"/>
                </a:solidFill>
              </a:rPr>
              <a:t> </a:t>
            </a:r>
            <a:r>
              <a:rPr sz="1100" b="0" dirty="0" err="1">
                <a:solidFill>
                  <a:srgbClr val="404040"/>
                </a:solidFill>
              </a:rPr>
              <a:t>en</a:t>
            </a:r>
            <a:r>
              <a:rPr sz="1100" b="0" dirty="0">
                <a:solidFill>
                  <a:srgbClr val="404040"/>
                </a:solidFill>
              </a:rPr>
              <a:t> </a:t>
            </a:r>
            <a:r>
              <a:rPr sz="1100" b="0" dirty="0" err="1">
                <a:solidFill>
                  <a:srgbClr val="404040"/>
                </a:solidFill>
              </a:rPr>
              <a:t>clinique</a:t>
            </a:r>
            <a:r>
              <a:rPr sz="1100" b="0" dirty="0">
                <a:solidFill>
                  <a:srgbClr val="404040"/>
                </a:solidFill>
              </a:rPr>
              <a:t>, 1,3 Md€ de </a:t>
            </a:r>
            <a:r>
              <a:rPr sz="1100" b="0" dirty="0" err="1">
                <a:solidFill>
                  <a:srgbClr val="404040"/>
                </a:solidFill>
              </a:rPr>
              <a:t>dépense</a:t>
            </a:r>
            <a:r>
              <a:rPr sz="1100" b="0" dirty="0">
                <a:solidFill>
                  <a:srgbClr val="404040"/>
                </a:solidFill>
              </a:rPr>
              <a:t> </a:t>
            </a:r>
            <a:r>
              <a:rPr sz="1100" b="0" dirty="0" err="1">
                <a:solidFill>
                  <a:srgbClr val="404040"/>
                </a:solidFill>
              </a:rPr>
              <a:t>en</a:t>
            </a:r>
            <a:r>
              <a:rPr sz="1100" b="0" dirty="0">
                <a:solidFill>
                  <a:srgbClr val="404040"/>
                </a:solidFill>
              </a:rPr>
              <a:t> 2023, le poste </a:t>
            </a:r>
            <a:r>
              <a:rPr sz="1100" b="0" dirty="0" err="1">
                <a:solidFill>
                  <a:srgbClr val="404040"/>
                </a:solidFill>
              </a:rPr>
              <a:t>où</a:t>
            </a:r>
            <a:r>
              <a:rPr sz="1100" b="0" dirty="0">
                <a:solidFill>
                  <a:srgbClr val="404040"/>
                </a:solidFill>
              </a:rPr>
              <a:t> se </a:t>
            </a:r>
            <a:r>
              <a:rPr sz="1100" b="0" dirty="0" err="1">
                <a:solidFill>
                  <a:srgbClr val="404040"/>
                </a:solidFill>
              </a:rPr>
              <a:t>concentrent</a:t>
            </a:r>
            <a:r>
              <a:rPr sz="1100" b="0" dirty="0">
                <a:solidFill>
                  <a:srgbClr val="404040"/>
                </a:solidFill>
              </a:rPr>
              <a:t> les </a:t>
            </a:r>
            <a:r>
              <a:rPr sz="1100" b="0" dirty="0" err="1">
                <a:solidFill>
                  <a:srgbClr val="404040"/>
                </a:solidFill>
              </a:rPr>
              <a:t>dépassements</a:t>
            </a:r>
            <a:r>
              <a:rPr sz="1100" b="0" dirty="0">
                <a:solidFill>
                  <a:srgbClr val="404040"/>
                </a:solidFill>
              </a:rPr>
              <a:t>. </a:t>
            </a:r>
            <a:endParaRPr lang="fr-FR" sz="1100" b="0" dirty="0">
              <a:solidFill>
                <a:srgbClr val="404040"/>
              </a:solidFill>
            </a:endParaRPr>
          </a:p>
          <a:p>
            <a:pPr algn="l">
              <a:spcAft>
                <a:spcPts val="600"/>
              </a:spcAft>
            </a:pPr>
            <a:r>
              <a:rPr sz="1100" b="1" dirty="0" err="1">
                <a:solidFill>
                  <a:srgbClr val="404040"/>
                </a:solidFill>
              </a:rPr>
              <a:t>Hospitalisation</a:t>
            </a:r>
            <a:r>
              <a:rPr sz="1100" b="1" dirty="0">
                <a:solidFill>
                  <a:srgbClr val="404040"/>
                </a:solidFill>
              </a:rPr>
              <a:t> </a:t>
            </a:r>
            <a:r>
              <a:rPr sz="1100" b="1" dirty="0" err="1">
                <a:solidFill>
                  <a:srgbClr val="404040"/>
                </a:solidFill>
              </a:rPr>
              <a:t>globale</a:t>
            </a:r>
            <a:r>
              <a:rPr sz="1100" b="1" dirty="0">
                <a:solidFill>
                  <a:srgbClr val="404040"/>
                </a:solidFill>
              </a:rPr>
              <a:t> </a:t>
            </a:r>
            <a:r>
              <a:rPr sz="1100" b="0" dirty="0">
                <a:solidFill>
                  <a:srgbClr val="404040"/>
                </a:solidFill>
              </a:rPr>
              <a:t>: </a:t>
            </a:r>
            <a:r>
              <a:rPr sz="1100" b="0" dirty="0" err="1">
                <a:solidFill>
                  <a:srgbClr val="404040"/>
                </a:solidFill>
              </a:rPr>
              <a:t>l'ensemble</a:t>
            </a:r>
            <a:r>
              <a:rPr sz="1100" b="0" dirty="0">
                <a:solidFill>
                  <a:srgbClr val="404040"/>
                </a:solidFill>
              </a:rPr>
              <a:t> du poste, 28 Md€ de </a:t>
            </a:r>
            <a:r>
              <a:rPr sz="1100" b="0" dirty="0" err="1">
                <a:solidFill>
                  <a:srgbClr val="404040"/>
                </a:solidFill>
              </a:rPr>
              <a:t>dépense</a:t>
            </a:r>
            <a:r>
              <a:rPr sz="1100" b="0" dirty="0">
                <a:solidFill>
                  <a:srgbClr val="404040"/>
                </a:solidFill>
              </a:rPr>
              <a:t> </a:t>
            </a:r>
            <a:r>
              <a:rPr sz="1100" b="0" dirty="0" err="1">
                <a:solidFill>
                  <a:srgbClr val="404040"/>
                </a:solidFill>
              </a:rPr>
              <a:t>en</a:t>
            </a:r>
            <a:r>
              <a:rPr sz="1100" b="0" dirty="0">
                <a:solidFill>
                  <a:srgbClr val="404040"/>
                </a:solidFill>
              </a:rPr>
              <a:t> 2023, transport,</a:t>
            </a:r>
            <a:r>
              <a:rPr lang="fr-FR" sz="1100" b="0" dirty="0">
                <a:solidFill>
                  <a:srgbClr val="404040"/>
                </a:solidFill>
              </a:rPr>
              <a:t> hospitalisation de séjour...</a:t>
            </a:r>
            <a:r>
              <a:rPr sz="1100" b="0" dirty="0">
                <a:solidFill>
                  <a:srgbClr val="404040"/>
                </a:solidFill>
              </a:rPr>
              <a:t>.</a:t>
            </a:r>
          </a:p>
        </p:txBody>
      </p:sp>
      <p:sp>
        <p:nvSpPr>
          <p:cNvPr id="10" name="Rounded Rectangle 9"/>
          <p:cNvSpPr/>
          <p:nvPr/>
        </p:nvSpPr>
        <p:spPr>
          <a:xfrm>
            <a:off x="466344" y="4694202"/>
            <a:ext cx="8229600" cy="737334"/>
          </a:xfrm>
          <a:prstGeom prst="roundRect">
            <a:avLst>
              <a:gd name="adj" fmla="val 6000"/>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66928" y="4707283"/>
            <a:ext cx="8010144" cy="655564"/>
          </a:xfrm>
          <a:prstGeom prst="rect">
            <a:avLst/>
          </a:prstGeom>
          <a:noFill/>
        </p:spPr>
        <p:txBody>
          <a:bodyPr wrap="square" lIns="45720" tIns="27432" rIns="45720" bIns="27432" anchor="t">
            <a:spAutoFit/>
          </a:bodyPr>
          <a:lstStyle/>
          <a:p>
            <a:pPr algn="l">
              <a:spcAft>
                <a:spcPts val="600"/>
              </a:spcAft>
            </a:pPr>
            <a:r>
              <a:rPr sz="1300" b="1" dirty="0">
                <a:solidFill>
                  <a:srgbClr val="EF4647"/>
                </a:solidFill>
              </a:rPr>
              <a:t>2025 est </a:t>
            </a:r>
            <a:r>
              <a:rPr sz="1300" b="1" dirty="0" err="1">
                <a:solidFill>
                  <a:srgbClr val="EF4647"/>
                </a:solidFill>
              </a:rPr>
              <a:t>liquidée</a:t>
            </a:r>
            <a:r>
              <a:rPr sz="1300" b="1" dirty="0">
                <a:solidFill>
                  <a:srgbClr val="EF4647"/>
                </a:solidFill>
              </a:rPr>
              <a:t> à 91 % au 31 </a:t>
            </a:r>
            <a:r>
              <a:rPr sz="1300" b="1" dirty="0" err="1">
                <a:solidFill>
                  <a:srgbClr val="EF4647"/>
                </a:solidFill>
              </a:rPr>
              <a:t>décembre</a:t>
            </a:r>
            <a:r>
              <a:rPr sz="1300" b="1" dirty="0">
                <a:solidFill>
                  <a:srgbClr val="EF4647"/>
                </a:solidFill>
              </a:rPr>
              <a:t> 2025, </a:t>
            </a:r>
            <a:r>
              <a:rPr lang="fr-FR" sz="1300" b="1" dirty="0">
                <a:solidFill>
                  <a:srgbClr val="EF4647"/>
                </a:solidFill>
              </a:rPr>
              <a:t>l’étude</a:t>
            </a:r>
            <a:r>
              <a:rPr sz="1300" b="1" dirty="0">
                <a:solidFill>
                  <a:srgbClr val="EF4647"/>
                </a:solidFill>
              </a:rPr>
              <a:t> la </a:t>
            </a:r>
            <a:r>
              <a:rPr sz="1300" b="1" dirty="0" err="1">
                <a:solidFill>
                  <a:srgbClr val="EF4647"/>
                </a:solidFill>
              </a:rPr>
              <a:t>projette</a:t>
            </a:r>
            <a:r>
              <a:rPr sz="1300" b="1" dirty="0">
                <a:solidFill>
                  <a:srgbClr val="EF4647"/>
                </a:solidFill>
              </a:rPr>
              <a:t> à 100 %</a:t>
            </a:r>
          </a:p>
          <a:p>
            <a:pPr algn="l">
              <a:spcAft>
                <a:spcPts val="400"/>
              </a:spcAft>
            </a:pPr>
            <a:r>
              <a:rPr sz="1050" b="0" dirty="0" err="1">
                <a:solidFill>
                  <a:srgbClr val="404040"/>
                </a:solidFill>
              </a:rPr>
              <a:t>Montant</a:t>
            </a:r>
            <a:r>
              <a:rPr sz="1050" b="0" dirty="0">
                <a:solidFill>
                  <a:srgbClr val="404040"/>
                </a:solidFill>
              </a:rPr>
              <a:t> </a:t>
            </a:r>
            <a:r>
              <a:rPr sz="1050" b="0" dirty="0" err="1">
                <a:solidFill>
                  <a:srgbClr val="404040"/>
                </a:solidFill>
              </a:rPr>
              <a:t>projeté</a:t>
            </a:r>
            <a:r>
              <a:rPr sz="1050" b="0" dirty="0">
                <a:solidFill>
                  <a:srgbClr val="404040"/>
                </a:solidFill>
              </a:rPr>
              <a:t> = </a:t>
            </a:r>
            <a:r>
              <a:rPr sz="1050" b="0" dirty="0" err="1">
                <a:solidFill>
                  <a:srgbClr val="404040"/>
                </a:solidFill>
              </a:rPr>
              <a:t>montant</a:t>
            </a:r>
            <a:r>
              <a:rPr sz="1050" b="0" dirty="0">
                <a:solidFill>
                  <a:srgbClr val="404040"/>
                </a:solidFill>
              </a:rPr>
              <a:t> </a:t>
            </a:r>
            <a:r>
              <a:rPr sz="1050" b="0" dirty="0" err="1">
                <a:solidFill>
                  <a:srgbClr val="404040"/>
                </a:solidFill>
              </a:rPr>
              <a:t>observé</a:t>
            </a:r>
            <a:r>
              <a:rPr sz="1050" b="0" dirty="0">
                <a:solidFill>
                  <a:srgbClr val="404040"/>
                </a:solidFill>
              </a:rPr>
              <a:t> ÷ part </a:t>
            </a:r>
            <a:r>
              <a:rPr sz="1050" b="0" dirty="0" err="1">
                <a:solidFill>
                  <a:srgbClr val="404040"/>
                </a:solidFill>
              </a:rPr>
              <a:t>que</a:t>
            </a:r>
            <a:r>
              <a:rPr sz="1050" b="0" dirty="0">
                <a:solidFill>
                  <a:srgbClr val="404040"/>
                </a:solidFill>
              </a:rPr>
              <a:t> </a:t>
            </a:r>
            <a:r>
              <a:rPr sz="1050" b="0" dirty="0" err="1">
                <a:solidFill>
                  <a:srgbClr val="404040"/>
                </a:solidFill>
              </a:rPr>
              <a:t>l'année</a:t>
            </a:r>
            <a:r>
              <a:rPr sz="1050" b="0" dirty="0">
                <a:solidFill>
                  <a:srgbClr val="404040"/>
                </a:solidFill>
              </a:rPr>
              <a:t> de </a:t>
            </a:r>
            <a:r>
              <a:rPr sz="1050" b="0" dirty="0" err="1">
                <a:solidFill>
                  <a:srgbClr val="404040"/>
                </a:solidFill>
              </a:rPr>
              <a:t>soins</a:t>
            </a:r>
            <a:r>
              <a:rPr sz="1050" b="0" dirty="0">
                <a:solidFill>
                  <a:srgbClr val="404040"/>
                </a:solidFill>
              </a:rPr>
              <a:t> 2024 </a:t>
            </a:r>
            <a:r>
              <a:rPr sz="1050" b="0" dirty="0" err="1">
                <a:solidFill>
                  <a:srgbClr val="404040"/>
                </a:solidFill>
              </a:rPr>
              <a:t>avait</a:t>
            </a:r>
            <a:r>
              <a:rPr sz="1050" b="0" dirty="0">
                <a:solidFill>
                  <a:srgbClr val="404040"/>
                </a:solidFill>
              </a:rPr>
              <a:t> </a:t>
            </a:r>
            <a:r>
              <a:rPr sz="1050" b="0" dirty="0" err="1">
                <a:solidFill>
                  <a:srgbClr val="404040"/>
                </a:solidFill>
              </a:rPr>
              <a:t>atteinte</a:t>
            </a:r>
            <a:r>
              <a:rPr sz="1050" b="0" dirty="0">
                <a:solidFill>
                  <a:srgbClr val="404040"/>
                </a:solidFill>
              </a:rPr>
              <a:t> à la </a:t>
            </a:r>
            <a:r>
              <a:rPr sz="1050" b="0" dirty="0" err="1">
                <a:solidFill>
                  <a:srgbClr val="404040"/>
                </a:solidFill>
              </a:rPr>
              <a:t>même</a:t>
            </a:r>
            <a:r>
              <a:rPr sz="1050" b="0" dirty="0">
                <a:solidFill>
                  <a:srgbClr val="404040"/>
                </a:solidFill>
              </a:rPr>
              <a:t> date (</a:t>
            </a:r>
            <a:r>
              <a:rPr sz="1050" b="0" dirty="0" err="1">
                <a:solidFill>
                  <a:srgbClr val="404040"/>
                </a:solidFill>
              </a:rPr>
              <a:t>honoraires</a:t>
            </a:r>
            <a:r>
              <a:rPr sz="1050" b="0" dirty="0">
                <a:solidFill>
                  <a:srgbClr val="404040"/>
                </a:solidFill>
              </a:rPr>
              <a:t> 93,9 %, ensemble 90,3 %). La </a:t>
            </a:r>
            <a:r>
              <a:rPr sz="1050" b="0" dirty="0" err="1">
                <a:solidFill>
                  <a:srgbClr val="404040"/>
                </a:solidFill>
              </a:rPr>
              <a:t>dépense</a:t>
            </a:r>
            <a:r>
              <a:rPr sz="1050" b="0" dirty="0">
                <a:solidFill>
                  <a:srgbClr val="404040"/>
                </a:solidFill>
              </a:rPr>
              <a:t> suit la </a:t>
            </a:r>
            <a:r>
              <a:rPr sz="1050" b="0" dirty="0" err="1">
                <a:solidFill>
                  <a:srgbClr val="404040"/>
                </a:solidFill>
              </a:rPr>
              <a:t>même</a:t>
            </a:r>
            <a:r>
              <a:rPr sz="1050" b="0" dirty="0">
                <a:solidFill>
                  <a:srgbClr val="404040"/>
                </a:solidFill>
              </a:rPr>
              <a:t> part, la part de </a:t>
            </a:r>
            <a:r>
              <a:rPr sz="1050" b="0" dirty="0" err="1">
                <a:solidFill>
                  <a:srgbClr val="404040"/>
                </a:solidFill>
              </a:rPr>
              <a:t>l'Assurance</a:t>
            </a:r>
            <a:r>
              <a:rPr sz="1050" b="0" dirty="0">
                <a:solidFill>
                  <a:srgbClr val="404040"/>
                </a:solidFill>
              </a:rPr>
              <a:t> </a:t>
            </a:r>
            <a:r>
              <a:rPr sz="1050" b="0" dirty="0" err="1">
                <a:solidFill>
                  <a:srgbClr val="404040"/>
                </a:solidFill>
              </a:rPr>
              <a:t>Maladie</a:t>
            </a:r>
            <a:r>
              <a:rPr sz="1050" b="0" dirty="0">
                <a:solidFill>
                  <a:srgbClr val="404040"/>
                </a:solidFill>
              </a:rPr>
              <a:t> ne change </a:t>
            </a:r>
            <a:r>
              <a:rPr sz="1050" b="0" dirty="0" err="1">
                <a:solidFill>
                  <a:srgbClr val="404040"/>
                </a:solidFill>
              </a:rPr>
              <a:t>donc</a:t>
            </a:r>
            <a:r>
              <a:rPr sz="1050" b="0" dirty="0">
                <a:solidFill>
                  <a:srgbClr val="404040"/>
                </a:solidFill>
              </a:rPr>
              <a:t> pas.</a:t>
            </a:r>
          </a:p>
        </p:txBody>
      </p:sp>
      <p:sp>
        <p:nvSpPr>
          <p:cNvPr id="13" name="Rounded Rectangle 12"/>
          <p:cNvSpPr/>
          <p:nvPr/>
        </p:nvSpPr>
        <p:spPr>
          <a:xfrm>
            <a:off x="457200" y="2267712"/>
            <a:ext cx="8229600" cy="9144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359152"/>
            <a:ext cx="8010144" cy="809452"/>
          </a:xfrm>
          <a:prstGeom prst="rect">
            <a:avLst/>
          </a:prstGeom>
          <a:noFill/>
        </p:spPr>
        <p:txBody>
          <a:bodyPr wrap="square" lIns="45720" tIns="27432" rIns="45720" bIns="27432" anchor="t">
            <a:spAutoFit/>
          </a:bodyPr>
          <a:lstStyle/>
          <a:p>
            <a:pPr>
              <a:spcAft>
                <a:spcPts val="600"/>
              </a:spcAft>
            </a:pPr>
            <a:r>
              <a:rPr lang="fr-FR" sz="1300" b="1" dirty="0">
                <a:solidFill>
                  <a:srgbClr val="5B0C02"/>
                </a:solidFill>
              </a:rPr>
              <a:t>Périmètre et limites de l’analyse DAMIR</a:t>
            </a:r>
          </a:p>
          <a:p>
            <a:pPr>
              <a:spcAft>
                <a:spcPts val="600"/>
              </a:spcAft>
            </a:pPr>
            <a:r>
              <a:rPr sz="1000" dirty="0">
                <a:solidFill>
                  <a:srgbClr val="404040"/>
                </a:solidFill>
              </a:rPr>
              <a:t>Le ROC est un </a:t>
            </a:r>
            <a:r>
              <a:rPr sz="1000" dirty="0" err="1">
                <a:solidFill>
                  <a:srgbClr val="404040"/>
                </a:solidFill>
              </a:rPr>
              <a:t>échange</a:t>
            </a:r>
            <a:r>
              <a:rPr sz="1000" dirty="0">
                <a:solidFill>
                  <a:srgbClr val="404040"/>
                </a:solidFill>
              </a:rPr>
              <a:t> de factures entre </a:t>
            </a:r>
            <a:r>
              <a:rPr sz="1000" dirty="0" err="1">
                <a:solidFill>
                  <a:srgbClr val="404040"/>
                </a:solidFill>
              </a:rPr>
              <a:t>l'établissement</a:t>
            </a:r>
            <a:r>
              <a:rPr sz="1000" dirty="0">
                <a:solidFill>
                  <a:srgbClr val="404040"/>
                </a:solidFill>
              </a:rPr>
              <a:t> et la </a:t>
            </a:r>
            <a:r>
              <a:rPr sz="1000" dirty="0" err="1">
                <a:solidFill>
                  <a:srgbClr val="404040"/>
                </a:solidFill>
              </a:rPr>
              <a:t>complémentaire</a:t>
            </a:r>
            <a:r>
              <a:rPr sz="1000" dirty="0">
                <a:solidFill>
                  <a:srgbClr val="404040"/>
                </a:solidFill>
              </a:rPr>
              <a:t>, </a:t>
            </a:r>
            <a:r>
              <a:rPr sz="1000" dirty="0" err="1">
                <a:solidFill>
                  <a:srgbClr val="404040"/>
                </a:solidFill>
              </a:rPr>
              <a:t>que</a:t>
            </a:r>
            <a:r>
              <a:rPr sz="1000" dirty="0">
                <a:solidFill>
                  <a:srgbClr val="404040"/>
                </a:solidFill>
              </a:rPr>
              <a:t> DAMIR ne </a:t>
            </a:r>
            <a:r>
              <a:rPr sz="1000" dirty="0" err="1">
                <a:solidFill>
                  <a:srgbClr val="404040"/>
                </a:solidFill>
              </a:rPr>
              <a:t>contient</a:t>
            </a:r>
            <a:r>
              <a:rPr sz="1000" dirty="0">
                <a:solidFill>
                  <a:srgbClr val="404040"/>
                </a:solidFill>
              </a:rPr>
              <a:t> pas</a:t>
            </a:r>
            <a:r>
              <a:rPr lang="fr-FR" sz="1000" dirty="0">
                <a:solidFill>
                  <a:srgbClr val="404040"/>
                </a:solidFill>
              </a:rPr>
              <a:t>.</a:t>
            </a:r>
            <a:r>
              <a:rPr sz="1000" dirty="0">
                <a:solidFill>
                  <a:srgbClr val="404040"/>
                </a:solidFill>
              </a:rPr>
              <a:t> </a:t>
            </a:r>
            <a:r>
              <a:rPr lang="fr-FR" sz="1000" dirty="0">
                <a:solidFill>
                  <a:srgbClr val="404040"/>
                </a:solidFill>
              </a:rPr>
              <a:t>L</a:t>
            </a:r>
            <a:r>
              <a:rPr sz="1000" dirty="0">
                <a:solidFill>
                  <a:srgbClr val="404040"/>
                </a:solidFill>
              </a:rPr>
              <a:t>a base ne </a:t>
            </a:r>
            <a:r>
              <a:rPr sz="1000" dirty="0" err="1">
                <a:solidFill>
                  <a:srgbClr val="404040"/>
                </a:solidFill>
              </a:rPr>
              <a:t>porte</a:t>
            </a:r>
            <a:r>
              <a:rPr sz="1000" dirty="0">
                <a:solidFill>
                  <a:srgbClr val="404040"/>
                </a:solidFill>
              </a:rPr>
              <a:t> </a:t>
            </a:r>
            <a:r>
              <a:rPr sz="1000" dirty="0" err="1">
                <a:solidFill>
                  <a:srgbClr val="404040"/>
                </a:solidFill>
              </a:rPr>
              <a:t>que</a:t>
            </a:r>
            <a:r>
              <a:rPr sz="1000" dirty="0">
                <a:solidFill>
                  <a:srgbClr val="404040"/>
                </a:solidFill>
              </a:rPr>
              <a:t> les </a:t>
            </a:r>
            <a:r>
              <a:rPr sz="1000" dirty="0" err="1">
                <a:solidFill>
                  <a:srgbClr val="404040"/>
                </a:solidFill>
              </a:rPr>
              <a:t>remboursements</a:t>
            </a:r>
            <a:r>
              <a:rPr sz="1000" dirty="0">
                <a:solidFill>
                  <a:srgbClr val="404040"/>
                </a:solidFill>
              </a:rPr>
              <a:t> de </a:t>
            </a:r>
            <a:r>
              <a:rPr sz="1000" dirty="0" err="1">
                <a:solidFill>
                  <a:srgbClr val="404040"/>
                </a:solidFill>
              </a:rPr>
              <a:t>l'Assurance</a:t>
            </a:r>
            <a:r>
              <a:rPr sz="1000" dirty="0">
                <a:solidFill>
                  <a:srgbClr val="404040"/>
                </a:solidFill>
              </a:rPr>
              <a:t> </a:t>
            </a:r>
            <a:r>
              <a:rPr sz="1000" dirty="0" err="1">
                <a:solidFill>
                  <a:srgbClr val="404040"/>
                </a:solidFill>
              </a:rPr>
              <a:t>Maladie</a:t>
            </a:r>
            <a:r>
              <a:rPr sz="1000" dirty="0">
                <a:solidFill>
                  <a:srgbClr val="404040"/>
                </a:solidFill>
              </a:rPr>
              <a:t>. Elle </a:t>
            </a:r>
            <a:r>
              <a:rPr sz="1000" dirty="0" err="1">
                <a:solidFill>
                  <a:srgbClr val="404040"/>
                </a:solidFill>
              </a:rPr>
              <a:t>donne</a:t>
            </a:r>
            <a:r>
              <a:rPr sz="1000" dirty="0">
                <a:solidFill>
                  <a:srgbClr val="404040"/>
                </a:solidFill>
              </a:rPr>
              <a:t> </a:t>
            </a:r>
            <a:r>
              <a:rPr sz="1000" dirty="0" err="1">
                <a:solidFill>
                  <a:srgbClr val="404040"/>
                </a:solidFill>
              </a:rPr>
              <a:t>en</a:t>
            </a:r>
            <a:r>
              <a:rPr sz="1000" dirty="0">
                <a:solidFill>
                  <a:srgbClr val="404040"/>
                </a:solidFill>
              </a:rPr>
              <a:t> revanche le </a:t>
            </a:r>
            <a:r>
              <a:rPr sz="1000" dirty="0" err="1">
                <a:solidFill>
                  <a:srgbClr val="404040"/>
                </a:solidFill>
              </a:rPr>
              <a:t>repère</a:t>
            </a:r>
            <a:r>
              <a:rPr sz="1000" dirty="0">
                <a:solidFill>
                  <a:srgbClr val="404040"/>
                </a:solidFill>
              </a:rPr>
              <a:t> de </a:t>
            </a:r>
            <a:r>
              <a:rPr sz="1000" dirty="0" err="1">
                <a:solidFill>
                  <a:srgbClr val="404040"/>
                </a:solidFill>
              </a:rPr>
              <a:t>marché</a:t>
            </a:r>
            <a:r>
              <a:rPr sz="1000" dirty="0">
                <a:solidFill>
                  <a:srgbClr val="404040"/>
                </a:solidFill>
              </a:rPr>
              <a:t>, </a:t>
            </a:r>
            <a:r>
              <a:rPr sz="1000" dirty="0" err="1">
                <a:solidFill>
                  <a:srgbClr val="404040"/>
                </a:solidFill>
              </a:rPr>
              <a:t>en</a:t>
            </a:r>
            <a:r>
              <a:rPr sz="1000" dirty="0">
                <a:solidFill>
                  <a:srgbClr val="404040"/>
                </a:solidFill>
              </a:rPr>
              <a:t> </a:t>
            </a:r>
            <a:r>
              <a:rPr sz="1000" dirty="0" err="1">
                <a:solidFill>
                  <a:srgbClr val="404040"/>
                </a:solidFill>
              </a:rPr>
              <a:t>année</a:t>
            </a:r>
            <a:r>
              <a:rPr sz="1000" dirty="0">
                <a:solidFill>
                  <a:srgbClr val="404040"/>
                </a:solidFill>
              </a:rPr>
              <a:t> de </a:t>
            </a:r>
            <a:r>
              <a:rPr sz="1000" dirty="0" err="1">
                <a:solidFill>
                  <a:srgbClr val="404040"/>
                </a:solidFill>
              </a:rPr>
              <a:t>soins</a:t>
            </a:r>
            <a:r>
              <a:rPr sz="1000" dirty="0">
                <a:solidFill>
                  <a:srgbClr val="404040"/>
                </a:solidFill>
              </a:rPr>
              <a:t> (date du </a:t>
            </a:r>
            <a:r>
              <a:rPr sz="1000" dirty="0" err="1">
                <a:solidFill>
                  <a:srgbClr val="404040"/>
                </a:solidFill>
              </a:rPr>
              <a:t>soin</a:t>
            </a:r>
            <a:r>
              <a:rPr sz="1000" dirty="0">
                <a:solidFill>
                  <a:srgbClr val="404040"/>
                </a:solidFill>
              </a:rPr>
              <a:t>) </a:t>
            </a:r>
            <a:r>
              <a:rPr sz="1000" dirty="0" err="1">
                <a:solidFill>
                  <a:srgbClr val="404040"/>
                </a:solidFill>
              </a:rPr>
              <a:t>comme</a:t>
            </a:r>
            <a:r>
              <a:rPr sz="1000" dirty="0">
                <a:solidFill>
                  <a:srgbClr val="404040"/>
                </a:solidFill>
              </a:rPr>
              <a:t> </a:t>
            </a:r>
            <a:r>
              <a:rPr sz="1000" dirty="0" err="1">
                <a:solidFill>
                  <a:srgbClr val="404040"/>
                </a:solidFill>
              </a:rPr>
              <a:t>en</a:t>
            </a:r>
            <a:r>
              <a:rPr sz="1000" dirty="0">
                <a:solidFill>
                  <a:srgbClr val="404040"/>
                </a:solidFill>
              </a:rPr>
              <a:t> </a:t>
            </a:r>
            <a:r>
              <a:rPr sz="1000" dirty="0" err="1">
                <a:solidFill>
                  <a:srgbClr val="404040"/>
                </a:solidFill>
              </a:rPr>
              <a:t>année</a:t>
            </a:r>
            <a:r>
              <a:rPr sz="1000" dirty="0">
                <a:solidFill>
                  <a:srgbClr val="404040"/>
                </a:solidFill>
              </a:rPr>
              <a:t> </a:t>
            </a:r>
            <a:r>
              <a:rPr sz="1000" dirty="0" err="1">
                <a:solidFill>
                  <a:srgbClr val="404040"/>
                </a:solidFill>
              </a:rPr>
              <a:t>comptable</a:t>
            </a:r>
            <a:r>
              <a:rPr sz="1000" dirty="0">
                <a:solidFill>
                  <a:srgbClr val="404040"/>
                </a:solidFill>
              </a:rPr>
              <a:t> (date </a:t>
            </a:r>
            <a:r>
              <a:rPr lang="fr-FR" sz="1000" dirty="0">
                <a:solidFill>
                  <a:srgbClr val="404040"/>
                </a:solidFill>
              </a:rPr>
              <a:t>de remboursement</a:t>
            </a:r>
            <a:r>
              <a:rPr sz="1000" dirty="0">
                <a:solidFill>
                  <a:srgbClr val="404040"/>
                </a:solidFill>
              </a:rPr>
              <a:t>) </a:t>
            </a:r>
            <a:r>
              <a:rPr lang="fr-FR" sz="1000" dirty="0">
                <a:solidFill>
                  <a:srgbClr val="404040"/>
                </a:solidFill>
              </a:rPr>
              <a:t>sur</a:t>
            </a:r>
            <a:r>
              <a:rPr sz="1000" dirty="0">
                <a:solidFill>
                  <a:srgbClr val="404040"/>
                </a:solidFill>
              </a:rPr>
              <a:t> </a:t>
            </a:r>
            <a:r>
              <a:rPr sz="1000" dirty="0" err="1">
                <a:solidFill>
                  <a:srgbClr val="404040"/>
                </a:solidFill>
              </a:rPr>
              <a:t>l'évolution</a:t>
            </a:r>
            <a:r>
              <a:rPr sz="1000" dirty="0">
                <a:solidFill>
                  <a:srgbClr val="404040"/>
                </a:solidFill>
              </a:rPr>
              <a:t> de la </a:t>
            </a:r>
            <a:r>
              <a:rPr sz="1000" dirty="0" err="1">
                <a:solidFill>
                  <a:srgbClr val="404040"/>
                </a:solidFill>
              </a:rPr>
              <a:t>dépense</a:t>
            </a:r>
            <a:r>
              <a:rPr sz="1000" dirty="0">
                <a:solidFill>
                  <a:srgbClr val="404040"/>
                </a:solidFill>
              </a:rPr>
              <a:t> et de la part </a:t>
            </a:r>
            <a:r>
              <a:rPr sz="1000" dirty="0" err="1">
                <a:solidFill>
                  <a:srgbClr val="404040"/>
                </a:solidFill>
              </a:rPr>
              <a:t>prise</a:t>
            </a:r>
            <a:r>
              <a:rPr sz="1000" dirty="0">
                <a:solidFill>
                  <a:srgbClr val="404040"/>
                </a:solidFill>
              </a:rPr>
              <a:t> </a:t>
            </a:r>
            <a:r>
              <a:rPr sz="1000" dirty="0" err="1">
                <a:solidFill>
                  <a:srgbClr val="404040"/>
                </a:solidFill>
              </a:rPr>
              <a:t>en</a:t>
            </a:r>
            <a:r>
              <a:rPr sz="1000" dirty="0">
                <a:solidFill>
                  <a:srgbClr val="404040"/>
                </a:solidFill>
              </a:rPr>
              <a:t> charge par </a:t>
            </a:r>
            <a:r>
              <a:rPr sz="1000" dirty="0" err="1">
                <a:solidFill>
                  <a:srgbClr val="404040"/>
                </a:solidFill>
              </a:rPr>
              <a:t>l'Assurance</a:t>
            </a:r>
            <a:r>
              <a:rPr sz="1000" dirty="0">
                <a:solidFill>
                  <a:srgbClr val="404040"/>
                </a:solidFill>
              </a:rPr>
              <a:t> </a:t>
            </a:r>
            <a:r>
              <a:rPr sz="1000" dirty="0" err="1">
                <a:solidFill>
                  <a:srgbClr val="404040"/>
                </a:solidFill>
              </a:rPr>
              <a:t>Maladie</a:t>
            </a:r>
            <a:r>
              <a:rPr sz="1000" dirty="0">
                <a:solidFill>
                  <a:srgbClr val="404040"/>
                </a:solidFill>
              </a:rPr>
              <a:t>.</a:t>
            </a:r>
          </a:p>
        </p:txBody>
      </p:sp>
      <p:sp>
        <p:nvSpPr>
          <p:cNvPr id="15" name="Rounded Rectangle 14"/>
          <p:cNvSpPr/>
          <p:nvPr/>
        </p:nvSpPr>
        <p:spPr>
          <a:xfrm>
            <a:off x="457200" y="3327098"/>
            <a:ext cx="8229600" cy="123124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66928" y="3327098"/>
            <a:ext cx="8010144" cy="1332673"/>
          </a:xfrm>
          <a:prstGeom prst="rect">
            <a:avLst/>
          </a:prstGeom>
          <a:noFill/>
        </p:spPr>
        <p:txBody>
          <a:bodyPr wrap="square" lIns="45720" tIns="27432" rIns="45720" bIns="27432" anchor="t">
            <a:spAutoFit/>
          </a:bodyPr>
          <a:lstStyle/>
          <a:p>
            <a:pPr>
              <a:spcAft>
                <a:spcPts val="600"/>
              </a:spcAft>
            </a:pPr>
            <a:r>
              <a:rPr lang="fr-FR" sz="1300" b="1" dirty="0">
                <a:solidFill>
                  <a:srgbClr val="5B0C02"/>
                </a:solidFill>
              </a:rPr>
              <a:t>Lecture des résultats</a:t>
            </a:r>
          </a:p>
          <a:p>
            <a:pPr>
              <a:spcAft>
                <a:spcPts val="600"/>
              </a:spcAft>
            </a:pPr>
            <a:r>
              <a:rPr lang="fr-FR" sz="1000" dirty="0"/>
              <a:t>Si les dépenses augmentent et que la part remboursée par l’Assurance Maladie diminue, le montant restant après AMO augmente. Cela montre une pression réelle sur le financement des soins, qui peut expliquer la dégradation d’une garantie.</a:t>
            </a:r>
          </a:p>
          <a:p>
            <a:r>
              <a:rPr lang="fr-FR" sz="1000" dirty="0"/>
              <a:t>À l’inverse, si la part AMO augmente ou reste stable et que le reste après AMO ne progresse pas, une dégradation de la garantie ne s’explique pas directement par la dérive de la sinistralité. Dans ce cas, un effet lié aux délais de règlement, comme le ROC, devient une hypothèse plus crédible.</a:t>
            </a:r>
          </a:p>
          <a:p>
            <a:pPr algn="l">
              <a:spcAft>
                <a:spcPts val="400"/>
              </a:spcAft>
            </a:pPr>
            <a:r>
              <a:rPr sz="1000" dirty="0">
                <a:solidFill>
                  <a:srgbClr val="404040"/>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dirty="0" err="1">
                <a:solidFill>
                  <a:srgbClr val="EF4647"/>
                </a:solidFill>
              </a:rPr>
              <a:t>Hospitalisation</a:t>
            </a:r>
            <a:r>
              <a:rPr dirty="0">
                <a:solidFill>
                  <a:srgbClr val="EF4647"/>
                </a:solidFill>
              </a:rPr>
              <a:t> </a:t>
            </a:r>
            <a:r>
              <a:rPr dirty="0" err="1">
                <a:solidFill>
                  <a:srgbClr val="EF4647"/>
                </a:solidFill>
              </a:rPr>
              <a:t>Honoraires</a:t>
            </a:r>
            <a:r>
              <a:rPr lang="fr-FR" dirty="0">
                <a:solidFill>
                  <a:srgbClr val="EF4647"/>
                </a:solidFill>
              </a:rPr>
              <a:t>,</a:t>
            </a:r>
            <a:r>
              <a:rPr dirty="0">
                <a:solidFill>
                  <a:srgbClr val="EF4647"/>
                </a:solidFill>
              </a:rPr>
              <a:t> </a:t>
            </a:r>
            <a:r>
              <a:rPr dirty="0" err="1">
                <a:solidFill>
                  <a:srgbClr val="EF4647"/>
                </a:solidFill>
              </a:rPr>
              <a:t>une</a:t>
            </a:r>
            <a:r>
              <a:rPr dirty="0">
                <a:solidFill>
                  <a:srgbClr val="EF4647"/>
                </a:solidFill>
              </a:rPr>
              <a:t> </a:t>
            </a:r>
            <a:r>
              <a:rPr dirty="0" err="1">
                <a:solidFill>
                  <a:srgbClr val="EF4647"/>
                </a:solidFill>
              </a:rPr>
              <a:t>vraie</a:t>
            </a:r>
            <a:r>
              <a:rPr dirty="0">
                <a:solidFill>
                  <a:srgbClr val="EF4647"/>
                </a:solidFill>
              </a:rPr>
              <a:t> </a:t>
            </a:r>
            <a:r>
              <a:rPr dirty="0" err="1">
                <a:solidFill>
                  <a:srgbClr val="EF4647"/>
                </a:solidFill>
              </a:rPr>
              <a:t>dérive</a:t>
            </a:r>
            <a:endParaRPr dirty="0">
              <a:solidFill>
                <a:srgbClr val="EF4647"/>
              </a:solidFill>
            </a:endParaRPr>
          </a:p>
        </p:txBody>
      </p:sp>
      <p:sp>
        <p:nvSpPr>
          <p:cNvPr id="3" name="Text Placeholder 2"/>
          <p:cNvSpPr>
            <a:spLocks noGrp="1"/>
          </p:cNvSpPr>
          <p:nvPr>
            <p:ph type="body" sz="quarter" idx="13"/>
          </p:nvPr>
        </p:nvSpPr>
        <p:spPr>
          <a:xfrm>
            <a:off x="466344" y="612648"/>
            <a:ext cx="6766560" cy="292608"/>
          </a:xfrm>
        </p:spPr>
        <p:txBody>
          <a:bodyPr/>
          <a:lstStyle/>
          <a:p>
            <a:r>
              <a:rPr dirty="0" err="1"/>
              <a:t>Honoraires</a:t>
            </a:r>
            <a:r>
              <a:rPr dirty="0"/>
              <a:t> des </a:t>
            </a:r>
            <a:r>
              <a:rPr dirty="0" err="1"/>
              <a:t>praticiens</a:t>
            </a:r>
            <a:r>
              <a:rPr dirty="0"/>
              <a:t> </a:t>
            </a:r>
            <a:r>
              <a:rPr dirty="0" err="1"/>
              <a:t>en</a:t>
            </a:r>
            <a:r>
              <a:rPr dirty="0"/>
              <a:t> </a:t>
            </a:r>
            <a:r>
              <a:rPr dirty="0" err="1"/>
              <a:t>clinique</a:t>
            </a:r>
            <a:r>
              <a:rPr dirty="0"/>
              <a:t>, </a:t>
            </a:r>
            <a:r>
              <a:rPr dirty="0" err="1"/>
              <a:t>en</a:t>
            </a:r>
            <a:r>
              <a:rPr dirty="0"/>
              <a:t> Md€ </a:t>
            </a:r>
            <a:r>
              <a:rPr lang="fr-FR" dirty="0"/>
              <a:t>=&gt; </a:t>
            </a:r>
            <a:r>
              <a:rPr dirty="0"/>
              <a:t>2025 </a:t>
            </a:r>
            <a:r>
              <a:rPr dirty="0" err="1"/>
              <a:t>liquidée</a:t>
            </a:r>
            <a:r>
              <a:rPr dirty="0"/>
              <a:t> à 93,9 %</a:t>
            </a:r>
          </a:p>
        </p:txBody>
      </p:sp>
      <p:sp>
        <p:nvSpPr>
          <p:cNvPr id="4" name="TextBox 3"/>
          <p:cNvSpPr txBox="1"/>
          <p:nvPr/>
        </p:nvSpPr>
        <p:spPr>
          <a:xfrm>
            <a:off x="457200" y="1005840"/>
            <a:ext cx="4206240" cy="228600"/>
          </a:xfrm>
          <a:prstGeom prst="rect">
            <a:avLst/>
          </a:prstGeom>
          <a:noFill/>
        </p:spPr>
        <p:txBody>
          <a:bodyPr wrap="square" lIns="45720" tIns="27432" rIns="45720" bIns="27432" anchor="t">
            <a:spAutoFit/>
          </a:bodyPr>
          <a:lstStyle/>
          <a:p>
            <a:pPr algn="l">
              <a:spcAft>
                <a:spcPts val="0"/>
              </a:spcAft>
            </a:pPr>
            <a:r>
              <a:rPr sz="1000" b="1">
                <a:solidFill>
                  <a:srgbClr val="5B0C02"/>
                </a:solidFill>
              </a:rPr>
              <a:t>ANNÉE DE SOINS (SURVENANCE)</a:t>
            </a:r>
          </a:p>
        </p:txBody>
      </p:sp>
      <p:graphicFrame>
        <p:nvGraphicFramePr>
          <p:cNvPr id="5" name="Table 4"/>
          <p:cNvGraphicFramePr>
            <a:graphicFrameLocks noGrp="1"/>
          </p:cNvGraphicFramePr>
          <p:nvPr>
            <p:extLst>
              <p:ext uri="{D42A27DB-BD31-4B8C-83A1-F6EECF244321}">
                <p14:modId xmlns:p14="http://schemas.microsoft.com/office/powerpoint/2010/main" val="4168821195"/>
              </p:ext>
            </p:extLst>
          </p:nvPr>
        </p:nvGraphicFramePr>
        <p:xfrm>
          <a:off x="457200" y="1261872"/>
          <a:ext cx="4206240" cy="1024128"/>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256032">
                <a:tc>
                  <a:txBody>
                    <a:bodyPr/>
                    <a:lstStyle/>
                    <a:p>
                      <a:pPr algn="l"/>
                      <a:r>
                        <a:rPr sz="950" b="1">
                          <a:solidFill>
                            <a:srgbClr val="404040"/>
                          </a:solidFill>
                        </a:rPr>
                        <a:t>En Md€</a:t>
                      </a:r>
                    </a:p>
                  </a:txBody>
                  <a:tcPr marL="73152" marR="73152" marT="27432" marB="27432" anchor="ctr">
                    <a:solidFill>
                      <a:srgbClr val="F2F2F2"/>
                    </a:solidFill>
                  </a:tcPr>
                </a:tc>
                <a:tc>
                  <a:txBody>
                    <a:bodyPr/>
                    <a:lstStyle/>
                    <a:p>
                      <a:pPr algn="r"/>
                      <a:r>
                        <a:rPr sz="950" b="1">
                          <a:solidFill>
                            <a:srgbClr val="404040"/>
                          </a:solidFill>
                        </a:rPr>
                        <a:t>2023</a:t>
                      </a:r>
                    </a:p>
                  </a:txBody>
                  <a:tcPr marL="73152" marR="73152" marT="27432" marB="27432" anchor="ctr">
                    <a:solidFill>
                      <a:srgbClr val="F2F2F2"/>
                    </a:solidFill>
                  </a:tcPr>
                </a:tc>
                <a:tc>
                  <a:txBody>
                    <a:bodyPr/>
                    <a:lstStyle/>
                    <a:p>
                      <a:pPr algn="r"/>
                      <a:r>
                        <a:rPr sz="950" b="1">
                          <a:solidFill>
                            <a:srgbClr val="404040"/>
                          </a:solidFill>
                        </a:rPr>
                        <a:t>2025 liq.</a:t>
                      </a:r>
                    </a:p>
                  </a:txBody>
                  <a:tcPr marL="73152" marR="73152" marT="27432" marB="27432" anchor="ctr">
                    <a:solidFill>
                      <a:srgbClr val="F2F2F2"/>
                    </a:solidFill>
                  </a:tcPr>
                </a:tc>
                <a:tc>
                  <a:txBody>
                    <a:bodyPr/>
                    <a:lstStyle/>
                    <a:p>
                      <a:pPr algn="r"/>
                      <a:r>
                        <a:rPr sz="950" b="1">
                          <a:solidFill>
                            <a:srgbClr val="404040"/>
                          </a:solidFill>
                        </a:rPr>
                        <a:t>2025 proj.</a:t>
                      </a:r>
                    </a:p>
                  </a:txBody>
                  <a:tcPr marL="73152" marR="73152" marT="27432" marB="27432" anchor="ctr">
                    <a:solidFill>
                      <a:srgbClr val="F2F2F2"/>
                    </a:solidFill>
                  </a:tcPr>
                </a:tc>
                <a:tc>
                  <a:txBody>
                    <a:bodyPr/>
                    <a:lstStyle/>
                    <a:p>
                      <a:pPr algn="r"/>
                      <a:r>
                        <a:rPr sz="950" b="1">
                          <a:solidFill>
                            <a:srgbClr val="404040"/>
                          </a:solidFill>
                        </a:rPr>
                        <a:t>23→25</a:t>
                      </a:r>
                    </a:p>
                  </a:txBody>
                  <a:tcPr marL="73152" marR="73152" marT="27432" marB="27432" anchor="ctr">
                    <a:solidFill>
                      <a:srgbClr val="F2F2F2"/>
                    </a:solidFill>
                  </a:tcPr>
                </a:tc>
                <a:extLst>
                  <a:ext uri="{0D108BD9-81ED-4DB2-BD59-A6C34878D82A}">
                    <a16:rowId xmlns:a16="http://schemas.microsoft.com/office/drawing/2014/main" val="10000"/>
                  </a:ext>
                </a:extLst>
              </a:tr>
              <a:tr h="256032">
                <a:tc>
                  <a:txBody>
                    <a:bodyPr/>
                    <a:lstStyle/>
                    <a:p>
                      <a:pPr algn="l"/>
                      <a:r>
                        <a:rPr sz="950" b="1" dirty="0" err="1">
                          <a:solidFill>
                            <a:srgbClr val="404040"/>
                          </a:solidFill>
                        </a:rPr>
                        <a:t>Dépense</a:t>
                      </a:r>
                      <a:endParaRPr sz="950" b="1" dirty="0">
                        <a:solidFill>
                          <a:srgbClr val="404040"/>
                        </a:solidFill>
                      </a:endParaRPr>
                    </a:p>
                  </a:txBody>
                  <a:tcPr marL="73152" marR="73152" marT="27432" marB="27432" anchor="ctr">
                    <a:solidFill>
                      <a:srgbClr val="FFFFFF"/>
                    </a:solidFill>
                  </a:tcPr>
                </a:tc>
                <a:tc>
                  <a:txBody>
                    <a:bodyPr/>
                    <a:lstStyle/>
                    <a:p>
                      <a:pPr algn="r"/>
                      <a:r>
                        <a:rPr sz="950" b="0">
                          <a:solidFill>
                            <a:srgbClr val="404040"/>
                          </a:solidFill>
                        </a:rPr>
                        <a:t>1,32</a:t>
                      </a:r>
                    </a:p>
                  </a:txBody>
                  <a:tcPr marL="73152" marR="73152" marT="27432" marB="27432" anchor="ctr">
                    <a:solidFill>
                      <a:srgbClr val="FFFFFF"/>
                    </a:solidFill>
                  </a:tcPr>
                </a:tc>
                <a:tc>
                  <a:txBody>
                    <a:bodyPr/>
                    <a:lstStyle/>
                    <a:p>
                      <a:pPr algn="r"/>
                      <a:r>
                        <a:rPr sz="950" b="0">
                          <a:solidFill>
                            <a:srgbClr val="404040"/>
                          </a:solidFill>
                        </a:rPr>
                        <a:t>1,40</a:t>
                      </a:r>
                    </a:p>
                  </a:txBody>
                  <a:tcPr marL="73152" marR="73152" marT="27432" marB="27432" anchor="ctr">
                    <a:solidFill>
                      <a:srgbClr val="FFFFFF"/>
                    </a:solidFill>
                  </a:tcPr>
                </a:tc>
                <a:tc>
                  <a:txBody>
                    <a:bodyPr/>
                    <a:lstStyle/>
                    <a:p>
                      <a:pPr algn="r"/>
                      <a:r>
                        <a:rPr sz="950" b="0">
                          <a:solidFill>
                            <a:srgbClr val="404040"/>
                          </a:solidFill>
                        </a:rPr>
                        <a:t>1,49</a:t>
                      </a:r>
                    </a:p>
                  </a:txBody>
                  <a:tcPr marL="73152" marR="73152" marT="27432" marB="27432" anchor="ctr">
                    <a:solidFill>
                      <a:srgbClr val="FFFFFF"/>
                    </a:solidFill>
                  </a:tcPr>
                </a:tc>
                <a:tc>
                  <a:txBody>
                    <a:bodyPr/>
                    <a:lstStyle/>
                    <a:p>
                      <a:pPr algn="r"/>
                      <a:r>
                        <a:rPr sz="950" b="1">
                          <a:solidFill>
                            <a:srgbClr val="EF4647"/>
                          </a:solidFill>
                        </a:rPr>
                        <a:t>+12,5 %</a:t>
                      </a:r>
                    </a:p>
                  </a:txBody>
                  <a:tcPr marL="73152" marR="73152" marT="27432" marB="27432" anchor="ctr">
                    <a:solidFill>
                      <a:srgbClr val="FFFFFF"/>
                    </a:solidFill>
                  </a:tcPr>
                </a:tc>
                <a:extLst>
                  <a:ext uri="{0D108BD9-81ED-4DB2-BD59-A6C34878D82A}">
                    <a16:rowId xmlns:a16="http://schemas.microsoft.com/office/drawing/2014/main" val="10001"/>
                  </a:ext>
                </a:extLst>
              </a:tr>
              <a:tr h="256032">
                <a:tc>
                  <a:txBody>
                    <a:bodyPr/>
                    <a:lstStyle/>
                    <a:p>
                      <a:pPr algn="l"/>
                      <a:r>
                        <a:rPr sz="950" b="1">
                          <a:solidFill>
                            <a:srgbClr val="404040"/>
                          </a:solidFill>
                        </a:rPr>
                        <a:t>Remboursement AMO</a:t>
                      </a:r>
                    </a:p>
                  </a:txBody>
                  <a:tcPr marL="73152" marR="73152" marT="27432" marB="27432" anchor="ctr">
                    <a:solidFill>
                      <a:srgbClr val="FFFFFF"/>
                    </a:solidFill>
                  </a:tcPr>
                </a:tc>
                <a:tc>
                  <a:txBody>
                    <a:bodyPr/>
                    <a:lstStyle/>
                    <a:p>
                      <a:pPr algn="r"/>
                      <a:r>
                        <a:rPr sz="950" b="0" dirty="0">
                          <a:solidFill>
                            <a:srgbClr val="404040"/>
                          </a:solidFill>
                        </a:rPr>
                        <a:t>0,89</a:t>
                      </a:r>
                    </a:p>
                  </a:txBody>
                  <a:tcPr marL="73152" marR="73152" marT="27432" marB="27432" anchor="ctr">
                    <a:solidFill>
                      <a:srgbClr val="FFFFFF"/>
                    </a:solidFill>
                  </a:tcPr>
                </a:tc>
                <a:tc>
                  <a:txBody>
                    <a:bodyPr/>
                    <a:lstStyle/>
                    <a:p>
                      <a:pPr algn="r"/>
                      <a:r>
                        <a:rPr sz="950" b="0">
                          <a:solidFill>
                            <a:srgbClr val="404040"/>
                          </a:solidFill>
                        </a:rPr>
                        <a:t>0,90</a:t>
                      </a:r>
                    </a:p>
                  </a:txBody>
                  <a:tcPr marL="73152" marR="73152" marT="27432" marB="27432" anchor="ctr">
                    <a:solidFill>
                      <a:srgbClr val="FFFFFF"/>
                    </a:solidFill>
                  </a:tcPr>
                </a:tc>
                <a:tc>
                  <a:txBody>
                    <a:bodyPr/>
                    <a:lstStyle/>
                    <a:p>
                      <a:pPr algn="r"/>
                      <a:r>
                        <a:rPr sz="950" b="0">
                          <a:solidFill>
                            <a:srgbClr val="404040"/>
                          </a:solidFill>
                        </a:rPr>
                        <a:t>0,96</a:t>
                      </a:r>
                    </a:p>
                  </a:txBody>
                  <a:tcPr marL="73152" marR="73152" marT="27432" marB="27432" anchor="ctr">
                    <a:solidFill>
                      <a:srgbClr val="FFFFFF"/>
                    </a:solidFill>
                  </a:tcPr>
                </a:tc>
                <a:tc>
                  <a:txBody>
                    <a:bodyPr/>
                    <a:lstStyle/>
                    <a:p>
                      <a:pPr algn="r"/>
                      <a:r>
                        <a:rPr sz="950" b="1">
                          <a:solidFill>
                            <a:srgbClr val="EF4647"/>
                          </a:solidFill>
                        </a:rPr>
                        <a:t>+8,0 %</a:t>
                      </a:r>
                    </a:p>
                  </a:txBody>
                  <a:tcPr marL="73152" marR="73152" marT="27432" marB="27432" anchor="ctr">
                    <a:solidFill>
                      <a:srgbClr val="FFFFFF"/>
                    </a:solidFill>
                  </a:tcPr>
                </a:tc>
                <a:extLst>
                  <a:ext uri="{0D108BD9-81ED-4DB2-BD59-A6C34878D82A}">
                    <a16:rowId xmlns:a16="http://schemas.microsoft.com/office/drawing/2014/main" val="10002"/>
                  </a:ext>
                </a:extLst>
              </a:tr>
              <a:tr h="256032">
                <a:tc>
                  <a:txBody>
                    <a:bodyPr/>
                    <a:lstStyle/>
                    <a:p>
                      <a:pPr algn="l"/>
                      <a:r>
                        <a:rPr sz="950" b="1">
                          <a:solidFill>
                            <a:srgbClr val="404040"/>
                          </a:solidFill>
                        </a:rPr>
                        <a:t>Part AMO</a:t>
                      </a:r>
                    </a:p>
                  </a:txBody>
                  <a:tcPr marL="73152" marR="73152" marT="27432" marB="27432" anchor="ctr">
                    <a:solidFill>
                      <a:srgbClr val="FFFFFF"/>
                    </a:solidFill>
                  </a:tcPr>
                </a:tc>
                <a:tc>
                  <a:txBody>
                    <a:bodyPr/>
                    <a:lstStyle/>
                    <a:p>
                      <a:pPr algn="r"/>
                      <a:r>
                        <a:rPr sz="950" b="0">
                          <a:solidFill>
                            <a:srgbClr val="404040"/>
                          </a:solidFill>
                        </a:rPr>
                        <a:t>67,0 %</a:t>
                      </a:r>
                    </a:p>
                  </a:txBody>
                  <a:tcPr marL="73152" marR="73152" marT="27432" marB="27432" anchor="ctr">
                    <a:solidFill>
                      <a:srgbClr val="FFFFFF"/>
                    </a:solidFill>
                  </a:tcPr>
                </a:tc>
                <a:tc>
                  <a:txBody>
                    <a:bodyPr/>
                    <a:lstStyle/>
                    <a:p>
                      <a:pPr algn="r"/>
                      <a:r>
                        <a:rPr sz="950" b="0">
                          <a:solidFill>
                            <a:srgbClr val="404040"/>
                          </a:solidFill>
                        </a:rPr>
                        <a:t>64,3 %</a:t>
                      </a:r>
                    </a:p>
                  </a:txBody>
                  <a:tcPr marL="73152" marR="73152" marT="27432" marB="27432" anchor="ctr">
                    <a:solidFill>
                      <a:srgbClr val="FFFFFF"/>
                    </a:solidFill>
                  </a:tcPr>
                </a:tc>
                <a:tc>
                  <a:txBody>
                    <a:bodyPr/>
                    <a:lstStyle/>
                    <a:p>
                      <a:pPr algn="r"/>
                      <a:r>
                        <a:rPr sz="950" b="0">
                          <a:solidFill>
                            <a:srgbClr val="404040"/>
                          </a:solidFill>
                        </a:rPr>
                        <a:t>64,3 %</a:t>
                      </a:r>
                    </a:p>
                  </a:txBody>
                  <a:tcPr marL="73152" marR="73152" marT="27432" marB="27432" anchor="ctr">
                    <a:solidFill>
                      <a:srgbClr val="FFFFFF"/>
                    </a:solidFill>
                  </a:tcPr>
                </a:tc>
                <a:tc>
                  <a:txBody>
                    <a:bodyPr/>
                    <a:lstStyle/>
                    <a:p>
                      <a:pPr algn="r"/>
                      <a:r>
                        <a:rPr sz="950" b="1" dirty="0">
                          <a:solidFill>
                            <a:srgbClr val="EF4647"/>
                          </a:solidFill>
                        </a:rPr>
                        <a:t>−2,7 pt</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846320" y="1005840"/>
            <a:ext cx="3840480" cy="228600"/>
          </a:xfrm>
          <a:prstGeom prst="rect">
            <a:avLst/>
          </a:prstGeom>
          <a:noFill/>
        </p:spPr>
        <p:txBody>
          <a:bodyPr wrap="square" lIns="45720" tIns="27432" rIns="45720" bIns="27432" anchor="t">
            <a:spAutoFit/>
          </a:bodyPr>
          <a:lstStyle/>
          <a:p>
            <a:pPr algn="l">
              <a:spcAft>
                <a:spcPts val="0"/>
              </a:spcAft>
            </a:pPr>
            <a:r>
              <a:rPr sz="1000" b="1">
                <a:solidFill>
                  <a:srgbClr val="5B0C02"/>
                </a:solidFill>
              </a:rPr>
              <a:t>ANNÉE COMPTABLE (RÈGLEMENT)</a:t>
            </a:r>
          </a:p>
        </p:txBody>
      </p:sp>
      <p:graphicFrame>
        <p:nvGraphicFramePr>
          <p:cNvPr id="7" name="Table 6"/>
          <p:cNvGraphicFramePr>
            <a:graphicFrameLocks noGrp="1"/>
          </p:cNvGraphicFramePr>
          <p:nvPr>
            <p:extLst>
              <p:ext uri="{D42A27DB-BD31-4B8C-83A1-F6EECF244321}">
                <p14:modId xmlns:p14="http://schemas.microsoft.com/office/powerpoint/2010/main" val="962923804"/>
              </p:ext>
            </p:extLst>
          </p:nvPr>
        </p:nvGraphicFramePr>
        <p:xfrm>
          <a:off x="4846320" y="1261872"/>
          <a:ext cx="3840480" cy="1024128"/>
        </p:xfrm>
        <a:graphic>
          <a:graphicData uri="http://schemas.openxmlformats.org/drawingml/2006/table">
            <a:tbl>
              <a:tblPr>
                <a:tableStyleId>{5C22544A-7EE6-4342-B048-85BDC9FD1C3A}</a:tableStyleId>
              </a:tblPr>
              <a:tblGrid>
                <a:gridCol w="1783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256032">
                <a:tc>
                  <a:txBody>
                    <a:bodyPr/>
                    <a:lstStyle/>
                    <a:p>
                      <a:pPr algn="l"/>
                      <a:r>
                        <a:rPr sz="950" b="1" dirty="0">
                          <a:solidFill>
                            <a:srgbClr val="404040"/>
                          </a:solidFill>
                        </a:rPr>
                        <a:t>En Md€</a:t>
                      </a:r>
                    </a:p>
                  </a:txBody>
                  <a:tcPr marL="73152" marR="73152" marT="27432" marB="27432" anchor="ctr">
                    <a:solidFill>
                      <a:srgbClr val="F2F2F2"/>
                    </a:solidFill>
                  </a:tcPr>
                </a:tc>
                <a:tc>
                  <a:txBody>
                    <a:bodyPr/>
                    <a:lstStyle/>
                    <a:p>
                      <a:pPr algn="r"/>
                      <a:r>
                        <a:rPr sz="950" b="1">
                          <a:solidFill>
                            <a:srgbClr val="404040"/>
                          </a:solidFill>
                        </a:rPr>
                        <a:t>2023</a:t>
                      </a:r>
                    </a:p>
                  </a:txBody>
                  <a:tcPr marL="73152" marR="73152" marT="27432" marB="27432" anchor="ctr">
                    <a:solidFill>
                      <a:srgbClr val="F2F2F2"/>
                    </a:solidFill>
                  </a:tcPr>
                </a:tc>
                <a:tc>
                  <a:txBody>
                    <a:bodyPr/>
                    <a:lstStyle/>
                    <a:p>
                      <a:pPr algn="r"/>
                      <a:r>
                        <a:rPr sz="950" b="1">
                          <a:solidFill>
                            <a:srgbClr val="404040"/>
                          </a:solidFill>
                        </a:rPr>
                        <a:t>2025</a:t>
                      </a:r>
                    </a:p>
                  </a:txBody>
                  <a:tcPr marL="73152" marR="73152" marT="27432" marB="27432" anchor="ctr">
                    <a:solidFill>
                      <a:srgbClr val="F2F2F2"/>
                    </a:solidFill>
                  </a:tcPr>
                </a:tc>
                <a:tc>
                  <a:txBody>
                    <a:bodyPr/>
                    <a:lstStyle/>
                    <a:p>
                      <a:pPr algn="r"/>
                      <a:r>
                        <a:rPr sz="950" b="1">
                          <a:solidFill>
                            <a:srgbClr val="404040"/>
                          </a:solidFill>
                        </a:rPr>
                        <a:t>23→25</a:t>
                      </a:r>
                    </a:p>
                  </a:txBody>
                  <a:tcPr marL="73152" marR="73152" marT="27432" marB="27432" anchor="ctr">
                    <a:solidFill>
                      <a:srgbClr val="F2F2F2"/>
                    </a:solidFill>
                  </a:tcPr>
                </a:tc>
                <a:extLst>
                  <a:ext uri="{0D108BD9-81ED-4DB2-BD59-A6C34878D82A}">
                    <a16:rowId xmlns:a16="http://schemas.microsoft.com/office/drawing/2014/main" val="10000"/>
                  </a:ext>
                </a:extLst>
              </a:tr>
              <a:tr h="256032">
                <a:tc>
                  <a:txBody>
                    <a:bodyPr/>
                    <a:lstStyle/>
                    <a:p>
                      <a:pPr algn="l"/>
                      <a:r>
                        <a:rPr sz="950" b="1" dirty="0" err="1">
                          <a:solidFill>
                            <a:srgbClr val="404040"/>
                          </a:solidFill>
                        </a:rPr>
                        <a:t>Dépense </a:t>
                      </a:r>
                    </a:p>
                  </a:txBody>
                  <a:tcPr marL="73152" marR="73152" marT="27432" marB="27432" anchor="ctr">
                    <a:solidFill>
                      <a:srgbClr val="FFFFFF"/>
                    </a:solidFill>
                  </a:tcPr>
                </a:tc>
                <a:tc>
                  <a:txBody>
                    <a:bodyPr/>
                    <a:lstStyle/>
                    <a:p>
                      <a:pPr algn="r"/>
                      <a:r>
                        <a:rPr sz="950" b="0">
                          <a:solidFill>
                            <a:srgbClr val="404040"/>
                          </a:solidFill>
                        </a:rPr>
                        <a:t>1,32</a:t>
                      </a:r>
                    </a:p>
                  </a:txBody>
                  <a:tcPr marL="73152" marR="73152" marT="27432" marB="27432" anchor="ctr">
                    <a:solidFill>
                      <a:srgbClr val="FFFFFF"/>
                    </a:solidFill>
                  </a:tcPr>
                </a:tc>
                <a:tc>
                  <a:txBody>
                    <a:bodyPr/>
                    <a:lstStyle/>
                    <a:p>
                      <a:pPr algn="r"/>
                      <a:r>
                        <a:rPr sz="950" b="0">
                          <a:solidFill>
                            <a:srgbClr val="404040"/>
                          </a:solidFill>
                        </a:rPr>
                        <a:t>1,48</a:t>
                      </a:r>
                    </a:p>
                  </a:txBody>
                  <a:tcPr marL="73152" marR="73152" marT="27432" marB="27432" anchor="ctr">
                    <a:solidFill>
                      <a:srgbClr val="FFFFFF"/>
                    </a:solidFill>
                  </a:tcPr>
                </a:tc>
                <a:tc>
                  <a:txBody>
                    <a:bodyPr/>
                    <a:lstStyle/>
                    <a:p>
                      <a:pPr algn="r"/>
                      <a:r>
                        <a:rPr sz="950" b="1">
                          <a:solidFill>
                            <a:srgbClr val="EF4647"/>
                          </a:solidFill>
                        </a:rPr>
                        <a:t>+12,1 %</a:t>
                      </a:r>
                    </a:p>
                  </a:txBody>
                  <a:tcPr marL="73152" marR="73152" marT="27432" marB="27432" anchor="ctr">
                    <a:solidFill>
                      <a:srgbClr val="FFFFFF"/>
                    </a:solidFill>
                  </a:tcPr>
                </a:tc>
                <a:extLst>
                  <a:ext uri="{0D108BD9-81ED-4DB2-BD59-A6C34878D82A}">
                    <a16:rowId xmlns:a16="http://schemas.microsoft.com/office/drawing/2014/main" val="10001"/>
                  </a:ext>
                </a:extLst>
              </a:tr>
              <a:tr h="256032">
                <a:tc>
                  <a:txBody>
                    <a:bodyPr/>
                    <a:lstStyle/>
                    <a:p>
                      <a:pPr algn="l"/>
                      <a:r>
                        <a:rPr sz="950" b="1" dirty="0" err="1">
                          <a:solidFill>
                            <a:srgbClr val="404040"/>
                          </a:solidFill>
                        </a:rPr>
                        <a:t>Remboursement AMO </a:t>
                      </a:r>
                    </a:p>
                  </a:txBody>
                  <a:tcPr marL="73152" marR="73152" marT="27432" marB="27432" anchor="ctr">
                    <a:solidFill>
                      <a:srgbClr val="FFFFFF"/>
                    </a:solidFill>
                  </a:tcPr>
                </a:tc>
                <a:tc>
                  <a:txBody>
                    <a:bodyPr/>
                    <a:lstStyle/>
                    <a:p>
                      <a:pPr algn="r"/>
                      <a:r>
                        <a:rPr sz="950" b="0">
                          <a:solidFill>
                            <a:srgbClr val="404040"/>
                          </a:solidFill>
                        </a:rPr>
                        <a:t>0,88</a:t>
                      </a:r>
                    </a:p>
                  </a:txBody>
                  <a:tcPr marL="73152" marR="73152" marT="27432" marB="27432" anchor="ctr">
                    <a:solidFill>
                      <a:srgbClr val="FFFFFF"/>
                    </a:solidFill>
                  </a:tcPr>
                </a:tc>
                <a:tc>
                  <a:txBody>
                    <a:bodyPr/>
                    <a:lstStyle/>
                    <a:p>
                      <a:pPr algn="r"/>
                      <a:r>
                        <a:rPr sz="950" b="0">
                          <a:solidFill>
                            <a:srgbClr val="404040"/>
                          </a:solidFill>
                        </a:rPr>
                        <a:t>0,95</a:t>
                      </a:r>
                    </a:p>
                  </a:txBody>
                  <a:tcPr marL="73152" marR="73152" marT="27432" marB="27432" anchor="ctr">
                    <a:solidFill>
                      <a:srgbClr val="FFFFFF"/>
                    </a:solidFill>
                  </a:tcPr>
                </a:tc>
                <a:tc>
                  <a:txBody>
                    <a:bodyPr/>
                    <a:lstStyle/>
                    <a:p>
                      <a:pPr algn="r"/>
                      <a:r>
                        <a:rPr sz="950" b="1">
                          <a:solidFill>
                            <a:srgbClr val="EF4647"/>
                          </a:solidFill>
                        </a:rPr>
                        <a:t>+7,9 %</a:t>
                      </a:r>
                    </a:p>
                  </a:txBody>
                  <a:tcPr marL="73152" marR="73152" marT="27432" marB="27432" anchor="ctr">
                    <a:solidFill>
                      <a:srgbClr val="FFFFFF"/>
                    </a:solidFill>
                  </a:tcPr>
                </a:tc>
                <a:extLst>
                  <a:ext uri="{0D108BD9-81ED-4DB2-BD59-A6C34878D82A}">
                    <a16:rowId xmlns:a16="http://schemas.microsoft.com/office/drawing/2014/main" val="10002"/>
                  </a:ext>
                </a:extLst>
              </a:tr>
              <a:tr h="256032">
                <a:tc>
                  <a:txBody>
                    <a:bodyPr/>
                    <a:lstStyle/>
                    <a:p>
                      <a:pPr algn="l"/>
                      <a:r>
                        <a:rPr sz="950" b="1">
                          <a:solidFill>
                            <a:srgbClr val="404040"/>
                          </a:solidFill>
                        </a:rPr>
                        <a:t>Part AMO</a:t>
                      </a:r>
                    </a:p>
                  </a:txBody>
                  <a:tcPr marL="73152" marR="73152" marT="27432" marB="27432" anchor="ctr">
                    <a:solidFill>
                      <a:srgbClr val="FFFFFF"/>
                    </a:solidFill>
                  </a:tcPr>
                </a:tc>
                <a:tc>
                  <a:txBody>
                    <a:bodyPr/>
                    <a:lstStyle/>
                    <a:p>
                      <a:pPr algn="r"/>
                      <a:r>
                        <a:rPr sz="950" b="0">
                          <a:solidFill>
                            <a:srgbClr val="404040"/>
                          </a:solidFill>
                        </a:rPr>
                        <a:t>67,1 %</a:t>
                      </a:r>
                    </a:p>
                  </a:txBody>
                  <a:tcPr marL="73152" marR="73152" marT="27432" marB="27432" anchor="ctr">
                    <a:solidFill>
                      <a:srgbClr val="FFFFFF"/>
                    </a:solidFill>
                  </a:tcPr>
                </a:tc>
                <a:tc>
                  <a:txBody>
                    <a:bodyPr/>
                    <a:lstStyle/>
                    <a:p>
                      <a:pPr algn="r"/>
                      <a:r>
                        <a:rPr sz="950" b="0">
                          <a:solidFill>
                            <a:srgbClr val="404040"/>
                          </a:solidFill>
                        </a:rPr>
                        <a:t>64,5 %</a:t>
                      </a:r>
                    </a:p>
                  </a:txBody>
                  <a:tcPr marL="73152" marR="73152" marT="27432" marB="27432" anchor="ctr">
                    <a:solidFill>
                      <a:srgbClr val="FFFFFF"/>
                    </a:solidFill>
                  </a:tcPr>
                </a:tc>
                <a:tc>
                  <a:txBody>
                    <a:bodyPr/>
                    <a:lstStyle/>
                    <a:p>
                      <a:pPr algn="r"/>
                      <a:r>
                        <a:rPr sz="950" b="1" dirty="0">
                          <a:solidFill>
                            <a:srgbClr val="EF4647"/>
                          </a:solidFill>
                        </a:rPr>
                        <a:t>−2,5 pt</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457200" y="2450342"/>
            <a:ext cx="5120640" cy="228600"/>
          </a:xfrm>
          <a:prstGeom prst="rect">
            <a:avLst/>
          </a:prstGeom>
          <a:noFill/>
        </p:spPr>
        <p:txBody>
          <a:bodyPr wrap="square" lIns="45720" tIns="27432" rIns="45720" bIns="27432" anchor="t">
            <a:spAutoFit/>
          </a:bodyPr>
          <a:lstStyle/>
          <a:p>
            <a:pPr algn="l">
              <a:spcAft>
                <a:spcPts val="0"/>
              </a:spcAft>
            </a:pPr>
            <a:r>
              <a:rPr sz="1000" b="1" dirty="0">
                <a:solidFill>
                  <a:srgbClr val="5B0C02"/>
                </a:solidFill>
              </a:rPr>
              <a:t>ANNÉE COMPTABLE, EN MD€</a:t>
            </a:r>
          </a:p>
        </p:txBody>
      </p:sp>
      <p:graphicFrame>
        <p:nvGraphicFramePr>
          <p:cNvPr id="9" name="Chart 8"/>
          <p:cNvGraphicFramePr>
            <a:graphicFrameLocks noGrp="1"/>
          </p:cNvGraphicFramePr>
          <p:nvPr>
            <p:extLst>
              <p:ext uri="{D42A27DB-BD31-4B8C-83A1-F6EECF244321}">
                <p14:modId xmlns:p14="http://schemas.microsoft.com/office/powerpoint/2010/main" val="1065864117"/>
              </p:ext>
            </p:extLst>
          </p:nvPr>
        </p:nvGraphicFramePr>
        <p:xfrm>
          <a:off x="365760" y="2658842"/>
          <a:ext cx="5212080" cy="169164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5852160" y="2417390"/>
            <a:ext cx="2834640" cy="228600"/>
          </a:xfrm>
          <a:prstGeom prst="rect">
            <a:avLst/>
          </a:prstGeom>
          <a:noFill/>
        </p:spPr>
        <p:txBody>
          <a:bodyPr wrap="square" lIns="45720" tIns="27432" rIns="45720" bIns="27432" anchor="t">
            <a:spAutoFit/>
          </a:bodyPr>
          <a:lstStyle/>
          <a:p>
            <a:pPr algn="l">
              <a:spcAft>
                <a:spcPts val="0"/>
              </a:spcAft>
            </a:pPr>
            <a:r>
              <a:rPr sz="1000" b="1" dirty="0">
                <a:solidFill>
                  <a:srgbClr val="5B0C02"/>
                </a:solidFill>
              </a:rPr>
              <a:t>PART DE L'ASSURANCE MALADIE</a:t>
            </a:r>
          </a:p>
        </p:txBody>
      </p:sp>
      <p:graphicFrame>
        <p:nvGraphicFramePr>
          <p:cNvPr id="11" name="Chart 10"/>
          <p:cNvGraphicFramePr>
            <a:graphicFrameLocks noGrp="1"/>
          </p:cNvGraphicFramePr>
          <p:nvPr>
            <p:extLst>
              <p:ext uri="{D42A27DB-BD31-4B8C-83A1-F6EECF244321}">
                <p14:modId xmlns:p14="http://schemas.microsoft.com/office/powerpoint/2010/main" val="291479197"/>
              </p:ext>
            </p:extLst>
          </p:nvPr>
        </p:nvGraphicFramePr>
        <p:xfrm>
          <a:off x="5852160" y="2559080"/>
          <a:ext cx="2834640"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12" name="Rounded Rectangle 11"/>
          <p:cNvSpPr/>
          <p:nvPr/>
        </p:nvSpPr>
        <p:spPr>
          <a:xfrm>
            <a:off x="457200" y="4553712"/>
            <a:ext cx="8229600" cy="731520"/>
          </a:xfrm>
          <a:prstGeom prst="roundRect">
            <a:avLst>
              <a:gd name="adj" fmla="val 6000"/>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6928" y="4572000"/>
            <a:ext cx="8010144" cy="540148"/>
          </a:xfrm>
          <a:prstGeom prst="rect">
            <a:avLst/>
          </a:prstGeom>
          <a:noFill/>
        </p:spPr>
        <p:txBody>
          <a:bodyPr wrap="square" lIns="45720" tIns="27432" rIns="45720" bIns="27432" anchor="t">
            <a:spAutoFit/>
          </a:bodyPr>
          <a:lstStyle/>
          <a:p>
            <a:pPr algn="l">
              <a:spcAft>
                <a:spcPts val="0"/>
              </a:spcAft>
            </a:pPr>
            <a:r>
              <a:rPr lang="fr-FR" sz="1050" b="0" dirty="0">
                <a:solidFill>
                  <a:srgbClr val="404040"/>
                </a:solidFill>
              </a:rPr>
              <a:t>La dépense croît deux fois plus vite que le remboursement de l'Assurance Maladie (+12,5 % contre +8,0 % en année de soins) et la part de l'Assurance Maladie recule de 2,7 points, donc plus de reste à charge. L'année comptable donne les mêmes chiffres (+12,1 % et −2,5 points), il n'y a pas d'effet de cadence. C'est une dérive de sinistralité portée par les dépassements, la piste d'un effet du ROC est donc écartée.</a:t>
            </a:r>
          </a:p>
        </p:txBody>
      </p:sp>
      <p:sp>
        <p:nvSpPr>
          <p:cNvPr id="14" name="TextBox 13"/>
          <p:cNvSpPr txBox="1"/>
          <p:nvPr/>
        </p:nvSpPr>
        <p:spPr>
          <a:xfrm>
            <a:off x="457200" y="5342281"/>
            <a:ext cx="7498079" cy="178510"/>
          </a:xfrm>
          <a:prstGeom prst="rect">
            <a:avLst/>
          </a:prstGeom>
          <a:noFill/>
        </p:spPr>
        <p:txBody>
          <a:bodyPr wrap="square" lIns="45720" tIns="27432" rIns="45720" bIns="27432" anchor="t">
            <a:spAutoFit/>
          </a:bodyPr>
          <a:lstStyle/>
          <a:p>
            <a:pPr algn="l">
              <a:spcAft>
                <a:spcPts val="400"/>
              </a:spcAft>
            </a:pPr>
            <a:r>
              <a:rPr sz="800" b="0" dirty="0">
                <a:solidFill>
                  <a:srgbClr val="808080"/>
                </a:solidFill>
              </a:rPr>
              <a:t>Source : Open DAMIR, Assurance </a:t>
            </a:r>
            <a:r>
              <a:rPr sz="800" b="0" dirty="0" err="1">
                <a:solidFill>
                  <a:srgbClr val="808080"/>
                </a:solidFill>
              </a:rPr>
              <a:t>Maladie</a:t>
            </a:r>
            <a:r>
              <a:rPr sz="800" b="0" dirty="0">
                <a:solidFill>
                  <a:srgbClr val="808080"/>
                </a:solidFill>
              </a:rPr>
              <a:t> · flux </a:t>
            </a:r>
            <a:r>
              <a:rPr sz="800" b="0" dirty="0" err="1">
                <a:solidFill>
                  <a:srgbClr val="808080"/>
                </a:solidFill>
              </a:rPr>
              <a:t>arrêtés</a:t>
            </a:r>
            <a:r>
              <a:rPr sz="800" b="0" dirty="0">
                <a:solidFill>
                  <a:srgbClr val="808080"/>
                </a:solidFill>
              </a:rPr>
              <a:t> au 31/12/2025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dirty="0" err="1">
                <a:solidFill>
                  <a:srgbClr val="EF4647"/>
                </a:solidFill>
              </a:rPr>
              <a:t>Hospitalisation</a:t>
            </a:r>
            <a:r>
              <a:rPr dirty="0">
                <a:solidFill>
                  <a:srgbClr val="EF4647"/>
                </a:solidFill>
              </a:rPr>
              <a:t> </a:t>
            </a:r>
            <a:r>
              <a:rPr dirty="0" err="1">
                <a:solidFill>
                  <a:srgbClr val="EF4647"/>
                </a:solidFill>
              </a:rPr>
              <a:t>globale</a:t>
            </a:r>
            <a:r>
              <a:rPr dirty="0">
                <a:solidFill>
                  <a:srgbClr val="EF4647"/>
                </a:solidFill>
              </a:rPr>
              <a:t> </a:t>
            </a:r>
            <a:r>
              <a:rPr lang="fr-FR" dirty="0">
                <a:solidFill>
                  <a:srgbClr val="EF4647"/>
                </a:solidFill>
              </a:rPr>
              <a:t>=&gt;</a:t>
            </a:r>
            <a:r>
              <a:rPr dirty="0">
                <a:solidFill>
                  <a:srgbClr val="EF4647"/>
                </a:solidFill>
              </a:rPr>
              <a:t> </a:t>
            </a:r>
            <a:r>
              <a:rPr dirty="0" err="1">
                <a:solidFill>
                  <a:srgbClr val="EF4647"/>
                </a:solidFill>
              </a:rPr>
              <a:t>une</a:t>
            </a:r>
            <a:r>
              <a:rPr dirty="0">
                <a:solidFill>
                  <a:srgbClr val="EF4647"/>
                </a:solidFill>
              </a:rPr>
              <a:t> </a:t>
            </a:r>
            <a:r>
              <a:rPr dirty="0" err="1">
                <a:solidFill>
                  <a:srgbClr val="EF4647"/>
                </a:solidFill>
              </a:rPr>
              <a:t>piste</a:t>
            </a:r>
            <a:r>
              <a:rPr dirty="0">
                <a:solidFill>
                  <a:srgbClr val="EF4647"/>
                </a:solidFill>
              </a:rPr>
              <a:t> ROC</a:t>
            </a:r>
          </a:p>
        </p:txBody>
      </p:sp>
      <p:sp>
        <p:nvSpPr>
          <p:cNvPr id="3" name="Text Placeholder 2"/>
          <p:cNvSpPr>
            <a:spLocks noGrp="1"/>
          </p:cNvSpPr>
          <p:nvPr>
            <p:ph type="body" sz="quarter" idx="13"/>
          </p:nvPr>
        </p:nvSpPr>
        <p:spPr>
          <a:xfrm>
            <a:off x="466344" y="612648"/>
            <a:ext cx="6766560" cy="292608"/>
          </a:xfrm>
        </p:spPr>
        <p:txBody>
          <a:bodyPr/>
          <a:lstStyle/>
          <a:p>
            <a:r>
              <a:rPr dirty="0"/>
              <a:t>Ensemble du poste </a:t>
            </a:r>
            <a:r>
              <a:rPr dirty="0" err="1"/>
              <a:t>Hospitalisation</a:t>
            </a:r>
            <a:r>
              <a:rPr dirty="0"/>
              <a:t>, </a:t>
            </a:r>
            <a:r>
              <a:rPr dirty="0" err="1"/>
              <a:t>en</a:t>
            </a:r>
            <a:r>
              <a:rPr dirty="0"/>
              <a:t> Md€</a:t>
            </a:r>
            <a:r>
              <a:rPr lang="fr-FR" dirty="0"/>
              <a:t> =&gt; </a:t>
            </a:r>
            <a:r>
              <a:rPr dirty="0"/>
              <a:t> 2025 </a:t>
            </a:r>
            <a:r>
              <a:rPr dirty="0" err="1"/>
              <a:t>liquidée</a:t>
            </a:r>
            <a:r>
              <a:rPr dirty="0"/>
              <a:t> à 90,3 %</a:t>
            </a:r>
          </a:p>
        </p:txBody>
      </p:sp>
      <p:sp>
        <p:nvSpPr>
          <p:cNvPr id="4" name="TextBox 3"/>
          <p:cNvSpPr txBox="1"/>
          <p:nvPr/>
        </p:nvSpPr>
        <p:spPr>
          <a:xfrm>
            <a:off x="457200" y="1005840"/>
            <a:ext cx="4206240" cy="228600"/>
          </a:xfrm>
          <a:prstGeom prst="rect">
            <a:avLst/>
          </a:prstGeom>
          <a:noFill/>
        </p:spPr>
        <p:txBody>
          <a:bodyPr wrap="square" lIns="45720" tIns="27432" rIns="45720" bIns="27432" anchor="t">
            <a:spAutoFit/>
          </a:bodyPr>
          <a:lstStyle/>
          <a:p>
            <a:pPr algn="l">
              <a:spcAft>
                <a:spcPts val="0"/>
              </a:spcAft>
            </a:pPr>
            <a:r>
              <a:rPr sz="1000" b="1">
                <a:solidFill>
                  <a:srgbClr val="5B0C02"/>
                </a:solidFill>
              </a:rPr>
              <a:t>ANNÉE DE SOINS (SURVENANCE)</a:t>
            </a:r>
          </a:p>
        </p:txBody>
      </p:sp>
      <p:graphicFrame>
        <p:nvGraphicFramePr>
          <p:cNvPr id="5" name="Table 4"/>
          <p:cNvGraphicFramePr>
            <a:graphicFrameLocks noGrp="1"/>
          </p:cNvGraphicFramePr>
          <p:nvPr>
            <p:extLst>
              <p:ext uri="{D42A27DB-BD31-4B8C-83A1-F6EECF244321}">
                <p14:modId xmlns:p14="http://schemas.microsoft.com/office/powerpoint/2010/main" val="28668411"/>
              </p:ext>
            </p:extLst>
          </p:nvPr>
        </p:nvGraphicFramePr>
        <p:xfrm>
          <a:off x="457200" y="1261872"/>
          <a:ext cx="4206240" cy="1024128"/>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256032">
                <a:tc>
                  <a:txBody>
                    <a:bodyPr/>
                    <a:lstStyle/>
                    <a:p>
                      <a:pPr algn="l"/>
                      <a:r>
                        <a:rPr sz="950" b="1">
                          <a:solidFill>
                            <a:srgbClr val="404040"/>
                          </a:solidFill>
                        </a:rPr>
                        <a:t>En Md€</a:t>
                      </a:r>
                    </a:p>
                  </a:txBody>
                  <a:tcPr marL="73152" marR="73152" marT="27432" marB="27432" anchor="ctr">
                    <a:solidFill>
                      <a:srgbClr val="F2F2F2"/>
                    </a:solidFill>
                  </a:tcPr>
                </a:tc>
                <a:tc>
                  <a:txBody>
                    <a:bodyPr/>
                    <a:lstStyle/>
                    <a:p>
                      <a:pPr algn="r"/>
                      <a:r>
                        <a:rPr sz="950" b="1">
                          <a:solidFill>
                            <a:srgbClr val="404040"/>
                          </a:solidFill>
                        </a:rPr>
                        <a:t>2023</a:t>
                      </a:r>
                    </a:p>
                  </a:txBody>
                  <a:tcPr marL="73152" marR="73152" marT="27432" marB="27432" anchor="ctr">
                    <a:solidFill>
                      <a:srgbClr val="F2F2F2"/>
                    </a:solidFill>
                  </a:tcPr>
                </a:tc>
                <a:tc>
                  <a:txBody>
                    <a:bodyPr/>
                    <a:lstStyle/>
                    <a:p>
                      <a:pPr algn="r"/>
                      <a:r>
                        <a:rPr sz="950" b="1">
                          <a:solidFill>
                            <a:srgbClr val="404040"/>
                          </a:solidFill>
                        </a:rPr>
                        <a:t>2025 liq.</a:t>
                      </a:r>
                    </a:p>
                  </a:txBody>
                  <a:tcPr marL="73152" marR="73152" marT="27432" marB="27432" anchor="ctr">
                    <a:solidFill>
                      <a:srgbClr val="F2F2F2"/>
                    </a:solidFill>
                  </a:tcPr>
                </a:tc>
                <a:tc>
                  <a:txBody>
                    <a:bodyPr/>
                    <a:lstStyle/>
                    <a:p>
                      <a:pPr algn="r"/>
                      <a:r>
                        <a:rPr sz="950" b="1">
                          <a:solidFill>
                            <a:srgbClr val="404040"/>
                          </a:solidFill>
                        </a:rPr>
                        <a:t>2025 proj.</a:t>
                      </a:r>
                    </a:p>
                  </a:txBody>
                  <a:tcPr marL="73152" marR="73152" marT="27432" marB="27432" anchor="ctr">
                    <a:solidFill>
                      <a:srgbClr val="F2F2F2"/>
                    </a:solidFill>
                  </a:tcPr>
                </a:tc>
                <a:tc>
                  <a:txBody>
                    <a:bodyPr/>
                    <a:lstStyle/>
                    <a:p>
                      <a:pPr algn="r"/>
                      <a:r>
                        <a:rPr sz="950" b="1">
                          <a:solidFill>
                            <a:srgbClr val="404040"/>
                          </a:solidFill>
                        </a:rPr>
                        <a:t>23→25</a:t>
                      </a:r>
                    </a:p>
                  </a:txBody>
                  <a:tcPr marL="73152" marR="73152" marT="27432" marB="27432" anchor="ctr">
                    <a:solidFill>
                      <a:srgbClr val="F2F2F2"/>
                    </a:solidFill>
                  </a:tcPr>
                </a:tc>
                <a:extLst>
                  <a:ext uri="{0D108BD9-81ED-4DB2-BD59-A6C34878D82A}">
                    <a16:rowId xmlns:a16="http://schemas.microsoft.com/office/drawing/2014/main" val="10000"/>
                  </a:ext>
                </a:extLst>
              </a:tr>
              <a:tr h="256032">
                <a:tc>
                  <a:txBody>
                    <a:bodyPr/>
                    <a:lstStyle/>
                    <a:p>
                      <a:pPr algn="l"/>
                      <a:r>
                        <a:rPr sz="950" b="1" dirty="0" err="1">
                          <a:solidFill>
                            <a:srgbClr val="404040"/>
                          </a:solidFill>
                        </a:rPr>
                        <a:t>Dépense</a:t>
                      </a:r>
                      <a:r>
                        <a:rPr sz="950" b="1" dirty="0">
                          <a:solidFill>
                            <a:srgbClr val="404040"/>
                          </a:solidFill>
                        </a:rPr>
                        <a:t> </a:t>
                      </a:r>
                      <a:r>
                        <a:rPr sz="950" b="1" dirty="0" err="1">
                          <a:solidFill>
                            <a:srgbClr val="404040"/>
                          </a:solidFill>
                        </a:rPr>
                        <a:t>présentée</a:t>
                      </a:r>
                      <a:r>
                        <a:rPr sz="950" b="1" dirty="0">
                          <a:solidFill>
                            <a:srgbClr val="404040"/>
                          </a:solidFill>
                        </a:rPr>
                        <a:t> </a:t>
                      </a:r>
                    </a:p>
                  </a:txBody>
                  <a:tcPr marL="73152" marR="73152" marT="27432" marB="27432" anchor="ctr">
                    <a:solidFill>
                      <a:srgbClr val="FFFFFF"/>
                    </a:solidFill>
                  </a:tcPr>
                </a:tc>
                <a:tc>
                  <a:txBody>
                    <a:bodyPr/>
                    <a:lstStyle/>
                    <a:p>
                      <a:pPr algn="r"/>
                      <a:r>
                        <a:rPr sz="950" b="0">
                          <a:solidFill>
                            <a:srgbClr val="404040"/>
                          </a:solidFill>
                        </a:rPr>
                        <a:t>28,10</a:t>
                      </a:r>
                    </a:p>
                  </a:txBody>
                  <a:tcPr marL="73152" marR="73152" marT="27432" marB="27432" anchor="ctr">
                    <a:solidFill>
                      <a:srgbClr val="FFFFFF"/>
                    </a:solidFill>
                  </a:tcPr>
                </a:tc>
                <a:tc>
                  <a:txBody>
                    <a:bodyPr/>
                    <a:lstStyle/>
                    <a:p>
                      <a:pPr algn="r"/>
                      <a:r>
                        <a:rPr sz="950" b="0">
                          <a:solidFill>
                            <a:srgbClr val="404040"/>
                          </a:solidFill>
                        </a:rPr>
                        <a:t>26,97</a:t>
                      </a:r>
                    </a:p>
                  </a:txBody>
                  <a:tcPr marL="73152" marR="73152" marT="27432" marB="27432" anchor="ctr">
                    <a:solidFill>
                      <a:srgbClr val="FFFFFF"/>
                    </a:solidFill>
                  </a:tcPr>
                </a:tc>
                <a:tc>
                  <a:txBody>
                    <a:bodyPr/>
                    <a:lstStyle/>
                    <a:p>
                      <a:pPr algn="r"/>
                      <a:r>
                        <a:rPr sz="950" b="0">
                          <a:solidFill>
                            <a:srgbClr val="404040"/>
                          </a:solidFill>
                        </a:rPr>
                        <a:t>29,89</a:t>
                      </a:r>
                    </a:p>
                  </a:txBody>
                  <a:tcPr marL="73152" marR="73152" marT="27432" marB="27432" anchor="ctr">
                    <a:solidFill>
                      <a:srgbClr val="FFFFFF"/>
                    </a:solidFill>
                  </a:tcPr>
                </a:tc>
                <a:tc>
                  <a:txBody>
                    <a:bodyPr/>
                    <a:lstStyle/>
                    <a:p>
                      <a:pPr algn="r"/>
                      <a:r>
                        <a:rPr sz="950" b="1">
                          <a:solidFill>
                            <a:srgbClr val="EF4647"/>
                          </a:solidFill>
                        </a:rPr>
                        <a:t>+6,4 %</a:t>
                      </a:r>
                    </a:p>
                  </a:txBody>
                  <a:tcPr marL="73152" marR="73152" marT="27432" marB="27432" anchor="ctr">
                    <a:solidFill>
                      <a:srgbClr val="FFFFFF"/>
                    </a:solidFill>
                  </a:tcPr>
                </a:tc>
                <a:extLst>
                  <a:ext uri="{0D108BD9-81ED-4DB2-BD59-A6C34878D82A}">
                    <a16:rowId xmlns:a16="http://schemas.microsoft.com/office/drawing/2014/main" val="10001"/>
                  </a:ext>
                </a:extLst>
              </a:tr>
              <a:tr h="256032">
                <a:tc>
                  <a:txBody>
                    <a:bodyPr/>
                    <a:lstStyle/>
                    <a:p>
                      <a:pPr algn="l"/>
                      <a:r>
                        <a:rPr sz="950" b="1">
                          <a:solidFill>
                            <a:srgbClr val="404040"/>
                          </a:solidFill>
                        </a:rPr>
                        <a:t>Remboursement AMO</a:t>
                      </a:r>
                    </a:p>
                  </a:txBody>
                  <a:tcPr marL="73152" marR="73152" marT="27432" marB="27432" anchor="ctr">
                    <a:solidFill>
                      <a:srgbClr val="FFFFFF"/>
                    </a:solidFill>
                  </a:tcPr>
                </a:tc>
                <a:tc>
                  <a:txBody>
                    <a:bodyPr/>
                    <a:lstStyle/>
                    <a:p>
                      <a:pPr algn="r"/>
                      <a:r>
                        <a:rPr sz="950" b="0">
                          <a:solidFill>
                            <a:srgbClr val="404040"/>
                          </a:solidFill>
                        </a:rPr>
                        <a:t>24,02</a:t>
                      </a:r>
                    </a:p>
                  </a:txBody>
                  <a:tcPr marL="73152" marR="73152" marT="27432" marB="27432" anchor="ctr">
                    <a:solidFill>
                      <a:srgbClr val="FFFFFF"/>
                    </a:solidFill>
                  </a:tcPr>
                </a:tc>
                <a:tc>
                  <a:txBody>
                    <a:bodyPr/>
                    <a:lstStyle/>
                    <a:p>
                      <a:pPr algn="r"/>
                      <a:r>
                        <a:rPr sz="950" b="0">
                          <a:solidFill>
                            <a:srgbClr val="404040"/>
                          </a:solidFill>
                        </a:rPr>
                        <a:t>25,10</a:t>
                      </a:r>
                    </a:p>
                  </a:txBody>
                  <a:tcPr marL="73152" marR="73152" marT="27432" marB="27432" anchor="ctr">
                    <a:solidFill>
                      <a:srgbClr val="FFFFFF"/>
                    </a:solidFill>
                  </a:tcPr>
                </a:tc>
                <a:tc>
                  <a:txBody>
                    <a:bodyPr/>
                    <a:lstStyle/>
                    <a:p>
                      <a:pPr algn="r"/>
                      <a:r>
                        <a:rPr sz="950" b="0">
                          <a:solidFill>
                            <a:srgbClr val="404040"/>
                          </a:solidFill>
                        </a:rPr>
                        <a:t>27,81</a:t>
                      </a:r>
                    </a:p>
                  </a:txBody>
                  <a:tcPr marL="73152" marR="73152" marT="27432" marB="27432" anchor="ctr">
                    <a:solidFill>
                      <a:srgbClr val="FFFFFF"/>
                    </a:solidFill>
                  </a:tcPr>
                </a:tc>
                <a:tc>
                  <a:txBody>
                    <a:bodyPr/>
                    <a:lstStyle/>
                    <a:p>
                      <a:pPr algn="r"/>
                      <a:r>
                        <a:rPr sz="950" b="1">
                          <a:solidFill>
                            <a:srgbClr val="EF4647"/>
                          </a:solidFill>
                        </a:rPr>
                        <a:t>+15,8 %</a:t>
                      </a:r>
                    </a:p>
                  </a:txBody>
                  <a:tcPr marL="73152" marR="73152" marT="27432" marB="27432" anchor="ctr">
                    <a:solidFill>
                      <a:srgbClr val="FFFFFF"/>
                    </a:solidFill>
                  </a:tcPr>
                </a:tc>
                <a:extLst>
                  <a:ext uri="{0D108BD9-81ED-4DB2-BD59-A6C34878D82A}">
                    <a16:rowId xmlns:a16="http://schemas.microsoft.com/office/drawing/2014/main" val="10002"/>
                  </a:ext>
                </a:extLst>
              </a:tr>
              <a:tr h="256032">
                <a:tc>
                  <a:txBody>
                    <a:bodyPr/>
                    <a:lstStyle/>
                    <a:p>
                      <a:pPr algn="l"/>
                      <a:r>
                        <a:rPr sz="950" b="1" dirty="0">
                          <a:solidFill>
                            <a:srgbClr val="404040"/>
                          </a:solidFill>
                        </a:rPr>
                        <a:t>Part AMO </a:t>
                      </a:r>
                    </a:p>
                  </a:txBody>
                  <a:tcPr marL="73152" marR="73152" marT="27432" marB="27432" anchor="ctr">
                    <a:solidFill>
                      <a:srgbClr val="FFFFFF"/>
                    </a:solidFill>
                  </a:tcPr>
                </a:tc>
                <a:tc>
                  <a:txBody>
                    <a:bodyPr/>
                    <a:lstStyle/>
                    <a:p>
                      <a:pPr algn="r"/>
                      <a:r>
                        <a:rPr sz="950" b="0">
                          <a:solidFill>
                            <a:srgbClr val="404040"/>
                          </a:solidFill>
                        </a:rPr>
                        <a:t>85,5 %</a:t>
                      </a:r>
                    </a:p>
                  </a:txBody>
                  <a:tcPr marL="73152" marR="73152" marT="27432" marB="27432" anchor="ctr">
                    <a:solidFill>
                      <a:srgbClr val="FFFFFF"/>
                    </a:solidFill>
                  </a:tcPr>
                </a:tc>
                <a:tc>
                  <a:txBody>
                    <a:bodyPr/>
                    <a:lstStyle/>
                    <a:p>
                      <a:pPr algn="r"/>
                      <a:r>
                        <a:rPr sz="950" b="0">
                          <a:solidFill>
                            <a:srgbClr val="404040"/>
                          </a:solidFill>
                        </a:rPr>
                        <a:t>93,1 %</a:t>
                      </a:r>
                    </a:p>
                  </a:txBody>
                  <a:tcPr marL="73152" marR="73152" marT="27432" marB="27432" anchor="ctr">
                    <a:solidFill>
                      <a:srgbClr val="FFFFFF"/>
                    </a:solidFill>
                  </a:tcPr>
                </a:tc>
                <a:tc>
                  <a:txBody>
                    <a:bodyPr/>
                    <a:lstStyle/>
                    <a:p>
                      <a:pPr algn="r"/>
                      <a:r>
                        <a:rPr sz="950" b="0">
                          <a:solidFill>
                            <a:srgbClr val="404040"/>
                          </a:solidFill>
                        </a:rPr>
                        <a:t>93,1 %</a:t>
                      </a:r>
                    </a:p>
                  </a:txBody>
                  <a:tcPr marL="73152" marR="73152" marT="27432" marB="27432" anchor="ctr">
                    <a:solidFill>
                      <a:srgbClr val="FFFFFF"/>
                    </a:solidFill>
                  </a:tcPr>
                </a:tc>
                <a:tc>
                  <a:txBody>
                    <a:bodyPr/>
                    <a:lstStyle/>
                    <a:p>
                      <a:pPr algn="r"/>
                      <a:r>
                        <a:rPr sz="950" b="1" dirty="0">
                          <a:solidFill>
                            <a:srgbClr val="EF4647"/>
                          </a:solidFill>
                        </a:rPr>
                        <a:t>+7,6 pt</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846320" y="1005840"/>
            <a:ext cx="3840480" cy="228600"/>
          </a:xfrm>
          <a:prstGeom prst="rect">
            <a:avLst/>
          </a:prstGeom>
          <a:noFill/>
        </p:spPr>
        <p:txBody>
          <a:bodyPr wrap="square" lIns="45720" tIns="27432" rIns="45720" bIns="27432" anchor="t">
            <a:spAutoFit/>
          </a:bodyPr>
          <a:lstStyle/>
          <a:p>
            <a:pPr algn="l">
              <a:spcAft>
                <a:spcPts val="0"/>
              </a:spcAft>
            </a:pPr>
            <a:r>
              <a:rPr sz="1000" b="1" dirty="0">
                <a:solidFill>
                  <a:srgbClr val="5B0C02"/>
                </a:solidFill>
              </a:rPr>
              <a:t>ANNÉE COMPTABLE (RÈGLEMENT)</a:t>
            </a:r>
          </a:p>
        </p:txBody>
      </p:sp>
      <p:graphicFrame>
        <p:nvGraphicFramePr>
          <p:cNvPr id="7" name="Table 6"/>
          <p:cNvGraphicFramePr>
            <a:graphicFrameLocks noGrp="1"/>
          </p:cNvGraphicFramePr>
          <p:nvPr>
            <p:extLst>
              <p:ext uri="{D42A27DB-BD31-4B8C-83A1-F6EECF244321}">
                <p14:modId xmlns:p14="http://schemas.microsoft.com/office/powerpoint/2010/main" val="879677627"/>
              </p:ext>
            </p:extLst>
          </p:nvPr>
        </p:nvGraphicFramePr>
        <p:xfrm>
          <a:off x="4846320" y="1261872"/>
          <a:ext cx="3840480" cy="1024128"/>
        </p:xfrm>
        <a:graphic>
          <a:graphicData uri="http://schemas.openxmlformats.org/drawingml/2006/table">
            <a:tbl>
              <a:tblPr>
                <a:tableStyleId>{5C22544A-7EE6-4342-B048-85BDC9FD1C3A}</a:tableStyleId>
              </a:tblPr>
              <a:tblGrid>
                <a:gridCol w="1783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256032">
                <a:tc>
                  <a:txBody>
                    <a:bodyPr/>
                    <a:lstStyle/>
                    <a:p>
                      <a:pPr algn="l"/>
                      <a:r>
                        <a:rPr sz="950" b="1" dirty="0">
                          <a:solidFill>
                            <a:srgbClr val="404040"/>
                          </a:solidFill>
                        </a:rPr>
                        <a:t>En Md€</a:t>
                      </a:r>
                    </a:p>
                  </a:txBody>
                  <a:tcPr marL="73152" marR="73152" marT="27432" marB="27432" anchor="ctr">
                    <a:solidFill>
                      <a:srgbClr val="F2F2F2"/>
                    </a:solidFill>
                  </a:tcPr>
                </a:tc>
                <a:tc>
                  <a:txBody>
                    <a:bodyPr/>
                    <a:lstStyle/>
                    <a:p>
                      <a:pPr algn="r"/>
                      <a:r>
                        <a:rPr sz="950" b="1">
                          <a:solidFill>
                            <a:srgbClr val="404040"/>
                          </a:solidFill>
                        </a:rPr>
                        <a:t>2023</a:t>
                      </a:r>
                    </a:p>
                  </a:txBody>
                  <a:tcPr marL="73152" marR="73152" marT="27432" marB="27432" anchor="ctr">
                    <a:solidFill>
                      <a:srgbClr val="F2F2F2"/>
                    </a:solidFill>
                  </a:tcPr>
                </a:tc>
                <a:tc>
                  <a:txBody>
                    <a:bodyPr/>
                    <a:lstStyle/>
                    <a:p>
                      <a:pPr algn="r"/>
                      <a:r>
                        <a:rPr sz="950" b="1">
                          <a:solidFill>
                            <a:srgbClr val="404040"/>
                          </a:solidFill>
                        </a:rPr>
                        <a:t>2025</a:t>
                      </a:r>
                    </a:p>
                  </a:txBody>
                  <a:tcPr marL="73152" marR="73152" marT="27432" marB="27432" anchor="ctr">
                    <a:solidFill>
                      <a:srgbClr val="F2F2F2"/>
                    </a:solidFill>
                  </a:tcPr>
                </a:tc>
                <a:tc>
                  <a:txBody>
                    <a:bodyPr/>
                    <a:lstStyle/>
                    <a:p>
                      <a:pPr algn="r"/>
                      <a:r>
                        <a:rPr sz="950" b="1">
                          <a:solidFill>
                            <a:srgbClr val="404040"/>
                          </a:solidFill>
                        </a:rPr>
                        <a:t>23→25</a:t>
                      </a:r>
                    </a:p>
                  </a:txBody>
                  <a:tcPr marL="73152" marR="73152" marT="27432" marB="27432" anchor="ctr">
                    <a:solidFill>
                      <a:srgbClr val="F2F2F2"/>
                    </a:solidFill>
                  </a:tcPr>
                </a:tc>
                <a:extLst>
                  <a:ext uri="{0D108BD9-81ED-4DB2-BD59-A6C34878D82A}">
                    <a16:rowId xmlns:a16="http://schemas.microsoft.com/office/drawing/2014/main" val="10000"/>
                  </a:ext>
                </a:extLst>
              </a:tr>
              <a:tr h="256032">
                <a:tc>
                  <a:txBody>
                    <a:bodyPr/>
                    <a:lstStyle/>
                    <a:p>
                      <a:pPr algn="l"/>
                      <a:r>
                        <a:rPr sz="950" b="1">
                          <a:solidFill>
                            <a:srgbClr val="404040"/>
                          </a:solidFill>
                        </a:rPr>
                        <a:t>Dépense </a:t>
                      </a:r>
                    </a:p>
                  </a:txBody>
                  <a:tcPr marL="73152" marR="73152" marT="27432" marB="27432" anchor="ctr">
                    <a:solidFill>
                      <a:srgbClr val="FFFFFF"/>
                    </a:solidFill>
                  </a:tcPr>
                </a:tc>
                <a:tc>
                  <a:txBody>
                    <a:bodyPr/>
                    <a:lstStyle/>
                    <a:p>
                      <a:pPr algn="r"/>
                      <a:r>
                        <a:rPr sz="950" b="0">
                          <a:solidFill>
                            <a:srgbClr val="404040"/>
                          </a:solidFill>
                        </a:rPr>
                        <a:t>28,17</a:t>
                      </a:r>
                    </a:p>
                  </a:txBody>
                  <a:tcPr marL="73152" marR="73152" marT="27432" marB="27432" anchor="ctr">
                    <a:solidFill>
                      <a:srgbClr val="FFFFFF"/>
                    </a:solidFill>
                  </a:tcPr>
                </a:tc>
                <a:tc>
                  <a:txBody>
                    <a:bodyPr/>
                    <a:lstStyle/>
                    <a:p>
                      <a:pPr algn="r"/>
                      <a:r>
                        <a:rPr sz="950" b="0">
                          <a:solidFill>
                            <a:srgbClr val="404040"/>
                          </a:solidFill>
                        </a:rPr>
                        <a:t>29,70</a:t>
                      </a:r>
                    </a:p>
                  </a:txBody>
                  <a:tcPr marL="73152" marR="73152" marT="27432" marB="27432" anchor="ctr">
                    <a:solidFill>
                      <a:srgbClr val="FFFFFF"/>
                    </a:solidFill>
                  </a:tcPr>
                </a:tc>
                <a:tc>
                  <a:txBody>
                    <a:bodyPr/>
                    <a:lstStyle/>
                    <a:p>
                      <a:pPr algn="r"/>
                      <a:r>
                        <a:rPr sz="950" b="1">
                          <a:solidFill>
                            <a:srgbClr val="EF4647"/>
                          </a:solidFill>
                        </a:rPr>
                        <a:t>+5,4 %</a:t>
                      </a:r>
                    </a:p>
                  </a:txBody>
                  <a:tcPr marL="73152" marR="73152" marT="27432" marB="27432" anchor="ctr">
                    <a:solidFill>
                      <a:srgbClr val="FFFFFF"/>
                    </a:solidFill>
                  </a:tcPr>
                </a:tc>
                <a:extLst>
                  <a:ext uri="{0D108BD9-81ED-4DB2-BD59-A6C34878D82A}">
                    <a16:rowId xmlns:a16="http://schemas.microsoft.com/office/drawing/2014/main" val="10001"/>
                  </a:ext>
                </a:extLst>
              </a:tr>
              <a:tr h="256032">
                <a:tc>
                  <a:txBody>
                    <a:bodyPr/>
                    <a:lstStyle/>
                    <a:p>
                      <a:pPr algn="l"/>
                      <a:r>
                        <a:rPr sz="950" b="1" dirty="0" err="1">
                          <a:solidFill>
                            <a:srgbClr val="404040"/>
                          </a:solidFill>
                        </a:rPr>
                        <a:t>Remboursement</a:t>
                      </a:r>
                      <a:r>
                        <a:rPr sz="950" b="1" dirty="0">
                          <a:solidFill>
                            <a:srgbClr val="404040"/>
                          </a:solidFill>
                        </a:rPr>
                        <a:t> AMO </a:t>
                      </a:r>
                    </a:p>
                  </a:txBody>
                  <a:tcPr marL="73152" marR="73152" marT="27432" marB="27432" anchor="ctr">
                    <a:solidFill>
                      <a:srgbClr val="FFFFFF"/>
                    </a:solidFill>
                  </a:tcPr>
                </a:tc>
                <a:tc>
                  <a:txBody>
                    <a:bodyPr/>
                    <a:lstStyle/>
                    <a:p>
                      <a:pPr algn="r"/>
                      <a:r>
                        <a:rPr sz="950" b="0">
                          <a:solidFill>
                            <a:srgbClr val="404040"/>
                          </a:solidFill>
                        </a:rPr>
                        <a:t>24,10</a:t>
                      </a:r>
                    </a:p>
                  </a:txBody>
                  <a:tcPr marL="73152" marR="73152" marT="27432" marB="27432" anchor="ctr">
                    <a:solidFill>
                      <a:srgbClr val="FFFFFF"/>
                    </a:solidFill>
                  </a:tcPr>
                </a:tc>
                <a:tc>
                  <a:txBody>
                    <a:bodyPr/>
                    <a:lstStyle/>
                    <a:p>
                      <a:pPr algn="r"/>
                      <a:r>
                        <a:rPr sz="950" b="0">
                          <a:solidFill>
                            <a:srgbClr val="404040"/>
                          </a:solidFill>
                        </a:rPr>
                        <a:t>27,70</a:t>
                      </a:r>
                    </a:p>
                  </a:txBody>
                  <a:tcPr marL="73152" marR="73152" marT="27432" marB="27432" anchor="ctr">
                    <a:solidFill>
                      <a:srgbClr val="FFFFFF"/>
                    </a:solidFill>
                  </a:tcPr>
                </a:tc>
                <a:tc>
                  <a:txBody>
                    <a:bodyPr/>
                    <a:lstStyle/>
                    <a:p>
                      <a:pPr algn="r"/>
                      <a:r>
                        <a:rPr sz="950" b="1">
                          <a:solidFill>
                            <a:srgbClr val="EF4647"/>
                          </a:solidFill>
                        </a:rPr>
                        <a:t>+15,0 %</a:t>
                      </a:r>
                    </a:p>
                  </a:txBody>
                  <a:tcPr marL="73152" marR="73152" marT="27432" marB="27432" anchor="ctr">
                    <a:solidFill>
                      <a:srgbClr val="FFFFFF"/>
                    </a:solidFill>
                  </a:tcPr>
                </a:tc>
                <a:extLst>
                  <a:ext uri="{0D108BD9-81ED-4DB2-BD59-A6C34878D82A}">
                    <a16:rowId xmlns:a16="http://schemas.microsoft.com/office/drawing/2014/main" val="10002"/>
                  </a:ext>
                </a:extLst>
              </a:tr>
              <a:tr h="256032">
                <a:tc>
                  <a:txBody>
                    <a:bodyPr/>
                    <a:lstStyle/>
                    <a:p>
                      <a:pPr algn="l"/>
                      <a:r>
                        <a:rPr sz="950" b="1" dirty="0">
                          <a:solidFill>
                            <a:srgbClr val="404040"/>
                          </a:solidFill>
                        </a:rPr>
                        <a:t>Part AMO </a:t>
                      </a:r>
                    </a:p>
                  </a:txBody>
                  <a:tcPr marL="73152" marR="73152" marT="27432" marB="27432" anchor="ctr">
                    <a:solidFill>
                      <a:srgbClr val="FFFFFF"/>
                    </a:solidFill>
                  </a:tcPr>
                </a:tc>
                <a:tc>
                  <a:txBody>
                    <a:bodyPr/>
                    <a:lstStyle/>
                    <a:p>
                      <a:pPr algn="r"/>
                      <a:r>
                        <a:rPr sz="950" b="0">
                          <a:solidFill>
                            <a:srgbClr val="404040"/>
                          </a:solidFill>
                        </a:rPr>
                        <a:t>85,5 %</a:t>
                      </a:r>
                    </a:p>
                  </a:txBody>
                  <a:tcPr marL="73152" marR="73152" marT="27432" marB="27432" anchor="ctr">
                    <a:solidFill>
                      <a:srgbClr val="FFFFFF"/>
                    </a:solidFill>
                  </a:tcPr>
                </a:tc>
                <a:tc>
                  <a:txBody>
                    <a:bodyPr/>
                    <a:lstStyle/>
                    <a:p>
                      <a:pPr algn="r"/>
                      <a:r>
                        <a:rPr sz="950" b="0">
                          <a:solidFill>
                            <a:srgbClr val="404040"/>
                          </a:solidFill>
                        </a:rPr>
                        <a:t>93,3 %</a:t>
                      </a:r>
                    </a:p>
                  </a:txBody>
                  <a:tcPr marL="73152" marR="73152" marT="27432" marB="27432" anchor="ctr">
                    <a:solidFill>
                      <a:srgbClr val="FFFFFF"/>
                    </a:solidFill>
                  </a:tcPr>
                </a:tc>
                <a:tc>
                  <a:txBody>
                    <a:bodyPr/>
                    <a:lstStyle/>
                    <a:p>
                      <a:pPr algn="r"/>
                      <a:r>
                        <a:rPr sz="950" b="1" dirty="0">
                          <a:solidFill>
                            <a:srgbClr val="EF4647"/>
                          </a:solidFill>
                        </a:rPr>
                        <a:t>+7,8 pt</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457200" y="2697480"/>
            <a:ext cx="5120640" cy="228600"/>
          </a:xfrm>
          <a:prstGeom prst="rect">
            <a:avLst/>
          </a:prstGeom>
          <a:noFill/>
        </p:spPr>
        <p:txBody>
          <a:bodyPr wrap="square" lIns="45720" tIns="27432" rIns="45720" bIns="27432" anchor="t">
            <a:spAutoFit/>
          </a:bodyPr>
          <a:lstStyle/>
          <a:p>
            <a:pPr algn="l">
              <a:spcAft>
                <a:spcPts val="0"/>
              </a:spcAft>
            </a:pPr>
            <a:r>
              <a:rPr sz="1000" b="1">
                <a:solidFill>
                  <a:srgbClr val="5B0C02"/>
                </a:solidFill>
              </a:rPr>
              <a:t>ANNÉE COMPTABLE, EN MD€</a:t>
            </a:r>
          </a:p>
        </p:txBody>
      </p:sp>
      <p:graphicFrame>
        <p:nvGraphicFramePr>
          <p:cNvPr id="9" name="Chart 8"/>
          <p:cNvGraphicFramePr>
            <a:graphicFrameLocks noGrp="1"/>
          </p:cNvGraphicFramePr>
          <p:nvPr/>
        </p:nvGraphicFramePr>
        <p:xfrm>
          <a:off x="457200" y="2880360"/>
          <a:ext cx="5212080"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5852160" y="2697480"/>
            <a:ext cx="2834640" cy="228600"/>
          </a:xfrm>
          <a:prstGeom prst="rect">
            <a:avLst/>
          </a:prstGeom>
          <a:noFill/>
        </p:spPr>
        <p:txBody>
          <a:bodyPr wrap="square" lIns="45720" tIns="27432" rIns="45720" bIns="27432" anchor="t">
            <a:spAutoFit/>
          </a:bodyPr>
          <a:lstStyle/>
          <a:p>
            <a:pPr algn="l">
              <a:spcAft>
                <a:spcPts val="0"/>
              </a:spcAft>
            </a:pPr>
            <a:r>
              <a:rPr sz="1000" b="1">
                <a:solidFill>
                  <a:srgbClr val="5B0C02"/>
                </a:solidFill>
              </a:rPr>
              <a:t>PART DE L'ASSURANCE MALADIE</a:t>
            </a:r>
          </a:p>
        </p:txBody>
      </p:sp>
      <p:graphicFrame>
        <p:nvGraphicFramePr>
          <p:cNvPr id="11" name="Chart 10"/>
          <p:cNvGraphicFramePr>
            <a:graphicFrameLocks noGrp="1"/>
          </p:cNvGraphicFramePr>
          <p:nvPr/>
        </p:nvGraphicFramePr>
        <p:xfrm>
          <a:off x="5852160" y="2880360"/>
          <a:ext cx="2834640"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12" name="Rounded Rectangle 11"/>
          <p:cNvSpPr/>
          <p:nvPr/>
        </p:nvSpPr>
        <p:spPr>
          <a:xfrm>
            <a:off x="457200" y="4553712"/>
            <a:ext cx="8229600" cy="731520"/>
          </a:xfrm>
          <a:prstGeom prst="roundRect">
            <a:avLst>
              <a:gd name="adj" fmla="val 6000"/>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6928" y="4572000"/>
            <a:ext cx="8010144" cy="540148"/>
          </a:xfrm>
          <a:prstGeom prst="rect">
            <a:avLst/>
          </a:prstGeom>
          <a:noFill/>
        </p:spPr>
        <p:txBody>
          <a:bodyPr wrap="square" lIns="45720" tIns="27432" rIns="45720" bIns="27432" anchor="t">
            <a:spAutoFit/>
          </a:bodyPr>
          <a:lstStyle/>
          <a:p>
            <a:pPr algn="l">
              <a:spcAft>
                <a:spcPts val="0"/>
              </a:spcAft>
            </a:pPr>
            <a:r>
              <a:rPr sz="1050" b="0" dirty="0">
                <a:solidFill>
                  <a:srgbClr val="404040"/>
                </a:solidFill>
              </a:rPr>
              <a:t>Les </a:t>
            </a:r>
            <a:r>
              <a:rPr sz="1050" b="0" dirty="0" err="1">
                <a:solidFill>
                  <a:srgbClr val="404040"/>
                </a:solidFill>
              </a:rPr>
              <a:t>remboursements</a:t>
            </a:r>
            <a:r>
              <a:rPr sz="1050" b="0" dirty="0">
                <a:solidFill>
                  <a:srgbClr val="404040"/>
                </a:solidFill>
              </a:rPr>
              <a:t> de </a:t>
            </a:r>
            <a:r>
              <a:rPr sz="1050" b="0" dirty="0" err="1">
                <a:solidFill>
                  <a:srgbClr val="404040"/>
                </a:solidFill>
              </a:rPr>
              <a:t>l'Assurance</a:t>
            </a:r>
            <a:r>
              <a:rPr sz="1050" b="0" dirty="0">
                <a:solidFill>
                  <a:srgbClr val="404040"/>
                </a:solidFill>
              </a:rPr>
              <a:t> </a:t>
            </a:r>
            <a:r>
              <a:rPr sz="1050" b="0" dirty="0" err="1">
                <a:solidFill>
                  <a:srgbClr val="404040"/>
                </a:solidFill>
              </a:rPr>
              <a:t>Maladie</a:t>
            </a:r>
            <a:r>
              <a:rPr sz="1050" b="0" dirty="0">
                <a:solidFill>
                  <a:srgbClr val="404040"/>
                </a:solidFill>
              </a:rPr>
              <a:t> </a:t>
            </a:r>
            <a:r>
              <a:rPr sz="1050" b="0" dirty="0" err="1">
                <a:solidFill>
                  <a:srgbClr val="404040"/>
                </a:solidFill>
              </a:rPr>
              <a:t>progressent</a:t>
            </a:r>
            <a:r>
              <a:rPr sz="1050" b="0" dirty="0">
                <a:solidFill>
                  <a:srgbClr val="404040"/>
                </a:solidFill>
              </a:rPr>
              <a:t> de 15 % dans les deux </a:t>
            </a:r>
            <a:r>
              <a:rPr sz="1050" b="0" dirty="0" err="1">
                <a:solidFill>
                  <a:srgbClr val="404040"/>
                </a:solidFill>
              </a:rPr>
              <a:t>datations</a:t>
            </a:r>
            <a:r>
              <a:rPr sz="1050" b="0" dirty="0">
                <a:solidFill>
                  <a:srgbClr val="404040"/>
                </a:solidFill>
              </a:rPr>
              <a:t> et </a:t>
            </a:r>
            <a:r>
              <a:rPr sz="1050" b="0" dirty="0" err="1">
                <a:solidFill>
                  <a:srgbClr val="404040"/>
                </a:solidFill>
              </a:rPr>
              <a:t>sa</a:t>
            </a:r>
            <a:r>
              <a:rPr sz="1050" b="0" dirty="0">
                <a:solidFill>
                  <a:srgbClr val="404040"/>
                </a:solidFill>
              </a:rPr>
              <a:t> part </a:t>
            </a:r>
            <a:r>
              <a:rPr sz="1050" b="0" dirty="0" err="1">
                <a:solidFill>
                  <a:srgbClr val="404040"/>
                </a:solidFill>
              </a:rPr>
              <a:t>augmente</a:t>
            </a:r>
            <a:r>
              <a:rPr sz="1050" b="0" dirty="0">
                <a:solidFill>
                  <a:srgbClr val="404040"/>
                </a:solidFill>
              </a:rPr>
              <a:t> (85,5 % </a:t>
            </a:r>
            <a:r>
              <a:rPr sz="1050" b="0" dirty="0" err="1">
                <a:solidFill>
                  <a:srgbClr val="404040"/>
                </a:solidFill>
              </a:rPr>
              <a:t>en</a:t>
            </a:r>
            <a:r>
              <a:rPr sz="1050" b="0" dirty="0">
                <a:solidFill>
                  <a:srgbClr val="404040"/>
                </a:solidFill>
              </a:rPr>
              <a:t> 2023, 87,7 % </a:t>
            </a:r>
            <a:r>
              <a:rPr sz="1050" b="0" dirty="0" err="1">
                <a:solidFill>
                  <a:srgbClr val="404040"/>
                </a:solidFill>
              </a:rPr>
              <a:t>en</a:t>
            </a:r>
            <a:r>
              <a:rPr sz="1050" b="0" dirty="0">
                <a:solidFill>
                  <a:srgbClr val="404040"/>
                </a:solidFill>
              </a:rPr>
              <a:t> 2024), </a:t>
            </a:r>
            <a:r>
              <a:rPr sz="1050" b="0" dirty="0" err="1">
                <a:solidFill>
                  <a:srgbClr val="404040"/>
                </a:solidFill>
              </a:rPr>
              <a:t>donc</a:t>
            </a:r>
            <a:r>
              <a:rPr sz="1050" b="0" dirty="0">
                <a:solidFill>
                  <a:srgbClr val="404040"/>
                </a:solidFill>
              </a:rPr>
              <a:t> </a:t>
            </a:r>
            <a:r>
              <a:rPr sz="1050" b="0" dirty="0" err="1">
                <a:solidFill>
                  <a:srgbClr val="404040"/>
                </a:solidFill>
              </a:rPr>
              <a:t>moins</a:t>
            </a:r>
            <a:r>
              <a:rPr sz="1050" b="0" dirty="0">
                <a:solidFill>
                  <a:srgbClr val="404040"/>
                </a:solidFill>
              </a:rPr>
              <a:t> de </a:t>
            </a:r>
            <a:r>
              <a:rPr sz="1050" b="0" dirty="0" err="1">
                <a:solidFill>
                  <a:srgbClr val="404040"/>
                </a:solidFill>
              </a:rPr>
              <a:t>reste</a:t>
            </a:r>
            <a:r>
              <a:rPr sz="1050" b="0" dirty="0">
                <a:solidFill>
                  <a:srgbClr val="404040"/>
                </a:solidFill>
              </a:rPr>
              <a:t> à charge. Si la </a:t>
            </a:r>
            <a:r>
              <a:rPr sz="1050" b="0" dirty="0" err="1">
                <a:solidFill>
                  <a:srgbClr val="404040"/>
                </a:solidFill>
              </a:rPr>
              <a:t>garantie</a:t>
            </a:r>
            <a:r>
              <a:rPr sz="1050" b="0" dirty="0">
                <a:solidFill>
                  <a:srgbClr val="404040"/>
                </a:solidFill>
              </a:rPr>
              <a:t> </a:t>
            </a:r>
            <a:r>
              <a:rPr sz="1050" b="0" dirty="0" err="1">
                <a:solidFill>
                  <a:srgbClr val="404040"/>
                </a:solidFill>
              </a:rPr>
              <a:t>hospitalisation</a:t>
            </a:r>
            <a:r>
              <a:rPr sz="1050" b="0" dirty="0">
                <a:solidFill>
                  <a:srgbClr val="404040"/>
                </a:solidFill>
              </a:rPr>
              <a:t> se </a:t>
            </a:r>
            <a:r>
              <a:rPr sz="1050" b="0" dirty="0" err="1">
                <a:solidFill>
                  <a:srgbClr val="404040"/>
                </a:solidFill>
              </a:rPr>
              <a:t>dégrade</a:t>
            </a:r>
            <a:r>
              <a:rPr sz="1050" b="0" dirty="0">
                <a:solidFill>
                  <a:srgbClr val="404040"/>
                </a:solidFill>
              </a:rPr>
              <a:t> malgré </a:t>
            </a:r>
            <a:r>
              <a:rPr sz="1050" b="0" dirty="0" err="1">
                <a:solidFill>
                  <a:srgbClr val="404040"/>
                </a:solidFill>
              </a:rPr>
              <a:t>cela</a:t>
            </a:r>
            <a:r>
              <a:rPr sz="1050" b="0" dirty="0">
                <a:solidFill>
                  <a:srgbClr val="404040"/>
                </a:solidFill>
              </a:rPr>
              <a:t>, </a:t>
            </a:r>
            <a:r>
              <a:rPr sz="1050" b="0" dirty="0" err="1">
                <a:solidFill>
                  <a:srgbClr val="404040"/>
                </a:solidFill>
              </a:rPr>
              <a:t>l'explication</a:t>
            </a:r>
            <a:r>
              <a:rPr sz="1050" b="0" dirty="0">
                <a:solidFill>
                  <a:srgbClr val="404040"/>
                </a:solidFill>
              </a:rPr>
              <a:t> la plus probable est un </a:t>
            </a:r>
            <a:r>
              <a:rPr sz="1050" b="0" dirty="0" err="1">
                <a:solidFill>
                  <a:srgbClr val="404040"/>
                </a:solidFill>
              </a:rPr>
              <a:t>effet</a:t>
            </a:r>
            <a:r>
              <a:rPr sz="1050" b="0" dirty="0">
                <a:solidFill>
                  <a:srgbClr val="404040"/>
                </a:solidFill>
              </a:rPr>
              <a:t> de cadence </a:t>
            </a:r>
            <a:r>
              <a:rPr sz="1050" b="0" dirty="0" err="1">
                <a:solidFill>
                  <a:srgbClr val="404040"/>
                </a:solidFill>
              </a:rPr>
              <a:t>lié</a:t>
            </a:r>
            <a:r>
              <a:rPr sz="1050" b="0" dirty="0">
                <a:solidFill>
                  <a:srgbClr val="404040"/>
                </a:solidFill>
              </a:rPr>
              <a:t> au ROC, et non </a:t>
            </a:r>
            <a:r>
              <a:rPr sz="1050" b="0" dirty="0" err="1">
                <a:solidFill>
                  <a:srgbClr val="404040"/>
                </a:solidFill>
              </a:rPr>
              <a:t>une</a:t>
            </a:r>
            <a:r>
              <a:rPr sz="1050" b="0" dirty="0">
                <a:solidFill>
                  <a:srgbClr val="404040"/>
                </a:solidFill>
              </a:rPr>
              <a:t> </a:t>
            </a:r>
            <a:r>
              <a:rPr sz="1050" b="0" dirty="0" err="1">
                <a:solidFill>
                  <a:srgbClr val="404040"/>
                </a:solidFill>
              </a:rPr>
              <a:t>hausse</a:t>
            </a:r>
            <a:r>
              <a:rPr sz="1050" b="0" dirty="0">
                <a:solidFill>
                  <a:srgbClr val="404040"/>
                </a:solidFill>
              </a:rPr>
              <a:t> </a:t>
            </a:r>
            <a:r>
              <a:rPr sz="1050" b="0" dirty="0" err="1">
                <a:solidFill>
                  <a:srgbClr val="404040"/>
                </a:solidFill>
              </a:rPr>
              <a:t>réelle</a:t>
            </a:r>
            <a:r>
              <a:rPr sz="1050" b="0" dirty="0">
                <a:solidFill>
                  <a:srgbClr val="404040"/>
                </a:solidFill>
              </a:rPr>
              <a:t> de la </a:t>
            </a:r>
            <a:r>
              <a:rPr sz="1050" b="0" dirty="0" err="1">
                <a:solidFill>
                  <a:srgbClr val="404040"/>
                </a:solidFill>
              </a:rPr>
              <a:t>consommation</a:t>
            </a:r>
            <a:r>
              <a:rPr sz="1050" b="0" dirty="0">
                <a:solidFill>
                  <a:srgbClr val="404040"/>
                </a:solidFill>
              </a:rPr>
              <a:t>.</a:t>
            </a:r>
          </a:p>
        </p:txBody>
      </p:sp>
      <p:sp>
        <p:nvSpPr>
          <p:cNvPr id="16" name="TextBox 13">
            <a:extLst>
              <a:ext uri="{FF2B5EF4-FFF2-40B4-BE49-F238E27FC236}">
                <a16:creationId xmlns:a16="http://schemas.microsoft.com/office/drawing/2014/main" id="{DCEC8C80-88FC-7720-A5D1-A34619B745FE}"/>
              </a:ext>
            </a:extLst>
          </p:cNvPr>
          <p:cNvSpPr txBox="1"/>
          <p:nvPr/>
        </p:nvSpPr>
        <p:spPr>
          <a:xfrm>
            <a:off x="457200" y="5349240"/>
            <a:ext cx="7498079" cy="178510"/>
          </a:xfrm>
          <a:prstGeom prst="rect">
            <a:avLst/>
          </a:prstGeom>
          <a:noFill/>
        </p:spPr>
        <p:txBody>
          <a:bodyPr wrap="square" lIns="45720" tIns="27432" rIns="45720" bIns="27432" anchor="t">
            <a:spAutoFit/>
          </a:bodyPr>
          <a:lstStyle/>
          <a:p>
            <a:pPr algn="l">
              <a:spcAft>
                <a:spcPts val="400"/>
              </a:spcAft>
            </a:pPr>
            <a:r>
              <a:rPr sz="800" b="0" dirty="0">
                <a:solidFill>
                  <a:srgbClr val="808080"/>
                </a:solidFill>
              </a:rPr>
              <a:t>Source : Open DAMIR, Assurance </a:t>
            </a:r>
            <a:r>
              <a:rPr sz="800" b="0" dirty="0" err="1">
                <a:solidFill>
                  <a:srgbClr val="808080"/>
                </a:solidFill>
              </a:rPr>
              <a:t>Maladie</a:t>
            </a:r>
            <a:r>
              <a:rPr sz="800" b="0" dirty="0">
                <a:solidFill>
                  <a:srgbClr val="808080"/>
                </a:solidFill>
              </a:rPr>
              <a:t> · flux </a:t>
            </a:r>
            <a:r>
              <a:rPr sz="800" b="0" dirty="0" err="1">
                <a:solidFill>
                  <a:srgbClr val="808080"/>
                </a:solidFill>
              </a:rPr>
              <a:t>arrêtés</a:t>
            </a:r>
            <a:r>
              <a:rPr sz="800" b="0" dirty="0">
                <a:solidFill>
                  <a:srgbClr val="808080"/>
                </a:solidFill>
              </a:rPr>
              <a:t> au 31/12/2025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1">
            <a:extLst>
              <a:ext uri="{FF2B5EF4-FFF2-40B4-BE49-F238E27FC236}">
                <a16:creationId xmlns:a16="http://schemas.microsoft.com/office/drawing/2014/main" id="{67BBE7B8-62E3-D4FD-289C-D7829BB7BE14}"/>
              </a:ext>
            </a:extLst>
          </p:cNvPr>
          <p:cNvSpPr/>
          <p:nvPr/>
        </p:nvSpPr>
        <p:spPr>
          <a:xfrm>
            <a:off x="1019019" y="4196797"/>
            <a:ext cx="7426000" cy="731520"/>
          </a:xfrm>
          <a:prstGeom prst="roundRect">
            <a:avLst>
              <a:gd name="adj" fmla="val 6000"/>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3">
            <a:extLst>
              <a:ext uri="{FF2B5EF4-FFF2-40B4-BE49-F238E27FC236}">
                <a16:creationId xmlns:a16="http://schemas.microsoft.com/office/drawing/2014/main" id="{45500A96-504B-7347-A9D5-0D1170DC617B}"/>
              </a:ext>
            </a:extLst>
          </p:cNvPr>
          <p:cNvSpPr/>
          <p:nvPr/>
        </p:nvSpPr>
        <p:spPr>
          <a:xfrm>
            <a:off x="4873300" y="1411821"/>
            <a:ext cx="3391603" cy="2312124"/>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466344" y="283464"/>
            <a:ext cx="6766560" cy="310896"/>
          </a:xfrm>
        </p:spPr>
        <p:txBody>
          <a:bodyPr/>
          <a:lstStyle/>
          <a:p>
            <a:r>
              <a:rPr lang="fr-FR" dirty="0">
                <a:solidFill>
                  <a:srgbClr val="EF4647"/>
                </a:solidFill>
              </a:rPr>
              <a:t>Dérive observée et hypothèse ROC</a:t>
            </a:r>
            <a:endParaRPr dirty="0">
              <a:solidFill>
                <a:srgbClr val="EF4647"/>
              </a:solidFill>
            </a:endParaRPr>
          </a:p>
        </p:txBody>
      </p:sp>
      <p:sp>
        <p:nvSpPr>
          <p:cNvPr id="3" name="Text Placeholder 2"/>
          <p:cNvSpPr>
            <a:spLocks noGrp="1"/>
          </p:cNvSpPr>
          <p:nvPr>
            <p:ph type="body" sz="quarter" idx="13"/>
          </p:nvPr>
        </p:nvSpPr>
        <p:spPr>
          <a:xfrm>
            <a:off x="466344" y="612648"/>
            <a:ext cx="6766560" cy="292608"/>
          </a:xfrm>
        </p:spPr>
        <p:txBody>
          <a:bodyPr/>
          <a:lstStyle/>
          <a:p>
            <a:r>
              <a:rPr dirty="0"/>
              <a:t>Ce </a:t>
            </a:r>
            <a:r>
              <a:rPr dirty="0" err="1"/>
              <a:t>que</a:t>
            </a:r>
            <a:r>
              <a:rPr dirty="0"/>
              <a:t> </a:t>
            </a:r>
            <a:r>
              <a:rPr lang="fr-FR" dirty="0"/>
              <a:t>l’on peut conclure</a:t>
            </a:r>
            <a:endParaRPr dirty="0"/>
          </a:p>
        </p:txBody>
      </p:sp>
      <p:sp>
        <p:nvSpPr>
          <p:cNvPr id="4" name="Rounded Rectangle 3"/>
          <p:cNvSpPr/>
          <p:nvPr/>
        </p:nvSpPr>
        <p:spPr>
          <a:xfrm>
            <a:off x="814636" y="1411821"/>
            <a:ext cx="3391603" cy="2303094"/>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61475" y="1641945"/>
            <a:ext cx="3097923" cy="1740476"/>
          </a:xfrm>
          <a:prstGeom prst="rect">
            <a:avLst/>
          </a:prstGeom>
          <a:noFill/>
        </p:spPr>
        <p:txBody>
          <a:bodyPr wrap="square" lIns="45720" tIns="27432" rIns="45720" bIns="27432" anchor="t">
            <a:spAutoFit/>
          </a:bodyPr>
          <a:lstStyle/>
          <a:p>
            <a:pPr algn="l">
              <a:spcAft>
                <a:spcPts val="600"/>
              </a:spcAft>
            </a:pPr>
            <a:r>
              <a:rPr sz="1300" b="1" dirty="0" err="1">
                <a:solidFill>
                  <a:srgbClr val="5B0C02"/>
                </a:solidFill>
              </a:rPr>
              <a:t>Hospitalisation</a:t>
            </a:r>
            <a:r>
              <a:rPr sz="1300" b="1" dirty="0">
                <a:solidFill>
                  <a:srgbClr val="5B0C02"/>
                </a:solidFill>
              </a:rPr>
              <a:t> </a:t>
            </a:r>
            <a:r>
              <a:rPr sz="1300" b="1" dirty="0" err="1">
                <a:solidFill>
                  <a:srgbClr val="5B0C02"/>
                </a:solidFill>
              </a:rPr>
              <a:t>Honoraires</a:t>
            </a:r>
            <a:r>
              <a:rPr sz="1300" b="1" dirty="0">
                <a:solidFill>
                  <a:srgbClr val="5B0C02"/>
                </a:solidFill>
              </a:rPr>
              <a:t> : </a:t>
            </a:r>
            <a:r>
              <a:rPr lang="fr-FR" sz="1300" b="1" dirty="0">
                <a:solidFill>
                  <a:srgbClr val="5B0C02"/>
                </a:solidFill>
              </a:rPr>
              <a:t>une dérive constatée </a:t>
            </a:r>
          </a:p>
          <a:p>
            <a:pPr algn="l">
              <a:spcAft>
                <a:spcPts val="600"/>
              </a:spcAft>
            </a:pPr>
            <a:r>
              <a:rPr sz="1050" b="0" dirty="0">
                <a:solidFill>
                  <a:srgbClr val="404040"/>
                </a:solidFill>
              </a:rPr>
              <a:t>En année de soins, la dépense augmente de 12,5 % en deux ans quand le remboursement de l'Assurance Maladie n'augmente que de 8 %. Sa part recule de 2,7 points, donc plus de reste à charge.</a:t>
            </a:r>
          </a:p>
          <a:p>
            <a:pPr algn="l">
              <a:spcAft>
                <a:spcPts val="400"/>
              </a:spcAft>
            </a:pPr>
            <a:r>
              <a:rPr sz="1050" b="1" dirty="0">
                <a:solidFill>
                  <a:srgbClr val="404040"/>
                </a:solidFill>
              </a:rPr>
              <a:t>L'année comptable donne les mêmes chiffres (+12,1 % et −2,5 points), donc pas d'effet de cadence. La dégradation de ce poste est une dérive de sinistralité.</a:t>
            </a:r>
          </a:p>
        </p:txBody>
      </p:sp>
      <p:sp>
        <p:nvSpPr>
          <p:cNvPr id="7" name="TextBox 6"/>
          <p:cNvSpPr txBox="1"/>
          <p:nvPr/>
        </p:nvSpPr>
        <p:spPr>
          <a:xfrm>
            <a:off x="5137857" y="1636447"/>
            <a:ext cx="3044668" cy="1714828"/>
          </a:xfrm>
          <a:prstGeom prst="rect">
            <a:avLst/>
          </a:prstGeom>
          <a:noFill/>
        </p:spPr>
        <p:txBody>
          <a:bodyPr wrap="square" lIns="45720" tIns="27432" rIns="45720" bIns="27432" anchor="t">
            <a:spAutoFit/>
          </a:bodyPr>
          <a:lstStyle/>
          <a:p>
            <a:pPr algn="l">
              <a:spcAft>
                <a:spcPts val="600"/>
              </a:spcAft>
            </a:pPr>
            <a:r>
              <a:rPr sz="1300" b="1" dirty="0" err="1">
                <a:solidFill>
                  <a:srgbClr val="5B0C02"/>
                </a:solidFill>
              </a:rPr>
              <a:t>Hospitalisation</a:t>
            </a:r>
            <a:r>
              <a:rPr sz="1300" b="1" dirty="0">
                <a:solidFill>
                  <a:srgbClr val="5B0C02"/>
                </a:solidFill>
              </a:rPr>
              <a:t> </a:t>
            </a:r>
            <a:r>
              <a:rPr sz="1300" b="1" dirty="0" err="1">
                <a:solidFill>
                  <a:srgbClr val="5B0C02"/>
                </a:solidFill>
              </a:rPr>
              <a:t>globale</a:t>
            </a:r>
            <a:r>
              <a:rPr sz="1300" b="1" dirty="0">
                <a:solidFill>
                  <a:srgbClr val="5B0C02"/>
                </a:solidFill>
              </a:rPr>
              <a:t> : le ROC est </a:t>
            </a:r>
            <a:r>
              <a:rPr sz="1300" b="1" dirty="0" err="1">
                <a:solidFill>
                  <a:srgbClr val="5B0C02"/>
                </a:solidFill>
              </a:rPr>
              <a:t>une</a:t>
            </a:r>
            <a:r>
              <a:rPr sz="1300" b="1" dirty="0">
                <a:solidFill>
                  <a:srgbClr val="5B0C02"/>
                </a:solidFill>
              </a:rPr>
              <a:t> </a:t>
            </a:r>
            <a:r>
              <a:rPr sz="1300" b="1" dirty="0" err="1">
                <a:solidFill>
                  <a:srgbClr val="5B0C02"/>
                </a:solidFill>
              </a:rPr>
              <a:t>piste</a:t>
            </a:r>
            <a:endParaRPr sz="1300" b="1" dirty="0">
              <a:solidFill>
                <a:srgbClr val="5B0C02"/>
              </a:solidFill>
            </a:endParaRPr>
          </a:p>
          <a:p>
            <a:pPr algn="l">
              <a:spcAft>
                <a:spcPts val="400"/>
              </a:spcAft>
            </a:pPr>
            <a:r>
              <a:rPr sz="1050" b="0" dirty="0">
                <a:solidFill>
                  <a:srgbClr val="404040"/>
                </a:solidFill>
              </a:rPr>
              <a:t>La part de </a:t>
            </a:r>
            <a:r>
              <a:rPr sz="1050" b="0" dirty="0" err="1">
                <a:solidFill>
                  <a:srgbClr val="404040"/>
                </a:solidFill>
              </a:rPr>
              <a:t>l'Assurance</a:t>
            </a:r>
            <a:r>
              <a:rPr sz="1050" b="0" dirty="0">
                <a:solidFill>
                  <a:srgbClr val="404040"/>
                </a:solidFill>
              </a:rPr>
              <a:t> </a:t>
            </a:r>
            <a:r>
              <a:rPr sz="1050" b="0" dirty="0" err="1">
                <a:solidFill>
                  <a:srgbClr val="404040"/>
                </a:solidFill>
              </a:rPr>
              <a:t>Maladie</a:t>
            </a:r>
            <a:r>
              <a:rPr sz="1050" b="0" dirty="0">
                <a:solidFill>
                  <a:srgbClr val="404040"/>
                </a:solidFill>
              </a:rPr>
              <a:t> </a:t>
            </a:r>
            <a:r>
              <a:rPr sz="1050" b="0" dirty="0" err="1">
                <a:solidFill>
                  <a:srgbClr val="404040"/>
                </a:solidFill>
              </a:rPr>
              <a:t>augmente</a:t>
            </a:r>
            <a:r>
              <a:rPr sz="1050" b="0" dirty="0">
                <a:solidFill>
                  <a:srgbClr val="404040"/>
                </a:solidFill>
              </a:rPr>
              <a:t> (85,5 % </a:t>
            </a:r>
            <a:r>
              <a:rPr sz="1050" b="0" dirty="0" err="1">
                <a:solidFill>
                  <a:srgbClr val="404040"/>
                </a:solidFill>
              </a:rPr>
              <a:t>en</a:t>
            </a:r>
            <a:r>
              <a:rPr sz="1050" b="0" dirty="0">
                <a:solidFill>
                  <a:srgbClr val="404040"/>
                </a:solidFill>
              </a:rPr>
              <a:t> 2023, 87,7 % </a:t>
            </a:r>
            <a:r>
              <a:rPr sz="1050" b="0" dirty="0" err="1">
                <a:solidFill>
                  <a:srgbClr val="404040"/>
                </a:solidFill>
              </a:rPr>
              <a:t>en</a:t>
            </a:r>
            <a:r>
              <a:rPr sz="1050" b="0" dirty="0">
                <a:solidFill>
                  <a:srgbClr val="404040"/>
                </a:solidFill>
              </a:rPr>
              <a:t> 2024), </a:t>
            </a:r>
            <a:r>
              <a:rPr sz="1050" b="0" dirty="0" err="1">
                <a:solidFill>
                  <a:srgbClr val="404040"/>
                </a:solidFill>
              </a:rPr>
              <a:t>donc</a:t>
            </a:r>
            <a:r>
              <a:rPr sz="1050" b="0" dirty="0">
                <a:solidFill>
                  <a:srgbClr val="404040"/>
                </a:solidFill>
              </a:rPr>
              <a:t> </a:t>
            </a:r>
            <a:r>
              <a:rPr sz="1050" b="0" dirty="0" err="1">
                <a:solidFill>
                  <a:srgbClr val="404040"/>
                </a:solidFill>
              </a:rPr>
              <a:t>moins</a:t>
            </a:r>
            <a:r>
              <a:rPr sz="1050" b="0" dirty="0">
                <a:solidFill>
                  <a:srgbClr val="404040"/>
                </a:solidFill>
              </a:rPr>
              <a:t> de </a:t>
            </a:r>
            <a:r>
              <a:rPr sz="1050" b="0" dirty="0" err="1">
                <a:solidFill>
                  <a:srgbClr val="404040"/>
                </a:solidFill>
              </a:rPr>
              <a:t>reste</a:t>
            </a:r>
            <a:r>
              <a:rPr sz="1050" b="0" dirty="0">
                <a:solidFill>
                  <a:srgbClr val="404040"/>
                </a:solidFill>
              </a:rPr>
              <a:t> à charge, et </a:t>
            </a:r>
            <a:r>
              <a:rPr sz="1050" b="0" dirty="0" err="1">
                <a:solidFill>
                  <a:srgbClr val="404040"/>
                </a:solidFill>
              </a:rPr>
              <a:t>ses</a:t>
            </a:r>
            <a:r>
              <a:rPr sz="1050" b="0" dirty="0">
                <a:solidFill>
                  <a:srgbClr val="404040"/>
                </a:solidFill>
              </a:rPr>
              <a:t> </a:t>
            </a:r>
            <a:r>
              <a:rPr sz="1050" b="0" dirty="0" err="1">
                <a:solidFill>
                  <a:srgbClr val="404040"/>
                </a:solidFill>
              </a:rPr>
              <a:t>remboursements</a:t>
            </a:r>
            <a:r>
              <a:rPr sz="1050" b="0" dirty="0">
                <a:solidFill>
                  <a:srgbClr val="404040"/>
                </a:solidFill>
              </a:rPr>
              <a:t> </a:t>
            </a:r>
            <a:r>
              <a:rPr sz="1050" b="0" dirty="0" err="1">
                <a:solidFill>
                  <a:srgbClr val="404040"/>
                </a:solidFill>
              </a:rPr>
              <a:t>progressent</a:t>
            </a:r>
            <a:r>
              <a:rPr sz="1050" b="0" dirty="0">
                <a:solidFill>
                  <a:srgbClr val="404040"/>
                </a:solidFill>
              </a:rPr>
              <a:t> de 15 % dans les deux </a:t>
            </a:r>
            <a:r>
              <a:rPr sz="1050" b="0" dirty="0" err="1">
                <a:solidFill>
                  <a:srgbClr val="404040"/>
                </a:solidFill>
              </a:rPr>
              <a:t>datations</a:t>
            </a:r>
            <a:r>
              <a:rPr sz="1050" b="0" dirty="0">
                <a:solidFill>
                  <a:srgbClr val="404040"/>
                </a:solidFill>
              </a:rPr>
              <a:t>.</a:t>
            </a:r>
          </a:p>
          <a:p>
            <a:pPr>
              <a:spcAft>
                <a:spcPts val="400"/>
              </a:spcAft>
            </a:pPr>
            <a:r>
              <a:rPr lang="fr-FR" sz="1050" b="1" dirty="0">
                <a:solidFill>
                  <a:srgbClr val="404040"/>
                </a:solidFill>
              </a:rPr>
              <a:t>Si la garantie se dégrade malgré cela, le ROC est une piste probable, mais d’autres facteurs peuvent aussi l’expliquer.</a:t>
            </a:r>
            <a:endParaRPr sz="1050" b="1" dirty="0">
              <a:solidFill>
                <a:srgbClr val="404040"/>
              </a:solidFill>
            </a:endParaRPr>
          </a:p>
        </p:txBody>
      </p:sp>
      <p:sp>
        <p:nvSpPr>
          <p:cNvPr id="12" name="TextBox 11"/>
          <p:cNvSpPr txBox="1"/>
          <p:nvPr/>
        </p:nvSpPr>
        <p:spPr>
          <a:xfrm>
            <a:off x="457200" y="5303520"/>
            <a:ext cx="7498079" cy="178510"/>
          </a:xfrm>
          <a:prstGeom prst="rect">
            <a:avLst/>
          </a:prstGeom>
          <a:noFill/>
        </p:spPr>
        <p:txBody>
          <a:bodyPr wrap="square" lIns="45720" tIns="27432" rIns="45720" bIns="27432" anchor="t">
            <a:spAutoFit/>
          </a:bodyPr>
          <a:lstStyle/>
          <a:p>
            <a:pPr algn="l">
              <a:spcAft>
                <a:spcPts val="400"/>
              </a:spcAft>
            </a:pPr>
            <a:r>
              <a:rPr sz="800" b="0" dirty="0">
                <a:solidFill>
                  <a:srgbClr val="808080"/>
                </a:solidFill>
              </a:rPr>
              <a:t>Source : Open DAMIR, Assurance </a:t>
            </a:r>
            <a:r>
              <a:rPr sz="800" b="0" dirty="0" err="1">
                <a:solidFill>
                  <a:srgbClr val="808080"/>
                </a:solidFill>
              </a:rPr>
              <a:t>Maladie</a:t>
            </a:r>
            <a:r>
              <a:rPr sz="800" b="0" dirty="0">
                <a:solidFill>
                  <a:srgbClr val="808080"/>
                </a:solidFill>
              </a:rPr>
              <a:t> · flux </a:t>
            </a:r>
            <a:r>
              <a:rPr sz="800" b="0" dirty="0" err="1">
                <a:solidFill>
                  <a:srgbClr val="808080"/>
                </a:solidFill>
              </a:rPr>
              <a:t>arrêtés</a:t>
            </a:r>
            <a:r>
              <a:rPr sz="800" b="0" dirty="0">
                <a:solidFill>
                  <a:srgbClr val="808080"/>
                </a:solidFill>
              </a:rPr>
              <a:t> au 31/12/2025 </a:t>
            </a:r>
          </a:p>
        </p:txBody>
      </p:sp>
      <p:sp>
        <p:nvSpPr>
          <p:cNvPr id="16" name="ZoneTexte 15">
            <a:extLst>
              <a:ext uri="{FF2B5EF4-FFF2-40B4-BE49-F238E27FC236}">
                <a16:creationId xmlns:a16="http://schemas.microsoft.com/office/drawing/2014/main" id="{F082DC8C-2E99-582D-3ADF-FF135CE1BABC}"/>
              </a:ext>
            </a:extLst>
          </p:cNvPr>
          <p:cNvSpPr txBox="1"/>
          <p:nvPr/>
        </p:nvSpPr>
        <p:spPr>
          <a:xfrm>
            <a:off x="1104900" y="4252865"/>
            <a:ext cx="7254239" cy="577081"/>
          </a:xfrm>
          <a:prstGeom prst="rect">
            <a:avLst/>
          </a:prstGeom>
          <a:noFill/>
        </p:spPr>
        <p:txBody>
          <a:bodyPr wrap="square">
            <a:spAutoFit/>
          </a:bodyPr>
          <a:lstStyle/>
          <a:p>
            <a:pPr algn="just"/>
            <a:r>
              <a:rPr lang="fr-FR" sz="1050" b="1" dirty="0">
                <a:solidFill>
                  <a:srgbClr val="404040"/>
                </a:solidFill>
              </a:rPr>
              <a:t>Deux signaux coexistent =&gt; une dérive réelle des honoraires hospitaliers et au niveau global une prise en charge AMO qui progresse. Si la garantie complémentaire se dégrade malgré cette évolution, le ROC constitue une piste probable sans pouvoir être isolé avec DAMIR.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dc:title>
  <dc:creator>Lea SERRET</dc:creator>
  <cp:lastModifiedBy>Simon MALAURENT</cp:lastModifiedBy>
  <cp:revision>58</cp:revision>
  <dcterms:created xsi:type="dcterms:W3CDTF">2024-05-03T13:43:52Z</dcterms:created>
  <dcterms:modified xsi:type="dcterms:W3CDTF">2026-09-18T12:31:32Z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