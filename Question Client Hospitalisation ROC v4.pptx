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34" r:id="rId9"/>
    <p:sldId id="11535" r:id="rId8"/>
    <p:sldId id="11536" r:id="rId7"/>
    <p:sldId id="11537" r:id="rId6"/>
    <p:sldId id="11538" r:id="rId17"/>
    <p:sldId id="11539" r:id="rId18"/>
    <p:sldId id="11540" r:id="rId19"/>
    <p:sldId id="11541" r:id="rId20"/>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4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1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8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2023</c:v>
                </c:pt>
              </c:strCache>
            </c:strRef>
          </c:tx>
          <c:spPr>
            <a:solidFill>
              <a:srgbClr val="A5B6C5"/>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8.2</c:v>
                </c:pt>
                <c:pt idx="1">
                  <c:v>13.7</c:v>
                </c:pt>
                <c:pt idx="2">
                  <c:v>15.9</c:v>
                </c:pt>
                <c:pt idx="3">
                  <c:v>29.6</c:v>
                </c:pt>
                <c:pt idx="4">
                  <c:v>59.4</c:v>
                </c:pt>
                <c:pt idx="5">
                  <c:v>92.1</c:v>
                </c:pt>
                <c:pt idx="6">
                  <c:v>141.0</c:v>
                </c:pt>
                <c:pt idx="7">
                  <c:v>186.2</c:v>
                </c:pt>
              </c:numCache>
            </c:numRef>
          </c:val>
        </c:ser>
        <c:ser>
          <c:idx val="1"/>
          <c:order val="1"/>
          <c:tx>
            <c:strRef>
              <c:f>Sheet1!$C$1</c:f>
              <c:strCache>
                <c:ptCount val="1"/>
                <c:pt idx="0">
                  <c:v>2024</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78.0</c:v>
                </c:pt>
                <c:pt idx="5">
                  <c:v>94.2</c:v>
                </c:pt>
                <c:pt idx="6">
                  <c:v>124.6</c:v>
                </c:pt>
                <c:pt idx="7">
                  <c:v>127.9</c:v>
                </c:pt>
              </c:numCache>
            </c:numRef>
          </c:val>
        </c:ser>
        <c:ser>
          <c:idx val="2"/>
          <c:order val="2"/>
          <c:tx>
            <c:strRef>
              <c:f>Sheet1!$D$1</c:f>
              <c:strCache>
                <c:ptCount val="1"/>
                <c:pt idx="0">
                  <c:v>2025*</c:v>
                </c:pt>
              </c:strCache>
            </c:strRef>
          </c:tx>
          <c:spPr>
            <a:solidFill>
              <a:srgbClr val="5B0C02"/>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88.0</c:v>
                </c:pt>
                <c:pt idx="5">
                  <c:v>102.0</c:v>
                </c:pt>
                <c:pt idx="6">
                  <c:v>128.3</c:v>
                </c:pt>
                <c:pt idx="7">
                  <c:v>114.6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2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5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6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ppt/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ppt/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r>
              <a:t>Question de Groupama : distinguer la dérive de l’hospitalisation et les effets de règlement associés au ROC. Analyse des flux arrêtés au 31 décembre 2025, septembre 2026. Le repère porte sur le privé et ne mesure pas la charge complémentaire.</a:t>
            </a:r>
          </a:p>
          <a:p/>
          <a:p>
            <a:r>
              <a:t>Sources</a:t>
            </a:r>
          </a:p>
          <a:p>
            <a:r>
              <a:t>Cnam, Open DAMIR. Données et définitions : analyse fournie, docs/ETUDE_HOSPITALISATION_PAR_POSTE.md et docs/ETUDE_HOSPITALISATION_2022_2025.md.</a:t>
            </a: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DAMIR : base publique de la Cnam, tous régimes, environ 1 300 natures de prestation. Une cellule agrégée croise mois de soins, prestation, région, tranche d’âge, sexe, nature d’assurance et ALD. Mesures disponibles : dépense présentée, remboursement AMO, base de remboursement, dépassements, quantités. Les séjours du public sont absents, mais certains actes et consultations externes et le forfait journalier figurent dans la base. La chambre particulière n’est pas un poste observable utilisable. DAMIR Studio lit les données localement, sans réseau.</a:t>
            </a:r>
          </a:p>
          <a:p>
            <a:r>
              <a:t>Le reste après AMO mêle ticket modérateur, dépassements et franchises. Il inclut la part du patient et ne représente pas la charge de l’AMC (Assurance Maladie complémentaire). Part des dépassements = dépassements / dépense.</a:t>
            </a:r>
          </a:p>
          <a:p>
            <a:r>
              <a:t>Sur un séjour, le taux de droit commun est 80 % du tarif, laissant 20 % de ticket modérateur, sauf exonération, notamment ALD, actes lourds ou maternité. Sur les séjours étudiés, les dépassements sont quasi nuls et le reste après AMO approche le ticket modérateur. Sur les honoraires d’anesthésie, les actes sont presque tous exonérés et le reste après AMO est presque entièrement constitué des dépassements.</a:t>
            </a:r>
          </a:p>
          <a:p/>
          <a:p>
            <a:r>
              <a:t>Sources</a:t>
            </a:r>
          </a:p>
          <a:p>
            <a:r>
              <a:t>Cnam, Open DAMIR. Données et définitions : analyse fournie, docs/ETUDE_HOSPITALISATION_PAR_POSTE.md et docs/ETUDE_HOSPITALISATION_2022_2025.md.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ROC : tiers payant dématérialisé portant sur la part complémentaire des prestations hospitalières, via la norme DRE-ES. Programme SIMPHONIE, accord de 2021 entre l’État, les fédérations hospitalières et les complémentaires. Le dispositif dépasse le seul champ des dépassements d’honoraires.</a:t>
            </a:r>
          </a:p>
          <a:p>
            <a:r>
              <a:t>Au 19 septembre 2024 : 473 établissements publics et ESPIC, soit 58 % des établissements concernés, 88 organismes complémentaires couvrant 97 % de la population protégée. Rejets rapportés : de 10–15 % à 0,1–0,2 %. Ces taux sont des repères externes, pas des mesures du portefeuille Groupama.</a:t>
            </a:r>
          </a:p>
          <a:p>
            <a:r>
              <a:t>Calendrier privé annoncé par la FHP-MCO le 21 juillet 2025 : pilotes à Montpellier et Marseille à la rentrée 2025, montée en charge en septembre 2026, généralisation en 2027. Ce calendrier annoncé ne constitue pas un constat de réalisation en septembre 2026.</a:t>
            </a:r>
          </a:p>
          <a:p>
            <a:r>
              <a:t>L’année de bascule peut cumuler les soins antérieurs réglés tardivement, les soins de l’année réglés plus vite et la reprise de factures rejetées. L’étude Groupama devra distinguer l’avance de règlement, la résorption du stock de rejets et l’évolution durable du paiement des factures. DAMIR ne permet pas de chiffrer ces effets. Aucun taux d’établissements ne doit être assimilé directement à une part de charge.</a:t>
            </a:r>
          </a:p>
          <a:p/>
          <a:p>
            <a:r>
              <a:t>Sources</a:t>
            </a:r>
          </a:p>
          <a:p>
            <a:r>
              <a:t>GIE SESAM-Vitale, ROC Établissements : https://www.sesam-vitale.fr/en/roc-es</a:t>
            </a:r>
          </a:p>
          <a:p>
            <a:r>
              <a:t>Groupe VYV, Le dispositif ROC : où en est-on ? https://www.groupe-vyv.fr/informations/le-dispositif-roc-ou-en-est-on/</a:t>
            </a:r>
          </a:p>
          <a:p>
            <a:r>
              <a:t>FHP-MCO, 21/07/2025 : https://www.fhpmco.fr/2025/07/21/roc-place-aux-cliniques-et-hopitaux-prives/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lecture compare séparément : séjours ordinaires en clinique, code 2111 ; rééducation SSR/SMR, anciens et nouveaux codes ; poste Hospitalisation Honoraires, dominé par l’anesthésie.</a:t>
            </a:r>
          </a:p>
          <a:p>
            <a:r>
              <a:t>Réforme SMR, décret 2023-696 : passage du prix de journée à des tarifs nationaux par type de séjour, plus dotation populationnelle, application intégrale en 2024. Difficultés de trésorerie et facturation retardée : 700 M€ liquidés fin septembre 2024 pour les premiers mois. Le niveau de dépense 2023/2024 est donc non comparable. Les codes 4243–4247 représentent 262 M€ dans l’analyse fournie, mais restent sans libellé dans la nomenclature locale. La réforme 2026 évoquée par la relectrice reste à identifier.</a:t>
            </a:r>
          </a:p>
          <a:p>
            <a:r>
              <a:t>Artefact de part AMO : grand poste 85,5 % en 2023, 87,6 % en 2024, 93,1 % en 2025. Dotation populationnelle SSR 2192 : 1 283 M€ en 2024, remboursés à 100 %. Dépense du code 2251 proche de 200 M€ par mois puis presque nulle à partir de novembre 2024, alors que l’AMO continue. Hors ces postes, part AMO stable, 91,5 % à 91,6 %, d’après l’analyse fournie. DREES, financement privé en 2024 : Sécurité sociale 87,9 % (−0,6 point), ménages 6,7 % (+0,8 point), complémentaires 5,1 % (−0,2 point). Champ DREES distinct de l’agrégat Open DAMIR.</a:t>
            </a:r>
          </a:p>
          <a:p>
            <a:r>
              <a:t>Cadence AMO : séjours ordinaires environ 91 %, stable depuis 2021 ; anesthésie environ 94 %, stable ; rééducation 90,3 % en 2021, 88,4 % en 2022, 89,0 % en 2023 et 84,4 % en 2024. Méthode Groupama : calculer les cadences AMC 2023 et 2024 par établissement, puis tester une déformation liée au raccordement ROC sur la seule part publique. Le calendrier de déploiement donne un scénario à pondérer par l’exposition réelle. Le chiffrage exige les dates de soins, facturation, règlement et le statut ROC, absents de DAMIR.</a:t>
            </a:r>
          </a:p>
          <a:p/>
          <a:p>
            <a:r>
              <a:t>Sources</a:t>
            </a:r>
          </a:p>
          <a:p>
            <a:r>
              <a:t>Cnam, Open DAMIR. Données et définitions : analyse fournie, docs/ETUDE_HOSPITALISATION_PAR_POSTE.md et docs/ETUDE_HOSPITALISATION_2022_2025.md.</a:t>
            </a:r>
          </a:p>
          <a:p>
            <a:r>
              <a:t>Sénat, question qSEQ241000269 : https://www.senat.fr/questions/base/2024/qSEQ241000269.html</a:t>
            </a:r>
          </a:p>
          <a:p>
            <a:r>
              <a:t>DREES, Les dépenses de santé en 2024, édition 2025, fiche 02, Les soins hospitaliers : https://drees.solidarites-sante.gouv.fr/sites/default/files/2025-12/CNS%20-%20Fiche%2002%20-%20Les%20soins%20hospitaliers.pdf</a:t>
            </a:r>
          </a:p>
          <a:p>
            <a:r>
              <a:t>GIE SESAM-Vitale, ROC Établissements : https://www.sesam-vitale.fr/en/roc-es</a:t>
            </a:r>
          </a:p>
          <a:p>
            <a:r>
              <a:t>Groupe VYV, Le dispositif ROC : où en est-on ? https://www.groupe-vyv.fr/informations/le-dispositif-roc-ou-en-est-on/</a:t>
            </a:r>
          </a:p>
          <a:p>
            <a:r>
              <a:t>FHP-MCO, 21/07/2025 : https://www.fhpmco.fr/2025/07/21/roc-place-aux-cliniques-et-hopitaux-prives/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code 2111 couvre les frais d’hébergement et environnement en GHS, en clinique, principalement chirurgie, médecine et obstétrique. AMO de droit commun : 80 % du tarif, sauf exonération, expliquant une part AMO agrégée proche de 96 %. Le reste après AMO est essentiellement le ticket modérateur.</a:t>
            </a:r>
          </a:p>
          <a:p>
            <a:r>
              <a:t>Année de soins 2023/2024 : dépense +2,7 %, AMO +2,7 %, reste après AMO +2,4 %. Volume +2,0 %, dépense moyenne par unité +0,6 %. Année de règlement : dépense +3,0 % en 2024 et +3,8 % en 2025, AMO +3,0 % puis +3,8 %, reste après AMO +2,9 % puis +3,6 %. Pas de bosse de calendrier comparable à celle de la rééducation.</a:t>
            </a:r>
          </a:p>
          <a:p>
            <a:r>
              <a:t>2025 en année de soins est observée au 31/12/2025, liquidée à environ 90 %. Aucune baisse de consommation ne peut être déduite du point 2025 incomplet. Cadence de référence 2024 : 91,3 %. Tous les montants et taux proviennent des tableaux fournis. Les variations sont calculées sur les données non arrondies dans l’analyse, pas sur les montants arrondis de la slide.</a:t>
            </a:r>
          </a:p>
          <a:p/>
          <a:p>
            <a:r>
              <a:t>Sources</a:t>
            </a:r>
          </a:p>
          <a:p>
            <a:r>
              <a:t>Cnam, Open DAMIR. Données et définitions : analyse fournie, docs/ETUDE_HOSPITALISATION_PAR_POSTE.md et docs/ETUDE_HOSPITALISATION_2022_2025.md.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Champ reconstruit : anciens codes 2211 et 2339, code 2110 et prestations présentes parmi 3145 à 3156. L’ancien champ conserve probablement de la psychiatrie privée et d’autres prix de journée après 2023. Cette limite empêche d’assimiler parfaitement le bloc à l’ensemble des SMR privés. La dotation populationnelle 2192 est exclue.</a:t>
            </a:r>
          </a:p>
          <a:p>
            <a:r>
              <a:t>En 2024, le code 2211 passe de 3 326 à 967 M€, le code 2110 apparaît à 1 432 M€, les codes 31xx montent en charge de février à juin. Nouveau financement au 01/01/2024. La hausse de dépense de 13,1 % en année de soins ne mesure pas une hausse équivalente d’activité. La DREES mesure +1,0 % d’activité SMR privée. AMO +13,9 %, reste après AMO +8,5 %.</a:t>
            </a:r>
          </a:p>
          <a:p>
            <a:r>
              <a:t>Année de règlement 2024 : dépense +5,9 %, AMO +7,3 %, reste après AMO −2,0 %. En 2025 : dépense +27,2 %, AMO +26,3 %, reste après AMO +33,2 %. La cadence AMO ralentit de 89,0 % (2023) à 84,4 % (2024), cohérente avec un rattrapage en 2025. Le calendrier constitue une explication, pas une mesure causale isolée du montant du rattrapage.</a:t>
            </a:r>
          </a:p>
          <a:p>
            <a:r>
              <a:t>Année de soins 2025 observée : dépense +4,1 %, AMO +3,7 %, reste après AMO +6,8 %. Sensibilité à maturité : montant observé divisé par une part liquidée comprise entre 84 et 89 %, soit dépense +17 à +23 %, reste après AMO +20 à +27 %. Il s’agit d’un ordre de grandeur sensible à la stabilité de la cadence, pas d’un niveau acquis. Même facteur appliqué à la dépense et à l’AMO : part AMO inchangée par construction. Ces montants ne sont pas une projection ROC.</a:t>
            </a:r>
          </a:p>
          <a:p/>
          <a:p>
            <a:r>
              <a:t>Sources</a:t>
            </a:r>
          </a:p>
          <a:p>
            <a:r>
              <a:t>Cnam, Open DAMIR. Données et définitions : analyse fournie, docs/ETUDE_HOSPITALISATION_PAR_POSTE.md et docs/ETUDE_HOSPITALISATION_2022_2025.md.</a:t>
            </a:r>
          </a:p>
          <a:p>
            <a:r>
              <a:t>Sénat, question qSEQ241000269 : https://www.senat.fr/questions/base/2024/qSEQ241000269.html</a:t>
            </a:r>
          </a:p>
          <a:p>
            <a:r>
              <a:t>DREES, Les dépenses de santé en 2024, édition 2025, fiche 02, Les soins hospitaliers : https://drees.solidarites-sante.gouv.fr/sites/default/files/2025-12/CNS%20-%20Fiche%2002%20-%20Les%20soins%20hospitaliers.pdf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agrégés de reste après AMO se déplacent vers les moins de 60 ans. 2023/2024 : 0–19 ans ×3,8, 20–29 ans ×2,2, 30–39 ans ×3,0, 40–49 ans ×2,0, 50–59 ans +31 %, 60–69 ans +2 %, 70–79 ans −12 %, 80 ans et plus −31 %. Les tranches les plus âgées restent porteuses de montants élevés.</a:t>
            </a:r>
          </a:p>
          <a:p>
            <a:r>
              <a:t>Hypothèse proposée par l’analyse : tarifs nationaux plus élevés que l’ancien prix de journée sur certaines rééducations ordinaires, combinés à des exonérations plus fréquentes chez les patients âgés. DAMIR ne démontre pas ce mécanisme et les montants ne sont pas rapportés au nombre d’assurés ou de séjours. La hausse chez les âges actifs peut exposer davantage un contrat collectif, mais ne constitue pas une estimation du risque individuel ni de la charge Groupama.</a:t>
            </a:r>
          </a:p>
          <a:p>
            <a:r>
              <a:t>Les découpages ALD et sexe de l’analyse de travail donnent hors ALD +8,6 %, ALD −21 %, femmes +4,3 %, hommes −4,0 %. Ils ne sont pas présentés comme une décomposition additive du +8,5 % global : leurs périmètres et dénominateurs demandent une réconciliation avant interprétation. Les montants par âge, arrondis, ne somment pas exactement aux totaux affichés.</a:t>
            </a:r>
          </a:p>
          <a:p/>
          <a:p>
            <a:r>
              <a:t>Sources</a:t>
            </a:r>
          </a:p>
          <a:p>
            <a:r>
              <a:t>Cnam, Open DAMIR. Données et définitions : analyse fournie, docs/ETUDE_HOSPITALISATION_PAR_POSTE.md et docs/ETUDE_HOSPITALISATION_2022_2025.md.</a:t>
            </a:r>
          </a:p>
          <a:p>
            <a:r>
              <a:t>Sénat, question qSEQ241000269 : https://www.senat.fr/questions/base/2024/qSEQ241000269.html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poste Hospitalisation Honoraires est dominé à environ 95 % par le code 1323, Acte d’anesthésie CCAM. Les montants portent sur le poste entier. Le reste après AMO est presque entièrement constitué de dépassements : 480 M€ de reste pour 478 M€ de dépassements en 2024, 499 M€ pour 498 M€ en 2025 observée.</a:t>
            </a:r>
          </a:p>
          <a:p>
            <a:r>
              <a:t>Année de soins 2023/2024 : dépense +4,5 %, AMO +1,9 %, reste après AMO +9,9 %, dépassements +10,3 %, part AMO −1,7 point, part des dépassements +1,8 point. 2025 observée : dépense +1,1 %, AMO −0,5 %, reste +4,1 %, dépassements +4,2 %.</a:t>
            </a:r>
          </a:p>
          <a:p>
            <a:r>
              <a:t>À maturité 2025, sous cadence AMO 2024 de 93,9 % : dépense 1 489 M€ (+7,7 %), reste après AMO 532 M€ (+10,8 %). Formule : montant observé divisé par 93,9 %, à partir des montants non arrondis. Même facteur appliqué à la dépense et au remboursement, donc part AMO inchangée. Cette hypothèse ne simule pas une déformation ROC.</a:t>
            </a:r>
          </a:p>
          <a:p>
            <a:r>
              <a:t>Année de règlement 2024 puis 2025 : dépense +4,7 % puis +7,1 %, AMO +2,2 % puis +5,6 %, reste après AMO +9,9 % chaque année, dépassements +10,4 % puis +10,0 %. Volume d’actes +1,1 % en 2024. Dépassements +9 à +13 % dans chaque tranche d’âge : une hausse diffuse, compatible avec un effet de prix. La stabilité de la cadence AMO et la convergence des deux datations ne montrent pas de bosse de calendrier comparable à la rééducation.</a:t>
            </a:r>
          </a:p>
          <a:p>
            <a:r>
              <a:t>Les honoraires de chirurgie CCAM 1321, hors du poste, représentent dans l’analyse environ 1,2 Md€ de dépassements et +8 % en 2024, avec un mélange cabinet/clinique. DREES : les honoraires de tous les praticiens en clinique atteignent 6,6 Md€ (+4,5 %). L’anesthésie n’en est qu’une partie.</a:t>
            </a:r>
          </a:p>
          <a:p/>
          <a:p>
            <a:r>
              <a:t>Sources</a:t>
            </a:r>
          </a:p>
          <a:p>
            <a:r>
              <a:t>Cnam, Open DAMIR. Données et définitions : analyse fournie, docs/ETUDE_HOSPITALISATION_PAR_POSTE.md et docs/ETUDE_HOSPITALISATION_2022_2025.md.</a:t>
            </a:r>
          </a:p>
          <a:p>
            <a:r>
              <a:t>DREES, Les dépenses de santé en 2024, édition 2025, fiche 02, Les soins hospitaliers : https://drees.solidarites-sante.gouv.fr/sites/default/files/2025-12/CNS%20-%20Fiche%2002%20-%20Les%20soins%20hospitaliers.pdf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dégradation apparente n’oppose pas mécaniquement ROC et dérive. La lecture fournie situe une hausse des dépassements, une hausse réglementaire du reste après AMO en rééducation et un rattrapage de facturation du privé. Le ROC est un effet attendu sur le canal complémentaire, surtout public en 2025, à établir sur les flux Groupama. Ces composantes ne sont pas des montants causaux additifs estimés par DAMIR.</a:t>
            </a:r>
          </a:p>
          <a:p>
            <a:r>
              <a:t>Le ticket modérateur de rééducation en 2025 à maturité pourrait progresser de +20 à +27 %, sous hypothèse de cadence stable entre 84 et 89 %. Cette sensibilité ne doit pas devenir un taux tarifaire sans analyse des garanties, de l’exposition et du partage patient/AMC. Les séjours ordinaires code 2111 ne montrent pas de dérive forte ni de bosse de calendrier.</a:t>
            </a:r>
          </a:p>
          <a:p>
            <a:r>
              <a:t>Données nécessaires : établissement, secteur public/privé, date de soins, date de facturation, date de règlement, statut et date de raccordement ROC, montants et rejets. Calculer les cadences AMC 2023 et 2024, puis appliquer un scénario de déformation au seul champ public concerné, pondéré par l’exposition réelle. Les taux de déploiement externes ne suffisent pas à chiffrer la part du ROC.</a:t>
            </a:r>
          </a:p>
          <a:p>
            <a:r>
              <a:t>Une hausse durable en année de soins peut justifier une action tarifaire selon les garanties. Une avance de règlement se traite dans les triangles et les PSAP. La baisse des rejets impose de distinguer reprise ponctuelle du stock et évolution durable des paiements. Aucun taux automatique de revalorisation ni montant de PSAP n’est déduit ici.</a:t>
            </a:r>
          </a:p>
          <a:p/>
          <a:p>
            <a:r>
              <a:t>Sources</a:t>
            </a:r>
          </a:p>
          <a:p>
            <a:r>
              <a:t>Cnam, Open DAMIR. Données et définitions : analyse fournie, docs/ETUDE_HOSPITALISATION_PAR_POSTE.md et docs/ETUDE_HOSPITALISATION_2022_2025.md.</a:t>
            </a:r>
          </a:p>
          <a:p>
            <a:r>
              <a:t>GIE SESAM-Vitale, ROC Établissements : https://www.sesam-vitale.fr/en/roc-es</a:t>
            </a:r>
          </a:p>
          <a:p>
            <a:r>
              <a:t>Groupe VYV, Le dispositif ROC : où en est-on ? https://www.groupe-vyv.fr/informations/le-dispositif-roc-ou-en-est-on/</a:t>
            </a:r>
          </a:p>
          <a:p>
            <a:r>
              <a:t>FHP-MCO, 21/07/2025 : https://www.fhpmco.fr/2025/07/21/roc-place-aux-cliniques-et-hopitaux-prives/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Sources</a:t>
            </a:r>
          </a:p>
          <a:p>
            <a:r>
              <a:t>Cnam, Open DAMIR. Données et définitions : analyse fournie, docs/ETUDE_HOSPITALISATION_PAR_POSTE.md et docs/ETUDE_HOSPITALISATION_2022_2025.md.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idx="13" sz="quarter"/>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Open DAMIR est la base publique de la Cnam, tous régimes, publiée chaque mois : dépenses présentées et remboursements de l’Assurance Maladie (AMO), par cellules agrégées — un mois de soins × une prestation × une région × un âge × un sexe. Jamais d’individus, jamais d’établissement.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gridCol w="4114800"/>
              </a:tblGrid>
              <a:tr h="292608">
                <a:tc>
                  <a:txBody>
                    <a:bodyPr/>
                    <a:lstStyle/>
                    <a:p>
                      <a:pPr algn="l">
                        <a:lnSpc>
                          <a:spcPct val="100000"/>
                        </a:lnSpc>
                        <a:spcBef>
                          <a:spcPts val="0"/>
                        </a:spcBef>
                        <a:spcAft>
                          <a:spcPts val="0"/>
                        </a:spcAft>
                      </a:pPr>
                      <a:r>
                        <a:rPr sz="1100" b="1" lang="fr-FR">
                          <a:solidFill>
                            <a:srgbClr val="404040"/>
                          </a:solidFill>
                          <a:latin typeface="Avenir Next LT Pro Light"/>
                        </a:rPr>
                        <a:t>Ce que DAMIR contient</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Ce que DAMIR ne contient pas</a:t>
                      </a:r>
                    </a:p>
                  </a:txBody>
                  <a:tcPr marL="64008" marR="64008" marT="22860" marB="22860" anchor="ctr">
                    <a:solidFill>
                      <a:srgbClr val="BFBFBF">
                        <a:lumMod val="18000"/>
                        <a:lumOff val="82000"/>
                      </a:srgbClr>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Soins de ville et séjours en clinique</a:t>
                      </a:r>
                    </a:p>
                    <a:p>
                      <a:pPr algn="l">
                        <a:lnSpc>
                          <a:spcPct val="100000"/>
                        </a:lnSpc>
                        <a:spcBef>
                          <a:spcPts val="0"/>
                        </a:spcBef>
                        <a:spcAft>
                          <a:spcPts val="0"/>
                        </a:spcAft>
                      </a:pPr>
                      <a:r>
                        <a:rPr sz="1100" b="0" lang="fr-FR">
                          <a:solidFill>
                            <a:srgbClr val="404040"/>
                          </a:solidFill>
                          <a:latin typeface="Avenir Next LT Pro Light"/>
                        </a:rPr>
                        <a:t>Dépense, remboursement AMO, dépassements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Séjours de l’hôpital public</a:t>
                      </a:r>
                    </a:p>
                    <a:p>
                      <a:pPr algn="l">
                        <a:lnSpc>
                          <a:spcPct val="100000"/>
                        </a:lnSpc>
                        <a:spcBef>
                          <a:spcPts val="0"/>
                        </a:spcBef>
                        <a:spcAft>
                          <a:spcPts val="0"/>
                        </a:spcAft>
                      </a:pPr>
                      <a:r>
                        <a:rPr sz="1100" b="0" lang="fr-FR">
                          <a:solidFill>
                            <a:srgbClr val="404040"/>
                          </a:solidFill>
                          <a:latin typeface="Avenir Next LT Pro Light"/>
                        </a:rPr>
                        <a:t>Chambre particulière, part payée par la complémentaire</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Mois de soins, prestation, région, âge, sexe,</a:t>
                      </a:r>
                    </a:p>
                    <a:p>
                      <a:pPr algn="l">
                        <a:lnSpc>
                          <a:spcPct val="100000"/>
                        </a:lnSpc>
                        <a:spcBef>
                          <a:spcPts val="0"/>
                        </a:spcBef>
                        <a:spcAft>
                          <a:spcPts val="0"/>
                        </a:spcAft>
                      </a:pPr>
                      <a:r>
                        <a:rPr sz="1100" b="0" lang="fr-FR">
                          <a:solidFill>
                            <a:srgbClr val="404040"/>
                          </a:solidFill>
                          <a:latin typeface="Avenir Next LT Pro Light"/>
                        </a:rPr>
                        <a:t>nature d’assurance et ALD</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Établissement identifié</a:t>
                      </a:r>
                    </a:p>
                    <a:p>
                      <a:pPr algn="l">
                        <a:lnSpc>
                          <a:spcPct val="100000"/>
                        </a:lnSpc>
                        <a:spcBef>
                          <a:spcPts val="0"/>
                        </a:spcBef>
                        <a:spcAft>
                          <a:spcPts val="0"/>
                        </a:spcAft>
                      </a:pPr>
                      <a:r>
                        <a:rPr sz="1100" b="0" lang="fr-FR">
                          <a:solidFill>
                            <a:srgbClr val="404040"/>
                          </a:solidFill>
                          <a:latin typeface="Avenir Next LT Pro Light"/>
                        </a:rPr>
                        <a:t>Statut ROC ou non ROC</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457200" y="3639312"/>
            <a:ext cx="38404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sz="950" b="0" lang="fr-FR"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idx="13" sz="quarter"/>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5B0C02"/>
                </a:solidFill>
                <a:latin typeface="Avenir Next LT Pro Light"/>
              </a:rPr>
              <a:t>Périmètre : la part payée par la complémentaire —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20240"/>
        </p:xfrm>
        <a:graphic>
          <a:graphicData uri="http://schemas.openxmlformats.org/drawingml/2006/table">
            <a:tbl>
              <a:tblPr>
                <a:tableStyleId>{5C22544A-7EE6-4342-B048-85BDC9FD1C3A}</a:tableStyleId>
              </a:tblPr>
              <a:tblGrid>
                <a:gridCol w="1261872"/>
                <a:gridCol w="3611880"/>
                <a:gridCol w="3355848"/>
              </a:tblGrid>
              <a:tr h="292608">
                <a:tc>
                  <a:txBody>
                    <a:bodyPr/>
                    <a:lstStyle/>
                    <a:p>
                      <a:pPr algn="l">
                        <a:lnSpc>
                          <a:spcPct val="100000"/>
                        </a:lnSpc>
                        <a:spcBef>
                          <a:spcPts val="0"/>
                        </a:spcBef>
                        <a:spcAft>
                          <a:spcPts val="0"/>
                        </a:spcAft>
                      </a:pPr>
                      <a:r>
                        <a:rPr sz="1050" b="1" lang="fr-FR">
                          <a:solidFill>
                            <a:srgbClr val="404040"/>
                          </a:solidFill>
                          <a:latin typeface="Avenir Next LT Pro Light"/>
                        </a:rPr>
                        <a:t>Calendrier</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Hôpitaux publics et ESPIC</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Cliniques privées</a:t>
                      </a:r>
                    </a:p>
                  </a:txBody>
                  <a:tcPr marL="64008" marR="64008" marT="22860" marB="22860" anchor="ctr">
                    <a:solidFill>
                      <a:srgbClr val="BFBFBF">
                        <a:lumMod val="18000"/>
                        <a:lumOff val="82000"/>
                      </a:srgbClr>
                    </a:solidFill>
                    <a:lnL w="0">
                      <a:noFill/>
                    </a:lnL>
                    <a:lnR w="0">
                      <a:noFill/>
                    </a:lnR>
                    <a:lnT w="0">
                      <a:noFill/>
                    </a:lnT>
                    <a:lnB w="0">
                      <a:noFill/>
                    </a:lnB>
                  </a:tcPr>
                </a:tc>
              </a:tr>
              <a:tr h="301752">
                <a:tc>
                  <a:txBody>
                    <a:bodyPr/>
                    <a:lstStyle/>
                    <a:p>
                      <a:pPr algn="l">
                        <a:lnSpc>
                          <a:spcPct val="100000"/>
                        </a:lnSpc>
                        <a:spcBef>
                          <a:spcPts val="0"/>
                        </a:spcBef>
                        <a:spcAft>
                          <a:spcPts val="0"/>
                        </a:spcAft>
                      </a:pPr>
                      <a:r>
                        <a:rPr sz="1000" b="0" lang="fr-FR">
                          <a:solidFill>
                            <a:srgbClr val="404040"/>
                          </a:solidFill>
                          <a:latin typeface="Avenir Next LT Pro Light"/>
                        </a:rPr>
                        <a:t>2021</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Accord national État – hôpitaux – complémentaires (programme SIMPHONIE)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a:t>
                      </a:r>
                    </a:p>
                  </a:txBody>
                  <a:tcPr marL="64008" marR="64008" marT="22860" marB="22860" anchor="ctr">
                    <a:solidFill>
                      <a:srgbClr val="FFFFFF"/>
                    </a:solidFill>
                    <a:lnL w="0">
                      <a:noFill/>
                    </a:lnL>
                    <a:lnR w="0">
                      <a:noFill/>
                    </a:lnR>
                    <a:lnT w="0">
                      <a:noFill/>
                    </a:lnT>
                    <a:lnB w="0">
                      <a:noFill/>
                    </a:lnB>
                  </a:tcPr>
                </a:tc>
              </a:tr>
              <a:tr h="521207">
                <a:tc>
                  <a:txBody>
                    <a:bodyPr/>
                    <a:lstStyle/>
                    <a:p>
                      <a:pPr algn="l">
                        <a:lnSpc>
                          <a:spcPct val="100000"/>
                        </a:lnSpc>
                        <a:spcBef>
                          <a:spcPts val="0"/>
                        </a:spcBef>
                        <a:spcAft>
                          <a:spcPts val="0"/>
                        </a:spcAft>
                      </a:pPr>
                      <a:r>
                        <a:rPr sz="1000" b="0" lang="fr-FR">
                          <a:solidFill>
                            <a:srgbClr val="404040"/>
                          </a:solidFill>
                          <a:latin typeface="Avenir Next LT Pro Light"/>
                        </a:rPr>
                        <a:t>19/09/2024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473 établissements facturent via ROC, soit 58 % d’entre eux. 88 complémentaires raccordées, couvrant 97 % des assurés.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Pas encore concernées</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000" b="0" lang="fr-FR">
                          <a:solidFill>
                            <a:srgbClr val="404040"/>
                          </a:solidFill>
                          <a:latin typeface="Avenir Next LT Pro Light"/>
                        </a:rPr>
                        <a:t>2025–2026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Fin du déploiement</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Deux cliniques pilotes à la rentrée 2025 ; montée en charge en septembre 2026</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2027</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Généralisation à toutes les cliniques</a:t>
                      </a:r>
                    </a:p>
                  </a:txBody>
                  <a:tcPr marL="64008" marR="64008" marT="22860" marB="22860" anchor="ctr">
                    <a:solidFill>
                      <a:srgbClr val="FFFFFF"/>
                    </a:solidFill>
                    <a:lnL w="0">
                      <a:noFill/>
                    </a:lnL>
                    <a:lnR w="0">
                      <a:noFill/>
                    </a:lnR>
                    <a:lnT w="0">
                      <a:noFill/>
                    </a:lnT>
                    <a:lnB w="0">
                      <a:noFill/>
                    </a:lnB>
                  </a:tcPr>
                </a:tc>
              </a:tr>
            </a:tbl>
          </a:graphicData>
        </a:graphic>
      </p:graphicFrame>
      <p:sp>
        <p:nvSpPr>
          <p:cNvPr id="7" name="TextBox 6"/>
          <p:cNvSpPr txBox="1"/>
          <p:nvPr/>
        </p:nvSpPr>
        <p:spPr>
          <a:xfrm>
            <a:off x="457200" y="4443984"/>
            <a:ext cx="3977639" cy="393192"/>
          </a:xfrm>
          <a:prstGeom prst="rect">
            <a:avLst/>
          </a:prstGeom>
          <a:noFill/>
        </p:spPr>
        <p:txBody>
          <a:bodyPr wrap="square" lIns="0" rIns="0" tIns="0" bIns="0">
            <a:noAutofit/>
          </a:bodyPr>
          <a:lstStyle/>
          <a:p>
            <a:pPr>
              <a:lnSpc>
                <a:spcPct val="112000"/>
              </a:lnSpc>
              <a:spcBef>
                <a:spcPts val="0"/>
              </a:spcBef>
              <a:spcAft>
                <a:spcPts val="0"/>
              </a:spcAft>
            </a:pPr>
            <a:r>
              <a:rPr sz="2100" b="0" lang="fr-FR" cap="none">
                <a:solidFill>
                  <a:srgbClr val="EF4647"/>
                </a:solidFill>
                <a:latin typeface="Montserrat"/>
              </a:rPr>
              <a:t>10–15 %   →   0,1–0,2 %</a:t>
            </a:r>
          </a:p>
        </p:txBody>
      </p:sp>
      <p:sp>
        <p:nvSpPr>
          <p:cNvPr id="8" name="TextBox 7"/>
          <p:cNvSpPr txBox="1"/>
          <p:nvPr/>
        </p:nvSpPr>
        <p:spPr>
          <a:xfrm>
            <a:off x="457200" y="4882896"/>
            <a:ext cx="3977639" cy="27432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Rejets de factures rapportés par les complémentaires</a:t>
            </a:r>
          </a:p>
        </p:txBody>
      </p:sp>
      <p:sp>
        <p:nvSpPr>
          <p:cNvPr id="9" name="TextBox 8"/>
          <p:cNvSpPr txBox="1"/>
          <p:nvPr/>
        </p:nvSpPr>
        <p:spPr>
          <a:xfrm>
            <a:off x="4736592" y="4315968"/>
            <a:ext cx="3931920" cy="777240"/>
          </a:xfrm>
          <a:prstGeom prst="rect">
            <a:avLst/>
          </a:prstGeom>
          <a:noFill/>
        </p:spPr>
        <p:txBody>
          <a:bodyPr wrap="square" lIns="0" rIns="0" tIns="0" bIns="0">
            <a:noAutofit/>
          </a:bodyPr>
          <a:lstStyle/>
          <a:p>
            <a:pPr>
              <a:lnSpc>
                <a:spcPct val="112000"/>
              </a:lnSpc>
              <a:spcBef>
                <a:spcPts val="0"/>
              </a:spcBef>
              <a:spcAft>
                <a:spcPts val="0"/>
              </a:spcAft>
            </a:pPr>
            <a:r>
              <a:rPr sz="1000" b="1" lang="fr-FR" cap="none">
                <a:solidFill>
                  <a:srgbClr val="5B0C02"/>
                </a:solidFill>
                <a:latin typeface="Avenir Next LT Pro Light"/>
              </a:rPr>
              <a:t>Pour une complémentaire : des factures payées plus vite et moins rejetées. L’année de bascule cumule l’arriéré de l’année précédente, l’année en cours accélérée et les rejets d’hier : la charge comptable monte sans hausse des soins.</a:t>
            </a:r>
          </a:p>
        </p:txBody>
      </p:sp>
      <p:sp>
        <p:nvSpPr>
          <p:cNvPr id="10" name="TextBox 9"/>
          <p:cNvSpPr txBox="1"/>
          <p:nvPr/>
        </p:nvSpPr>
        <p:spPr>
          <a:xfrm>
            <a:off x="457200" y="5138928"/>
            <a:ext cx="8229600" cy="292608"/>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En 2025, le ROC joue à l’hôpital public — les séjours que DAMIR ne contient pas. Son 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 GIE SESAM-Vitale ; Groupe VYV (19/09/2024) ; FHP-MCO (21/07/2025). Calendrier annoncé.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Les ruptures à prendre en compte</a:t>
            </a:r>
          </a:p>
        </p:txBody>
      </p:sp>
      <p:sp>
        <p:nvSpPr>
          <p:cNvPr id="3" name="Text Placeholder 2"/>
          <p:cNvSpPr>
            <a:spLocks noGrp="1"/>
          </p:cNvSpPr>
          <p:nvPr>
            <p:ph type="body" idx="13" sz="quarter"/>
          </p:nvPr>
        </p:nvSpPr>
        <p:spPr>
          <a:xfrm>
            <a:off x="466344" y="612648"/>
            <a:ext cx="6766560" cy="292608"/>
          </a:xfrm>
        </p:spPr>
        <p:txBody>
          <a:bodyPr/>
          <a:lstStyle/>
          <a:p>
            <a:r>
              <a:t>Trois blocs : séjours ordinaires, rééducation, anesthésie</a:t>
            </a:r>
          </a:p>
        </p:txBody>
      </p:sp>
      <p:sp>
        <p:nvSpPr>
          <p:cNvPr id="4" name="TextBox 3"/>
          <p:cNvSpPr txBox="1"/>
          <p:nvPr/>
        </p:nvSpPr>
        <p:spPr>
          <a:xfrm>
            <a:off x="457200" y="1088136"/>
            <a:ext cx="4800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Réformes et changements d’enregistrement</a:t>
            </a:r>
          </a:p>
        </p:txBody>
      </p:sp>
      <p:graphicFrame>
        <p:nvGraphicFramePr>
          <p:cNvPr id="5" name="Table 4"/>
          <p:cNvGraphicFramePr>
            <a:graphicFrameLocks noGrp="1"/>
          </p:cNvGraphicFramePr>
          <p:nvPr/>
        </p:nvGraphicFramePr>
        <p:xfrm>
          <a:off x="457200" y="1463040"/>
          <a:ext cx="4736591" cy="2578608"/>
        </p:xfrm>
        <a:graphic>
          <a:graphicData uri="http://schemas.openxmlformats.org/drawingml/2006/table">
            <a:tbl>
              <a:tblPr>
                <a:tableStyleId>{5C22544A-7EE6-4342-B048-85BDC9FD1C3A}</a:tableStyleId>
              </a:tblPr>
              <a:tblGrid>
                <a:gridCol w="914400"/>
                <a:gridCol w="3822191"/>
              </a:tblGrid>
              <a:tr h="265176">
                <a:tc>
                  <a:txBody>
                    <a:bodyPr/>
                    <a:lstStyle/>
                    <a:p>
                      <a:pPr algn="l">
                        <a:lnSpc>
                          <a:spcPct val="100000"/>
                        </a:lnSpc>
                        <a:spcBef>
                          <a:spcPts val="0"/>
                        </a:spcBef>
                        <a:spcAft>
                          <a:spcPts val="0"/>
                        </a:spcAft>
                      </a:pPr>
                      <a:r>
                        <a:rPr sz="1000" b="1" lang="fr-FR">
                          <a:solidFill>
                            <a:srgbClr val="404040"/>
                          </a:solidFill>
                          <a:latin typeface="Avenir Next LT Pro Light"/>
                        </a:rPr>
                        <a:t>Date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Événement</a:t>
                      </a:r>
                    </a:p>
                  </a:txBody>
                  <a:tcPr marL="64008" marR="64008" marT="22860" marB="22860" anchor="ctr">
                    <a:solidFill>
                      <a:srgbClr val="BFBFBF">
                        <a:lumMod val="18000"/>
                        <a:lumOff val="82000"/>
                      </a:srgbClr>
                    </a:solidFill>
                    <a:lnL w="0">
                      <a:noFill/>
                    </a:lnL>
                    <a:lnR w="0">
                      <a:noFill/>
                    </a:lnR>
                    <a:lnT w="0">
                      <a:noFill/>
                    </a:lnT>
                    <a:lnB w="0">
                      <a:noFill/>
                    </a:lnB>
                  </a:tcPr>
                </a:tc>
              </a:tr>
              <a:tr h="530352">
                <a:tc>
                  <a:txBody>
                    <a:bodyPr/>
                    <a:lstStyle/>
                    <a:p>
                      <a:pPr algn="l">
                        <a:lnSpc>
                          <a:spcPct val="100000"/>
                        </a:lnSpc>
                        <a:spcBef>
                          <a:spcPts val="0"/>
                        </a:spcBef>
                        <a:spcAft>
                          <a:spcPts val="0"/>
                        </a:spcAft>
                      </a:pPr>
                      <a:r>
                        <a:rPr sz="1000" b="0" lang="fr-FR">
                          <a:solidFill>
                            <a:srgbClr val="404040"/>
                          </a:solidFill>
                          <a:latin typeface="Avenir Next LT Pro Light"/>
                        </a:rPr>
                        <a:t>01/2024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du financement des SMR</a:t>
                      </a:r>
                    </a:p>
                    <a:p>
                      <a:pPr algn="l">
                        <a:lnSpc>
                          <a:spcPct val="100000"/>
                        </a:lnSpc>
                        <a:spcBef>
                          <a:spcPts val="0"/>
                        </a:spcBef>
                        <a:spcAft>
                          <a:spcPts val="0"/>
                        </a:spcAft>
                      </a:pPr>
                      <a:r>
                        <a:rPr sz="1000" b="0" lang="fr-FR">
                          <a:solidFill>
                            <a:srgbClr val="404040"/>
                          </a:solidFill>
                          <a:latin typeface="Avenir Next LT Pro Light"/>
                        </a:rPr>
                        <a:t>Nouveaux tarifs et codes, facturation retardée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Doublement des franchises</a:t>
                      </a:r>
                    </a:p>
                    <a:p>
                      <a:pPr algn="l">
                        <a:lnSpc>
                          <a:spcPct val="100000"/>
                        </a:lnSpc>
                        <a:spcBef>
                          <a:spcPts val="0"/>
                        </a:spcBef>
                        <a:spcAft>
                          <a:spcPts val="0"/>
                        </a:spcAft>
                      </a:pPr>
                      <a:r>
                        <a:rPr sz="1000" b="0" lang="fr-FR">
                          <a:solidFill>
                            <a:srgbClr val="404040"/>
                          </a:solidFill>
                          <a:latin typeface="Avenir Next LT Pro Light"/>
                        </a:rPr>
                        <a:t>et participations forfaitaires</a:t>
                      </a:r>
                    </a:p>
                  </a:txBody>
                  <a:tcPr marL="64008" marR="64008" marT="22860" marB="22860" anchor="ctr">
                    <a:solidFill>
                      <a:srgbClr val="FFFFFF"/>
                    </a:solidFill>
                    <a:lnL w="0">
                      <a:noFill/>
                    </a:lnL>
                    <a:lnR w="0">
                      <a:noFill/>
                    </a:lnR>
                    <a:lnT w="0">
                      <a:noFill/>
                    </a:lnT>
                    <a:lnB w="0">
                      <a:noFill/>
                    </a:lnB>
                  </a:tcPr>
                </a:tc>
              </a:tr>
              <a:tr h="539496">
                <a:tc>
                  <a:txBody>
                    <a:bodyPr/>
                    <a:lstStyle/>
                    <a:p>
                      <a:pPr algn="l">
                        <a:lnSpc>
                          <a:spcPct val="100000"/>
                        </a:lnSpc>
                        <a:spcBef>
                          <a:spcPts val="0"/>
                        </a:spcBef>
                        <a:spcAft>
                          <a:spcPts val="0"/>
                        </a:spcAft>
                      </a:pPr>
                      <a:r>
                        <a:rPr sz="1000" b="0" lang="fr-FR">
                          <a:solidFill>
                            <a:srgbClr val="404040"/>
                          </a:solidFill>
                          <a:latin typeface="Avenir Next LT Pro Light"/>
                        </a:rPr>
                        <a:t>11/2024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Forfait journalier (2251) : dépense</a:t>
                      </a:r>
                    </a:p>
                    <a:p>
                      <a:pPr algn="l">
                        <a:lnSpc>
                          <a:spcPct val="100000"/>
                        </a:lnSpc>
                        <a:spcBef>
                          <a:spcPts val="0"/>
                        </a:spcBef>
                        <a:spcAft>
                          <a:spcPts val="0"/>
                        </a:spcAft>
                      </a:pPr>
                      <a:r>
                        <a:rPr sz="1000" b="0" lang="fr-FR">
                          <a:solidFill>
                            <a:srgbClr val="404040"/>
                          </a:solidFill>
                          <a:latin typeface="Avenir Next LT Pro Light"/>
                        </a:rPr>
                        <a:t>non enregistrée, cause non documentée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07/2025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Codes 4243–4247 sans libellé local</a:t>
                      </a:r>
                    </a:p>
                    <a:p>
                      <a:pPr algn="l">
                        <a:lnSpc>
                          <a:spcPct val="100000"/>
                        </a:lnSpc>
                        <a:spcBef>
                          <a:spcPts val="0"/>
                        </a:spcBef>
                        <a:spcAft>
                          <a:spcPts val="0"/>
                        </a:spcAft>
                      </a:pPr>
                      <a:r>
                        <a:rPr sz="1000" b="0" lang="fr-FR">
                          <a:solidFill>
                            <a:srgbClr val="404040"/>
                          </a:solidFill>
                          <a:latin typeface="Avenir Next LT Pro Light"/>
                        </a:rPr>
                        <a:t>262 M€ de prestations nouvelles</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à préciser</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5477256" y="1088136"/>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Cadence de paiement de l’Assurance Maladie</a:t>
            </a:r>
          </a:p>
        </p:txBody>
      </p:sp>
      <p:graphicFrame>
        <p:nvGraphicFramePr>
          <p:cNvPr id="7" name="Table 6"/>
          <p:cNvGraphicFramePr>
            <a:graphicFrameLocks noGrp="1"/>
          </p:cNvGraphicFramePr>
          <p:nvPr/>
        </p:nvGraphicFramePr>
        <p:xfrm>
          <a:off x="5477256" y="1463040"/>
          <a:ext cx="3209544" cy="1261872"/>
        </p:xfrm>
        <a:graphic>
          <a:graphicData uri="http://schemas.openxmlformats.org/drawingml/2006/table">
            <a:tbl>
              <a:tblPr>
                <a:tableStyleId>{5C22544A-7EE6-4342-B048-85BDC9FD1C3A}</a:tableStyleId>
              </a:tblPr>
              <a:tblGrid>
                <a:gridCol w="1728216"/>
                <a:gridCol w="740664"/>
                <a:gridCol w="740664"/>
              </a:tblGrid>
              <a:tr h="301752">
                <a:tc>
                  <a:txBody>
                    <a:bodyPr/>
                    <a:lstStyle/>
                    <a:p>
                      <a:pPr algn="l">
                        <a:lnSpc>
                          <a:spcPct val="100000"/>
                        </a:lnSpc>
                        <a:spcBef>
                          <a:spcPts val="0"/>
                        </a:spcBef>
                        <a:spcAft>
                          <a:spcPts val="0"/>
                        </a:spcAft>
                      </a:pPr>
                      <a:r>
                        <a:rPr sz="950" b="1" lang="fr-FR">
                          <a:solidFill>
                            <a:srgbClr val="404040"/>
                          </a:solidFill>
                          <a:latin typeface="Avenir Next LT Pro Light"/>
                        </a:rPr>
                        <a:t>Part de l’année de soins remboursée au 31/12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Séjours ordinaires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91,3 %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Anesthésie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93,9 %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Rééducation</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84,4 %</a:t>
                      </a:r>
                    </a:p>
                  </a:txBody>
                  <a:tcPr marL="64008" marR="64008" marT="22860" marB="22860" anchor="ctr">
                    <a:solidFill>
                      <a:srgbClr val="FFFFFF"/>
                    </a:solidFill>
                    <a:lnL w="0">
                      <a:noFill/>
                    </a:lnL>
                    <a:lnR w="0">
                      <a:noFill/>
                    </a:lnR>
                    <a:lnT w="0">
                      <a:noFill/>
                    </a:lnT>
                    <a:lnB w="0">
                      <a:noFill/>
                    </a:lnB>
                  </a:tcPr>
                </a:tc>
              </a:tr>
            </a:tbl>
          </a:graphicData>
        </a:graphic>
      </p:graphicFrame>
      <p:sp>
        <p:nvSpPr>
          <p:cNvPr id="8" name="TextBox 7"/>
          <p:cNvSpPr txBox="1"/>
          <p:nvPr/>
        </p:nvSpPr>
        <p:spPr>
          <a:xfrm>
            <a:off x="5477256" y="2852928"/>
            <a:ext cx="3209544" cy="132588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Lecture : sur 100 € de soins d’une année, part déjà remboursée par l’Assurance Maladie au 31 décembre de la même année. Stable pour les séjours et l’anesthésie ; la rééducation ralentit en 2024, ses factures ayant été retardées par la réforme. Côté AMO, aucune accélération : celle qu’une complémentaire observe lui est propre.</a:t>
            </a:r>
          </a:p>
        </p:txBody>
      </p:sp>
      <p:sp>
        <p:nvSpPr>
          <p:cNvPr id="10" name="TextBox 9"/>
          <p:cNvSpPr txBox="1"/>
          <p:nvPr/>
        </p:nvSpPr>
        <p:spPr>
          <a:xfrm>
            <a:off x="457200" y="4297680"/>
            <a:ext cx="8229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Pourquoi l’agrégat « Hospitalisation » trompe</a:t>
            </a:r>
          </a:p>
        </p:txBody>
      </p:sp>
      <p:sp>
        <p:nvSpPr>
          <p:cNvPr id="11" name="TextBox 10"/>
          <p:cNvSpPr txBox="1"/>
          <p:nvPr/>
        </p:nvSpPr>
        <p:spPr>
          <a:xfrm>
            <a:off x="457200" y="4553712"/>
            <a:ext cx="8229600" cy="768096"/>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Lu en bloc, le grand poste affiche une part de l’Assurance Maladie qui monte (85,5 % → 87,6 % → 93,1 %). Ce n’est pas une meilleure prise en charge mais deux changements de comptabilisation : en 2024, la réforme SMR crée une dotation aux cliniques de rééducation remboursée à 100 % (1,3 Md€) ; depuis novembre 2024, le forfait journalier n’apparaît plus dans les dépenses du fichier alors que sa part remboursée y reste. Sans ces deux postes, la part AMO est stable (91,5 → 91,6 %) ; la DREES la voit même baisser dans le privé (−0,6 pt).</a:t>
            </a:r>
          </a:p>
        </p:txBody>
      </p:sp>
      <p:sp>
        <p:nvSpPr>
          <p:cNvPr id="12" name="TextBox 11"/>
          <p:cNvSpPr txBox="1"/>
          <p:nvPr/>
        </p:nvSpPr>
        <p:spPr>
          <a:xfrm>
            <a:off x="457200" y="5340096"/>
            <a:ext cx="813816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complémentaires : Sénat, qSEQ241000269 ; DREES, Comptes de la santé 2024, fiche 02 ; Groupe VYV.</a:t>
            </a:r>
          </a:p>
        </p:txBody>
      </p:sp>
      <p:sp>
        <p:nvSpPr>
          <p:cNvPr id="13" name="TextBox 12"/>
          <p:cNvSpPr txBox="1"/>
          <p:nvPr/>
        </p:nvSpPr>
        <p:spPr>
          <a:xfrm>
            <a:off x="457200" y="5486400"/>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idx="13" sz="quarter"/>
          </p:nvPr>
        </p:nvSpPr>
        <p:spPr>
          <a:xfrm>
            <a:off x="466344" y="612648"/>
            <a:ext cx="6766560" cy="292608"/>
          </a:xfrm>
        </p:spPr>
        <p:txBody>
          <a:bodyPr/>
          <a:lstStyle/>
          <a:p>
            <a:r>
              <a:t>Cliniques, code 2111 : frais d’hébergement et environnement en GHS</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8 155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8 833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7 823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8 488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8 463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330</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95,9 %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9 405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7 785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9 039</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329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366</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545336"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+2,4 %</a:t>
            </a:r>
          </a:p>
        </p:txBody>
      </p:sp>
      <p:sp>
        <p:nvSpPr>
          <p:cNvPr id="8" name="TextBox 7"/>
          <p:cNvSpPr txBox="1"/>
          <p:nvPr/>
        </p:nvSpPr>
        <p:spPr>
          <a:xfrm>
            <a:off x="6922008" y="4087368"/>
            <a:ext cx="1755648"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année de soins, 2024</a:t>
            </a:r>
          </a:p>
        </p:txBody>
      </p:sp>
      <p:sp>
        <p:nvSpPr>
          <p:cNvPr id="9" name="TextBox 8"/>
          <p:cNvSpPr txBox="1"/>
          <p:nvPr/>
        </p:nvSpPr>
        <p:spPr>
          <a:xfrm>
            <a:off x="457200" y="454456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année de soins : observée, liquidée à ~90 %. Le reste après AMO approche ici le ticket modérateur.</a:t>
            </a:r>
          </a:p>
          <a:p>
            <a:pPr>
              <a:lnSpc>
                <a:spcPct val="112000"/>
              </a:lnSpc>
              <a:spcBef>
                <a:spcPts val="0"/>
              </a:spcBef>
              <a:spcAft>
                <a:spcPts val="0"/>
              </a:spcAft>
            </a:pPr>
            <a:r>
              <a:rPr sz="850" b="0" lang="fr-FR" cap="none">
                <a:solidFill>
                  <a:srgbClr val="404040"/>
                </a:solidFill>
                <a:latin typeface="Avenir Next LT Pro Light"/>
              </a:rPr>
              <a:t>Le code 2111 ne représente pas tous les séjours. Les montants arrondis peuvent créer un écart de 1 M€.</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idx="13" sz="quarter"/>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3 665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4 144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4 315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3 682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633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3 893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4 953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3 351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4 232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721</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+33,2 %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54456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Le reste après AMO augmente de 8,5 % en soins en 2024. Le règlement 2025 rattrape les retards.</a:t>
            </a:r>
          </a:p>
        </p:txBody>
      </p:sp>
      <p:sp>
        <p:nvSpPr>
          <p:cNvPr id="10" name="TextBox 9"/>
          <p:cNvSpPr txBox="1"/>
          <p:nvPr/>
        </p:nvSpPr>
        <p:spPr>
          <a:xfrm>
            <a:off x="457200" y="4846320"/>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56632"/>
            <a:ext cx="8229600" cy="310896"/>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Niveaux de dépense 2023/2024 non comparables (réforme). * 2025 observée, liquidée à ~90 %, non redressée.</a:t>
            </a:r>
          </a:p>
          <a:p>
            <a:pPr>
              <a:lnSpc>
                <a:spcPct val="112000"/>
              </a:lnSpc>
              <a:spcBef>
                <a:spcPts val="0"/>
              </a:spcBef>
              <a:spcAft>
                <a:spcPts val="0"/>
              </a:spcAft>
            </a:pPr>
            <a:r>
              <a:rPr sz="850" b="0" lang="fr-FR" cap="none">
                <a:solidFill>
                  <a:srgbClr val="404040"/>
                </a:solidFill>
                <a:latin typeface="Avenir Next LT Pro Light"/>
              </a:rPr>
              <a:t>À maturité : reste après AMO +20 à +27 % en 2025, sous hypothèse de liquidation de 84–89 %.</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Reste après AMO par tranche d’âge, en année de soins — 2025 observée, non liquidée</a:t>
            </a:r>
          </a:p>
        </p:txBody>
      </p:sp>
      <p:sp>
        <p:nvSpPr>
          <p:cNvPr id="4" name="TextBox 3"/>
          <p:cNvSpPr txBox="1"/>
          <p:nvPr/>
        </p:nvSpPr>
        <p:spPr>
          <a:xfrm>
            <a:off x="457200" y="1106424"/>
            <a:ext cx="56692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r:id="rId2"/>
          </a:graphicData>
        </a:graphic>
      </p:graphicFrame>
      <p:sp>
        <p:nvSpPr>
          <p:cNvPr id="6" name="TextBox 5"/>
          <p:cNvSpPr txBox="1"/>
          <p:nvPr/>
        </p:nvSpPr>
        <p:spPr>
          <a:xfrm>
            <a:off x="6455664" y="1764792"/>
            <a:ext cx="2231136" cy="448056"/>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0–49 ans</a:t>
            </a:r>
          </a:p>
          <a:p>
            <a:pPr>
              <a:lnSpc>
                <a:spcPct val="112000"/>
              </a:lnSpc>
              <a:spcBef>
                <a:spcPts val="0"/>
              </a:spcBef>
              <a:spcAft>
                <a:spcPts val="0"/>
              </a:spcAft>
            </a:pPr>
            <a:r>
              <a:rPr sz="1100" b="0" lang="fr-FR"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87552"/>
        </p:xfrm>
        <a:graphic>
          <a:graphicData uri="http://schemas.openxmlformats.org/drawingml/2006/table">
            <a:tbl>
              <a:tblPr>
                <a:tableStyleId>{5C22544A-7EE6-4342-B048-85BDC9FD1C3A}</a:tableStyleId>
              </a:tblPr>
              <a:tblGrid>
                <a:gridCol w="914400"/>
                <a:gridCol w="914400"/>
                <a:gridCol w="914400"/>
                <a:gridCol w="914400"/>
                <a:gridCol w="914400"/>
                <a:gridCol w="914400"/>
                <a:gridCol w="914400"/>
                <a:gridCol w="914400"/>
                <a:gridCol w="914400"/>
              </a:tblGrid>
              <a:tr h="237744">
                <a:tc>
                  <a:txBody>
                    <a:bodyPr/>
                    <a:lstStyle/>
                    <a:p>
                      <a:pPr algn="l">
                        <a:lnSpc>
                          <a:spcPct val="100000"/>
                        </a:lnSpc>
                        <a:spcBef>
                          <a:spcPts val="0"/>
                        </a:spcBef>
                        <a:spcAft>
                          <a:spcPts val="0"/>
                        </a:spcAft>
                      </a:pPr>
                      <a:r>
                        <a:rPr sz="900" b="1" lang="fr-FR">
                          <a:solidFill>
                            <a:srgbClr val="404040"/>
                          </a:solidFill>
                          <a:latin typeface="Avenir Next LT Pro Light"/>
                        </a:rPr>
                        <a:t>En M€</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0–19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20–29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30–39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40–49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50–59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60–69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70–79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80 +</a:t>
                      </a:r>
                    </a:p>
                  </a:txBody>
                  <a:tcPr marL="64008" marR="64008" marT="22860" marB="22860" anchor="ctr">
                    <a:solidFill>
                      <a:srgbClr val="BFBFBF">
                        <a:lumMod val="18000"/>
                        <a:lumOff val="82000"/>
                      </a:srgbClr>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13,7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15,9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29,6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92,1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141,0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186,2</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31,3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30,6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48,2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78,0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94,2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127,9</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67,8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102,0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128,3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114,6</a:t>
                      </a:r>
                    </a:p>
                  </a:txBody>
                  <a:tcPr marL="64008" marR="64008" marT="22860" marB="22860" anchor="ctr">
                    <a:solidFill>
                      <a:srgbClr val="FFFFFF"/>
                    </a:solidFill>
                    <a:lnL w="0">
                      <a:noFill/>
                    </a:lnL>
                    <a:lnR w="0">
                      <a:noFill/>
                    </a:lnR>
                    <a:lnT w="0">
                      <a:noFill/>
                    </a:lnT>
                    <a:lnB w="0">
                      <a:noFill/>
                    </a:lnB>
                  </a:tcPr>
                </a:tc>
              </a:tr>
            </a:tbl>
          </a:graphicData>
        </a:graphic>
      </p:graphicFrame>
      <p:sp>
        <p:nvSpPr>
          <p:cNvPr id="11" name="TextBox 10"/>
          <p:cNvSpPr txBox="1"/>
          <p:nvPr/>
        </p:nvSpPr>
        <p:spPr>
          <a:xfrm>
            <a:off x="457200" y="5029200"/>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observée au 31/12/2025, liquidée à ~85 % : à lire comme un minimum. Montants agrégés, pas un risque individuel ; l’effet des tarifs et des exonérations reste une hypothèse ;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idx="13" sz="quarter"/>
          </p:nvPr>
        </p:nvSpPr>
        <p:spPr>
          <a:xfrm>
            <a:off x="466344" y="612648"/>
            <a:ext cx="6766560" cy="292608"/>
          </a:xfrm>
        </p:spPr>
        <p:txBody>
          <a:bodyPr/>
          <a:lstStyle/>
          <a:p>
            <a:r>
              <a:t>Poste « Hospitalisation Honoraires », dominé à ~95 % par l’anesthésie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gridCol w="731520"/>
                <a:gridCol w="731520"/>
                <a:gridCol w="731520"/>
                <a:gridCol w="731520"/>
              </a:tblGrid>
              <a:tr h="227685">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1 322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65,3 %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64,3 %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35,7 %</a:t>
                      </a:r>
                    </a:p>
                  </a:txBody>
                  <a:tcPr marL="64008" marR="64008" marT="22860" marB="22860" anchor="ctr">
                    <a:solidFill>
                      <a:srgbClr val="FFFFFF"/>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1 478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69,2 %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64,5 %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34,5 %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r:id="rId2"/>
          </a:graphicData>
        </a:graphic>
      </p:graphicFrame>
      <p:sp>
        <p:nvSpPr>
          <p:cNvPr id="7" name="TextBox 6"/>
          <p:cNvSpPr txBox="1"/>
          <p:nvPr/>
        </p:nvSpPr>
        <p:spPr>
          <a:xfrm>
            <a:off x="5541264" y="4069080"/>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+10,0 %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Dépassements</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654296"/>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soins : observée, liquidée à ~94 %. À maturité : reste après AMO 532 M€ (+10,8 %), observé ÷ 93,9 %.</a:t>
            </a:r>
          </a:p>
          <a:p>
            <a:pPr>
              <a:lnSpc>
                <a:spcPct val="112000"/>
              </a:lnSpc>
              <a:spcBef>
                <a:spcPts val="0"/>
              </a:spcBef>
              <a:spcAft>
                <a:spcPts val="0"/>
              </a:spcAft>
            </a:pPr>
            <a:r>
              <a:rPr sz="850" b="0" lang="fr-FR" cap="none">
                <a:solidFill>
                  <a:srgbClr val="404040"/>
                </a:solidFill>
                <a:latin typeface="Avenir Next LT Pro Light"/>
              </a:rPr>
              <a:t>La chirurgie (code 1321) est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Deux hausses réelles, deux effets de calendrier</a:t>
            </a:r>
          </a:p>
        </p:txBody>
      </p:sp>
      <p:graphicFrame>
        <p:nvGraphicFramePr>
          <p:cNvPr id="4" name="Table 3"/>
          <p:cNvGraphicFramePr>
            <a:graphicFrameLocks noGrp="1"/>
          </p:cNvGraphicFramePr>
          <p:nvPr/>
        </p:nvGraphicFramePr>
        <p:xfrm>
          <a:off x="457200" y="1097280"/>
          <a:ext cx="8229600" cy="2651760"/>
        </p:xfrm>
        <a:graphic>
          <a:graphicData uri="http://schemas.openxmlformats.org/drawingml/2006/table">
            <a:tbl>
              <a:tblPr>
                <a:tableStyleId>{5C22544A-7EE6-4342-B048-85BDC9FD1C3A}</a:tableStyleId>
              </a:tblPr>
              <a:tblGrid>
                <a:gridCol w="1938528"/>
                <a:gridCol w="3520440"/>
                <a:gridCol w="2770632"/>
              </a:tblGrid>
              <a:tr h="320040">
                <a:tc>
                  <a:txBody>
                    <a:bodyPr/>
                    <a:lstStyle/>
                    <a:p>
                      <a:pPr algn="l">
                        <a:lnSpc>
                          <a:spcPct val="100000"/>
                        </a:lnSpc>
                        <a:spcBef>
                          <a:spcPts val="0"/>
                        </a:spcBef>
                        <a:spcAft>
                          <a:spcPts val="0"/>
                        </a:spcAft>
                      </a:pPr>
                      <a:r>
                        <a:rPr sz="1050" b="1" lang="fr-FR">
                          <a:solidFill>
                            <a:srgbClr val="404040"/>
                          </a:solidFill>
                          <a:latin typeface="Avenir Next LT Pro Light"/>
                        </a:rPr>
                        <a:t>Composante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Observation 2022–2025</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Nature</a:t>
                      </a:r>
                    </a:p>
                  </a:txBody>
                  <a:tcPr marL="64008" marR="64008" marT="22860" marB="22860" anchor="ctr">
                    <a:solidFill>
                      <a:srgbClr val="BFBFBF">
                        <a:lumMod val="18000"/>
                        <a:lumOff val="82000"/>
                      </a:srgbClr>
                    </a:solidFill>
                    <a:lnL w="0">
                      <a:noFill/>
                    </a:lnL>
                    <a:lnR w="0">
                      <a:noFill/>
                    </a:lnR>
                    <a:lnT w="0">
                      <a:noFill/>
                    </a:lnT>
                    <a:lnB w="0">
                      <a:noFill/>
                    </a:lnB>
                  </a:tcPr>
                </a:tc>
              </a:tr>
              <a:tr h="594360">
                <a:tc>
                  <a:txBody>
                    <a:bodyPr/>
                    <a:lstStyle/>
                    <a:p>
                      <a:pPr algn="l">
                        <a:lnSpc>
                          <a:spcPct val="100000"/>
                        </a:lnSpc>
                        <a:spcBef>
                          <a:spcPts val="0"/>
                        </a:spcBef>
                        <a:spcAft>
                          <a:spcPts val="0"/>
                        </a:spcAft>
                      </a:pPr>
                      <a:r>
                        <a:rPr sz="1000" b="0" lang="fr-FR">
                          <a:solidFill>
                            <a:srgbClr val="404040"/>
                          </a:solidFill>
                          <a:latin typeface="Avenir Next LT Pro Light"/>
                        </a:rPr>
                        <a:t>Séjours ordinaires en clinique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Reste après AMO +2 % en 2024, sans effet de calendrier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Pas de dérive</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1000" b="0" lang="fr-FR">
                          <a:solidFill>
                            <a:srgbClr val="404040"/>
                          </a:solidFill>
                          <a:latin typeface="Avenir Next LT Pro Light"/>
                        </a:rPr>
                        <a:t>Dépassements d’honoraires (anesthésie)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+10 % par an, dans les deux datations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Dérive réelle, indépendante du ROC</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1000" b="0" lang="fr-FR">
                          <a:solidFill>
                            <a:srgbClr val="404040"/>
                          </a:solidFill>
                          <a:latin typeface="Avenir Next LT Pro Light"/>
                        </a:rPr>
                        <a:t>Ticket modérateur de rééducation</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+8,5 % en 2024, ≈ +20 % en 2025 ; ×2 à ×3 avant 50 ans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Hausse réelle, d’origine réglementaire (réforme SMR 2024)</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1000" b="0" lang="fr-FR">
                          <a:solidFill>
                            <a:srgbClr val="404040"/>
                          </a:solidFill>
                          <a:latin typeface="Avenir Next LT Pro Light"/>
                        </a:rPr>
                        <a:t>Facturation retardée de la rééducation</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+33 % de reste après AMO en date de paiement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Effet de calendrier, cliniques</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1000" b="0" lang="fr-FR">
                          <a:solidFill>
                            <a:srgbClr val="404040"/>
                          </a:solidFill>
                          <a:latin typeface="Avenir Next LT Pro Light"/>
                        </a:rPr>
                        <a:t>ROC</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Déployé dans le public en 2025 ; cadence AMO inchangée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Effet de calendrier, non mesurable dans DAMIR</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457200" y="3977639"/>
            <a:ext cx="8229600" cy="256032"/>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Sur le ROC</a:t>
            </a:r>
          </a:p>
        </p:txBody>
      </p:sp>
      <p:sp>
        <p:nvSpPr>
          <p:cNvPr id="6" name="TextBox 5"/>
          <p:cNvSpPr txBox="1"/>
          <p:nvPr/>
        </p:nvSpPr>
        <p:spPr>
          <a:xfrm>
            <a:off x="457200" y="4251960"/>
            <a:ext cx="8229600" cy="86868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Ces données n’établissent aucun lien entre le ROC et la hausse observée : en 2025 le ROC concerne l’hôpital public, absent d’Open DAMIR, et la cadence de paiement de l’Assurance Maladie n’a pas varié. La dérive de la sinistralité hospitalière est, elle, établie sur deux postes — les dépassements d’honoraires et la rééducation — et précède le ROC. L’effet du ROC, s’il existe, s’y ajoute comme un décalage de calendrier ; il ne se lit que sur les flux d’une complémentaire, en comparant date de soins et date de paiement.</a:t>
            </a:r>
          </a:p>
        </p:txBody>
      </p:sp>
      <p:sp>
        <p:nvSpPr>
          <p:cNvPr id="7" name="TextBox 6"/>
          <p:cNvSpPr txBox="1"/>
          <p:nvPr/>
        </p:nvSpPr>
        <p:spPr>
          <a:xfrm>
            <a:off x="457200" y="5175504"/>
            <a:ext cx="8229600" cy="22860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creator>Forsides</dc:creator>
  <cp:lastModifiedBy>Simon MALAURENT</cp:lastModifiedBy>
  <cp:revision>58</cp:revision>
  <dcterms:created xsi:type="dcterms:W3CDTF">2024-05-03T13:43:52Z</dcterms:created>
  <dcterms:modified xsi:type="dcterms:W3CDTF">2026-09-18T12:31:32Z</dcterms:modified>
  <dc:subject>Analyse par poste des remboursements AMO 2022–2025</dc:subject>
  <cp:keywords>Hospitalisation, Open DAMIR, ROC, SSR, SMR, anesthésie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