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5"/>
  </p:notesMasterIdLst>
  <p:sldIdLst>
    <p:sldId id="11533" r:id="rId5"/>
    <p:sldId id="11534" r:id="rId6"/>
    <p:sldId id="11535" r:id="rId7"/>
    <p:sldId id="11536" r:id="rId8"/>
    <p:sldId id="11537" r:id="rId9"/>
    <p:sldId id="11538" r:id="rId10"/>
    <p:sldId id="11539" r:id="rId11"/>
    <p:sldId id="11540" r:id="rId12"/>
    <p:sldId id="11541" r:id="rId13"/>
    <p:sldId id="11530" r:id="rId14"/>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E9B5072-B8D0-1D3C-5BC1-D1FFCA4E368B}" name="Alexia BIDEL" initials="AB" userId="S::alexia.bidel@forsides.com::cfdb95dc-505d-469b-aeaf-c63558aa3e2b" providerId="AD"/>
  <p188:author id="{BD6010B3-DB18-7AD9-0975-A97DF1470138}" name="Léa SERRET" initials="LS" userId="S::lea.serret@forsides.com::2ccb72fa-5045-4b93-b65c-d471669e6c9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2C55E"/>
    <a:srgbClr val="F5FFF9"/>
    <a:srgbClr val="4B5563"/>
    <a:srgbClr val="9CA3AF"/>
    <a:srgbClr val="475569"/>
    <a:srgbClr val="6B7280"/>
    <a:srgbClr val="E8770E"/>
    <a:srgbClr val="E3E8ED"/>
    <a:srgbClr val="C0392B"/>
    <a:srgbClr val="FEEB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46F890A9-2807-4EBB-B81D-B2AA78EC7F39}" styleName="Style foncé 2 - Accentuation 5/Accentuation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Style foncé 2 - Accentuation 1/Accentuation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2C8C85-51F0-491E-9774-3900AFEF0FD7}" styleName="Style léger 2 - Accentuation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25E5076-3810-47DD-B79F-674D7AD40C01}" styleName="Style foncé 1 - Accentuation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Style à thème 2 - Accentuation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864" autoAdjust="0"/>
  </p:normalViewPr>
  <p:slideViewPr>
    <p:cSldViewPr snapToGrid="0">
      <p:cViewPr>
        <p:scale>
          <a:sx n="100" d="100"/>
          <a:sy n="100" d="100"/>
        </p:scale>
        <p:origin x="97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Année de soins</c:v>
                </c:pt>
              </c:strCache>
            </c:strRef>
          </c:tx>
          <c:spPr>
            <a:solidFill>
              <a:srgbClr val="A5B6C5"/>
            </a:solidFill>
            <a:ln>
              <a:noFill/>
            </a:ln>
          </c:spPr>
          <c:invertIfNegative val="1"/>
          <c:cat>
            <c:strRef>
              <c:f>Sheet1!$A$2:$A$5</c:f>
              <c:strCache>
                <c:ptCount val="4"/>
                <c:pt idx="0">
                  <c:v>2022</c:v>
                </c:pt>
                <c:pt idx="1">
                  <c:v>2023</c:v>
                </c:pt>
                <c:pt idx="2">
                  <c:v>2024</c:v>
                </c:pt>
                <c:pt idx="3">
                  <c:v>2025*</c:v>
                </c:pt>
              </c:strCache>
            </c:strRef>
          </c:cat>
          <c:val>
            <c:numRef>
              <c:f>Sheet1!$B$2:$B$5</c:f>
              <c:numCache>
                <c:formatCode>General</c:formatCode>
                <c:ptCount val="4"/>
                <c:pt idx="0">
                  <c:v>333</c:v>
                </c:pt>
                <c:pt idx="1">
                  <c:v>345</c:v>
                </c:pt>
                <c:pt idx="2">
                  <c:v>353</c:v>
                </c:pt>
                <c:pt idx="3">
                  <c:v>330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88E8-4745-8C34-467979802B17}"/>
            </c:ext>
          </c:extLst>
        </c:ser>
        <c:ser>
          <c:idx val="1"/>
          <c:order val="1"/>
          <c:tx>
            <c:strRef>
              <c:f>Sheet1!$C$1</c:f>
              <c:strCache>
                <c:ptCount val="1"/>
                <c:pt idx="0">
                  <c:v>Année de règlement</c:v>
                </c:pt>
              </c:strCache>
            </c:strRef>
          </c:tx>
          <c:spPr>
            <a:solidFill>
              <a:srgbClr val="EF4647"/>
            </a:solidFill>
            <a:ln>
              <a:noFill/>
            </a:ln>
          </c:spPr>
          <c:invertIfNegative val="1"/>
          <c:cat>
            <c:strRef>
              <c:f>Sheet1!$A$2:$A$5</c:f>
              <c:strCache>
                <c:ptCount val="4"/>
                <c:pt idx="0">
                  <c:v>2022</c:v>
                </c:pt>
                <c:pt idx="1">
                  <c:v>2023</c:v>
                </c:pt>
                <c:pt idx="2">
                  <c:v>2024</c:v>
                </c:pt>
                <c:pt idx="3">
                  <c:v>2025*</c:v>
                </c:pt>
              </c:strCache>
            </c:strRef>
          </c:cat>
          <c:val>
            <c:numRef>
              <c:f>Sheet1!$C$2:$C$5</c:f>
              <c:numCache>
                <c:formatCode>General</c:formatCode>
                <c:ptCount val="4"/>
                <c:pt idx="0">
                  <c:v>329</c:v>
                </c:pt>
                <c:pt idx="1">
                  <c:v>344</c:v>
                </c:pt>
                <c:pt idx="2">
                  <c:v>354</c:v>
                </c:pt>
                <c:pt idx="3">
                  <c:v>366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88E8-4745-8C34-467979802B17}"/>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4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10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Année de soins</c:v>
                </c:pt>
              </c:strCache>
            </c:strRef>
          </c:tx>
          <c:spPr>
            <a:solidFill>
              <a:srgbClr val="A5B6C5"/>
            </a:solidFill>
            <a:ln>
              <a:noFill/>
            </a:ln>
          </c:spPr>
          <c:invertIfNegative val="1"/>
          <c:cat>
            <c:strRef>
              <c:f>Sheet1!$A$2:$A$5</c:f>
              <c:strCache>
                <c:ptCount val="4"/>
                <c:pt idx="0">
                  <c:v>2022</c:v>
                </c:pt>
                <c:pt idx="1">
                  <c:v>2023</c:v>
                </c:pt>
                <c:pt idx="2">
                  <c:v>2024</c:v>
                </c:pt>
                <c:pt idx="3">
                  <c:v>2025*</c:v>
                </c:pt>
              </c:strCache>
            </c:strRef>
          </c:cat>
          <c:val>
            <c:numRef>
              <c:f>Sheet1!$B$2:$B$5</c:f>
              <c:numCache>
                <c:formatCode>General</c:formatCode>
                <c:ptCount val="4"/>
                <c:pt idx="0">
                  <c:v>523</c:v>
                </c:pt>
                <c:pt idx="1">
                  <c:v>546</c:v>
                </c:pt>
                <c:pt idx="2">
                  <c:v>593</c:v>
                </c:pt>
                <c:pt idx="3">
                  <c:v>633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5B1D-4421-91B5-42F2C9722615}"/>
            </c:ext>
          </c:extLst>
        </c:ser>
        <c:ser>
          <c:idx val="1"/>
          <c:order val="1"/>
          <c:tx>
            <c:strRef>
              <c:f>Sheet1!$C$1</c:f>
              <c:strCache>
                <c:ptCount val="1"/>
                <c:pt idx="0">
                  <c:v>Année de règlement</c:v>
                </c:pt>
              </c:strCache>
            </c:strRef>
          </c:tx>
          <c:spPr>
            <a:solidFill>
              <a:srgbClr val="EF4647"/>
            </a:solidFill>
            <a:ln>
              <a:noFill/>
            </a:ln>
          </c:spPr>
          <c:invertIfNegative val="1"/>
          <c:cat>
            <c:strRef>
              <c:f>Sheet1!$A$2:$A$5</c:f>
              <c:strCache>
                <c:ptCount val="4"/>
                <c:pt idx="0">
                  <c:v>2022</c:v>
                </c:pt>
                <c:pt idx="1">
                  <c:v>2023</c:v>
                </c:pt>
                <c:pt idx="2">
                  <c:v>2024</c:v>
                </c:pt>
                <c:pt idx="3">
                  <c:v>2025*</c:v>
                </c:pt>
              </c:strCache>
            </c:strRef>
          </c:cat>
          <c:val>
            <c:numRef>
              <c:f>Sheet1!$C$2:$C$5</c:f>
              <c:numCache>
                <c:formatCode>General</c:formatCode>
                <c:ptCount val="4"/>
                <c:pt idx="0">
                  <c:v>525</c:v>
                </c:pt>
                <c:pt idx="1">
                  <c:v>552</c:v>
                </c:pt>
                <c:pt idx="2">
                  <c:v>541</c:v>
                </c:pt>
                <c:pt idx="3">
                  <c:v>721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5B1D-4421-91B5-42F2C9722615}"/>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8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20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2023</c:v>
                </c:pt>
              </c:strCache>
            </c:strRef>
          </c:tx>
          <c:spPr>
            <a:solidFill>
              <a:srgbClr val="A5B6C5"/>
            </a:solidFill>
            <a:ln>
              <a:noFill/>
            </a:ln>
          </c:spPr>
          <c:invertIfNegative val="1"/>
          <c:cat>
            <c:strRef>
              <c:f>Sheet1!$A$2:$A$9</c:f>
              <c:strCache>
                <c:ptCount val="8"/>
                <c:pt idx="0">
                  <c:v>0–19</c:v>
                </c:pt>
                <c:pt idx="1">
                  <c:v>20–29</c:v>
                </c:pt>
                <c:pt idx="2">
                  <c:v>30–39</c:v>
                </c:pt>
                <c:pt idx="3">
                  <c:v>40–49</c:v>
                </c:pt>
                <c:pt idx="4">
                  <c:v>50–59</c:v>
                </c:pt>
                <c:pt idx="5">
                  <c:v>60–69</c:v>
                </c:pt>
                <c:pt idx="6">
                  <c:v>70–79</c:v>
                </c:pt>
                <c:pt idx="7">
                  <c:v>80 +</c:v>
                </c:pt>
              </c:strCache>
            </c:strRef>
          </c:cat>
          <c:val>
            <c:numRef>
              <c:f>Sheet1!$B$2:$B$9</c:f>
              <c:numCache>
                <c:formatCode>General</c:formatCode>
                <c:ptCount val="8"/>
                <c:pt idx="0">
                  <c:v>8.1999999999999993</c:v>
                </c:pt>
                <c:pt idx="1">
                  <c:v>13.7</c:v>
                </c:pt>
                <c:pt idx="2">
                  <c:v>15.9</c:v>
                </c:pt>
                <c:pt idx="3">
                  <c:v>29.6</c:v>
                </c:pt>
                <c:pt idx="4">
                  <c:v>59.4</c:v>
                </c:pt>
                <c:pt idx="5">
                  <c:v>92.1</c:v>
                </c:pt>
                <c:pt idx="6">
                  <c:v>141</c:v>
                </c:pt>
                <c:pt idx="7">
                  <c:v>186.2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493E-49FA-88C0-7D4EB88542E8}"/>
            </c:ext>
          </c:extLst>
        </c:ser>
        <c:ser>
          <c:idx val="1"/>
          <c:order val="1"/>
          <c:tx>
            <c:strRef>
              <c:f>Sheet1!$C$1</c:f>
              <c:strCache>
                <c:ptCount val="1"/>
                <c:pt idx="0">
                  <c:v>2024</c:v>
                </c:pt>
              </c:strCache>
            </c:strRef>
          </c:tx>
          <c:spPr>
            <a:solidFill>
              <a:srgbClr val="EF4647"/>
            </a:solidFill>
            <a:ln>
              <a:noFill/>
            </a:ln>
          </c:spPr>
          <c:invertIfNegative val="1"/>
          <c:cat>
            <c:strRef>
              <c:f>Sheet1!$A$2:$A$9</c:f>
              <c:strCache>
                <c:ptCount val="8"/>
                <c:pt idx="0">
                  <c:v>0–19</c:v>
                </c:pt>
                <c:pt idx="1">
                  <c:v>20–29</c:v>
                </c:pt>
                <c:pt idx="2">
                  <c:v>30–39</c:v>
                </c:pt>
                <c:pt idx="3">
                  <c:v>40–49</c:v>
                </c:pt>
                <c:pt idx="4">
                  <c:v>50–59</c:v>
                </c:pt>
                <c:pt idx="5">
                  <c:v>60–69</c:v>
                </c:pt>
                <c:pt idx="6">
                  <c:v>70–79</c:v>
                </c:pt>
                <c:pt idx="7">
                  <c:v>80 +</c:v>
                </c:pt>
              </c:strCache>
            </c:strRef>
          </c:cat>
          <c:val>
            <c:numRef>
              <c:f>Sheet1!$C$2:$C$9</c:f>
              <c:numCache>
                <c:formatCode>General</c:formatCode>
                <c:ptCount val="8"/>
                <c:pt idx="0">
                  <c:v>31.3</c:v>
                </c:pt>
                <c:pt idx="1">
                  <c:v>30.6</c:v>
                </c:pt>
                <c:pt idx="2">
                  <c:v>48.2</c:v>
                </c:pt>
                <c:pt idx="3">
                  <c:v>58.1</c:v>
                </c:pt>
                <c:pt idx="4">
                  <c:v>78</c:v>
                </c:pt>
                <c:pt idx="5">
                  <c:v>94.2</c:v>
                </c:pt>
                <c:pt idx="6">
                  <c:v>124.6</c:v>
                </c:pt>
                <c:pt idx="7">
                  <c:v>127.9</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493E-49FA-88C0-7D4EB88542E8}"/>
            </c:ext>
          </c:extLst>
        </c:ser>
        <c:ser>
          <c:idx val="2"/>
          <c:order val="2"/>
          <c:tx>
            <c:strRef>
              <c:f>Sheet1!$D$1</c:f>
              <c:strCache>
                <c:ptCount val="1"/>
                <c:pt idx="0">
                  <c:v>2025*</c:v>
                </c:pt>
              </c:strCache>
            </c:strRef>
          </c:tx>
          <c:spPr>
            <a:solidFill>
              <a:srgbClr val="5B0C02"/>
            </a:solidFill>
            <a:ln>
              <a:noFill/>
            </a:ln>
          </c:spPr>
          <c:invertIfNegative val="1"/>
          <c:cat>
            <c:strRef>
              <c:f>Sheet1!$A$2:$A$9</c:f>
              <c:strCache>
                <c:ptCount val="8"/>
                <c:pt idx="0">
                  <c:v>0–19</c:v>
                </c:pt>
                <c:pt idx="1">
                  <c:v>20–29</c:v>
                </c:pt>
                <c:pt idx="2">
                  <c:v>30–39</c:v>
                </c:pt>
                <c:pt idx="3">
                  <c:v>40–49</c:v>
                </c:pt>
                <c:pt idx="4">
                  <c:v>50–59</c:v>
                </c:pt>
                <c:pt idx="5">
                  <c:v>60–69</c:v>
                </c:pt>
                <c:pt idx="6">
                  <c:v>70–79</c:v>
                </c:pt>
                <c:pt idx="7">
                  <c:v>80 +</c:v>
                </c:pt>
              </c:strCache>
            </c:strRef>
          </c:cat>
          <c:val>
            <c:numRef>
              <c:f>Sheet1!$D$2:$D$9</c:f>
              <c:numCache>
                <c:formatCode>General</c:formatCode>
                <c:ptCount val="8"/>
                <c:pt idx="0">
                  <c:v>38.4</c:v>
                </c:pt>
                <c:pt idx="1">
                  <c:v>35.4</c:v>
                </c:pt>
                <c:pt idx="2">
                  <c:v>58.4</c:v>
                </c:pt>
                <c:pt idx="3">
                  <c:v>67.8</c:v>
                </c:pt>
                <c:pt idx="4">
                  <c:v>88</c:v>
                </c:pt>
                <c:pt idx="5">
                  <c:v>102</c:v>
                </c:pt>
                <c:pt idx="6">
                  <c:v>128.30000000000001</c:v>
                </c:pt>
                <c:pt idx="7">
                  <c:v>114.6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493E-49FA-88C0-7D4EB88542E8}"/>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2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5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Année de soins</c:v>
                </c:pt>
              </c:strCache>
            </c:strRef>
          </c:tx>
          <c:spPr>
            <a:solidFill>
              <a:srgbClr val="A5B6C5"/>
            </a:solidFill>
            <a:ln>
              <a:noFill/>
            </a:ln>
          </c:spPr>
          <c:invertIfNegative val="1"/>
          <c:cat>
            <c:strRef>
              <c:f>Sheet1!$A$2:$A$5</c:f>
              <c:strCache>
                <c:ptCount val="4"/>
                <c:pt idx="0">
                  <c:v>2022</c:v>
                </c:pt>
                <c:pt idx="1">
                  <c:v>2023</c:v>
                </c:pt>
                <c:pt idx="2">
                  <c:v>2024</c:v>
                </c:pt>
                <c:pt idx="3">
                  <c:v>2025*</c:v>
                </c:pt>
              </c:strCache>
            </c:strRef>
          </c:cat>
          <c:val>
            <c:numRef>
              <c:f>Sheet1!$B$2:$B$5</c:f>
              <c:numCache>
                <c:formatCode>General</c:formatCode>
                <c:ptCount val="4"/>
                <c:pt idx="0">
                  <c:v>374</c:v>
                </c:pt>
                <c:pt idx="1">
                  <c:v>434</c:v>
                </c:pt>
                <c:pt idx="2">
                  <c:v>478</c:v>
                </c:pt>
                <c:pt idx="3">
                  <c:v>498</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85A6-4E6B-B33D-4DDA173F7E85}"/>
            </c:ext>
          </c:extLst>
        </c:ser>
        <c:ser>
          <c:idx val="1"/>
          <c:order val="1"/>
          <c:tx>
            <c:strRef>
              <c:f>Sheet1!$C$1</c:f>
              <c:strCache>
                <c:ptCount val="1"/>
                <c:pt idx="0">
                  <c:v>Année de règlement</c:v>
                </c:pt>
              </c:strCache>
            </c:strRef>
          </c:tx>
          <c:spPr>
            <a:solidFill>
              <a:srgbClr val="EF4647"/>
            </a:solidFill>
            <a:ln>
              <a:noFill/>
            </a:ln>
          </c:spPr>
          <c:invertIfNegative val="1"/>
          <c:cat>
            <c:strRef>
              <c:f>Sheet1!$A$2:$A$5</c:f>
              <c:strCache>
                <c:ptCount val="4"/>
                <c:pt idx="0">
                  <c:v>2022</c:v>
                </c:pt>
                <c:pt idx="1">
                  <c:v>2023</c:v>
                </c:pt>
                <c:pt idx="2">
                  <c:v>2024</c:v>
                </c:pt>
                <c:pt idx="3">
                  <c:v>2025*</c:v>
                </c:pt>
              </c:strCache>
            </c:strRef>
          </c:cat>
          <c:val>
            <c:numRef>
              <c:f>Sheet1!$C$2:$C$5</c:f>
              <c:numCache>
                <c:formatCode>General</c:formatCode>
                <c:ptCount val="4"/>
                <c:pt idx="0">
                  <c:v>370</c:v>
                </c:pt>
                <c:pt idx="1">
                  <c:v>431</c:v>
                </c:pt>
                <c:pt idx="2">
                  <c:v>476</c:v>
                </c:pt>
                <c:pt idx="3">
                  <c:v>523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85A6-4E6B-B33D-4DDA173F7E85}"/>
            </c:ext>
          </c:extLst>
        </c:ser>
        <c:dLbls>
          <c:showLegendKey val="0"/>
          <c:showVal val="0"/>
          <c:showCatName val="0"/>
          <c:showSerName val="0"/>
          <c:showPercent val="0"/>
          <c:showBubbleSize val="0"/>
        </c:dLbls>
        <c:gapWidth val="65"/>
        <c:axId val="100001"/>
        <c:axId val="100002"/>
      </c:barChart>
      <c:catAx>
        <c:axId val="100001"/>
        <c:scaling>
          <c:orientation val="minMax"/>
        </c:scaling>
        <c:delete val="0"/>
        <c:axPos val="b"/>
        <c:numFmt formatCode="General"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2"/>
        <c:crosses val="autoZero"/>
        <c:auto val="1"/>
        <c:lblAlgn val="ctr"/>
        <c:lblOffset val="100"/>
        <c:noMultiLvlLbl val="0"/>
      </c:catAx>
      <c:valAx>
        <c:axId val="100002"/>
        <c:scaling>
          <c:orientation val="minMax"/>
          <c:max val="600"/>
          <c:min val="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endParaRPr lang="fr-FR"/>
          </a:p>
        </c:txPr>
        <c:crossAx val="100001"/>
        <c:crosses val="autoZero"/>
        <c:crossBetween val="between"/>
        <c:majorUnit val="200"/>
      </c:valAx>
    </c:plotArea>
    <c:legend>
      <c:legendPos val="b"/>
      <c:overlay val="0"/>
      <c:txPr>
        <a:bodyPr/>
        <a:lstStyle/>
        <a:p>
          <a:pPr>
            <a:defRPr sz="900" b="0">
              <a:solidFill>
                <a:srgbClr val="404040"/>
              </a:solidFill>
              <a:latin typeface="Avenir Next LT Pro Light"/>
            </a:defRPr>
          </a:pPr>
          <a:endParaRPr lang="fr-FR"/>
        </a:p>
      </c:txPr>
    </c:legend>
    <c:plotVisOnly val="1"/>
    <c:dispBlanksAs val="gap"/>
    <c:showDLblsOverMax val="1"/>
  </c:chart>
  <c:txPr>
    <a:bodyPr/>
    <a:lstStyle/>
    <a:p>
      <a:pPr>
        <a:defRPr sz="900">
          <a:solidFill>
            <a:srgbClr val="404040"/>
          </a:solidFill>
          <a:latin typeface="Avenir Next LT Pro Light"/>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C2931A-9B9C-416F-AED9-37313714829F}" type="datetimeFigureOut">
              <a:rPr lang="fr-FR" smtClean="0"/>
              <a:t>21/09/2026</a:t>
            </a:fld>
            <a:endParaRPr lang="fr-FR"/>
          </a:p>
        </p:txBody>
      </p:sp>
      <p:sp>
        <p:nvSpPr>
          <p:cNvPr id="4" name="Espace réservé de l'image des diapositives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4A845C-32FB-4A18-97E1-E276771F3835}" type="slidenum">
              <a:rPr lang="fr-FR" smtClean="0"/>
              <a:t>‹N°›</a:t>
            </a:fld>
            <a:endParaRPr lang="fr-FR"/>
          </a:p>
        </p:txBody>
      </p:sp>
    </p:spTree>
    <p:extLst>
      <p:ext uri="{BB962C8B-B14F-4D97-AF65-F5344CB8AC3E}">
        <p14:creationId xmlns:p14="http://schemas.microsoft.com/office/powerpoint/2010/main" val="3207376626"/>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07988" y="739775"/>
            <a:ext cx="5919787" cy="3700463"/>
          </a:xfrm>
        </p:spPr>
        <p:txBody>
          <a:bodyPr/>
          <a:lstStyle/>
          <a:p>
            <a:endParaRPr lang="fr-FR"/>
          </a:p>
        </p:txBody>
      </p:sp>
      <p:sp>
        <p:nvSpPr>
          <p:cNvPr id="3" name="Espace réservé des commentaires 2"/>
          <p:cNvSpPr>
            <a:spLocks noGrp="1"/>
          </p:cNvSpPr>
          <p:nvPr>
            <p:ph type="body" idx="1"/>
          </p:nvPr>
        </p:nvSpPr>
        <p:spPr/>
        <p:txBody>
          <a:bodyPr/>
          <a:lstStyle/>
          <a:p>
            <a:endParaRPr/>
          </a:p>
        </p:txBody>
      </p:sp>
      <p:sp>
        <p:nvSpPr>
          <p:cNvPr id="4" name="Espace réservé du numéro de diapositive 3"/>
          <p:cNvSpPr>
            <a:spLocks noGrp="1"/>
          </p:cNvSpPr>
          <p:nvPr>
            <p:ph type="sldNum" sz="quarter" idx="10"/>
          </p:nvPr>
        </p:nvSpPr>
        <p:spPr/>
        <p:txBody>
          <a:bodyPr/>
          <a:lstStyle/>
          <a:p>
            <a:fld id="{69E30AB8-B1E9-B340-9196-4A9B860F9FAC}" type="slidenum">
              <a:rPr lang="en-US" smtClean="0"/>
              <a:pPr/>
              <a:t>1</a:t>
            </a:fld>
            <a:endParaRPr lang="en-US"/>
          </a:p>
        </p:txBody>
      </p:sp>
    </p:spTree>
    <p:extLst>
      <p:ext uri="{BB962C8B-B14F-4D97-AF65-F5344CB8AC3E}">
        <p14:creationId xmlns:p14="http://schemas.microsoft.com/office/powerpoint/2010/main" val="1013169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3.png"/><Relationship Id="rId9" Type="http://schemas.openxmlformats.org/officeDocument/2006/relationships/image" Target="../media/image11.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age de gar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Title 1">
            <a:extLst>
              <a:ext uri="{FF2B5EF4-FFF2-40B4-BE49-F238E27FC236}">
                <a16:creationId xmlns:a16="http://schemas.microsoft.com/office/drawing/2014/main" id="{CFD46FB4-C0CA-EDE2-E921-77BDA1EB87F4}"/>
              </a:ext>
            </a:extLst>
          </p:cNvPr>
          <p:cNvSpPr>
            <a:spLocks noGrp="1"/>
          </p:cNvSpPr>
          <p:nvPr>
            <p:ph type="ctrTitle" hasCustomPrompt="1"/>
          </p:nvPr>
        </p:nvSpPr>
        <p:spPr>
          <a:xfrm>
            <a:off x="254298" y="2461496"/>
            <a:ext cx="3812404" cy="1051024"/>
          </a:xfrm>
        </p:spPr>
        <p:txBody>
          <a:bodyPr wrap="square" lIns="0" tIns="0" rIns="0" bIns="0" anchor="b" anchorCtr="0">
            <a:noAutofit/>
          </a:bodyPr>
          <a:lstStyle>
            <a:lvl1pPr algn="l">
              <a:defRPr sz="2000" b="0" cap="none">
                <a:solidFill>
                  <a:schemeClr val="tx2">
                    <a:lumMod val="75000"/>
                    <a:lumOff val="25000"/>
                  </a:schemeClr>
                </a:solidFill>
                <a:latin typeface="Montserrat" panose="00000500000000000000" pitchFamily="2" charset="0"/>
              </a:defRPr>
            </a:lvl1pPr>
          </a:lstStyle>
          <a:p>
            <a:r>
              <a:rPr lang="fr-FR"/>
              <a:t>Titre de la présentation</a:t>
            </a:r>
            <a:br>
              <a:rPr lang="fr-FR"/>
            </a:br>
            <a:endParaRPr lang="en-US"/>
          </a:p>
        </p:txBody>
      </p:sp>
      <p:sp>
        <p:nvSpPr>
          <p:cNvPr id="6" name="Espace réservé du texte 8">
            <a:extLst>
              <a:ext uri="{FF2B5EF4-FFF2-40B4-BE49-F238E27FC236}">
                <a16:creationId xmlns:a16="http://schemas.microsoft.com/office/drawing/2014/main" id="{51627032-873D-A117-0872-22E71C6A35B7}"/>
              </a:ext>
            </a:extLst>
          </p:cNvPr>
          <p:cNvSpPr>
            <a:spLocks noGrp="1"/>
          </p:cNvSpPr>
          <p:nvPr>
            <p:ph type="body" sz="quarter" idx="11" hasCustomPrompt="1"/>
          </p:nvPr>
        </p:nvSpPr>
        <p:spPr>
          <a:xfrm>
            <a:off x="254298" y="942453"/>
            <a:ext cx="3835264" cy="333602"/>
          </a:xfrm>
          <a:prstGeom prst="rect">
            <a:avLst/>
          </a:prstGeom>
        </p:spPr>
        <p:txBody>
          <a:bodyPr lIns="0" tIns="0" rIns="0" bIns="0">
            <a:noAutofit/>
          </a:bodyPr>
          <a:lstStyle>
            <a:lvl1pPr marL="0" indent="0" algn="l">
              <a:buNone/>
              <a:defRPr lang="fr-FR" sz="2000" b="0" kern="1200" cap="all" baseline="0" dirty="0" smtClean="0">
                <a:solidFill>
                  <a:schemeClr val="tx1"/>
                </a:solidFill>
                <a:latin typeface="Montserrat" panose="00000500000000000000" pitchFamily="2" charset="0"/>
                <a:ea typeface="+mj-ea"/>
                <a:cs typeface="+mj-cs"/>
              </a:defRPr>
            </a:lvl1pPr>
          </a:lstStyle>
          <a:p>
            <a:pPr lvl="0"/>
            <a:r>
              <a:rPr lang="fr-FR"/>
              <a:t>NOM OU LOGO DU CLIENT</a:t>
            </a:r>
          </a:p>
        </p:txBody>
      </p:sp>
      <p:sp>
        <p:nvSpPr>
          <p:cNvPr id="7" name="Text Placeholder 7">
            <a:extLst>
              <a:ext uri="{FF2B5EF4-FFF2-40B4-BE49-F238E27FC236}">
                <a16:creationId xmlns:a16="http://schemas.microsoft.com/office/drawing/2014/main" id="{F3EA966D-D86B-4318-68E8-FB70874607F6}"/>
              </a:ext>
            </a:extLst>
          </p:cNvPr>
          <p:cNvSpPr>
            <a:spLocks noGrp="1"/>
          </p:cNvSpPr>
          <p:nvPr>
            <p:ph type="body" sz="quarter" idx="13" hasCustomPrompt="1"/>
          </p:nvPr>
        </p:nvSpPr>
        <p:spPr>
          <a:xfrm>
            <a:off x="254298" y="3865627"/>
            <a:ext cx="2653486" cy="169277"/>
          </a:xfrm>
          <a:prstGeom prst="rect">
            <a:avLst/>
          </a:prstGeom>
          <a:noFill/>
          <a:effectLst/>
        </p:spPr>
        <p:txBody>
          <a:bodyPr wrap="square" lIns="0" tIns="0" rIns="0" bIns="0" anchor="ctr" anchorCtr="0">
            <a:spAutoFit/>
          </a:bodyPr>
          <a:lstStyle>
            <a:lvl1pPr marL="0" indent="0" algn="l">
              <a:buNone/>
              <a:defRPr sz="11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Date</a:t>
            </a:r>
            <a:endParaRPr lang="en-US"/>
          </a:p>
        </p:txBody>
      </p:sp>
      <p:sp>
        <p:nvSpPr>
          <p:cNvPr id="9" name="Text Placeholder 7">
            <a:extLst>
              <a:ext uri="{FF2B5EF4-FFF2-40B4-BE49-F238E27FC236}">
                <a16:creationId xmlns:a16="http://schemas.microsoft.com/office/drawing/2014/main" id="{A8B5F414-C7A0-5E0C-F4A9-36EDA944515C}"/>
              </a:ext>
            </a:extLst>
          </p:cNvPr>
          <p:cNvSpPr>
            <a:spLocks noGrp="1"/>
          </p:cNvSpPr>
          <p:nvPr>
            <p:ph type="body" sz="quarter" idx="14" hasCustomPrompt="1"/>
          </p:nvPr>
        </p:nvSpPr>
        <p:spPr>
          <a:xfrm>
            <a:off x="254298" y="3591234"/>
            <a:ext cx="2653486" cy="184666"/>
          </a:xfrm>
          <a:prstGeom prst="rect">
            <a:avLst/>
          </a:prstGeom>
          <a:noFill/>
          <a:effectLst/>
        </p:spPr>
        <p:txBody>
          <a:bodyPr wrap="square" lIns="0" tIns="0" rIns="0" bIns="0" anchor="ctr" anchorCtr="0">
            <a:spAutoFit/>
          </a:bodyPr>
          <a:lstStyle>
            <a:lvl1pPr marL="0" indent="0" algn="l">
              <a:buNone/>
              <a:defRPr sz="12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Proposition d’accompagnement</a:t>
            </a:r>
          </a:p>
        </p:txBody>
      </p:sp>
      <p:grpSp>
        <p:nvGrpSpPr>
          <p:cNvPr id="11" name="Groupe 10">
            <a:extLst>
              <a:ext uri="{FF2B5EF4-FFF2-40B4-BE49-F238E27FC236}">
                <a16:creationId xmlns:a16="http://schemas.microsoft.com/office/drawing/2014/main" id="{C846A676-5CF5-1CE5-ADA1-7C1913CF3291}"/>
              </a:ext>
            </a:extLst>
          </p:cNvPr>
          <p:cNvGrpSpPr>
            <a:grpSpLocks noChangeAspect="1"/>
          </p:cNvGrpSpPr>
          <p:nvPr/>
        </p:nvGrpSpPr>
        <p:grpSpPr>
          <a:xfrm>
            <a:off x="6267753" y="3760840"/>
            <a:ext cx="2764534" cy="828000"/>
            <a:chOff x="4608564" y="2308123"/>
            <a:chExt cx="1649613" cy="494072"/>
          </a:xfrm>
        </p:grpSpPr>
        <p:pic>
          <p:nvPicPr>
            <p:cNvPr id="12" name="Image 11" descr="Une image contenant texte, Police, Graphique, typographie  Description générée automatiquement">
              <a:extLst>
                <a:ext uri="{FF2B5EF4-FFF2-40B4-BE49-F238E27FC236}">
                  <a16:creationId xmlns:a16="http://schemas.microsoft.com/office/drawing/2014/main" id="{21E21DBE-0BBD-7172-85E8-48E7FF315C8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3" name="Image 12" descr="Une image contenant texte, Police, Graphique, typographie  Description générée automatiquement">
              <a:extLst>
                <a:ext uri="{FF2B5EF4-FFF2-40B4-BE49-F238E27FC236}">
                  <a16:creationId xmlns:a16="http://schemas.microsoft.com/office/drawing/2014/main" id="{6BAD7092-7117-DA69-E60A-B7BBC801CE9E}"/>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2" name="Espace réservé du pied de page 1">
            <a:extLst>
              <a:ext uri="{FF2B5EF4-FFF2-40B4-BE49-F238E27FC236}">
                <a16:creationId xmlns:a16="http://schemas.microsoft.com/office/drawing/2014/main" id="{66EEEA6F-B229-E928-FF28-A19EE77C7B7B}"/>
              </a:ext>
            </a:extLst>
          </p:cNvPr>
          <p:cNvSpPr>
            <a:spLocks noGrp="1"/>
          </p:cNvSpPr>
          <p:nvPr>
            <p:ph type="ftr" sz="quarter" idx="15"/>
          </p:nvPr>
        </p:nvSpPr>
        <p:spPr>
          <a:xfrm>
            <a:off x="3028950" y="5405488"/>
            <a:ext cx="3086100" cy="303212"/>
          </a:xfrm>
          <a:prstGeom prst="rect">
            <a:avLst/>
          </a:prstGeom>
        </p:spPr>
        <p:txBody>
          <a:bodyPr/>
          <a:lstStyle/>
          <a:p>
            <a:endParaRPr lang="fr-FR"/>
          </a:p>
        </p:txBody>
      </p:sp>
    </p:spTree>
    <p:extLst>
      <p:ext uri="{BB962C8B-B14F-4D97-AF65-F5344CB8AC3E}">
        <p14:creationId xmlns:p14="http://schemas.microsoft.com/office/powerpoint/2010/main" val="162183943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ercalai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9" name="Espace réservé du texte 8">
            <a:extLst>
              <a:ext uri="{FF2B5EF4-FFF2-40B4-BE49-F238E27FC236}">
                <a16:creationId xmlns:a16="http://schemas.microsoft.com/office/drawing/2014/main" id="{28D3956E-F1FF-3942-FC61-6244C52F5059}"/>
              </a:ext>
            </a:extLst>
          </p:cNvPr>
          <p:cNvSpPr>
            <a:spLocks noGrp="1"/>
          </p:cNvSpPr>
          <p:nvPr>
            <p:ph type="body" sz="quarter" idx="11" hasCustomPrompt="1"/>
          </p:nvPr>
        </p:nvSpPr>
        <p:spPr>
          <a:xfrm>
            <a:off x="228600" y="1574913"/>
            <a:ext cx="3825240" cy="1572148"/>
          </a:xfrm>
          <a:prstGeom prst="rect">
            <a:avLst/>
          </a:prstGeom>
        </p:spPr>
        <p:txBody>
          <a:bodyPr>
            <a:noAutofit/>
          </a:bodyPr>
          <a:lstStyle>
            <a:lvl1pPr marL="0" indent="0" algn="l">
              <a:buNone/>
              <a:defRPr lang="fr-FR" sz="12450" b="0" kern="1200" cap="all" baseline="0" dirty="0" smtClean="0">
                <a:solidFill>
                  <a:schemeClr val="tx1">
                    <a:alpha val="10000"/>
                  </a:schemeClr>
                </a:solidFill>
                <a:latin typeface="Montserrat" panose="00000500000000000000" pitchFamily="2" charset="0"/>
                <a:ea typeface="+mj-ea"/>
                <a:cs typeface="+mj-cs"/>
              </a:defRPr>
            </a:lvl1pPr>
          </a:lstStyle>
          <a:p>
            <a:pPr lvl="0"/>
            <a:r>
              <a:rPr lang="fr-FR"/>
              <a:t>01</a:t>
            </a:r>
          </a:p>
        </p:txBody>
      </p:sp>
      <p:sp>
        <p:nvSpPr>
          <p:cNvPr id="20" name="Title 1">
            <a:extLst>
              <a:ext uri="{FF2B5EF4-FFF2-40B4-BE49-F238E27FC236}">
                <a16:creationId xmlns:a16="http://schemas.microsoft.com/office/drawing/2014/main" id="{93EC054C-0A61-C5E2-E040-E68118427BDA}"/>
              </a:ext>
            </a:extLst>
          </p:cNvPr>
          <p:cNvSpPr>
            <a:spLocks noGrp="1"/>
          </p:cNvSpPr>
          <p:nvPr>
            <p:ph type="ctrTitle" hasCustomPrompt="1"/>
          </p:nvPr>
        </p:nvSpPr>
        <p:spPr>
          <a:xfrm>
            <a:off x="228600" y="3239036"/>
            <a:ext cx="4366260" cy="403324"/>
          </a:xfrm>
        </p:spPr>
        <p:txBody>
          <a:bodyPr wrap="square" lIns="108000" tIns="0" bIns="0" anchor="t" anchorCtr="0">
            <a:noAutofit/>
          </a:bodyPr>
          <a:lstStyle>
            <a:lvl1pPr algn="l">
              <a:defRPr sz="2400" b="0" cap="none">
                <a:solidFill>
                  <a:schemeClr val="tx2">
                    <a:lumMod val="75000"/>
                    <a:lumOff val="25000"/>
                  </a:schemeClr>
                </a:solidFill>
                <a:latin typeface="Montserrat" panose="00000500000000000000" pitchFamily="2" charset="0"/>
              </a:defRPr>
            </a:lvl1pPr>
          </a:lstStyle>
          <a:p>
            <a:r>
              <a:rPr lang="fr-FR"/>
              <a:t>Titre intercalaire</a:t>
            </a:r>
            <a:br>
              <a:rPr lang="fr-FR"/>
            </a:br>
            <a:br>
              <a:rPr lang="fr-FR"/>
            </a:br>
            <a:br>
              <a:rPr lang="fr-FR"/>
            </a:br>
            <a:endParaRPr lang="en-US"/>
          </a:p>
        </p:txBody>
      </p:sp>
      <p:sp>
        <p:nvSpPr>
          <p:cNvPr id="21" name="Espace réservé du texte 16">
            <a:extLst>
              <a:ext uri="{FF2B5EF4-FFF2-40B4-BE49-F238E27FC236}">
                <a16:creationId xmlns:a16="http://schemas.microsoft.com/office/drawing/2014/main" id="{F6D2FFEF-8060-31E4-4439-6CE81B8BF862}"/>
              </a:ext>
            </a:extLst>
          </p:cNvPr>
          <p:cNvSpPr>
            <a:spLocks noGrp="1"/>
          </p:cNvSpPr>
          <p:nvPr>
            <p:ph type="body" sz="quarter" idx="12" hasCustomPrompt="1"/>
          </p:nvPr>
        </p:nvSpPr>
        <p:spPr>
          <a:xfrm>
            <a:off x="228918" y="3657918"/>
            <a:ext cx="4365942" cy="631825"/>
          </a:xfrm>
          <a:prstGeom prst="rect">
            <a:avLst/>
          </a:prstGeom>
        </p:spPr>
        <p:txBody>
          <a:bodyPr>
            <a:noAutofit/>
          </a:bodyPr>
          <a:lstStyle>
            <a:lvl1pPr marL="540000">
              <a:buClr>
                <a:schemeClr val="tx1"/>
              </a:buClr>
              <a:buSzPct val="60000"/>
              <a:defRPr/>
            </a:lvl1pPr>
          </a:lstStyle>
          <a:p>
            <a:pPr lvl="0"/>
            <a:r>
              <a:rPr lang="fr-FR"/>
              <a:t>Sous-titres</a:t>
            </a:r>
          </a:p>
        </p:txBody>
      </p:sp>
      <p:sp>
        <p:nvSpPr>
          <p:cNvPr id="2" name="Espace réservé du pied de page 1">
            <a:extLst>
              <a:ext uri="{FF2B5EF4-FFF2-40B4-BE49-F238E27FC236}">
                <a16:creationId xmlns:a16="http://schemas.microsoft.com/office/drawing/2014/main" id="{B1A68E45-4541-607F-B467-5BEFDE131906}"/>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98655974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avec spirale">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tx2">
                  <a:lumMod val="75000"/>
                  <a:lumOff val="25000"/>
                </a:schemeClr>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6" name="Espace réservé du contenu 5">
            <a:extLst>
              <a:ext uri="{FF2B5EF4-FFF2-40B4-BE49-F238E27FC236}">
                <a16:creationId xmlns:a16="http://schemas.microsoft.com/office/drawing/2014/main" id="{B5BBE27A-16A9-4A48-8A0F-5D850CC61169}"/>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grpSp>
        <p:nvGrpSpPr>
          <p:cNvPr id="13" name="Groupe 12">
            <a:extLst>
              <a:ext uri="{FF2B5EF4-FFF2-40B4-BE49-F238E27FC236}">
                <a16:creationId xmlns:a16="http://schemas.microsoft.com/office/drawing/2014/main" id="{545FE815-CF02-9932-C2A7-2567392C6422}"/>
              </a:ext>
            </a:extLst>
          </p:cNvPr>
          <p:cNvGrpSpPr/>
          <p:nvPr/>
        </p:nvGrpSpPr>
        <p:grpSpPr>
          <a:xfrm>
            <a:off x="7322267" y="184355"/>
            <a:ext cx="1649613" cy="494072"/>
            <a:chOff x="4608564" y="2308123"/>
            <a:chExt cx="1649613" cy="494072"/>
          </a:xfrm>
        </p:grpSpPr>
        <p:pic>
          <p:nvPicPr>
            <p:cNvPr id="7" name="Image 6" descr="Une image contenant texte, Police, Graphique, typographie  Description générée automatiquement">
              <a:extLst>
                <a:ext uri="{FF2B5EF4-FFF2-40B4-BE49-F238E27FC236}">
                  <a16:creationId xmlns:a16="http://schemas.microsoft.com/office/drawing/2014/main" id="{B65ED365-A332-949C-DAE1-B0F3A1940B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2" name="Image 11" descr="Une image contenant texte, Police, Graphique, typographie  Description générée automatiquement">
              <a:extLst>
                <a:ext uri="{FF2B5EF4-FFF2-40B4-BE49-F238E27FC236}">
                  <a16:creationId xmlns:a16="http://schemas.microsoft.com/office/drawing/2014/main" id="{C32823C7-EC42-1314-F44F-DB1D541EF9D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3" name="Espace réservé du pied de page 1">
            <a:extLst>
              <a:ext uri="{FF2B5EF4-FFF2-40B4-BE49-F238E27FC236}">
                <a16:creationId xmlns:a16="http://schemas.microsoft.com/office/drawing/2014/main" id="{9AD2453F-DCB3-C5FA-A6E5-422DD68599E0}"/>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2158598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avec spirale sans logo">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87C702FD-75B5-67AC-15A2-9482A3FC6757}"/>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1">
            <a:extLst>
              <a:ext uri="{FF2B5EF4-FFF2-40B4-BE49-F238E27FC236}">
                <a16:creationId xmlns:a16="http://schemas.microsoft.com/office/drawing/2014/main" id="{3880DA7C-5C20-FD6D-43B8-C637C16B83AB}"/>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97958729"/>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C5E984FB-1D01-5BFB-372D-2554912F1B7A}"/>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FBA45E2E-ACFA-E174-4C82-5FE876AB1BD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8" name="Image 7" descr="Une image contenant texte, Police, Graphique, typographie  Description générée automatiquement">
              <a:extLst>
                <a:ext uri="{FF2B5EF4-FFF2-40B4-BE49-F238E27FC236}">
                  <a16:creationId xmlns:a16="http://schemas.microsoft.com/office/drawing/2014/main" id="{FC00D8FC-0221-4F2E-37BB-7BAB308341D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944BC296-B3F2-358C-D8CD-11085DDE5B8A}"/>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37FA246-7A32-53BB-F3A8-086881CC6B4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57824318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71FFDB42-8AD4-6D11-C9E0-33F0D1441F44}"/>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ED7D41F5-D384-7B80-7AF6-6037FCFD8CD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7" name="Image 6" descr="Une image contenant texte, Police, Graphique, typographie  Description générée automatiquement">
              <a:extLst>
                <a:ext uri="{FF2B5EF4-FFF2-40B4-BE49-F238E27FC236}">
                  <a16:creationId xmlns:a16="http://schemas.microsoft.com/office/drawing/2014/main" id="{AE307396-59EC-B90F-C340-421A98BC539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6F8212AB-C114-A4AF-6897-CAD8B3D9BCCC}"/>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883194D1-66B5-7A48-D651-C12ED0399F8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1006049905"/>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u sans spirale sans logo">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9" name="Espace réservé du contenu 5">
            <a:extLst>
              <a:ext uri="{FF2B5EF4-FFF2-40B4-BE49-F238E27FC236}">
                <a16:creationId xmlns:a16="http://schemas.microsoft.com/office/drawing/2014/main" id="{F3C49862-DC55-CED8-3803-56C01AF2C893}"/>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8037D0B-15D9-AB15-2F2D-EAD4B6D5376C}"/>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403212092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vide avec spira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A831F68-AE6C-BB4B-3A49-3D1B539D1422}"/>
              </a:ext>
            </a:extLst>
          </p:cNvPr>
          <p:cNvSpPr/>
          <p:nvPr/>
        </p:nvSpPr>
        <p:spPr>
          <a:xfrm>
            <a:off x="7429963" y="5134708"/>
            <a:ext cx="1708220" cy="5802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 name="Slide Number Placeholder 5">
            <a:extLst>
              <a:ext uri="{FF2B5EF4-FFF2-40B4-BE49-F238E27FC236}">
                <a16:creationId xmlns:a16="http://schemas.microsoft.com/office/drawing/2014/main" id="{046B3D01-12E7-4372-77B4-33DC4FBE7626}"/>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E2AC66CF-8BC3-041B-AEB1-06A386F9B962}"/>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pied de page 1">
            <a:extLst>
              <a:ext uri="{FF2B5EF4-FFF2-40B4-BE49-F238E27FC236}">
                <a16:creationId xmlns:a16="http://schemas.microsoft.com/office/drawing/2014/main" id="{0BB5075D-3700-AF54-88A8-30C3ECFB4047}"/>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59750828"/>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vide sans spirale">
    <p:bg>
      <p:bgPr>
        <a:solidFill>
          <a:schemeClr val="bg1"/>
        </a:solidFill>
        <a:effectLst/>
      </p:bgPr>
    </p:bg>
    <p:spTree>
      <p:nvGrpSpPr>
        <p:cNvPr id="1" name=""/>
        <p:cNvGrpSpPr/>
        <p:nvPr/>
      </p:nvGrpSpPr>
      <p:grpSpPr>
        <a:xfrm>
          <a:off x="0" y="0"/>
          <a:ext cx="0" cy="0"/>
          <a:chOff x="0" y="0"/>
          <a:chExt cx="0" cy="0"/>
        </a:xfrm>
      </p:grpSpPr>
      <p:sp>
        <p:nvSpPr>
          <p:cNvPr id="2" name="Espace réservé du contenu 5">
            <a:extLst>
              <a:ext uri="{FF2B5EF4-FFF2-40B4-BE49-F238E27FC236}">
                <a16:creationId xmlns:a16="http://schemas.microsoft.com/office/drawing/2014/main" id="{2082BF5B-2EE5-EDB6-D3A7-6A1A7CE0353F}"/>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C234FE8D-8D99-C70E-2093-5530462AD0D2}"/>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955670262"/>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V">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18979-ECF8-47D2-7E44-AB88E7C4ADAE}"/>
              </a:ext>
            </a:extLst>
          </p:cNvPr>
          <p:cNvSpPr/>
          <p:nvPr userDrawn="1"/>
        </p:nvSpPr>
        <p:spPr>
          <a:xfrm>
            <a:off x="0" y="0"/>
            <a:ext cx="9144000" cy="1303020"/>
          </a:xfrm>
          <a:prstGeom prst="rect">
            <a:avLst/>
          </a:prstGeom>
          <a:solidFill>
            <a:schemeClr val="accent5">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aphicFrame>
        <p:nvGraphicFramePr>
          <p:cNvPr id="4" name="Tableau 3">
            <a:extLst>
              <a:ext uri="{FF2B5EF4-FFF2-40B4-BE49-F238E27FC236}">
                <a16:creationId xmlns:a16="http://schemas.microsoft.com/office/drawing/2014/main" id="{A7751F3F-A703-D076-F670-0F0E0030A969}"/>
              </a:ext>
            </a:extLst>
          </p:cNvPr>
          <p:cNvGraphicFramePr>
            <a:graphicFrameLocks noGrp="1"/>
          </p:cNvGraphicFramePr>
          <p:nvPr userDrawn="1">
            <p:extLst>
              <p:ext uri="{D42A27DB-BD31-4B8C-83A1-F6EECF244321}">
                <p14:modId xmlns:p14="http://schemas.microsoft.com/office/powerpoint/2010/main" val="1870080960"/>
              </p:ext>
            </p:extLst>
          </p:nvPr>
        </p:nvGraphicFramePr>
        <p:xfrm>
          <a:off x="3807372" y="52848"/>
          <a:ext cx="5336628" cy="1080000"/>
        </p:xfrm>
        <a:graphic>
          <a:graphicData uri="http://schemas.openxmlformats.org/drawingml/2006/table">
            <a:tbl>
              <a:tblPr firstRow="1" bandRow="1">
                <a:tableStyleId>{5C22544A-7EE6-4342-B048-85BDC9FD1C3A}</a:tableStyleId>
              </a:tblPr>
              <a:tblGrid>
                <a:gridCol w="179701">
                  <a:extLst>
                    <a:ext uri="{9D8B030D-6E8A-4147-A177-3AD203B41FA5}">
                      <a16:colId xmlns:a16="http://schemas.microsoft.com/office/drawing/2014/main" val="1542622483"/>
                    </a:ext>
                  </a:extLst>
                </a:gridCol>
                <a:gridCol w="4969392">
                  <a:extLst>
                    <a:ext uri="{9D8B030D-6E8A-4147-A177-3AD203B41FA5}">
                      <a16:colId xmlns:a16="http://schemas.microsoft.com/office/drawing/2014/main" val="2463262433"/>
                    </a:ext>
                  </a:extLst>
                </a:gridCol>
                <a:gridCol w="187535">
                  <a:extLst>
                    <a:ext uri="{9D8B030D-6E8A-4147-A177-3AD203B41FA5}">
                      <a16:colId xmlns:a16="http://schemas.microsoft.com/office/drawing/2014/main" val="3520011117"/>
                    </a:ext>
                  </a:extLst>
                </a:gridCol>
              </a:tblGrid>
              <a:tr h="327272">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marL="252000" marR="0" lvl="0" indent="0" algn="l" defTabSz="457196" rtl="0" eaLnBrk="1" fontAlgn="auto" latinLnBrk="0" hangingPunct="1">
                        <a:lnSpc>
                          <a:spcPct val="100000"/>
                        </a:lnSpc>
                        <a:spcBef>
                          <a:spcPts val="0"/>
                        </a:spcBef>
                        <a:spcAft>
                          <a:spcPts val="600"/>
                        </a:spcAft>
                        <a:buClr>
                          <a:srgbClr val="FB4933"/>
                        </a:buClr>
                        <a:buSzPct val="120000"/>
                        <a:buFont typeface="Arial" panose="020B0604020202020204" pitchFamily="34" charset="0"/>
                        <a:buNone/>
                        <a:tabLst/>
                        <a:defRPr/>
                      </a:pPr>
                      <a:r>
                        <a:rPr lang="fr-FR" sz="1400" b="0" i="0" u="none" strike="noStrike" kern="1200" cap="none" spc="0" normalizeH="0" baseline="0" noProof="0">
                          <a:ln>
                            <a:noFill/>
                          </a:ln>
                          <a:solidFill>
                            <a:schemeClr val="tx2">
                              <a:lumMod val="75000"/>
                              <a:lumOff val="25000"/>
                            </a:schemeClr>
                          </a:solidFill>
                          <a:effectLst/>
                          <a:uLnTx/>
                          <a:uFillTx/>
                          <a:latin typeface="+mj-lt"/>
                        </a:rPr>
                        <a:t>Ses atouts</a:t>
                      </a:r>
                    </a:p>
                    <a:p>
                      <a:pPr marL="36000" marR="0" lvl="1" indent="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None/>
                        <a:tabLst/>
                        <a:defRPr/>
                      </a:pPr>
                      <a:endParaRPr lang="fr-FR" sz="900" b="0" i="0" u="none" strike="noStrike" kern="1200" cap="none" spc="0" normalizeH="0" baseline="0" noProof="0">
                        <a:ln>
                          <a:noFill/>
                        </a:ln>
                        <a:solidFill>
                          <a:schemeClr val="accent4">
                            <a:lumMod val="75000"/>
                          </a:schemeClr>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975704466"/>
                  </a:ext>
                </a:extLst>
              </a:tr>
              <a:tr h="752728">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marL="216000" marR="0" lvl="1" indent="-18000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Char char="•"/>
                        <a:tabLst/>
                        <a:defRPr/>
                      </a:pPr>
                      <a:endParaRPr lang="fr-FR" sz="900" b="0" i="0" u="none" strike="noStrike" kern="1200" cap="none" spc="0" normalizeH="0" baseline="0" noProof="0">
                        <a:ln>
                          <a:noFill/>
                        </a:ln>
                        <a:solidFill>
                          <a:schemeClr val="accent4"/>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52862833"/>
                  </a:ext>
                </a:extLst>
              </a:tr>
            </a:tbl>
          </a:graphicData>
        </a:graphic>
      </p:graphicFrame>
      <p:grpSp>
        <p:nvGrpSpPr>
          <p:cNvPr id="21" name="Groupe 20">
            <a:extLst>
              <a:ext uri="{FF2B5EF4-FFF2-40B4-BE49-F238E27FC236}">
                <a16:creationId xmlns:a16="http://schemas.microsoft.com/office/drawing/2014/main" id="{064DAD38-A797-C470-ECB9-EAC33707FC61}"/>
              </a:ext>
            </a:extLst>
          </p:cNvPr>
          <p:cNvGrpSpPr/>
          <p:nvPr userDrawn="1"/>
        </p:nvGrpSpPr>
        <p:grpSpPr>
          <a:xfrm>
            <a:off x="0" y="-1905"/>
            <a:ext cx="3901440" cy="1295400"/>
            <a:chOff x="0" y="0"/>
            <a:chExt cx="3901440" cy="1295400"/>
          </a:xfrm>
          <a:solidFill>
            <a:schemeClr val="accent3"/>
          </a:solidFill>
        </p:grpSpPr>
        <p:sp>
          <p:nvSpPr>
            <p:cNvPr id="22" name="Parallélogramme 21">
              <a:extLst>
                <a:ext uri="{FF2B5EF4-FFF2-40B4-BE49-F238E27FC236}">
                  <a16:creationId xmlns:a16="http://schemas.microsoft.com/office/drawing/2014/main" id="{6C8BCF4C-A76A-BB47-20D3-AB05B0637CA8}"/>
                </a:ext>
              </a:extLst>
            </p:cNvPr>
            <p:cNvSpPr/>
            <p:nvPr/>
          </p:nvSpPr>
          <p:spPr>
            <a:xfrm>
              <a:off x="0" y="0"/>
              <a:ext cx="3901440" cy="1295400"/>
            </a:xfrm>
            <a:prstGeom prst="parallelogram">
              <a:avLst>
                <a:gd name="adj" fmla="val 40882"/>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3" name="Rectangle 22">
              <a:extLst>
                <a:ext uri="{FF2B5EF4-FFF2-40B4-BE49-F238E27FC236}">
                  <a16:creationId xmlns:a16="http://schemas.microsoft.com/office/drawing/2014/main" id="{DAD679EF-C860-56FC-9087-144476A5FB15}"/>
                </a:ext>
              </a:extLst>
            </p:cNvPr>
            <p:cNvSpPr/>
            <p:nvPr/>
          </p:nvSpPr>
          <p:spPr>
            <a:xfrm>
              <a:off x="0" y="0"/>
              <a:ext cx="2263140" cy="128778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pic>
        <p:nvPicPr>
          <p:cNvPr id="26" name="Graphique 25" descr="Ruban avec un remplissage uni">
            <a:extLst>
              <a:ext uri="{FF2B5EF4-FFF2-40B4-BE49-F238E27FC236}">
                <a16:creationId xmlns:a16="http://schemas.microsoft.com/office/drawing/2014/main" id="{F5AAE304-CAAC-5DEC-7E73-D39862D2E98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967374" y="66040"/>
            <a:ext cx="281552" cy="281552"/>
          </a:xfrm>
          <a:prstGeom prst="rect">
            <a:avLst/>
          </a:prstGeom>
        </p:spPr>
      </p:pic>
      <p:sp>
        <p:nvSpPr>
          <p:cNvPr id="28" name="Espace réservé pour une image  27">
            <a:extLst>
              <a:ext uri="{FF2B5EF4-FFF2-40B4-BE49-F238E27FC236}">
                <a16:creationId xmlns:a16="http://schemas.microsoft.com/office/drawing/2014/main" id="{553725D4-A0BC-66E3-51B3-0D4E1C950372}"/>
              </a:ext>
            </a:extLst>
          </p:cNvPr>
          <p:cNvSpPr>
            <a:spLocks noGrp="1"/>
          </p:cNvSpPr>
          <p:nvPr>
            <p:ph type="pic" sz="quarter" idx="10"/>
          </p:nvPr>
        </p:nvSpPr>
        <p:spPr>
          <a:xfrm>
            <a:off x="115888" y="93190"/>
            <a:ext cx="1008062" cy="1092200"/>
          </a:xfrm>
          <a:prstGeom prst="rect">
            <a:avLst/>
          </a:prstGeom>
        </p:spPr>
        <p:txBody>
          <a:bodyPr/>
          <a:lstStyle>
            <a:lvl1pPr marL="0" indent="0">
              <a:buNone/>
              <a:defRPr/>
            </a:lvl1pPr>
          </a:lstStyle>
          <a:p>
            <a:endParaRPr lang="fr-FR"/>
          </a:p>
        </p:txBody>
      </p:sp>
      <p:sp>
        <p:nvSpPr>
          <p:cNvPr id="2" name="Espace réservé du texte 8">
            <a:extLst>
              <a:ext uri="{FF2B5EF4-FFF2-40B4-BE49-F238E27FC236}">
                <a16:creationId xmlns:a16="http://schemas.microsoft.com/office/drawing/2014/main" id="{DB0F2FFB-83AA-4D28-72E7-5145481AA8AB}"/>
              </a:ext>
            </a:extLst>
          </p:cNvPr>
          <p:cNvSpPr>
            <a:spLocks noGrp="1"/>
          </p:cNvSpPr>
          <p:nvPr>
            <p:ph type="body" sz="quarter" idx="12" hasCustomPrompt="1"/>
          </p:nvPr>
        </p:nvSpPr>
        <p:spPr>
          <a:xfrm>
            <a:off x="1219679" y="85241"/>
            <a:ext cx="2488903"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NOM</a:t>
            </a:r>
          </a:p>
        </p:txBody>
      </p:sp>
      <p:sp>
        <p:nvSpPr>
          <p:cNvPr id="6" name="Espace réservé du texte 8">
            <a:extLst>
              <a:ext uri="{FF2B5EF4-FFF2-40B4-BE49-F238E27FC236}">
                <a16:creationId xmlns:a16="http://schemas.microsoft.com/office/drawing/2014/main" id="{C148EA3B-A067-17D5-7F1F-2B1F1E040300}"/>
              </a:ext>
            </a:extLst>
          </p:cNvPr>
          <p:cNvSpPr>
            <a:spLocks noGrp="1"/>
          </p:cNvSpPr>
          <p:nvPr>
            <p:ph type="body" sz="quarter" idx="14" hasCustomPrompt="1"/>
          </p:nvPr>
        </p:nvSpPr>
        <p:spPr>
          <a:xfrm>
            <a:off x="1219679" y="376188"/>
            <a:ext cx="2359751"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Prénom</a:t>
            </a:r>
          </a:p>
        </p:txBody>
      </p:sp>
      <p:sp>
        <p:nvSpPr>
          <p:cNvPr id="7" name="Espace réservé du texte 8">
            <a:extLst>
              <a:ext uri="{FF2B5EF4-FFF2-40B4-BE49-F238E27FC236}">
                <a16:creationId xmlns:a16="http://schemas.microsoft.com/office/drawing/2014/main" id="{41DC3F8F-65C6-2D2D-DF2F-073A77CECDC6}"/>
              </a:ext>
            </a:extLst>
          </p:cNvPr>
          <p:cNvSpPr>
            <a:spLocks noGrp="1"/>
          </p:cNvSpPr>
          <p:nvPr>
            <p:ph type="body" sz="quarter" idx="15" hasCustomPrompt="1"/>
          </p:nvPr>
        </p:nvSpPr>
        <p:spPr>
          <a:xfrm>
            <a:off x="1219679" y="664621"/>
            <a:ext cx="2269345" cy="175647"/>
          </a:xfrm>
          <a:prstGeom prst="rect">
            <a:avLst/>
          </a:prstGeom>
        </p:spPr>
        <p:txBody>
          <a:bodyPr lIns="0" tIns="0" rIns="0" bIns="0">
            <a:noAutofit/>
          </a:bodyPr>
          <a:lstStyle>
            <a:lvl1pPr marL="0" indent="0" algn="l">
              <a:buNone/>
              <a:defRPr lang="fr-FR" sz="12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FFFFFF"/>
                </a:solidFill>
                <a:effectLst/>
                <a:uLnTx/>
                <a:uFillTx/>
                <a:latin typeface="Montserrat"/>
                <a:ea typeface="+mn-ea"/>
                <a:cs typeface="+mn-cs"/>
              </a:rPr>
              <a:t>Poste</a:t>
            </a:r>
          </a:p>
        </p:txBody>
      </p:sp>
      <p:sp>
        <p:nvSpPr>
          <p:cNvPr id="8" name="Espace réservé du texte 8">
            <a:extLst>
              <a:ext uri="{FF2B5EF4-FFF2-40B4-BE49-F238E27FC236}">
                <a16:creationId xmlns:a16="http://schemas.microsoft.com/office/drawing/2014/main" id="{822DF923-F307-1F85-D956-C518A1699C2D}"/>
              </a:ext>
            </a:extLst>
          </p:cNvPr>
          <p:cNvSpPr>
            <a:spLocks noGrp="1"/>
          </p:cNvSpPr>
          <p:nvPr>
            <p:ph type="body" sz="quarter" idx="16" hasCustomPrompt="1"/>
          </p:nvPr>
        </p:nvSpPr>
        <p:spPr>
          <a:xfrm>
            <a:off x="1219679" y="904398"/>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+33 (0)6 XX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endParaRPr kumimoji="0" lang="fr-FR" sz="900" b="0" i="1" u="none" strike="noStrike" kern="1200" cap="none" spc="0" normalizeH="0" baseline="0" noProof="0">
              <a:ln>
                <a:noFill/>
              </a:ln>
              <a:solidFill>
                <a:srgbClr val="FFFFFF"/>
              </a:solidFill>
              <a:effectLst/>
              <a:uLnTx/>
              <a:uFillTx/>
              <a:latin typeface="Avenir Next LT Pro"/>
              <a:ea typeface="+mn-ea"/>
              <a:cs typeface="+mn-cs"/>
            </a:endParaRPr>
          </a:p>
        </p:txBody>
      </p:sp>
      <p:sp>
        <p:nvSpPr>
          <p:cNvPr id="9" name="Espace réservé du texte 8">
            <a:extLst>
              <a:ext uri="{FF2B5EF4-FFF2-40B4-BE49-F238E27FC236}">
                <a16:creationId xmlns:a16="http://schemas.microsoft.com/office/drawing/2014/main" id="{345442A2-B0F5-C15D-DA6C-5E7CA4EE183A}"/>
              </a:ext>
            </a:extLst>
          </p:cNvPr>
          <p:cNvSpPr>
            <a:spLocks noGrp="1"/>
          </p:cNvSpPr>
          <p:nvPr>
            <p:ph type="body" sz="quarter" idx="17" hasCustomPrompt="1"/>
          </p:nvPr>
        </p:nvSpPr>
        <p:spPr>
          <a:xfrm>
            <a:off x="1219679" y="1050449"/>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prenom.nom@forsides.com</a:t>
            </a:r>
            <a:endParaRPr kumimoji="0" lang="fr-FR" sz="1400" b="0" i="0" u="none" strike="noStrike" kern="1200" cap="none" spc="0" normalizeH="0" baseline="0" noProof="0">
              <a:ln>
                <a:noFill/>
              </a:ln>
              <a:solidFill>
                <a:srgbClr val="404040"/>
              </a:solidFill>
              <a:effectLst/>
              <a:uLnTx/>
              <a:uFillTx/>
              <a:latin typeface="Avenir Next LT Pro Light"/>
              <a:ea typeface="+mn-ea"/>
              <a:cs typeface="+mn-cs"/>
            </a:endParaRPr>
          </a:p>
        </p:txBody>
      </p:sp>
      <p:grpSp>
        <p:nvGrpSpPr>
          <p:cNvPr id="5" name="Groupe 4">
            <a:extLst>
              <a:ext uri="{FF2B5EF4-FFF2-40B4-BE49-F238E27FC236}">
                <a16:creationId xmlns:a16="http://schemas.microsoft.com/office/drawing/2014/main" id="{9101D5DD-06BF-C147-B6E6-1B8665008596}"/>
              </a:ext>
            </a:extLst>
          </p:cNvPr>
          <p:cNvGrpSpPr>
            <a:grpSpLocks noChangeAspect="1"/>
          </p:cNvGrpSpPr>
          <p:nvPr userDrawn="1"/>
        </p:nvGrpSpPr>
        <p:grpSpPr>
          <a:xfrm>
            <a:off x="7850412" y="70288"/>
            <a:ext cx="1223065" cy="366317"/>
            <a:chOff x="4608564" y="2308123"/>
            <a:chExt cx="1649613" cy="494072"/>
          </a:xfrm>
        </p:grpSpPr>
        <p:pic>
          <p:nvPicPr>
            <p:cNvPr id="10" name="Image 9" descr="Une image contenant texte, Police, Graphique, typographie  Description générée automatiquement">
              <a:extLst>
                <a:ext uri="{FF2B5EF4-FFF2-40B4-BE49-F238E27FC236}">
                  <a16:creationId xmlns:a16="http://schemas.microsoft.com/office/drawing/2014/main" id="{E7CB8CA2-1DDD-CDB2-5093-05342CE54E3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1" name="Image 10" descr="Une image contenant texte, Police, Graphique, typographie  Description générée automatiquement">
              <a:extLst>
                <a:ext uri="{FF2B5EF4-FFF2-40B4-BE49-F238E27FC236}">
                  <a16:creationId xmlns:a16="http://schemas.microsoft.com/office/drawing/2014/main" id="{687ADC69-5D48-458A-2E47-42487A7C786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Tree>
    <p:extLst>
      <p:ext uri="{BB962C8B-B14F-4D97-AF65-F5344CB8AC3E}">
        <p14:creationId xmlns:p14="http://schemas.microsoft.com/office/powerpoint/2010/main" val="2383830347"/>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fin">
    <p:bg>
      <p:bgPr>
        <a:solidFill>
          <a:schemeClr val="bg1">
            <a:alpha val="1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ABD1DBB-1ACA-FD9D-A676-47A938B285D4}"/>
              </a:ext>
            </a:extLst>
          </p:cNvPr>
          <p:cNvSpPr/>
          <p:nvPr/>
        </p:nvSpPr>
        <p:spPr>
          <a:xfrm rot="5400000">
            <a:off x="1714499" y="-1714499"/>
            <a:ext cx="5715002" cy="9144000"/>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nvGrpSpPr>
          <p:cNvPr id="12" name="Groupe 11">
            <a:extLst>
              <a:ext uri="{FF2B5EF4-FFF2-40B4-BE49-F238E27FC236}">
                <a16:creationId xmlns:a16="http://schemas.microsoft.com/office/drawing/2014/main" id="{084A7D52-A485-1865-7DDA-780EC8CDC093}"/>
              </a:ext>
            </a:extLst>
          </p:cNvPr>
          <p:cNvGrpSpPr/>
          <p:nvPr/>
        </p:nvGrpSpPr>
        <p:grpSpPr>
          <a:xfrm>
            <a:off x="47943" y="1308986"/>
            <a:ext cx="4148960" cy="1800000"/>
            <a:chOff x="47943" y="1308986"/>
            <a:chExt cx="4148960" cy="1800000"/>
          </a:xfrm>
        </p:grpSpPr>
        <p:pic>
          <p:nvPicPr>
            <p:cNvPr id="13" name="Image 12" descr="Une image contenant capture d’écran, obscurité  Description générée automatiquement">
              <a:extLst>
                <a:ext uri="{FF2B5EF4-FFF2-40B4-BE49-F238E27FC236}">
                  <a16:creationId xmlns:a16="http://schemas.microsoft.com/office/drawing/2014/main" id="{8D11FC98-EAD2-248A-02AA-1386AB19C643}"/>
                </a:ext>
              </a:extLst>
            </p:cNvPr>
            <p:cNvPicPr>
              <a:picLocks noChangeAspect="1"/>
            </p:cNvPicPr>
            <p:nvPr/>
          </p:nvPicPr>
          <p:blipFill rotWithShape="1">
            <a:blip r:embed="rId2">
              <a:extLst>
                <a:ext uri="{28A0092B-C50C-407E-A947-70E740481C1C}">
                  <a14:useLocalDpi xmlns:a14="http://schemas.microsoft.com/office/drawing/2010/main" val="0"/>
                </a:ext>
              </a:extLst>
            </a:blip>
            <a:srcRect l="35315" t="-23871" r="35346" b="-42726"/>
            <a:stretch/>
          </p:blipFill>
          <p:spPr>
            <a:xfrm>
              <a:off x="1747616" y="2236636"/>
              <a:ext cx="2449287" cy="670332"/>
            </a:xfrm>
            <a:prstGeom prst="rect">
              <a:avLst/>
            </a:prstGeom>
          </p:spPr>
        </p:pic>
        <p:grpSp>
          <p:nvGrpSpPr>
            <p:cNvPr id="14" name="Groupe 13">
              <a:extLst>
                <a:ext uri="{FF2B5EF4-FFF2-40B4-BE49-F238E27FC236}">
                  <a16:creationId xmlns:a16="http://schemas.microsoft.com/office/drawing/2014/main" id="{EE482E49-016A-1ABF-F0A6-757762D194EA}"/>
                </a:ext>
              </a:extLst>
            </p:cNvPr>
            <p:cNvGrpSpPr/>
            <p:nvPr userDrawn="1"/>
          </p:nvGrpSpPr>
          <p:grpSpPr>
            <a:xfrm>
              <a:off x="47943" y="1308986"/>
              <a:ext cx="3972334" cy="1800000"/>
              <a:chOff x="2606703" y="956198"/>
              <a:chExt cx="3428714" cy="1452922"/>
            </a:xfrm>
          </p:grpSpPr>
          <p:pic>
            <p:nvPicPr>
              <p:cNvPr id="15" name="Image 14" descr="Une image contenant texte, Police, Graphique, capture d’écran  Description générée automatiquement">
                <a:extLst>
                  <a:ext uri="{FF2B5EF4-FFF2-40B4-BE49-F238E27FC236}">
                    <a16:creationId xmlns:a16="http://schemas.microsoft.com/office/drawing/2014/main" id="{CDCA0478-D363-3A9E-696F-434D263EDD8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4952" t="23676" b="32974"/>
              <a:stretch/>
            </p:blipFill>
            <p:spPr>
              <a:xfrm>
                <a:off x="4076245" y="1264225"/>
                <a:ext cx="1959172" cy="480596"/>
              </a:xfrm>
              <a:prstGeom prst="rect">
                <a:avLst/>
              </a:prstGeom>
            </p:spPr>
          </p:pic>
          <p:pic>
            <p:nvPicPr>
              <p:cNvPr id="16" name="Image 15" descr="Une image contenant texte, Police, Graphique, capture d’écran  Description générée automatiquement">
                <a:extLst>
                  <a:ext uri="{FF2B5EF4-FFF2-40B4-BE49-F238E27FC236}">
                    <a16:creationId xmlns:a16="http://schemas.microsoft.com/office/drawing/2014/main" id="{1B025808-D017-F217-D915-AC182B1ED50F}"/>
                  </a:ext>
                </a:extLst>
              </p:cNvPr>
              <p:cNvPicPr>
                <a:picLocks/>
              </p:cNvPicPr>
              <p:nvPr userDrawn="1"/>
            </p:nvPicPr>
            <p:blipFill rotWithShape="1">
              <a:blip r:embed="rId3">
                <a:extLst>
                  <a:ext uri="{28A0092B-C50C-407E-A947-70E740481C1C}">
                    <a14:useLocalDpi xmlns:a14="http://schemas.microsoft.com/office/drawing/2010/main" val="0"/>
                  </a:ext>
                </a:extLst>
              </a:blip>
              <a:srcRect l="1" t="1738" r="62711" b="-1738"/>
              <a:stretch/>
            </p:blipFill>
            <p:spPr>
              <a:xfrm>
                <a:off x="2606703" y="956198"/>
                <a:ext cx="1553667" cy="1452922"/>
              </a:xfrm>
              <a:prstGeom prst="rect">
                <a:avLst/>
              </a:prstGeom>
            </p:spPr>
          </p:pic>
        </p:grpSp>
      </p:grpSp>
      <p:sp>
        <p:nvSpPr>
          <p:cNvPr id="17" name="Ellipse 16">
            <a:extLst>
              <a:ext uri="{FF2B5EF4-FFF2-40B4-BE49-F238E27FC236}">
                <a16:creationId xmlns:a16="http://schemas.microsoft.com/office/drawing/2014/main" id="{6A662C13-4424-5128-629C-A5804BDD0D9D}"/>
              </a:ext>
            </a:extLst>
          </p:cNvPr>
          <p:cNvSpPr/>
          <p:nvPr/>
        </p:nvSpPr>
        <p:spPr>
          <a:xfrm>
            <a:off x="4069080" y="2514599"/>
            <a:ext cx="114300" cy="116205"/>
          </a:xfrm>
          <a:prstGeom prst="ellipse">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8" name="Forme libre : forme 17">
            <a:extLst>
              <a:ext uri="{FF2B5EF4-FFF2-40B4-BE49-F238E27FC236}">
                <a16:creationId xmlns:a16="http://schemas.microsoft.com/office/drawing/2014/main" id="{B60BCFF1-7E8C-29FB-9F2E-545E8017D661}"/>
              </a:ext>
            </a:extLst>
          </p:cNvPr>
          <p:cNvSpPr/>
          <p:nvPr/>
        </p:nvSpPr>
        <p:spPr>
          <a:xfrm rot="1229371">
            <a:off x="4345423" y="1083080"/>
            <a:ext cx="4513269" cy="2380209"/>
          </a:xfrm>
          <a:custGeom>
            <a:avLst/>
            <a:gdLst>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Lst>
            <a:ahLst/>
            <a:cxnLst>
              <a:cxn ang="0">
                <a:pos x="connsiteX0" y="connsiteY0"/>
              </a:cxn>
              <a:cxn ang="0">
                <a:pos x="connsiteX1" y="connsiteY1"/>
              </a:cxn>
              <a:cxn ang="0">
                <a:pos x="connsiteX2" y="connsiteY2"/>
              </a:cxn>
              <a:cxn ang="0">
                <a:pos x="connsiteX3" y="connsiteY3"/>
              </a:cxn>
            </a:cxnLst>
            <a:rect l="l" t="t" r="r" b="b"/>
            <a:pathLst>
              <a:path w="2746187" h="2341354">
                <a:moveTo>
                  <a:pt x="2746187" y="0"/>
                </a:moveTo>
                <a:cubicBezTo>
                  <a:pt x="2461797" y="579664"/>
                  <a:pt x="2177408" y="1159328"/>
                  <a:pt x="1921594" y="1216478"/>
                </a:cubicBezTo>
                <a:cubicBezTo>
                  <a:pt x="1665780" y="1273628"/>
                  <a:pt x="1528347" y="167368"/>
                  <a:pt x="1211301" y="342900"/>
                </a:cubicBezTo>
                <a:cubicBezTo>
                  <a:pt x="894255" y="518432"/>
                  <a:pt x="104874" y="2328807"/>
                  <a:pt x="0" y="2341354"/>
                </a:cubicBezTo>
              </a:path>
            </a:pathLst>
          </a:custGeom>
          <a:noFill/>
          <a:ln>
            <a:gradFill flip="none" rotWithShape="1">
              <a:gsLst>
                <a:gs pos="0">
                  <a:schemeClr val="accent2">
                    <a:lumMod val="67000"/>
                  </a:schemeClr>
                </a:gs>
                <a:gs pos="90000">
                  <a:schemeClr val="accent2">
                    <a:lumMod val="97000"/>
                    <a:lumOff val="3000"/>
                  </a:schemeClr>
                </a:gs>
                <a:gs pos="33000">
                  <a:schemeClr val="accent2">
                    <a:lumMod val="60000"/>
                    <a:lumOff val="40000"/>
                  </a:schemeClr>
                </a:gs>
              </a:gsLst>
              <a:lin ang="16200000" scaled="1"/>
              <a:tileRect/>
            </a:gra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nvGrpSpPr>
          <p:cNvPr id="2" name="Groupe 1">
            <a:extLst>
              <a:ext uri="{FF2B5EF4-FFF2-40B4-BE49-F238E27FC236}">
                <a16:creationId xmlns:a16="http://schemas.microsoft.com/office/drawing/2014/main" id="{473C7E8B-109F-4996-4A44-B2CD2E6ACE6A}"/>
              </a:ext>
            </a:extLst>
          </p:cNvPr>
          <p:cNvGrpSpPr/>
          <p:nvPr userDrawn="1"/>
        </p:nvGrpSpPr>
        <p:grpSpPr>
          <a:xfrm rot="16200000">
            <a:off x="3732837" y="303838"/>
            <a:ext cx="1678329" cy="9143998"/>
            <a:chOff x="7465670" y="-3428998"/>
            <a:chExt cx="1678329" cy="9143998"/>
          </a:xfrm>
        </p:grpSpPr>
        <p:sp>
          <p:nvSpPr>
            <p:cNvPr id="19" name="Rectangle 18">
              <a:extLst>
                <a:ext uri="{FF2B5EF4-FFF2-40B4-BE49-F238E27FC236}">
                  <a16:creationId xmlns:a16="http://schemas.microsoft.com/office/drawing/2014/main" id="{33FD6EB3-A395-F57E-6AC5-CD3D523726B9}"/>
                </a:ext>
              </a:extLst>
            </p:cNvPr>
            <p:cNvSpPr/>
            <p:nvPr/>
          </p:nvSpPr>
          <p:spPr>
            <a:xfrm rot="5400000">
              <a:off x="3732836" y="303836"/>
              <a:ext cx="9143998" cy="167832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pic>
          <p:nvPicPr>
            <p:cNvPr id="20" name="Image 19">
              <a:extLst>
                <a:ext uri="{FF2B5EF4-FFF2-40B4-BE49-F238E27FC236}">
                  <a16:creationId xmlns:a16="http://schemas.microsoft.com/office/drawing/2014/main" id="{9F52A8FE-27C1-8937-3DB5-AB8C13B70EB2}"/>
                </a:ext>
              </a:extLst>
            </p:cNvPr>
            <p:cNvPicPr>
              <a:picLocks noChangeAspect="1"/>
            </p:cNvPicPr>
            <p:nvPr/>
          </p:nvPicPr>
          <p:blipFill>
            <a:blip r:embed="rId4"/>
            <a:stretch>
              <a:fillRect/>
            </a:stretch>
          </p:blipFill>
          <p:spPr>
            <a:xfrm rot="5400000">
              <a:off x="7518121" y="-2827240"/>
              <a:ext cx="1586194" cy="756000"/>
            </a:xfrm>
            <a:prstGeom prst="rect">
              <a:avLst/>
            </a:prstGeom>
          </p:spPr>
        </p:pic>
        <p:pic>
          <p:nvPicPr>
            <p:cNvPr id="21" name="Image 20">
              <a:extLst>
                <a:ext uri="{FF2B5EF4-FFF2-40B4-BE49-F238E27FC236}">
                  <a16:creationId xmlns:a16="http://schemas.microsoft.com/office/drawing/2014/main" id="{36F9FE4B-45F1-BF91-225A-A025BBC032C5}"/>
                </a:ext>
              </a:extLst>
            </p:cNvPr>
            <p:cNvPicPr>
              <a:picLocks noChangeAspect="1"/>
            </p:cNvPicPr>
            <p:nvPr/>
          </p:nvPicPr>
          <p:blipFill>
            <a:blip r:embed="rId5"/>
            <a:stretch>
              <a:fillRect/>
            </a:stretch>
          </p:blipFill>
          <p:spPr>
            <a:xfrm rot="5400000">
              <a:off x="7788048" y="4529811"/>
              <a:ext cx="1044000" cy="746074"/>
            </a:xfrm>
            <a:prstGeom prst="rect">
              <a:avLst/>
            </a:prstGeom>
          </p:spPr>
        </p:pic>
        <p:pic>
          <p:nvPicPr>
            <p:cNvPr id="22" name="Image 21" descr="Une image contenant texte, Graphique, affiche, Police  Description générée automatiquement">
              <a:extLst>
                <a:ext uri="{FF2B5EF4-FFF2-40B4-BE49-F238E27FC236}">
                  <a16:creationId xmlns:a16="http://schemas.microsoft.com/office/drawing/2014/main" id="{A8ADDECA-8C34-D481-6517-676FC76F5BB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5400000">
              <a:off x="7757825" y="-1244111"/>
              <a:ext cx="1141287" cy="684000"/>
            </a:xfrm>
            <a:prstGeom prst="rect">
              <a:avLst/>
            </a:prstGeom>
          </p:spPr>
        </p:pic>
        <p:pic>
          <p:nvPicPr>
            <p:cNvPr id="23" name="BF2A55E3-C5FD-4F13-B300-A3898496703C">
              <a:extLst>
                <a:ext uri="{FF2B5EF4-FFF2-40B4-BE49-F238E27FC236}">
                  <a16:creationId xmlns:a16="http://schemas.microsoft.com/office/drawing/2014/main" id="{473F9172-A582-FA4F-7F10-2CAC7B2C688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7679826" y="1812028"/>
              <a:ext cx="1217618"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Image 23" descr="Une image contenant texte, Police, Graphique, typographie  Description générée automatiquement">
              <a:extLst>
                <a:ext uri="{FF2B5EF4-FFF2-40B4-BE49-F238E27FC236}">
                  <a16:creationId xmlns:a16="http://schemas.microsoft.com/office/drawing/2014/main" id="{5A0BE7B8-BC98-0999-611A-DA5CFF41960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5400000">
              <a:off x="7533256" y="325631"/>
              <a:ext cx="1410520" cy="504000"/>
            </a:xfrm>
            <a:prstGeom prst="rect">
              <a:avLst/>
            </a:prstGeom>
          </p:spPr>
        </p:pic>
      </p:grpSp>
      <p:pic>
        <p:nvPicPr>
          <p:cNvPr id="25" name="Image 24" descr="Une image contenant texte, Police, logo, Graphique  Description générée automatiquement">
            <a:extLst>
              <a:ext uri="{FF2B5EF4-FFF2-40B4-BE49-F238E27FC236}">
                <a16:creationId xmlns:a16="http://schemas.microsoft.com/office/drawing/2014/main" id="{857A256E-484A-7A7B-8CCD-17C1F670CFB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6240780" y="4747260"/>
            <a:ext cx="1496962" cy="487681"/>
          </a:xfrm>
          <a:prstGeom prst="rect">
            <a:avLst/>
          </a:prstGeom>
        </p:spPr>
      </p:pic>
    </p:spTree>
    <p:extLst>
      <p:ext uri="{BB962C8B-B14F-4D97-AF65-F5344CB8AC3E}">
        <p14:creationId xmlns:p14="http://schemas.microsoft.com/office/powerpoint/2010/main" val="24596078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1384" y="276620"/>
            <a:ext cx="8675615" cy="325346"/>
          </a:xfrm>
          <a:prstGeom prst="rect">
            <a:avLst/>
          </a:prstGeom>
        </p:spPr>
        <p:txBody>
          <a:bodyPr vert="horz" wrap="square" lIns="91440" tIns="46800" rIns="91440" bIns="46800" rtlCol="0" anchor="ctr" anchorCtr="0">
            <a:spAutoFit/>
          </a:bodyPr>
          <a:lstStyle/>
          <a:p>
            <a:r>
              <a:rPr lang="fr-FR"/>
              <a:t>Cliquer pour modifier le style du titre</a:t>
            </a:r>
            <a:endParaRPr lang="en-US"/>
          </a:p>
        </p:txBody>
      </p:sp>
      <p:sp>
        <p:nvSpPr>
          <p:cNvPr id="4" name="Espace réservé du pied de page 1">
            <a:extLst>
              <a:ext uri="{FF2B5EF4-FFF2-40B4-BE49-F238E27FC236}">
                <a16:creationId xmlns:a16="http://schemas.microsoft.com/office/drawing/2014/main" id="{CDD99D74-B279-103D-716D-60DF6ED06641}"/>
              </a:ext>
            </a:extLst>
          </p:cNvPr>
          <p:cNvSpPr>
            <a:spLocks noGrp="1"/>
          </p:cNvSpPr>
          <p:nvPr>
            <p:ph type="ftr" sz="quarter" idx="3"/>
          </p:nvPr>
        </p:nvSpPr>
        <p:spPr>
          <a:xfrm>
            <a:off x="3028950" y="5405488"/>
            <a:ext cx="3086100" cy="303212"/>
          </a:xfrm>
          <a:prstGeom prst="rect">
            <a:avLst/>
          </a:prstGeom>
        </p:spPr>
        <p:txBody>
          <a:bodyPr anchor="ctr"/>
          <a:lstStyle>
            <a:lvl1pPr algn="ctr">
              <a:defRPr sz="800"/>
            </a:lvl1pPr>
          </a:lstStyle>
          <a:p>
            <a:endParaRPr lang="fr-FR"/>
          </a:p>
        </p:txBody>
      </p:sp>
    </p:spTree>
    <p:extLst>
      <p:ext uri="{BB962C8B-B14F-4D97-AF65-F5344CB8AC3E}">
        <p14:creationId xmlns:p14="http://schemas.microsoft.com/office/powerpoint/2010/main" val="325628889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3" r:id="rId10"/>
    <p:sldLayoutId id="2147483682" r:id="rId11"/>
  </p:sldLayoutIdLst>
  <p:hf sldNum="0" hdr="0" dt="0"/>
  <p:txStyles>
    <p:titleStyle>
      <a:lvl1pPr algn="l" defTabSz="457196" rtl="0" eaLnBrk="1" latinLnBrk="0" hangingPunct="1">
        <a:spcBef>
          <a:spcPct val="0"/>
        </a:spcBef>
        <a:buNone/>
        <a:defRPr sz="1500" b="0" kern="1200" cap="all" baseline="0">
          <a:solidFill>
            <a:schemeClr val="accent5"/>
          </a:solidFill>
          <a:latin typeface="Montserrat" panose="00000500000000000000" pitchFamily="2" charset="0"/>
          <a:ea typeface="+mj-ea"/>
          <a:cs typeface="+mj-cs"/>
        </a:defRPr>
      </a:lvl1pPr>
    </p:titleStyle>
    <p:bodyStyle>
      <a:lvl1pPr marL="342896" indent="-342896" algn="l" defTabSz="457196" rtl="0" eaLnBrk="1" latinLnBrk="0" hangingPunct="1">
        <a:spcBef>
          <a:spcPct val="20000"/>
        </a:spcBef>
        <a:buClr>
          <a:schemeClr val="accent1"/>
        </a:buClr>
        <a:buSzPct val="80000"/>
        <a:buFont typeface="Arial" panose="020B0604020202020204" pitchFamily="34" charset="0"/>
        <a:buChar char="●"/>
        <a:defRPr sz="1400" kern="1200">
          <a:solidFill>
            <a:schemeClr val="accent3"/>
          </a:solidFill>
          <a:latin typeface="+mn-lt"/>
          <a:ea typeface="+mn-ea"/>
          <a:cs typeface="+mn-cs"/>
        </a:defRPr>
      </a:lvl1pPr>
      <a:lvl2pPr marL="742943" indent="-285747" algn="l" defTabSz="457196" rtl="0" eaLnBrk="1" latinLnBrk="0" hangingPunct="1">
        <a:spcBef>
          <a:spcPct val="20000"/>
        </a:spcBef>
        <a:buClr>
          <a:schemeClr val="tx2"/>
        </a:buClr>
        <a:buSzPct val="80000"/>
        <a:buFont typeface="Arial" panose="020B0604020202020204" pitchFamily="34" charset="0"/>
        <a:buChar char="●"/>
        <a:defRPr sz="1200" kern="1200">
          <a:solidFill>
            <a:schemeClr val="accent3"/>
          </a:solidFill>
          <a:latin typeface="+mn-lt"/>
          <a:ea typeface="+mn-ea"/>
          <a:cs typeface="+mn-cs"/>
        </a:defRPr>
      </a:lvl2pPr>
      <a:lvl3pPr marL="1142988" indent="-228597" algn="l" defTabSz="457196" rtl="0" eaLnBrk="1" latinLnBrk="0" hangingPunct="1">
        <a:spcBef>
          <a:spcPct val="20000"/>
        </a:spcBef>
        <a:buClr>
          <a:schemeClr val="accent4"/>
        </a:buClr>
        <a:buSzPct val="120000"/>
        <a:buFont typeface="Wingdings" panose="05000000000000000000" pitchFamily="2" charset="2"/>
        <a:buChar char="§"/>
        <a:defRPr sz="1100" kern="1200">
          <a:solidFill>
            <a:schemeClr val="accent3"/>
          </a:solidFill>
          <a:latin typeface="+mn-lt"/>
          <a:ea typeface="+mn-ea"/>
          <a:cs typeface="+mn-cs"/>
        </a:defRPr>
      </a:lvl3pPr>
      <a:lvl4pPr marL="1600184" indent="-228597" algn="l" defTabSz="457196" rtl="0" eaLnBrk="1" latinLnBrk="0" hangingPunct="1">
        <a:spcBef>
          <a:spcPct val="20000"/>
        </a:spcBef>
        <a:buClr>
          <a:schemeClr val="accent4"/>
        </a:buClr>
        <a:buSzPct val="80000"/>
        <a:buFont typeface="Arial" panose="020B0604020202020204" pitchFamily="34" charset="0"/>
        <a:buChar char="●"/>
        <a:defRPr sz="1100" kern="1200">
          <a:solidFill>
            <a:schemeClr val="accent3"/>
          </a:solidFill>
          <a:latin typeface="+mn-lt"/>
          <a:ea typeface="+mn-ea"/>
          <a:cs typeface="+mn-cs"/>
        </a:defRPr>
      </a:lvl4pPr>
      <a:lvl5pPr marL="2057379" indent="-228597" algn="l" defTabSz="457196" rtl="0" eaLnBrk="1" latinLnBrk="0" hangingPunct="1">
        <a:spcBef>
          <a:spcPct val="20000"/>
        </a:spcBef>
        <a:buClr>
          <a:schemeClr val="accent4"/>
        </a:buClr>
        <a:buSzPct val="100000"/>
        <a:buFont typeface="Courier New" panose="02070309020205020404" pitchFamily="49" charset="0"/>
        <a:buChar char="o"/>
        <a:defRPr sz="1100" kern="1200">
          <a:solidFill>
            <a:schemeClr val="accent3"/>
          </a:solidFill>
          <a:latin typeface="+mn-lt"/>
          <a:ea typeface="+mn-ea"/>
          <a:cs typeface="+mn-cs"/>
        </a:defRPr>
      </a:lvl5pPr>
      <a:lvl6pPr marL="2514575" indent="-228597" algn="l" defTabSz="457196" rtl="0" eaLnBrk="1" latinLnBrk="0" hangingPunct="1">
        <a:spcBef>
          <a:spcPct val="20000"/>
        </a:spcBef>
        <a:buFont typeface="Arial"/>
        <a:buChar char="•"/>
        <a:defRPr sz="2000" kern="1200">
          <a:solidFill>
            <a:schemeClr val="tx1"/>
          </a:solidFill>
          <a:latin typeface="+mn-lt"/>
          <a:ea typeface="+mn-ea"/>
          <a:cs typeface="+mn-cs"/>
        </a:defRPr>
      </a:lvl6pPr>
      <a:lvl7pPr marL="2971770" indent="-228597" algn="l" defTabSz="457196" rtl="0" eaLnBrk="1" latinLnBrk="0" hangingPunct="1">
        <a:spcBef>
          <a:spcPct val="20000"/>
        </a:spcBef>
        <a:buFont typeface="Arial"/>
        <a:buChar char="•"/>
        <a:defRPr sz="2000" kern="1200">
          <a:solidFill>
            <a:schemeClr val="tx1"/>
          </a:solidFill>
          <a:latin typeface="+mn-lt"/>
          <a:ea typeface="+mn-ea"/>
          <a:cs typeface="+mn-cs"/>
        </a:defRPr>
      </a:lvl7pPr>
      <a:lvl8pPr marL="3428966" indent="-228597" algn="l" defTabSz="457196" rtl="0" eaLnBrk="1" latinLnBrk="0" hangingPunct="1">
        <a:spcBef>
          <a:spcPct val="20000"/>
        </a:spcBef>
        <a:buFont typeface="Arial"/>
        <a:buChar char="•"/>
        <a:defRPr sz="2000" kern="1200">
          <a:solidFill>
            <a:schemeClr val="tx1"/>
          </a:solidFill>
          <a:latin typeface="+mn-lt"/>
          <a:ea typeface="+mn-ea"/>
          <a:cs typeface="+mn-cs"/>
        </a:defRPr>
      </a:lvl8pPr>
      <a:lvl9pPr marL="3886161" indent="-228597" algn="l" defTabSz="45719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96" rtl="0" eaLnBrk="1" latinLnBrk="0" hangingPunct="1">
        <a:defRPr sz="1800" kern="1200">
          <a:solidFill>
            <a:schemeClr val="tx1"/>
          </a:solidFill>
          <a:latin typeface="+mn-lt"/>
          <a:ea typeface="+mn-ea"/>
          <a:cs typeface="+mn-cs"/>
        </a:defRPr>
      </a:lvl1pPr>
      <a:lvl2pPr marL="457196" algn="l" defTabSz="457196" rtl="0" eaLnBrk="1" latinLnBrk="0" hangingPunct="1">
        <a:defRPr sz="1800" kern="1200">
          <a:solidFill>
            <a:schemeClr val="tx1"/>
          </a:solidFill>
          <a:latin typeface="+mn-lt"/>
          <a:ea typeface="+mn-ea"/>
          <a:cs typeface="+mn-cs"/>
        </a:defRPr>
      </a:lvl2pPr>
      <a:lvl3pPr marL="914391" algn="l" defTabSz="457196" rtl="0" eaLnBrk="1" latinLnBrk="0" hangingPunct="1">
        <a:defRPr sz="1800" kern="1200">
          <a:solidFill>
            <a:schemeClr val="tx1"/>
          </a:solidFill>
          <a:latin typeface="+mn-lt"/>
          <a:ea typeface="+mn-ea"/>
          <a:cs typeface="+mn-cs"/>
        </a:defRPr>
      </a:lvl3pPr>
      <a:lvl4pPr marL="1371587" algn="l" defTabSz="457196" rtl="0" eaLnBrk="1" latinLnBrk="0" hangingPunct="1">
        <a:defRPr sz="1800" kern="1200">
          <a:solidFill>
            <a:schemeClr val="tx1"/>
          </a:solidFill>
          <a:latin typeface="+mn-lt"/>
          <a:ea typeface="+mn-ea"/>
          <a:cs typeface="+mn-cs"/>
        </a:defRPr>
      </a:lvl4pPr>
      <a:lvl5pPr marL="1828782" algn="l" defTabSz="457196" rtl="0" eaLnBrk="1" latinLnBrk="0" hangingPunct="1">
        <a:defRPr sz="1800" kern="1200">
          <a:solidFill>
            <a:schemeClr val="tx1"/>
          </a:solidFill>
          <a:latin typeface="+mn-lt"/>
          <a:ea typeface="+mn-ea"/>
          <a:cs typeface="+mn-cs"/>
        </a:defRPr>
      </a:lvl5pPr>
      <a:lvl6pPr marL="2285978" algn="l" defTabSz="457196" rtl="0" eaLnBrk="1" latinLnBrk="0" hangingPunct="1">
        <a:defRPr sz="1800" kern="1200">
          <a:solidFill>
            <a:schemeClr val="tx1"/>
          </a:solidFill>
          <a:latin typeface="+mn-lt"/>
          <a:ea typeface="+mn-ea"/>
          <a:cs typeface="+mn-cs"/>
        </a:defRPr>
      </a:lvl6pPr>
      <a:lvl7pPr marL="2743173" algn="l" defTabSz="457196" rtl="0" eaLnBrk="1" latinLnBrk="0" hangingPunct="1">
        <a:defRPr sz="1800" kern="1200">
          <a:solidFill>
            <a:schemeClr val="tx1"/>
          </a:solidFill>
          <a:latin typeface="+mn-lt"/>
          <a:ea typeface="+mn-ea"/>
          <a:cs typeface="+mn-cs"/>
        </a:defRPr>
      </a:lvl7pPr>
      <a:lvl8pPr marL="3200368" algn="l" defTabSz="457196" rtl="0" eaLnBrk="1" latinLnBrk="0" hangingPunct="1">
        <a:defRPr sz="1800" kern="1200">
          <a:solidFill>
            <a:schemeClr val="tx1"/>
          </a:solidFill>
          <a:latin typeface="+mn-lt"/>
          <a:ea typeface="+mn-ea"/>
          <a:cs typeface="+mn-cs"/>
        </a:defRPr>
      </a:lvl8pPr>
      <a:lvl9pPr marL="3657563" algn="l" defTabSz="45719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8DCF94C1-BF6F-B377-CC0F-D338E968D7AD}"/>
              </a:ext>
            </a:extLst>
          </p:cNvPr>
          <p:cNvSpPr>
            <a:spLocks noGrp="1"/>
          </p:cNvSpPr>
          <p:nvPr>
            <p:ph type="ctrTitle"/>
          </p:nvPr>
        </p:nvSpPr>
        <p:spPr>
          <a:xfrm>
            <a:off x="256032" y="2240280"/>
            <a:ext cx="4315968" cy="1143000"/>
          </a:xfrm>
        </p:spPr>
        <p:txBody>
          <a:bodyPr/>
          <a:lstStyle/>
          <a:p>
            <a:r>
              <a:t>Hospitalisation : dérive réelle ou effet ROC ?</a:t>
            </a:r>
          </a:p>
        </p:txBody>
      </p:sp>
      <p:sp>
        <p:nvSpPr>
          <p:cNvPr id="14" name="Espace réservé du texte 13">
            <a:extLst>
              <a:ext uri="{FF2B5EF4-FFF2-40B4-BE49-F238E27FC236}">
                <a16:creationId xmlns:a16="http://schemas.microsoft.com/office/drawing/2014/main" id="{1856A6A8-6228-CCEA-185F-D00119B7A97D}"/>
              </a:ext>
            </a:extLst>
          </p:cNvPr>
          <p:cNvSpPr>
            <a:spLocks noGrp="1"/>
          </p:cNvSpPr>
          <p:nvPr>
            <p:ph type="body" sz="quarter" idx="13"/>
          </p:nvPr>
        </p:nvSpPr>
        <p:spPr>
          <a:xfrm>
            <a:off x="256032" y="4169663"/>
            <a:ext cx="2651760" cy="173736"/>
          </a:xfrm>
        </p:spPr>
        <p:txBody>
          <a:bodyPr/>
          <a:lstStyle/>
          <a:p>
            <a:r>
              <a:t>Septembre 2026</a:t>
            </a:r>
          </a:p>
        </p:txBody>
      </p:sp>
      <p:sp>
        <p:nvSpPr>
          <p:cNvPr id="2" name="Espace réservé du texte 1">
            <a:extLst>
              <a:ext uri="{FF2B5EF4-FFF2-40B4-BE49-F238E27FC236}">
                <a16:creationId xmlns:a16="http://schemas.microsoft.com/office/drawing/2014/main" id="{E4FFD18E-F838-81E7-D5D2-F3DBB3537446}"/>
              </a:ext>
            </a:extLst>
          </p:cNvPr>
          <p:cNvSpPr>
            <a:spLocks noGrp="1"/>
          </p:cNvSpPr>
          <p:nvPr>
            <p:ph type="body" sz="quarter" idx="14"/>
          </p:nvPr>
        </p:nvSpPr>
        <p:spPr>
          <a:xfrm>
            <a:off x="256032" y="3611880"/>
            <a:ext cx="4416552" cy="420624"/>
          </a:xfrm>
        </p:spPr>
        <p:txBody>
          <a:bodyPr/>
          <a:lstStyle/>
          <a:p>
            <a:pPr>
              <a:lnSpc>
                <a:spcPct val="112000"/>
              </a:lnSpc>
              <a:spcBef>
                <a:spcPts val="0"/>
              </a:spcBef>
              <a:spcAft>
                <a:spcPts val="0"/>
              </a:spcAft>
            </a:pPr>
            <a:r>
              <a:rPr dirty="0" err="1"/>
              <a:t>Une garantie hospitalisation qui se dégrade depuis 2025 :</a:t>
            </a:r>
          </a:p>
          <a:p>
            <a:pPr>
              <a:lnSpc>
                <a:spcPct val="112000"/>
              </a:lnSpc>
              <a:spcBef>
                <a:spcPts val="0"/>
              </a:spcBef>
              <a:spcAft>
                <a:spcPts val="0"/>
              </a:spcAft>
            </a:pPr>
            <a:r>
              <a:rPr dirty="0" err="1"/>
              <a:t>ce que disent les remboursements de l’Assurance Maladie, 2022–2025</a:t>
            </a:r>
          </a:p>
        </p:txBody>
      </p:sp>
    </p:spTree>
    <p:extLst>
      <p:ext uri="{BB962C8B-B14F-4D97-AF65-F5344CB8AC3E}">
        <p14:creationId xmlns:p14="http://schemas.microsoft.com/office/powerpoint/2010/main" val="18466119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a:solidFill>
                  <a:srgbClr val="EF4647"/>
                </a:solidFill>
              </a:rPr>
              <a:t>DAMIR : le périmètre de l’étude</a:t>
            </a:r>
          </a:p>
        </p:txBody>
      </p:sp>
      <p:sp>
        <p:nvSpPr>
          <p:cNvPr id="3" name="Text Placeholder 2"/>
          <p:cNvSpPr>
            <a:spLocks noGrp="1"/>
          </p:cNvSpPr>
          <p:nvPr>
            <p:ph type="body" sz="quarter" idx="13"/>
          </p:nvPr>
        </p:nvSpPr>
        <p:spPr>
          <a:xfrm>
            <a:off x="466344" y="612648"/>
            <a:ext cx="6766560" cy="292608"/>
          </a:xfrm>
        </p:spPr>
        <p:txBody>
          <a:bodyPr/>
          <a:lstStyle/>
          <a:p>
            <a:r>
              <a:t>Des remboursements AMO aux repères du privé</a:t>
            </a:r>
          </a:p>
        </p:txBody>
      </p:sp>
      <p:sp>
        <p:nvSpPr>
          <p:cNvPr id="4" name="TextBox 3"/>
          <p:cNvSpPr txBox="1"/>
          <p:nvPr/>
        </p:nvSpPr>
        <p:spPr>
          <a:xfrm>
            <a:off x="457200" y="1133856"/>
            <a:ext cx="8229600" cy="713232"/>
          </a:xfrm>
          <a:prstGeom prst="rect">
            <a:avLst/>
          </a:prstGeom>
          <a:noFill/>
        </p:spPr>
        <p:txBody>
          <a:bodyPr wrap="square" lIns="0" tIns="0" rIns="0" bIns="0">
            <a:noAutofit/>
          </a:bodyPr>
          <a:lstStyle/>
          <a:p>
            <a:pPr>
              <a:lnSpc>
                <a:spcPct val="112000"/>
              </a:lnSpc>
              <a:spcBef>
                <a:spcPts val="0"/>
              </a:spcBef>
              <a:spcAft>
                <a:spcPts val="0"/>
              </a:spcAft>
            </a:pPr>
            <a:r>
              <a:rPr lang="fr-FR" sz="1050" b="0" cap="none">
                <a:solidFill>
                  <a:srgbClr val="404040"/>
                </a:solidFill>
                <a:latin typeface="Avenir Next LT Pro Light"/>
              </a:rPr>
              <a:t>Open DAMIR est la base publique de la Cnam, tous régimes, publiée chaque mois. Elle donne les dépenses présentées et les remboursements de l’Assurance Maladie (AMO), par cellules agrégées (un mois de soins, une prestation, une région, un âge, un sexe), jamais par individu ni par établissement. Ici : soins 2022–2025, flux arrêtés au 31/12/2025.</a:t>
            </a:r>
          </a:p>
        </p:txBody>
      </p:sp>
      <p:graphicFrame>
        <p:nvGraphicFramePr>
          <p:cNvPr id="5" name="Table 4"/>
          <p:cNvGraphicFramePr>
            <a:graphicFrameLocks noGrp="1"/>
          </p:cNvGraphicFramePr>
          <p:nvPr/>
        </p:nvGraphicFramePr>
        <p:xfrm>
          <a:off x="457200" y="1856231"/>
          <a:ext cx="8229600" cy="1499616"/>
        </p:xfrm>
        <a:graphic>
          <a:graphicData uri="http://schemas.openxmlformats.org/drawingml/2006/table">
            <a:tbl>
              <a:tblPr>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292608">
                <a:tc>
                  <a:txBody>
                    <a:bodyPr/>
                    <a:lstStyle/>
                    <a:p>
                      <a:pPr algn="l">
                        <a:lnSpc>
                          <a:spcPct val="100000"/>
                        </a:lnSpc>
                        <a:spcBef>
                          <a:spcPts val="0"/>
                        </a:spcBef>
                        <a:spcAft>
                          <a:spcPts val="0"/>
                        </a:spcAft>
                      </a:pPr>
                      <a:r>
                        <a:rPr lang="fr-FR" sz="1100" b="1" dirty="0">
                          <a:solidFill>
                            <a:srgbClr val="404040"/>
                          </a:solidFill>
                          <a:latin typeface="Avenir Next LT Pro Light"/>
                        </a:rPr>
                        <a:t>Ce que DAMIR contient</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1100" b="1">
                          <a:solidFill>
                            <a:srgbClr val="404040"/>
                          </a:solidFill>
                          <a:latin typeface="Avenir Next LT Pro Light"/>
                        </a:rPr>
                        <a:t>Ce que DAMIR ne contient pas</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603504">
                <a:tc>
                  <a:txBody>
                    <a:bodyPr/>
                    <a:lstStyle/>
                    <a:p>
                      <a:pPr algn="l">
                        <a:lnSpc>
                          <a:spcPct val="100000"/>
                        </a:lnSpc>
                        <a:spcBef>
                          <a:spcPts val="0"/>
                        </a:spcBef>
                        <a:spcAft>
                          <a:spcPts val="0"/>
                        </a:spcAft>
                      </a:pPr>
                      <a:r>
                        <a:rPr lang="fr-FR" sz="1100" b="0">
                          <a:solidFill>
                            <a:srgbClr val="404040"/>
                          </a:solidFill>
                          <a:latin typeface="Avenir Next LT Pro Light"/>
                        </a:rPr>
                        <a:t>Soins de ville et séjours en clinique</a:t>
                      </a:r>
                    </a:p>
                    <a:p>
                      <a:pPr algn="l">
                        <a:lnSpc>
                          <a:spcPct val="100000"/>
                        </a:lnSpc>
                        <a:spcBef>
                          <a:spcPts val="0"/>
                        </a:spcBef>
                        <a:spcAft>
                          <a:spcPts val="0"/>
                        </a:spcAft>
                      </a:pPr>
                      <a:r>
                        <a:rPr lang="fr-FR" sz="1100" b="0">
                          <a:solidFill>
                            <a:srgbClr val="404040"/>
                          </a:solidFill>
                          <a:latin typeface="Avenir Next LT Pro Light"/>
                        </a:rPr>
                        <a:t>Dépense, remboursement AMO, dépassements</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100" b="0">
                          <a:solidFill>
                            <a:srgbClr val="404040"/>
                          </a:solidFill>
                          <a:latin typeface="Avenir Next LT Pro Light"/>
                        </a:rPr>
                        <a:t>Séjours de l’hôpital public</a:t>
                      </a:r>
                    </a:p>
                    <a:p>
                      <a:pPr algn="l">
                        <a:lnSpc>
                          <a:spcPct val="100000"/>
                        </a:lnSpc>
                        <a:spcBef>
                          <a:spcPts val="0"/>
                        </a:spcBef>
                        <a:spcAft>
                          <a:spcPts val="0"/>
                        </a:spcAft>
                      </a:pPr>
                      <a:r>
                        <a:rPr lang="fr-FR" sz="1100" b="0">
                          <a:solidFill>
                            <a:srgbClr val="404040"/>
                          </a:solidFill>
                          <a:latin typeface="Avenir Next LT Pro Light"/>
                        </a:rPr>
                        <a:t>Chambre particulière, part payée par la complémentaire</a:t>
                      </a:r>
                    </a:p>
                  </a:txBody>
                  <a:tcPr marL="64008" marR="64008" marT="22860" marB="22860" anchor="ctr">
                    <a:solidFill>
                      <a:srgbClr val="FFFFFF"/>
                    </a:solidFill>
                  </a:tcPr>
                </a:tc>
                <a:extLst>
                  <a:ext uri="{0D108BD9-81ED-4DB2-BD59-A6C34878D82A}">
                    <a16:rowId xmlns:a16="http://schemas.microsoft.com/office/drawing/2014/main" val="10001"/>
                  </a:ext>
                </a:extLst>
              </a:tr>
              <a:tr h="603504">
                <a:tc>
                  <a:txBody>
                    <a:bodyPr/>
                    <a:lstStyle/>
                    <a:p>
                      <a:pPr algn="l">
                        <a:lnSpc>
                          <a:spcPct val="100000"/>
                        </a:lnSpc>
                        <a:spcBef>
                          <a:spcPts val="0"/>
                        </a:spcBef>
                        <a:spcAft>
                          <a:spcPts val="0"/>
                        </a:spcAft>
                      </a:pPr>
                      <a:r>
                        <a:rPr lang="fr-FR" sz="1100" b="0">
                          <a:solidFill>
                            <a:srgbClr val="404040"/>
                          </a:solidFill>
                          <a:latin typeface="Avenir Next LT Pro Light"/>
                        </a:rPr>
                        <a:t>Mois de soins, prestation, région, âge, sexe,</a:t>
                      </a:r>
                    </a:p>
                    <a:p>
                      <a:pPr algn="l">
                        <a:lnSpc>
                          <a:spcPct val="100000"/>
                        </a:lnSpc>
                        <a:spcBef>
                          <a:spcPts val="0"/>
                        </a:spcBef>
                        <a:spcAft>
                          <a:spcPts val="0"/>
                        </a:spcAft>
                      </a:pPr>
                      <a:r>
                        <a:rPr lang="fr-FR" sz="1100" b="0">
                          <a:solidFill>
                            <a:srgbClr val="404040"/>
                          </a:solidFill>
                          <a:latin typeface="Avenir Next LT Pro Light"/>
                        </a:rPr>
                        <a:t>nature d’assurance et ALD</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100" b="0" dirty="0">
                          <a:solidFill>
                            <a:srgbClr val="404040"/>
                          </a:solidFill>
                          <a:latin typeface="Avenir Next LT Pro Light"/>
                        </a:rPr>
                        <a:t>Établissement identifié</a:t>
                      </a:r>
                    </a:p>
                    <a:p>
                      <a:pPr algn="l">
                        <a:lnSpc>
                          <a:spcPct val="100000"/>
                        </a:lnSpc>
                        <a:spcBef>
                          <a:spcPts val="0"/>
                        </a:spcBef>
                        <a:spcAft>
                          <a:spcPts val="0"/>
                        </a:spcAft>
                      </a:pPr>
                      <a:r>
                        <a:rPr lang="fr-FR" sz="1100" b="0" dirty="0">
                          <a:solidFill>
                            <a:srgbClr val="404040"/>
                          </a:solidFill>
                          <a:latin typeface="Avenir Next LT Pro Light"/>
                        </a:rPr>
                        <a:t>Statut ROC ou non ROC</a:t>
                      </a:r>
                    </a:p>
                  </a:txBody>
                  <a:tcPr marL="64008" marR="64008" marT="22860" marB="22860" anchor="ctr">
                    <a:solidFill>
                      <a:srgbClr val="FFFFFF"/>
                    </a:solidFill>
                  </a:tcPr>
                </a:tc>
                <a:extLst>
                  <a:ext uri="{0D108BD9-81ED-4DB2-BD59-A6C34878D82A}">
                    <a16:rowId xmlns:a16="http://schemas.microsoft.com/office/drawing/2014/main" val="10002"/>
                  </a:ext>
                </a:extLst>
              </a:tr>
            </a:tbl>
          </a:graphicData>
        </a:graphic>
      </p:graphicFrame>
      <p:sp>
        <p:nvSpPr>
          <p:cNvPr id="6" name="TextBox 5"/>
          <p:cNvSpPr txBox="1"/>
          <p:nvPr/>
        </p:nvSpPr>
        <p:spPr>
          <a:xfrm>
            <a:off x="457200" y="3639312"/>
            <a:ext cx="3840480"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Année de soins (survenance)</a:t>
            </a:r>
          </a:p>
        </p:txBody>
      </p:sp>
      <p:sp>
        <p:nvSpPr>
          <p:cNvPr id="7" name="TextBox 6"/>
          <p:cNvSpPr txBox="1"/>
          <p:nvPr/>
        </p:nvSpPr>
        <p:spPr>
          <a:xfrm>
            <a:off x="457200" y="3968496"/>
            <a:ext cx="3822191" cy="530352"/>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Les soins de l’année, quelle que soit la date du paiement. Les années récentes restent incomplètes.</a:t>
            </a:r>
          </a:p>
        </p:txBody>
      </p:sp>
      <p:sp>
        <p:nvSpPr>
          <p:cNvPr id="8" name="TextBox 7"/>
          <p:cNvSpPr txBox="1"/>
          <p:nvPr/>
        </p:nvSpPr>
        <p:spPr>
          <a:xfrm>
            <a:off x="4709160" y="3639312"/>
            <a:ext cx="3977639"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Année de règlement AMO</a:t>
            </a:r>
          </a:p>
        </p:txBody>
      </p:sp>
      <p:sp>
        <p:nvSpPr>
          <p:cNvPr id="9" name="TextBox 8"/>
          <p:cNvSpPr txBox="1"/>
          <p:nvPr/>
        </p:nvSpPr>
        <p:spPr>
          <a:xfrm>
            <a:off x="4709160" y="3968496"/>
            <a:ext cx="3977639" cy="530352"/>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Les paiements de l’année, toutes années de soins confondues. Année complète, distincte des comptes de l’AMC.</a:t>
            </a:r>
          </a:p>
        </p:txBody>
      </p:sp>
      <p:sp>
        <p:nvSpPr>
          <p:cNvPr id="10" name="TextBox 9"/>
          <p:cNvSpPr txBox="1"/>
          <p:nvPr/>
        </p:nvSpPr>
        <p:spPr>
          <a:xfrm>
            <a:off x="457200" y="4754880"/>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1200" b="1" cap="none">
                <a:solidFill>
                  <a:srgbClr val="5B0C02"/>
                </a:solidFill>
                <a:latin typeface="Avenir Next LT Pro Light"/>
              </a:rPr>
              <a:t>Reste après AMO = dépense − remboursement AMO. Il inclut la part du patient.</a:t>
            </a:r>
          </a:p>
        </p:txBody>
      </p:sp>
      <p:sp>
        <p:nvSpPr>
          <p:cNvPr id="11" name="TextBox 10"/>
          <p:cNvSpPr txBox="1"/>
          <p:nvPr/>
        </p:nvSpPr>
        <p:spPr>
          <a:xfrm>
            <a:off x="457200" y="5047488"/>
            <a:ext cx="8229600" cy="320040"/>
          </a:xfrm>
          <a:prstGeom prst="rect">
            <a:avLst/>
          </a:prstGeom>
          <a:noFill/>
        </p:spPr>
        <p:txBody>
          <a:bodyPr wrap="square" lIns="0" tIns="0" rIns="0" bIns="0">
            <a:noAutofit/>
          </a:bodyPr>
          <a:lstStyle/>
          <a:p>
            <a:pPr>
              <a:lnSpc>
                <a:spcPct val="112000"/>
              </a:lnSpc>
              <a:spcBef>
                <a:spcPts val="0"/>
              </a:spcBef>
              <a:spcAft>
                <a:spcPts val="0"/>
              </a:spcAft>
            </a:pPr>
            <a:r>
              <a:rPr lang="fr-FR" sz="950" b="0" cap="none">
                <a:solidFill>
                  <a:srgbClr val="404040"/>
                </a:solidFill>
                <a:latin typeface="Avenir Next LT Pro Light"/>
              </a:rPr>
              <a:t>Part AMO = remboursement / dépense. Dépassements = montants facturés au-delà du tarif.</a:t>
            </a:r>
          </a:p>
          <a:p>
            <a:pPr>
              <a:lnSpc>
                <a:spcPct val="112000"/>
              </a:lnSpc>
              <a:spcBef>
                <a:spcPts val="0"/>
              </a:spcBef>
              <a:spcAft>
                <a:spcPts val="0"/>
              </a:spcAft>
            </a:pPr>
            <a:r>
              <a:rPr lang="fr-FR" sz="950" b="0" cap="none">
                <a:solidFill>
                  <a:srgbClr val="404040"/>
                </a:solidFill>
                <a:latin typeface="Avenir Next LT Pro Light"/>
              </a:rPr>
              <a:t>Séjour : AMO à 80 % du tarif, ticket modérateur à 20 %, sauf exonération (ALD, actes lourds, maternité).</a:t>
            </a:r>
          </a:p>
        </p:txBody>
      </p:sp>
      <p:sp>
        <p:nvSpPr>
          <p:cNvPr id="12" name="TextBox 11"/>
          <p:cNvSpPr txBox="1"/>
          <p:nvPr/>
        </p:nvSpPr>
        <p:spPr>
          <a:xfrm>
            <a:off x="457200" y="5431536"/>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a:solidFill>
                  <a:srgbClr val="EF4647"/>
                </a:solidFill>
              </a:rPr>
              <a:t>ROC : la facturation de la part complémentaire</a:t>
            </a:r>
          </a:p>
        </p:txBody>
      </p:sp>
      <p:sp>
        <p:nvSpPr>
          <p:cNvPr id="3" name="Text Placeholder 2"/>
          <p:cNvSpPr>
            <a:spLocks noGrp="1"/>
          </p:cNvSpPr>
          <p:nvPr>
            <p:ph type="body" sz="quarter" idx="13"/>
          </p:nvPr>
        </p:nvSpPr>
        <p:spPr>
          <a:xfrm>
            <a:off x="466344" y="612648"/>
            <a:ext cx="6766560" cy="292608"/>
          </a:xfrm>
        </p:spPr>
        <p:txBody>
          <a:bodyPr/>
          <a:lstStyle/>
          <a:p>
            <a:r>
              <a:t>Remboursement des Organismes Complémentaires</a:t>
            </a:r>
          </a:p>
        </p:txBody>
      </p:sp>
      <p:sp>
        <p:nvSpPr>
          <p:cNvPr id="4" name="TextBox 3"/>
          <p:cNvSpPr txBox="1"/>
          <p:nvPr/>
        </p:nvSpPr>
        <p:spPr>
          <a:xfrm>
            <a:off x="457200" y="1115568"/>
            <a:ext cx="8229600" cy="484632"/>
          </a:xfrm>
          <a:prstGeom prst="rect">
            <a:avLst/>
          </a:prstGeom>
          <a:noFill/>
        </p:spPr>
        <p:txBody>
          <a:bodyPr wrap="square" lIns="0" tIns="0" rIns="0" bIns="0">
            <a:noAutofit/>
          </a:bodyPr>
          <a:lstStyle/>
          <a:p>
            <a:pPr>
              <a:lnSpc>
                <a:spcPct val="112000"/>
              </a:lnSpc>
              <a:spcBef>
                <a:spcPts val="0"/>
              </a:spcBef>
              <a:spcAft>
                <a:spcPts val="0"/>
              </a:spcAft>
            </a:pPr>
            <a:r>
              <a:rPr lang="fr-FR" sz="1200" b="0" cap="none">
                <a:solidFill>
                  <a:srgbClr val="404040"/>
                </a:solidFill>
                <a:latin typeface="Avenir Next LT Pro Light"/>
              </a:rPr>
              <a:t>L’établissement vérifie les droits en temps réel, calcule la part complémentaire, obtient un engagement de paiement et facture directement l’AMC.</a:t>
            </a:r>
          </a:p>
        </p:txBody>
      </p:sp>
      <p:sp>
        <p:nvSpPr>
          <p:cNvPr id="5" name="TextBox 4"/>
          <p:cNvSpPr txBox="1"/>
          <p:nvPr/>
        </p:nvSpPr>
        <p:spPr>
          <a:xfrm>
            <a:off x="457200" y="1682496"/>
            <a:ext cx="8229600" cy="384048"/>
          </a:xfrm>
          <a:prstGeom prst="rect">
            <a:avLst/>
          </a:prstGeom>
          <a:noFill/>
        </p:spPr>
        <p:txBody>
          <a:bodyPr wrap="square" lIns="0" tIns="0" rIns="0" bIns="0">
            <a:noAutofit/>
          </a:bodyPr>
          <a:lstStyle/>
          <a:p>
            <a:pPr>
              <a:lnSpc>
                <a:spcPct val="112000"/>
              </a:lnSpc>
              <a:spcBef>
                <a:spcPts val="0"/>
              </a:spcBef>
              <a:spcAft>
                <a:spcPts val="0"/>
              </a:spcAft>
            </a:pPr>
            <a:r>
              <a:rPr lang="fr-FR" sz="1050" b="0" cap="none">
                <a:solidFill>
                  <a:srgbClr val="5B0C02"/>
                </a:solidFill>
                <a:latin typeface="Avenir Next LT Pro Light"/>
              </a:rPr>
              <a:t>Périmètre : la part payée par la complémentaire (ticket modérateur, forfait journalier, chambre particulière). Le ROC ne change pas ce qui est dû, seulement quand et comment c’est facturé.</a:t>
            </a:r>
          </a:p>
        </p:txBody>
      </p:sp>
      <p:graphicFrame>
        <p:nvGraphicFramePr>
          <p:cNvPr id="6" name="Table 5"/>
          <p:cNvGraphicFramePr>
            <a:graphicFrameLocks noGrp="1"/>
          </p:cNvGraphicFramePr>
          <p:nvPr/>
        </p:nvGraphicFramePr>
        <p:xfrm>
          <a:off x="457200" y="2148840"/>
          <a:ext cx="8229600" cy="1975104"/>
        </p:xfrm>
        <a:graphic>
          <a:graphicData uri="http://schemas.openxmlformats.org/drawingml/2006/table">
            <a:tbl>
              <a:tblPr>
                <a:tableStyleId>{5C22544A-7EE6-4342-B048-85BDC9FD1C3A}</a:tableStyleId>
              </a:tblPr>
              <a:tblGrid>
                <a:gridCol w="1261872">
                  <a:extLst>
                    <a:ext uri="{9D8B030D-6E8A-4147-A177-3AD203B41FA5}">
                      <a16:colId xmlns:a16="http://schemas.microsoft.com/office/drawing/2014/main" val="20000"/>
                    </a:ext>
                  </a:extLst>
                </a:gridCol>
                <a:gridCol w="3611880">
                  <a:extLst>
                    <a:ext uri="{9D8B030D-6E8A-4147-A177-3AD203B41FA5}">
                      <a16:colId xmlns:a16="http://schemas.microsoft.com/office/drawing/2014/main" val="20001"/>
                    </a:ext>
                  </a:extLst>
                </a:gridCol>
                <a:gridCol w="3355848">
                  <a:extLst>
                    <a:ext uri="{9D8B030D-6E8A-4147-A177-3AD203B41FA5}">
                      <a16:colId xmlns:a16="http://schemas.microsoft.com/office/drawing/2014/main" val="20002"/>
                    </a:ext>
                  </a:extLst>
                </a:gridCol>
              </a:tblGrid>
              <a:tr h="292608">
                <a:tc>
                  <a:txBody>
                    <a:bodyPr/>
                    <a:lstStyle/>
                    <a:p>
                      <a:pPr algn="l">
                        <a:lnSpc>
                          <a:spcPct val="100000"/>
                        </a:lnSpc>
                        <a:spcBef>
                          <a:spcPts val="0"/>
                        </a:spcBef>
                        <a:spcAft>
                          <a:spcPts val="0"/>
                        </a:spcAft>
                      </a:pPr>
                      <a:r>
                        <a:rPr lang="fr-FR" sz="1050" b="1">
                          <a:solidFill>
                            <a:srgbClr val="404040"/>
                          </a:solidFill>
                          <a:latin typeface="Avenir Next LT Pro Light"/>
                        </a:rPr>
                        <a:t>Calendrier</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c>
                  <a:txBody>
                    <a:bodyPr/>
                    <a:lstStyle/>
                    <a:p>
                      <a:pPr algn="l">
                        <a:lnSpc>
                          <a:spcPct val="100000"/>
                        </a:lnSpc>
                        <a:spcBef>
                          <a:spcPts val="0"/>
                        </a:spcBef>
                        <a:spcAft>
                          <a:spcPts val="0"/>
                        </a:spcAft>
                      </a:pPr>
                      <a:r>
                        <a:rPr lang="fr-FR" sz="1050" b="1">
                          <a:solidFill>
                            <a:srgbClr val="404040"/>
                          </a:solidFill>
                          <a:latin typeface="Avenir Next LT Pro Light"/>
                        </a:rPr>
                        <a:t>Hôpitaux publics et ESPIC</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c>
                  <a:txBody>
                    <a:bodyPr/>
                    <a:lstStyle/>
                    <a:p>
                      <a:pPr algn="l">
                        <a:lnSpc>
                          <a:spcPct val="100000"/>
                        </a:lnSpc>
                        <a:spcBef>
                          <a:spcPts val="0"/>
                        </a:spcBef>
                        <a:spcAft>
                          <a:spcPts val="0"/>
                        </a:spcAft>
                      </a:pPr>
                      <a:r>
                        <a:rPr lang="fr-FR" sz="1050" b="1">
                          <a:solidFill>
                            <a:srgbClr val="404040"/>
                          </a:solidFill>
                          <a:latin typeface="Avenir Next LT Pro Light"/>
                        </a:rPr>
                        <a:t>Cliniques privées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extLst>
                  <a:ext uri="{0D108BD9-81ED-4DB2-BD59-A6C34878D82A}">
                    <a16:rowId xmlns:a16="http://schemas.microsoft.com/office/drawing/2014/main" val="10000"/>
                  </a:ext>
                </a:extLst>
              </a:tr>
              <a:tr h="384048">
                <a:tc>
                  <a:txBody>
                    <a:bodyPr/>
                    <a:lstStyle/>
                    <a:p>
                      <a:pPr algn="l">
                        <a:lnSpc>
                          <a:spcPct val="100000"/>
                        </a:lnSpc>
                        <a:spcBef>
                          <a:spcPts val="0"/>
                        </a:spcBef>
                        <a:spcAft>
                          <a:spcPts val="0"/>
                        </a:spcAft>
                      </a:pPr>
                      <a:r>
                        <a:rPr lang="fr-FR" sz="1000" b="0">
                          <a:solidFill>
                            <a:srgbClr val="404040"/>
                          </a:solidFill>
                          <a:latin typeface="Avenir Next LT Pro Light"/>
                        </a:rPr>
                        <a:t>2021</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Accord national entre l’État, les hôpitaux et les complémentaires (programme SIMPHONIE)</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Non concernées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1"/>
                  </a:ext>
                </a:extLst>
              </a:tr>
              <a:tr h="566928">
                <a:tc>
                  <a:txBody>
                    <a:bodyPr/>
                    <a:lstStyle/>
                    <a:p>
                      <a:pPr algn="l">
                        <a:lnSpc>
                          <a:spcPct val="100000"/>
                        </a:lnSpc>
                        <a:spcBef>
                          <a:spcPts val="0"/>
                        </a:spcBef>
                        <a:spcAft>
                          <a:spcPts val="0"/>
                        </a:spcAft>
                      </a:pPr>
                      <a:r>
                        <a:rPr lang="fr-FR" sz="1000" b="0">
                          <a:solidFill>
                            <a:srgbClr val="404040"/>
                          </a:solidFill>
                          <a:latin typeface="Avenir Next LT Pro Light"/>
                        </a:rPr>
                        <a:t>19/09/2024</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473 hôpitaux et ESPIC facturent via ROC, un peu plus d’un sur deux. 88 complémentaires sont raccordées, couvrant 97 % des assurés.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Non concernées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2"/>
                  </a:ext>
                </a:extLst>
              </a:tr>
              <a:tr h="411480">
                <a:tc>
                  <a:txBody>
                    <a:bodyPr/>
                    <a:lstStyle/>
                    <a:p>
                      <a:pPr algn="l">
                        <a:lnSpc>
                          <a:spcPct val="100000"/>
                        </a:lnSpc>
                        <a:spcBef>
                          <a:spcPts val="0"/>
                        </a:spcBef>
                        <a:spcAft>
                          <a:spcPts val="0"/>
                        </a:spcAft>
                      </a:pPr>
                      <a:r>
                        <a:rPr lang="fr-FR" sz="1000" b="0">
                          <a:solidFill>
                            <a:srgbClr val="404040"/>
                          </a:solidFill>
                          <a:latin typeface="Avenir Next LT Pro Light"/>
                        </a:rPr>
                        <a:t>2025–2026</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Fin du déploiement</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Deux cliniques pilotes à la rentrée 2025, montée en charge en septembre 2026</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3"/>
                  </a:ext>
                </a:extLst>
              </a:tr>
              <a:tr h="320040">
                <a:tc>
                  <a:txBody>
                    <a:bodyPr/>
                    <a:lstStyle/>
                    <a:p>
                      <a:pPr algn="l">
                        <a:lnSpc>
                          <a:spcPct val="100000"/>
                        </a:lnSpc>
                        <a:spcBef>
                          <a:spcPts val="0"/>
                        </a:spcBef>
                        <a:spcAft>
                          <a:spcPts val="0"/>
                        </a:spcAft>
                      </a:pPr>
                      <a:r>
                        <a:rPr lang="fr-FR" sz="1000" b="0">
                          <a:solidFill>
                            <a:srgbClr val="404040"/>
                          </a:solidFill>
                          <a:latin typeface="Avenir Next LT Pro Light"/>
                        </a:rPr>
                        <a:t>2027</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Dispositif en régime de croisière</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Généralisation à toutes les cliniques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457200" y="4297680"/>
            <a:ext cx="3977639" cy="393192"/>
          </a:xfrm>
          <a:prstGeom prst="rect">
            <a:avLst/>
          </a:prstGeom>
          <a:noFill/>
        </p:spPr>
        <p:txBody>
          <a:bodyPr wrap="square" lIns="0" tIns="0" rIns="0" bIns="0">
            <a:noAutofit/>
          </a:bodyPr>
          <a:lstStyle/>
          <a:p>
            <a:pPr>
              <a:lnSpc>
                <a:spcPct val="112000"/>
              </a:lnSpc>
              <a:spcBef>
                <a:spcPts val="0"/>
              </a:spcBef>
              <a:spcAft>
                <a:spcPts val="0"/>
              </a:spcAft>
            </a:pPr>
            <a:r>
              <a:rPr lang="fr-FR" sz="2100" b="0" cap="none">
                <a:solidFill>
                  <a:srgbClr val="EF4647"/>
                </a:solidFill>
                <a:latin typeface="Montserrat"/>
              </a:rPr>
              <a:t>10–15 %   →   0,1–0,2 %</a:t>
            </a:r>
          </a:p>
        </p:txBody>
      </p:sp>
      <p:sp>
        <p:nvSpPr>
          <p:cNvPr id="8" name="TextBox 7"/>
          <p:cNvSpPr txBox="1"/>
          <p:nvPr/>
        </p:nvSpPr>
        <p:spPr>
          <a:xfrm>
            <a:off x="457200" y="4681728"/>
            <a:ext cx="3977639" cy="329184"/>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Factures hospitalières rejetées, avant et après le ROC (chiffres des complémentaires raccordées)</a:t>
            </a:r>
          </a:p>
        </p:txBody>
      </p:sp>
      <p:sp>
        <p:nvSpPr>
          <p:cNvPr id="9" name="TextBox 8"/>
          <p:cNvSpPr txBox="1"/>
          <p:nvPr/>
        </p:nvSpPr>
        <p:spPr>
          <a:xfrm>
            <a:off x="4736592" y="4315968"/>
            <a:ext cx="3931920" cy="777240"/>
          </a:xfrm>
          <a:prstGeom prst="rect">
            <a:avLst/>
          </a:prstGeom>
          <a:noFill/>
        </p:spPr>
        <p:txBody>
          <a:bodyPr wrap="square" lIns="0" tIns="0" rIns="0" bIns="0">
            <a:noAutofit/>
          </a:bodyPr>
          <a:lstStyle/>
          <a:p>
            <a:pPr>
              <a:lnSpc>
                <a:spcPct val="112000"/>
              </a:lnSpc>
              <a:spcBef>
                <a:spcPts val="0"/>
              </a:spcBef>
              <a:spcAft>
                <a:spcPts val="0"/>
              </a:spcAft>
            </a:pPr>
            <a:r>
              <a:rPr lang="fr-FR" sz="1000" b="1" cap="none">
                <a:solidFill>
                  <a:srgbClr val="5B0C02"/>
                </a:solidFill>
                <a:latin typeface="Avenir Next LT Pro Light"/>
              </a:rPr>
              <a:t>Pour une complémentaire, le ROC fait arriver plus de factures, et plus vite. L’année où il se met en place paie donc l’année en cours et une partie de l’année précédente, sans que les soins aient augmenté.</a:t>
            </a:r>
          </a:p>
        </p:txBody>
      </p:sp>
      <p:sp>
        <p:nvSpPr>
          <p:cNvPr id="10" name="TextBox 9"/>
          <p:cNvSpPr txBox="1"/>
          <p:nvPr/>
        </p:nvSpPr>
        <p:spPr>
          <a:xfrm>
            <a:off x="457200" y="5138928"/>
            <a:ext cx="8229600" cy="292608"/>
          </a:xfrm>
          <a:prstGeom prst="rect">
            <a:avLst/>
          </a:prstGeom>
          <a:noFill/>
        </p:spPr>
        <p:txBody>
          <a:bodyPr wrap="square" lIns="0" tIns="0" rIns="0" bIns="0">
            <a:noAutofit/>
          </a:bodyPr>
          <a:lstStyle/>
          <a:p>
            <a:pPr>
              <a:lnSpc>
                <a:spcPct val="100000"/>
              </a:lnSpc>
              <a:spcBef>
                <a:spcPts val="0"/>
              </a:spcBef>
              <a:spcAft>
                <a:spcPts val="0"/>
              </a:spcAft>
            </a:pPr>
            <a:r>
              <a:rPr lang="fr-FR" sz="950" b="0" cap="none" dirty="0">
                <a:solidFill>
                  <a:srgbClr val="5B0C02"/>
                </a:solidFill>
                <a:latin typeface="Avenir Next LT Pro Light"/>
              </a:rPr>
              <a:t>En 2025, le ROC joue à l’hôpital public, dont les séjours ne sont pas dans </a:t>
            </a:r>
            <a:r>
              <a:rPr lang="fr-FR" sz="950" dirty="0">
                <a:solidFill>
                  <a:srgbClr val="5B0C02"/>
                </a:solidFill>
                <a:latin typeface="Avenir Next LT Pro Light"/>
              </a:rPr>
              <a:t>DAMIR (DAMIR ne contient que les séjours des cliniques privées). Son </a:t>
            </a:r>
            <a:r>
              <a:rPr lang="fr-FR" sz="950" b="0" cap="none" dirty="0">
                <a:solidFill>
                  <a:srgbClr val="5B0C02"/>
                </a:solidFill>
                <a:latin typeface="Avenir Next LT Pro Light"/>
              </a:rPr>
              <a:t>effet se lit sur les factures publiques d’une complémentaire, en date de paiement.</a:t>
            </a:r>
          </a:p>
        </p:txBody>
      </p:sp>
      <p:sp>
        <p:nvSpPr>
          <p:cNvPr id="11" name="TextBox 10"/>
          <p:cNvSpPr txBox="1"/>
          <p:nvPr/>
        </p:nvSpPr>
        <p:spPr>
          <a:xfrm>
            <a:off x="457200" y="5468112"/>
            <a:ext cx="8229600" cy="128016"/>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Sources : GIE SESAM-Vitale, Groupe VYV (19/09/2024), FHP-MCO (21/07/2025). Calendrier annoncé.</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Carte 3"/>
          <p:cNvSpPr/>
          <p:nvPr/>
        </p:nvSpPr>
        <p:spPr>
          <a:xfrm>
            <a:off x="6035040" y="1143000"/>
            <a:ext cx="2651760" cy="2011680"/>
          </a:xfrm>
          <a:prstGeom prst="roundRect">
            <a:avLst>
              <a:gd name="adj" fmla="val 5000"/>
            </a:avLst>
          </a:prstGeom>
          <a:solidFill>
            <a:srgbClr val="F4F2EF"/>
          </a:solidFill>
          <a:ln>
            <a:noFill/>
          </a:ln>
        </p:spPr>
        <p:txBody>
          <a:bodyPr rtlCol="0" anchor="ctr"/>
          <a:lstStyle/>
          <a:p>
            <a:pPr algn="ctr"/>
          </a:p>
        </p:txBody>
      </p:sp>
      <p:sp>
        <p:nvSpPr>
          <p:cNvPr id="21" name="Carte 2"/>
          <p:cNvSpPr/>
          <p:nvPr/>
        </p:nvSpPr>
        <p:spPr>
          <a:xfrm>
            <a:off x="3246120" y="1143000"/>
            <a:ext cx="2651760" cy="2011680"/>
          </a:xfrm>
          <a:prstGeom prst="roundRect">
            <a:avLst>
              <a:gd name="adj" fmla="val 5000"/>
            </a:avLst>
          </a:prstGeom>
          <a:solidFill>
            <a:srgbClr val="F4F2EF"/>
          </a:solidFill>
          <a:ln>
            <a:noFill/>
          </a:ln>
        </p:spPr>
        <p:txBody>
          <a:bodyPr rtlCol="0" anchor="ctr"/>
          <a:lstStyle/>
          <a:p>
            <a:pPr algn="ctr"/>
          </a:p>
        </p:txBody>
      </p:sp>
      <p:sp>
        <p:nvSpPr>
          <p:cNvPr id="14" name="Carte 1"/>
          <p:cNvSpPr/>
          <p:nvPr/>
        </p:nvSpPr>
        <p:spPr>
          <a:xfrm>
            <a:off x="457200" y="1143000"/>
            <a:ext cx="2651760" cy="2011680"/>
          </a:xfrm>
          <a:prstGeom prst="roundRect">
            <a:avLst>
              <a:gd name="adj" fmla="val 5000"/>
            </a:avLst>
          </a:prstGeom>
          <a:solidFill>
            <a:srgbClr val="F4F2EF"/>
          </a:solidFill>
          <a:ln>
            <a:noFill/>
          </a:ln>
        </p:spPr>
        <p:txBody>
          <a:bodyPr rtlCol="0" anchor="ctr"/>
          <a:lstStyle/>
          <a:p>
            <a:pPr algn="ctr"/>
          </a:p>
        </p:txBody>
      </p:sp>
      <p:sp>
        <p:nvSpPr>
          <p:cNvPr id="2" name="Title 1"/>
          <p:cNvSpPr>
            <a:spLocks noGrp="1"/>
          </p:cNvSpPr>
          <p:nvPr>
            <p:ph type="title"/>
          </p:nvPr>
        </p:nvSpPr>
        <p:spPr>
          <a:xfrm>
            <a:off x="466344" y="283464"/>
            <a:ext cx="6766560" cy="310896"/>
          </a:xfrm>
        </p:spPr>
        <p:txBody>
          <a:bodyPr/>
          <a:lstStyle/>
          <a:p>
            <a:r>
              <a:rPr>
                <a:solidFill>
                  <a:srgbClr val="EF4647"/>
                </a:solidFill>
              </a:rPr>
              <a:t>Trois postes suivis, et les règles qui ont changé</a:t>
            </a:r>
          </a:p>
        </p:txBody>
      </p:sp>
      <p:sp>
        <p:nvSpPr>
          <p:cNvPr id="3" name="Text Placeholder 2"/>
          <p:cNvSpPr>
            <a:spLocks noGrp="1"/>
          </p:cNvSpPr>
          <p:nvPr>
            <p:ph type="body" sz="quarter" idx="13"/>
          </p:nvPr>
        </p:nvSpPr>
        <p:spPr>
          <a:xfrm>
            <a:off x="466344" y="612648"/>
            <a:ext cx="6766560" cy="292608"/>
          </a:xfrm>
        </p:spPr>
        <p:txBody>
          <a:bodyPr/>
          <a:lstStyle/>
          <a:p>
            <a:r>
              <a:t>Ce que chaque poste recouvre, ce qu’il montre, et ce qui déforme la lecture de 2024 et 2025</a:t>
            </a:r>
          </a:p>
        </p:txBody>
      </p:sp>
      <p:sp>
        <p:nvSpPr>
          <p:cNvPr id="6" name="TextBox 5"/>
          <p:cNvSpPr txBox="1"/>
          <p:nvPr/>
        </p:nvSpPr>
        <p:spPr>
          <a:xfrm>
            <a:off x="5486400" y="3429000"/>
            <a:ext cx="3200400" cy="274320"/>
          </a:xfrm>
          <a:prstGeom prst="rect">
            <a:avLst/>
          </a:prstGeom>
          <a:noFill/>
        </p:spPr>
        <p:txBody>
          <a:bodyPr wrap="square" lIns="0" tIns="0" rIns="0" bIns="0">
            <a:noAutofit/>
          </a:bodyPr>
          <a:lstStyle/>
          <a:p>
            <a:pPr>
              <a:lnSpc>
                <a:spcPct val="112000"/>
              </a:lnSpc>
              <a:spcBef>
                <a:spcPts val="0"/>
              </a:spcBef>
              <a:spcAft>
                <a:spcPts val="0"/>
              </a:spcAft>
            </a:pPr>
            <a:r>
              <a:rPr sz="1150" b="1" lang="fr-FR" cap="none">
                <a:solidFill>
                  <a:srgbClr val="5B0C02"/>
                </a:solidFill>
                <a:latin typeface="Avenir Next LT Pro Light"/>
              </a:rPr>
              <a:t>Cadence de l’Assurance Maladie</a:t>
            </a:r>
          </a:p>
        </p:txBody>
      </p:sp>
      <p:graphicFrame>
        <p:nvGraphicFramePr>
          <p:cNvPr id="7" name="Table 6"/>
          <p:cNvGraphicFramePr>
            <a:graphicFrameLocks noGrp="1"/>
          </p:cNvGraphicFramePr>
          <p:nvPr/>
        </p:nvGraphicFramePr>
        <p:xfrm>
          <a:off x="5486400" y="3749039"/>
          <a:ext cx="3200400" cy="1024128"/>
        </p:xfrm>
        <a:graphic>
          <a:graphicData uri="http://schemas.openxmlformats.org/drawingml/2006/table">
            <a:tbl>
              <a:tblPr>
                <a:tableStyleId>{5C22544A-7EE6-4342-B048-85BDC9FD1C3A}</a:tableStyleId>
              </a:tblPr>
              <a:tblGrid>
                <a:gridCol w="1728216">
                  <a:extLst>
                    <a:ext uri="{9D8B030D-6E8A-4147-A177-3AD203B41FA5}">
                      <a16:colId xmlns:a16="http://schemas.microsoft.com/office/drawing/2014/main" val="20000"/>
                    </a:ext>
                  </a:extLst>
                </a:gridCol>
                <a:gridCol w="740664">
                  <a:extLst>
                    <a:ext uri="{9D8B030D-6E8A-4147-A177-3AD203B41FA5}">
                      <a16:colId xmlns:a16="http://schemas.microsoft.com/office/drawing/2014/main" val="20001"/>
                    </a:ext>
                  </a:extLst>
                </a:gridCol>
                <a:gridCol w="740664">
                  <a:extLst>
                    <a:ext uri="{9D8B030D-6E8A-4147-A177-3AD203B41FA5}">
                      <a16:colId xmlns:a16="http://schemas.microsoft.com/office/drawing/2014/main" val="20002"/>
                    </a:ext>
                  </a:extLst>
                </a:gridCol>
              </a:tblGrid>
              <a:tr h="256032">
                <a:tc>
                  <a:txBody>
                    <a:bodyPr/>
                    <a:lstStyle/>
                    <a:p>
                      <a:pPr algn="l">
                        <a:lnSpc>
                          <a:spcPct val="100000"/>
                        </a:lnSpc>
                        <a:spcBef>
                          <a:spcPts val="0"/>
                        </a:spcBef>
                        <a:spcAft>
                          <a:spcPts val="0"/>
                        </a:spcAft>
                      </a:pPr>
                      <a:r>
                        <a:rPr lang="fr-FR" sz="950" b="1">
                          <a:solidFill>
                            <a:srgbClr val="404040"/>
                          </a:solidFill>
                          <a:latin typeface="Avenir Next LT Pro Light"/>
                        </a:rPr>
                        <a:t>Part réglée dans l’année</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56032">
                <a:tc>
                  <a:txBody>
                    <a:bodyPr/>
                    <a:lstStyle/>
                    <a:p>
                      <a:pPr algn="l">
                        <a:lnSpc>
                          <a:spcPct val="100000"/>
                        </a:lnSpc>
                        <a:spcBef>
                          <a:spcPts val="0"/>
                        </a:spcBef>
                        <a:spcAft>
                          <a:spcPts val="0"/>
                        </a:spcAft>
                      </a:pPr>
                      <a:r>
                        <a:rPr lang="fr-FR" sz="950" b="0">
                          <a:solidFill>
                            <a:srgbClr val="404040"/>
                          </a:solidFill>
                          <a:latin typeface="Avenir Next LT Pro Light"/>
                        </a:rPr>
                        <a:t>Séjours ordinaires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91,3 %</a:t>
                      </a:r>
                    </a:p>
                  </a:txBody>
                  <a:tcPr marL="64008" marR="64008" marT="22860" marB="22860" anchor="ctr">
                    <a:solidFill>
                      <a:srgbClr val="FFFFFF"/>
                    </a:solidFill>
                  </a:tcPr>
                </a:tc>
                <a:extLst>
                  <a:ext uri="{0D108BD9-81ED-4DB2-BD59-A6C34878D82A}">
                    <a16:rowId xmlns:a16="http://schemas.microsoft.com/office/drawing/2014/main" val="10001"/>
                  </a:ext>
                </a:extLst>
              </a:tr>
              <a:tr h="256032">
                <a:tc>
                  <a:txBody>
                    <a:bodyPr/>
                    <a:lstStyle/>
                    <a:p>
                      <a:pPr algn="l">
                        <a:lnSpc>
                          <a:spcPct val="100000"/>
                        </a:lnSpc>
                        <a:spcBef>
                          <a:spcPts val="0"/>
                        </a:spcBef>
                        <a:spcAft>
                          <a:spcPts val="0"/>
                        </a:spcAft>
                      </a:pPr>
                      <a:r>
                        <a:rPr lang="fr-FR" sz="950" b="0">
                          <a:solidFill>
                            <a:srgbClr val="404040"/>
                          </a:solidFill>
                          <a:latin typeface="Avenir Next LT Pro Light"/>
                        </a:rPr>
                        <a:t>Anesthésie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~94 %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93,9 %</a:t>
                      </a:r>
                    </a:p>
                  </a:txBody>
                  <a:tcPr marL="64008" marR="64008" marT="22860" marB="22860" anchor="ctr">
                    <a:solidFill>
                      <a:srgbClr val="FFFFFF"/>
                    </a:solidFill>
                  </a:tcPr>
                </a:tc>
                <a:extLst>
                  <a:ext uri="{0D108BD9-81ED-4DB2-BD59-A6C34878D82A}">
                    <a16:rowId xmlns:a16="http://schemas.microsoft.com/office/drawing/2014/main" val="10002"/>
                  </a:ext>
                </a:extLst>
              </a:tr>
              <a:tr h="256032">
                <a:tc>
                  <a:txBody>
                    <a:bodyPr/>
                    <a:lstStyle/>
                    <a:p>
                      <a:pPr algn="l">
                        <a:lnSpc>
                          <a:spcPct val="100000"/>
                        </a:lnSpc>
                        <a:spcBef>
                          <a:spcPts val="0"/>
                        </a:spcBef>
                        <a:spcAft>
                          <a:spcPts val="0"/>
                        </a:spcAft>
                      </a:pPr>
                      <a:r>
                        <a:rPr lang="fr-FR" sz="950" b="0">
                          <a:solidFill>
                            <a:srgbClr val="404040"/>
                          </a:solidFill>
                          <a:latin typeface="Avenir Next LT Pro Light"/>
                        </a:rPr>
                        <a:t>Rééducation</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89,0 %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84,4 %</a:t>
                      </a:r>
                    </a:p>
                  </a:txBody>
                  <a:tcPr marL="64008" marR="64008" marT="22860" marB="22860" anchor="ctr">
                    <a:solidFill>
                      <a:srgbClr val="FFFFFF"/>
                    </a:solidFill>
                  </a:tcPr>
                </a:tc>
                <a:extLst>
                  <a:ext uri="{0D108BD9-81ED-4DB2-BD59-A6C34878D82A}">
                    <a16:rowId xmlns:a16="http://schemas.microsoft.com/office/drawing/2014/main" val="10003"/>
                  </a:ext>
                </a:extLst>
              </a:tr>
            </a:tbl>
          </a:graphicData>
        </a:graphic>
      </p:graphicFrame>
      <p:graphicFrame>
        <p:nvGraphicFramePr>
          <p:cNvPr id="962" name="Table règles"/>
          <p:cNvGraphicFramePr>
            <a:graphicFrameLocks noGrp="1"/>
          </p:cNvGraphicFramePr>
          <p:nvPr/>
        </p:nvGraphicFramePr>
        <p:xfrm>
          <a:off x="457200" y="3749039"/>
          <a:ext cx="4754880" cy="1188720"/>
        </p:xfrm>
        <a:graphic>
          <a:graphicData uri="http://schemas.openxmlformats.org/drawingml/2006/table">
            <a:tbl>
              <a:tblPr>
                <a:tableStyleId>{5C22544A-7EE6-4342-B048-85BDC9FD1C3A}</a:tableStyleId>
              </a:tblPr>
              <a:tblGrid>
                <a:gridCol w="118872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tblGrid>
              <a:tr h="256032">
                <a:tc>
                  <a:txBody>
                    <a:bodyPr/>
                    <a:lstStyle/>
                    <a:p>
                      <a:pPr algn="l">
                        <a:lnSpc>
                          <a:spcPct val="100000"/>
                        </a:lnSpc>
                        <a:spcBef>
                          <a:spcPts val="0"/>
                        </a:spcBef>
                        <a:spcAft>
                          <a:spcPts val="0"/>
                        </a:spcAft>
                      </a:pPr>
                      <a:r>
                        <a:rPr lang="fr-FR" sz="950" b="1">
                          <a:solidFill>
                            <a:srgbClr val="404040"/>
                          </a:solidFill>
                          <a:latin typeface="Avenir Next LT Pro Light"/>
                        </a:rPr>
                        <a:t>Date</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950" b="1">
                          <a:solidFill>
                            <a:srgbClr val="404040"/>
                          </a:solidFill>
                          <a:latin typeface="Avenir Next LT Pro Light"/>
                        </a:rPr>
                        <a:t>Ce qui change</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384048">
                <a:tc>
                  <a:txBody>
                    <a:bodyPr/>
                    <a:lstStyle/>
                    <a:p>
                      <a:pPr algn="l">
                        <a:lnSpc>
                          <a:spcPct val="100000"/>
                        </a:lnSpc>
                        <a:spcBef>
                          <a:spcPts val="0"/>
                        </a:spcBef>
                        <a:spcAft>
                          <a:spcPts val="0"/>
                        </a:spcAft>
                      </a:pPr>
                      <a:r>
                        <a:rPr lang="fr-FR" sz="950" b="0">
                          <a:solidFill>
                            <a:srgbClr val="404040"/>
                          </a:solidFill>
                          <a:latin typeface="Avenir Next LT Pro Light"/>
                        </a:rPr>
                        <a:t>Janvier 2024</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Nouvelle facturation des cliniques de rééducation, factures en retard</a:t>
                      </a:r>
                    </a:p>
                  </a:txBody>
                  <a:tcPr marL="64008" marR="64008" marT="22860" marB="22860" anchor="ctr">
                    <a:solidFill>
                      <a:srgbClr val="FFFFFF"/>
                    </a:solidFill>
                  </a:tcPr>
                </a:tc>
                <a:extLst>
                  <a:ext uri="{0D108BD9-81ED-4DB2-BD59-A6C34878D82A}">
                    <a16:rowId xmlns:a16="http://schemas.microsoft.com/office/drawing/2014/main" val="10001"/>
                  </a:ext>
                </a:extLst>
              </a:tr>
              <a:tr h="274320">
                <a:tc>
                  <a:txBody>
                    <a:bodyPr/>
                    <a:lstStyle/>
                    <a:p>
                      <a:pPr algn="l">
                        <a:lnSpc>
                          <a:spcPct val="100000"/>
                        </a:lnSpc>
                        <a:spcBef>
                          <a:spcPts val="0"/>
                        </a:spcBef>
                        <a:spcAft>
                          <a:spcPts val="0"/>
                        </a:spcAft>
                      </a:pPr>
                      <a:r>
                        <a:rPr lang="fr-FR" sz="950" b="0">
                          <a:solidFill>
                            <a:srgbClr val="404040"/>
                          </a:solidFill>
                          <a:latin typeface="Avenir Next LT Pro Light"/>
                        </a:rPr>
                        <a:t>2024</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Franchises et participations forfaitaires doublées</a:t>
                      </a:r>
                    </a:p>
                  </a:txBody>
                  <a:tcPr marL="64008" marR="64008" marT="22860" marB="22860" anchor="ctr">
                    <a:solidFill>
                      <a:srgbClr val="FFFFFF"/>
                    </a:solidFill>
                  </a:tcPr>
                </a:tc>
                <a:extLst>
                  <a:ext uri="{0D108BD9-81ED-4DB2-BD59-A6C34878D82A}">
                    <a16:rowId xmlns:a16="http://schemas.microsoft.com/office/drawing/2014/main" val="10002"/>
                  </a:ext>
                </a:extLst>
              </a:tr>
              <a:tr h="274320">
                <a:tc>
                  <a:txBody>
                    <a:bodyPr/>
                    <a:lstStyle/>
                    <a:p>
                      <a:pPr algn="l">
                        <a:lnSpc>
                          <a:spcPct val="100000"/>
                        </a:lnSpc>
                        <a:spcBef>
                          <a:spcPts val="0"/>
                        </a:spcBef>
                        <a:spcAft>
                          <a:spcPts val="0"/>
                        </a:spcAft>
                      </a:pPr>
                      <a:r>
                        <a:rPr lang="fr-FR" sz="950" b="0">
                          <a:solidFill>
                            <a:srgbClr val="404040"/>
                          </a:solidFill>
                          <a:latin typeface="Avenir Next LT Pro Light"/>
                        </a:rPr>
                        <a:t>Novembre 2024</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950" b="0">
                          <a:solidFill>
                            <a:srgbClr val="404040"/>
                          </a:solidFill>
                          <a:latin typeface="Avenir Next LT Pro Light"/>
                        </a:rPr>
                        <a:t>Forfait journalier absent des dépenses de la base</a:t>
                      </a:r>
                    </a:p>
                  </a:txBody>
                  <a:tcPr marL="64008" marR="64008" marT="22860" marB="22860" anchor="ctr">
                    <a:solidFill>
                      <a:srgbClr val="FFFFFF"/>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5486400" y="4828032"/>
            <a:ext cx="3200400" cy="411480"/>
          </a:xfrm>
          <a:prstGeom prst="rect">
            <a:avLst/>
          </a:prstGeom>
          <a:noFill/>
        </p:spPr>
        <p:txBody>
          <a:bodyPr wrap="square" lIns="0" tIns="0" rIns="0" bIns="0">
            <a:noAutofit/>
          </a:bodyPr>
          <a:lstStyle/>
          <a:p>
            <a:pPr>
              <a:lnSpc>
                <a:spcPct val="112000"/>
              </a:lnSpc>
              <a:spcBef>
                <a:spcPts val="0"/>
              </a:spcBef>
              <a:spcAft>
                <a:spcPts val="0"/>
              </a:spcAft>
            </a:pPr>
            <a:r>
              <a:rPr sz="900" b="0" lang="fr-FR" cap="none">
                <a:solidFill>
                  <a:srgbClr val="404040"/>
                </a:solidFill>
                <a:latin typeface="Avenir Next LT Pro Light"/>
              </a:rPr>
              <a:t>Part des soins de l’année remboursée au 31 décembre. Stable, sauf la rééducation en 2024. Aucune accélération côté Assurance Maladie.</a:t>
            </a:r>
          </a:p>
        </p:txBody>
      </p:sp>
      <p:sp>
        <p:nvSpPr>
          <p:cNvPr id="12" name="TextBox 11"/>
          <p:cNvSpPr txBox="1"/>
          <p:nvPr/>
        </p:nvSpPr>
        <p:spPr>
          <a:xfrm>
            <a:off x="457200" y="5413248"/>
            <a:ext cx="8138160" cy="118872"/>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Sources complémentaires : Sénat, qSEQ241000269, DREES, Comptes de la santé 2024, fiche 02, Groupe VYV.</a:t>
            </a:r>
          </a:p>
        </p:txBody>
      </p:sp>
      <p:sp>
        <p:nvSpPr>
          <p:cNvPr id="13" name="TextBox 12"/>
          <p:cNvSpPr txBox="1"/>
          <p:nvPr/>
        </p:nvSpPr>
        <p:spPr>
          <a:xfrm>
            <a:off x="457200" y="5541264"/>
            <a:ext cx="8001000" cy="118872"/>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pic>
        <p:nvPicPr>
          <p:cNvPr id="15" name="Icône 1" descr="icon_hopital.png"/>
          <p:cNvPicPr>
            <a:picLocks noChangeAspect="1"/>
          </p:cNvPicPr>
          <p:nvPr/>
        </p:nvPicPr>
        <p:blipFill>
          <a:blip r:embed="rId6"/>
          <a:stretch>
            <a:fillRect/>
          </a:stretch>
        </p:blipFill>
        <p:spPr>
          <a:xfrm>
            <a:off x="640080" y="1325880"/>
            <a:ext cx="384048" cy="384048"/>
          </a:xfrm>
          <a:prstGeom prst="rect">
            <a:avLst/>
          </a:prstGeom>
        </p:spPr>
      </p:pic>
      <p:sp>
        <p:nvSpPr>
          <p:cNvPr id="16" name="Carte titre 1"/>
          <p:cNvSpPr txBox="1"/>
          <p:nvPr/>
        </p:nvSpPr>
        <p:spPr>
          <a:xfrm>
            <a:off x="1115568" y="1325880"/>
            <a:ext cx="1810512" cy="384048"/>
          </a:xfrm>
          <a:prstGeom prst="rect">
            <a:avLst/>
          </a:prstGeom>
          <a:noFill/>
        </p:spPr>
        <p:txBody>
          <a:bodyPr wrap="square" lIns="0" rIns="0" tIns="0" bIns="0" anchor="ctr">
            <a:noAutofit/>
          </a:bodyPr>
          <a:lstStyle/>
          <a:p>
            <a:pPr>
              <a:lnSpc>
                <a:spcPct val="112000"/>
              </a:lnSpc>
              <a:spcBef>
                <a:spcPts val="0"/>
              </a:spcBef>
              <a:spcAft>
                <a:spcPts val="0"/>
              </a:spcAft>
            </a:pPr>
            <a:r>
              <a:rPr sz="1100" b="1" lang="fr-FR" cap="none">
                <a:solidFill>
                  <a:srgbClr val="5B0C02"/>
                </a:solidFill>
                <a:latin typeface="Avenir Next LT Pro Light"/>
              </a:rPr>
              <a:t>Séjours ordinaires en clinique</a:t>
            </a:r>
          </a:p>
        </p:txBody>
      </p:sp>
      <p:sp>
        <p:nvSpPr>
          <p:cNvPr id="17" name="Carte quoi 1"/>
          <p:cNvSpPr txBox="1"/>
          <p:nvPr/>
        </p:nvSpPr>
        <p:spPr>
          <a:xfrm>
            <a:off x="640080" y="1828800"/>
            <a:ext cx="2286000" cy="457200"/>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Médecine, chirurgie, maternité : la facture de la clinique, hors honoraires des médecins.</a:t>
            </a:r>
          </a:p>
        </p:txBody>
      </p:sp>
      <p:sp>
        <p:nvSpPr>
          <p:cNvPr id="18" name="Carte chiffre 1"/>
          <p:cNvSpPr txBox="1"/>
          <p:nvPr/>
        </p:nvSpPr>
        <p:spPr>
          <a:xfrm>
            <a:off x="640080" y="2331720"/>
            <a:ext cx="2286000" cy="329184"/>
          </a:xfrm>
          <a:prstGeom prst="rect">
            <a:avLst/>
          </a:prstGeom>
          <a:noFill/>
        </p:spPr>
        <p:txBody>
          <a:bodyPr wrap="square" lIns="0" rIns="0" tIns="0" bIns="0">
            <a:noAutofit/>
          </a:bodyPr>
          <a:lstStyle/>
          <a:p>
            <a:pPr>
              <a:lnSpc>
                <a:spcPct val="112000"/>
              </a:lnSpc>
              <a:spcBef>
                <a:spcPts val="0"/>
              </a:spcBef>
              <a:spcAft>
                <a:spcPts val="0"/>
              </a:spcAft>
            </a:pPr>
            <a:r>
              <a:rPr sz="1800" b="1" lang="fr-FR" cap="none">
                <a:solidFill>
                  <a:srgbClr val="EF4647"/>
                </a:solidFill>
                <a:latin typeface="Avenir Next LT Pro Light"/>
              </a:rPr>
              <a:t>+2 %</a:t>
            </a:r>
          </a:p>
        </p:txBody>
      </p:sp>
      <p:sp>
        <p:nvSpPr>
          <p:cNvPr id="19" name="Carte légende 1"/>
          <p:cNvSpPr txBox="1"/>
          <p:nvPr/>
        </p:nvSpPr>
        <p:spPr>
          <a:xfrm>
            <a:off x="640080" y="2642615"/>
            <a:ext cx="2286000" cy="182880"/>
          </a:xfrm>
          <a:prstGeom prst="rect">
            <a:avLst/>
          </a:prstGeom>
          <a:noFill/>
        </p:spPr>
        <p:txBody>
          <a:bodyPr wrap="square" lIns="0" rIns="0" tIns="0" bIns="0">
            <a:noAutofit/>
          </a:bodyPr>
          <a:lstStyle/>
          <a:p>
            <a:pPr>
              <a:lnSpc>
                <a:spcPct val="112000"/>
              </a:lnSpc>
              <a:spcBef>
                <a:spcPts val="0"/>
              </a:spcBef>
              <a:spcAft>
                <a:spcPts val="0"/>
              </a:spcAft>
            </a:pPr>
            <a:r>
              <a:rPr sz="850" b="0" lang="fr-FR" cap="none">
                <a:solidFill>
                  <a:srgbClr val="808080"/>
                </a:solidFill>
                <a:latin typeface="Avenir Next LT Pro Light"/>
              </a:rPr>
              <a:t>de reste après AMO en 2024</a:t>
            </a:r>
          </a:p>
        </p:txBody>
      </p:sp>
      <p:sp>
        <p:nvSpPr>
          <p:cNvPr id="20" name="Carte verdict 1"/>
          <p:cNvSpPr txBox="1"/>
          <p:nvPr/>
        </p:nvSpPr>
        <p:spPr>
          <a:xfrm>
            <a:off x="640080" y="2862072"/>
            <a:ext cx="2286000" cy="228600"/>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Stable. Le poste de référence.</a:t>
            </a:r>
          </a:p>
        </p:txBody>
      </p:sp>
      <p:pic>
        <p:nvPicPr>
          <p:cNvPr id="22" name="Icône 2" descr="icon_reeduc.png"/>
          <p:cNvPicPr>
            <a:picLocks noChangeAspect="1"/>
          </p:cNvPicPr>
          <p:nvPr/>
        </p:nvPicPr>
        <p:blipFill>
          <a:blip r:embed="rId7"/>
          <a:stretch>
            <a:fillRect/>
          </a:stretch>
        </p:blipFill>
        <p:spPr>
          <a:xfrm>
            <a:off x="3429000" y="1325880"/>
            <a:ext cx="384048" cy="384048"/>
          </a:xfrm>
          <a:prstGeom prst="rect">
            <a:avLst/>
          </a:prstGeom>
        </p:spPr>
      </p:pic>
      <p:sp>
        <p:nvSpPr>
          <p:cNvPr id="23" name="Carte titre 2"/>
          <p:cNvSpPr txBox="1"/>
          <p:nvPr/>
        </p:nvSpPr>
        <p:spPr>
          <a:xfrm>
            <a:off x="3904487" y="1325880"/>
            <a:ext cx="1810512" cy="384048"/>
          </a:xfrm>
          <a:prstGeom prst="rect">
            <a:avLst/>
          </a:prstGeom>
          <a:noFill/>
        </p:spPr>
        <p:txBody>
          <a:bodyPr wrap="square" lIns="0" rIns="0" tIns="0" bIns="0" anchor="ctr">
            <a:noAutofit/>
          </a:bodyPr>
          <a:lstStyle/>
          <a:p>
            <a:pPr>
              <a:lnSpc>
                <a:spcPct val="112000"/>
              </a:lnSpc>
              <a:spcBef>
                <a:spcPts val="0"/>
              </a:spcBef>
              <a:spcAft>
                <a:spcPts val="0"/>
              </a:spcAft>
            </a:pPr>
            <a:r>
              <a:rPr sz="1100" b="1" lang="fr-FR" cap="none">
                <a:solidFill>
                  <a:srgbClr val="5B0C02"/>
                </a:solidFill>
                <a:latin typeface="Avenir Next LT Pro Light"/>
              </a:rPr>
              <a:t>Rééducation</a:t>
            </a:r>
          </a:p>
        </p:txBody>
      </p:sp>
      <p:sp>
        <p:nvSpPr>
          <p:cNvPr id="24" name="Carte quoi 2"/>
          <p:cNvSpPr txBox="1"/>
          <p:nvPr/>
        </p:nvSpPr>
        <p:spPr>
          <a:xfrm>
            <a:off x="3429000" y="1828800"/>
            <a:ext cx="2286000" cy="457200"/>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Rééducation et convalescence après une opération, un AVC ou un accident.</a:t>
            </a:r>
          </a:p>
        </p:txBody>
      </p:sp>
      <p:sp>
        <p:nvSpPr>
          <p:cNvPr id="25" name="Carte chiffre 2"/>
          <p:cNvSpPr txBox="1"/>
          <p:nvPr/>
        </p:nvSpPr>
        <p:spPr>
          <a:xfrm>
            <a:off x="3429000" y="2331720"/>
            <a:ext cx="2286000" cy="329184"/>
          </a:xfrm>
          <a:prstGeom prst="rect">
            <a:avLst/>
          </a:prstGeom>
          <a:noFill/>
        </p:spPr>
        <p:txBody>
          <a:bodyPr wrap="square" lIns="0" rIns="0" tIns="0" bIns="0">
            <a:noAutofit/>
          </a:bodyPr>
          <a:lstStyle/>
          <a:p>
            <a:pPr>
              <a:lnSpc>
                <a:spcPct val="112000"/>
              </a:lnSpc>
              <a:spcBef>
                <a:spcPts val="0"/>
              </a:spcBef>
              <a:spcAft>
                <a:spcPts val="0"/>
              </a:spcAft>
            </a:pPr>
            <a:r>
              <a:rPr sz="1500" b="1" lang="fr-FR" cap="none">
                <a:solidFill>
                  <a:srgbClr val="EF4647"/>
                </a:solidFill>
                <a:latin typeface="Avenir Next LT Pro Light"/>
              </a:rPr>
              <a:t>+8,5 % puis ≈ +20 %</a:t>
            </a:r>
          </a:p>
        </p:txBody>
      </p:sp>
      <p:sp>
        <p:nvSpPr>
          <p:cNvPr id="26" name="Carte légende 2"/>
          <p:cNvSpPr txBox="1"/>
          <p:nvPr/>
        </p:nvSpPr>
        <p:spPr>
          <a:xfrm>
            <a:off x="3429000" y="2642615"/>
            <a:ext cx="2286000" cy="182880"/>
          </a:xfrm>
          <a:prstGeom prst="rect">
            <a:avLst/>
          </a:prstGeom>
          <a:noFill/>
        </p:spPr>
        <p:txBody>
          <a:bodyPr wrap="square" lIns="0" rIns="0" tIns="0" bIns="0">
            <a:noAutofit/>
          </a:bodyPr>
          <a:lstStyle/>
          <a:p>
            <a:pPr>
              <a:lnSpc>
                <a:spcPct val="112000"/>
              </a:lnSpc>
              <a:spcBef>
                <a:spcPts val="0"/>
              </a:spcBef>
              <a:spcAft>
                <a:spcPts val="0"/>
              </a:spcAft>
            </a:pPr>
            <a:r>
              <a:rPr sz="850" b="0" lang="fr-FR" cap="none">
                <a:solidFill>
                  <a:srgbClr val="808080"/>
                </a:solidFill>
                <a:latin typeface="Avenir Next LT Pro Light"/>
              </a:rPr>
              <a:t>de reste après AMO, 2024 puis 2025</a:t>
            </a:r>
          </a:p>
        </p:txBody>
      </p:sp>
      <p:sp>
        <p:nvSpPr>
          <p:cNvPr id="27" name="Carte verdict 2"/>
          <p:cNvSpPr txBox="1"/>
          <p:nvPr/>
        </p:nvSpPr>
        <p:spPr>
          <a:xfrm>
            <a:off x="3429000" y="2862072"/>
            <a:ext cx="2286000" cy="228600"/>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En hausse, surtout avant 50 ans.</a:t>
            </a:r>
          </a:p>
        </p:txBody>
      </p:sp>
      <p:pic>
        <p:nvPicPr>
          <p:cNvPr id="29" name="Icône 3" descr="icon_seringue.png"/>
          <p:cNvPicPr>
            <a:picLocks noChangeAspect="1"/>
          </p:cNvPicPr>
          <p:nvPr/>
        </p:nvPicPr>
        <p:blipFill>
          <a:blip r:embed="rId8"/>
          <a:stretch>
            <a:fillRect/>
          </a:stretch>
        </p:blipFill>
        <p:spPr>
          <a:xfrm>
            <a:off x="6217920" y="1325880"/>
            <a:ext cx="384048" cy="384048"/>
          </a:xfrm>
          <a:prstGeom prst="rect">
            <a:avLst/>
          </a:prstGeom>
        </p:spPr>
      </p:pic>
      <p:sp>
        <p:nvSpPr>
          <p:cNvPr id="30" name="Carte titre 3"/>
          <p:cNvSpPr txBox="1"/>
          <p:nvPr/>
        </p:nvSpPr>
        <p:spPr>
          <a:xfrm>
            <a:off x="6693407" y="1325880"/>
            <a:ext cx="1810512" cy="384048"/>
          </a:xfrm>
          <a:prstGeom prst="rect">
            <a:avLst/>
          </a:prstGeom>
          <a:noFill/>
        </p:spPr>
        <p:txBody>
          <a:bodyPr wrap="square" lIns="0" rIns="0" tIns="0" bIns="0" anchor="ctr">
            <a:noAutofit/>
          </a:bodyPr>
          <a:lstStyle/>
          <a:p>
            <a:pPr>
              <a:lnSpc>
                <a:spcPct val="112000"/>
              </a:lnSpc>
              <a:spcBef>
                <a:spcPts val="0"/>
              </a:spcBef>
              <a:spcAft>
                <a:spcPts val="0"/>
              </a:spcAft>
            </a:pPr>
            <a:r>
              <a:rPr sz="1100" b="1" lang="fr-FR" cap="none">
                <a:solidFill>
                  <a:srgbClr val="5B0C02"/>
                </a:solidFill>
                <a:latin typeface="Avenir Next LT Pro Light"/>
              </a:rPr>
              <a:t>Honoraires d’anesthésie</a:t>
            </a:r>
          </a:p>
        </p:txBody>
      </p:sp>
      <p:sp>
        <p:nvSpPr>
          <p:cNvPr id="31" name="Carte quoi 3"/>
          <p:cNvSpPr txBox="1"/>
          <p:nvPr/>
        </p:nvSpPr>
        <p:spPr>
          <a:xfrm>
            <a:off x="6217920" y="1828800"/>
            <a:ext cx="2286000" cy="457200"/>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La facture de l’anesthésiste pour une opération en clinique.</a:t>
            </a:r>
          </a:p>
        </p:txBody>
      </p:sp>
      <p:sp>
        <p:nvSpPr>
          <p:cNvPr id="32" name="Carte chiffre 3"/>
          <p:cNvSpPr txBox="1"/>
          <p:nvPr/>
        </p:nvSpPr>
        <p:spPr>
          <a:xfrm>
            <a:off x="6217920" y="2331720"/>
            <a:ext cx="2286000" cy="329184"/>
          </a:xfrm>
          <a:prstGeom prst="rect">
            <a:avLst/>
          </a:prstGeom>
          <a:noFill/>
        </p:spPr>
        <p:txBody>
          <a:bodyPr wrap="square" lIns="0" rIns="0" tIns="0" bIns="0">
            <a:noAutofit/>
          </a:bodyPr>
          <a:lstStyle/>
          <a:p>
            <a:pPr>
              <a:lnSpc>
                <a:spcPct val="112000"/>
              </a:lnSpc>
              <a:spcBef>
                <a:spcPts val="0"/>
              </a:spcBef>
              <a:spcAft>
                <a:spcPts val="0"/>
              </a:spcAft>
            </a:pPr>
            <a:r>
              <a:rPr sz="1800" b="1" lang="fr-FR" cap="none">
                <a:solidFill>
                  <a:srgbClr val="EF4647"/>
                </a:solidFill>
                <a:latin typeface="Avenir Next LT Pro Light"/>
              </a:rPr>
              <a:t>+10 % par an</a:t>
            </a:r>
          </a:p>
        </p:txBody>
      </p:sp>
      <p:sp>
        <p:nvSpPr>
          <p:cNvPr id="33" name="Carte légende 3"/>
          <p:cNvSpPr txBox="1"/>
          <p:nvPr/>
        </p:nvSpPr>
        <p:spPr>
          <a:xfrm>
            <a:off x="6217920" y="2642615"/>
            <a:ext cx="2286000" cy="182880"/>
          </a:xfrm>
          <a:prstGeom prst="rect">
            <a:avLst/>
          </a:prstGeom>
          <a:noFill/>
        </p:spPr>
        <p:txBody>
          <a:bodyPr wrap="square" lIns="0" rIns="0" tIns="0" bIns="0">
            <a:noAutofit/>
          </a:bodyPr>
          <a:lstStyle/>
          <a:p>
            <a:pPr>
              <a:lnSpc>
                <a:spcPct val="112000"/>
              </a:lnSpc>
              <a:spcBef>
                <a:spcPts val="0"/>
              </a:spcBef>
              <a:spcAft>
                <a:spcPts val="0"/>
              </a:spcAft>
            </a:pPr>
            <a:r>
              <a:rPr sz="850" b="0" lang="fr-FR" cap="none">
                <a:solidFill>
                  <a:srgbClr val="808080"/>
                </a:solidFill>
                <a:latin typeface="Avenir Next LT Pro Light"/>
              </a:rPr>
              <a:t>de dépassements d’honoraires</a:t>
            </a:r>
          </a:p>
        </p:txBody>
      </p:sp>
      <p:sp>
        <p:nvSpPr>
          <p:cNvPr id="34" name="Carte verdict 3"/>
          <p:cNvSpPr txBox="1"/>
          <p:nvPr/>
        </p:nvSpPr>
        <p:spPr>
          <a:xfrm>
            <a:off x="6217920" y="2862072"/>
            <a:ext cx="2286000" cy="228600"/>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En hausse régulière.</a:t>
            </a:r>
          </a:p>
        </p:txBody>
      </p:sp>
      <p:sp>
        <p:nvSpPr>
          <p:cNvPr id="35" name="Règles titre"/>
          <p:cNvSpPr txBox="1"/>
          <p:nvPr/>
        </p:nvSpPr>
        <p:spPr>
          <a:xfrm>
            <a:off x="457200" y="3429000"/>
            <a:ext cx="4754880" cy="274320"/>
          </a:xfrm>
          <a:prstGeom prst="rect">
            <a:avLst/>
          </a:prstGeom>
          <a:noFill/>
        </p:spPr>
        <p:txBody>
          <a:bodyPr wrap="square" lIns="0" rIns="0" tIns="0" bIns="0">
            <a:noAutofit/>
          </a:bodyPr>
          <a:lstStyle/>
          <a:p>
            <a:pPr>
              <a:lnSpc>
                <a:spcPct val="112000"/>
              </a:lnSpc>
              <a:spcBef>
                <a:spcPts val="0"/>
              </a:spcBef>
              <a:spcAft>
                <a:spcPts val="0"/>
              </a:spcAft>
            </a:pPr>
            <a:r>
              <a:rPr sz="1150" b="1" lang="fr-FR" cap="none">
                <a:solidFill>
                  <a:srgbClr val="5B0C02"/>
                </a:solidFill>
                <a:latin typeface="Avenir Next LT Pro Light"/>
              </a:rPr>
              <a:t>Les règles qui ont changé</a:t>
            </a:r>
          </a:p>
        </p:txBody>
      </p:sp>
      <p:sp>
        <p:nvSpPr>
          <p:cNvPr id="963" name="Pourquoi eux"/>
          <p:cNvSpPr txBox="1"/>
          <p:nvPr/>
        </p:nvSpPr>
        <p:spPr>
          <a:xfrm>
            <a:off x="457200" y="5029200"/>
            <a:ext cx="4754880" cy="274320"/>
          </a:xfrm>
          <a:prstGeom prst="rect">
            <a:avLst/>
          </a:prstGeom>
          <a:noFill/>
        </p:spPr>
        <p:txBody>
          <a:bodyPr wrap="square" lIns="0" rIns="0" tIns="0" bIns="0">
            <a:noAutofit/>
          </a:bodyPr>
          <a:lstStyle/>
          <a:p>
            <a:pPr>
              <a:lnSpc>
                <a:spcPct val="112000"/>
              </a:lnSpc>
              <a:spcBef>
                <a:spcPts val="0"/>
              </a:spcBef>
              <a:spcAft>
                <a:spcPts val="0"/>
              </a:spcAft>
            </a:pPr>
            <a:r>
              <a:rPr sz="850" b="0" lang="fr-FR" cap="none">
                <a:solidFill>
                  <a:srgbClr val="808080"/>
                </a:solidFill>
                <a:latin typeface="Avenir Next LT Pro Light"/>
              </a:rPr>
              <a:t>Les autres postes de l’hospitalisation sont stables et pèsent peu, ou ne se lisent pas dans ces données.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adre chiffre"/>
          <p:cNvSpPr/>
          <p:nvPr/>
        </p:nvSpPr>
        <p:spPr>
          <a:xfrm>
            <a:off x="5468112" y="4032504"/>
            <a:ext cx="3236975" cy="448056"/>
          </a:xfrm>
          <a:prstGeom prst="rect">
            <a:avLst/>
          </a:prstGeom>
          <a:noFill/>
          <a:ln w="12700">
            <a:solidFill>
              <a:srgbClr val="5B0C02"/>
            </a:solidFill>
          </a:ln>
        </p:spPr>
        <p:txBody>
          <a:bodyPr rtlCol="0" anchor="ctr"/>
          <a:lstStyle/>
          <a:p>
            <a:pPr algn="ctr"/>
            <a:endParaRPr/>
          </a:p>
        </p:txBody>
      </p:sp>
      <p:sp>
        <p:nvSpPr>
          <p:cNvPr id="2" name="Title 1"/>
          <p:cNvSpPr>
            <a:spLocks noGrp="1"/>
          </p:cNvSpPr>
          <p:nvPr>
            <p:ph type="title"/>
          </p:nvPr>
        </p:nvSpPr>
        <p:spPr>
          <a:xfrm>
            <a:off x="466344" y="283464"/>
            <a:ext cx="6766560" cy="310896"/>
          </a:xfrm>
        </p:spPr>
        <p:txBody>
          <a:bodyPr/>
          <a:lstStyle/>
          <a:p>
            <a:r>
              <a:rPr>
                <a:solidFill>
                  <a:srgbClr val="EF4647"/>
                </a:solidFill>
              </a:rPr>
              <a:t>Séjours ordinaires : une hausse modérée</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Cliniques : frais de séjour de médecine, chirurgie et obstétrique</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60603">
                <a:tc>
                  <a:txBody>
                    <a:bodyPr/>
                    <a:lstStyle/>
                    <a:p>
                      <a:pPr algn="l">
                        <a:lnSpc>
                          <a:spcPct val="100000"/>
                        </a:lnSpc>
                        <a:spcBef>
                          <a:spcPts val="0"/>
                        </a:spcBef>
                        <a:spcAft>
                          <a:spcPts val="0"/>
                        </a:spcAft>
                      </a:pPr>
                      <a:r>
                        <a:rPr lang="fr-FR" sz="950" b="1">
                          <a:solidFill>
                            <a:srgbClr val="404040"/>
                          </a:solidFill>
                          <a:latin typeface="Avenir Next LT Pro Light"/>
                        </a:rPr>
                        <a:t>En M€ sauf parts</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2022</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2025*</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soins*</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8 155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8 833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9 067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8 792</a:t>
                      </a:r>
                    </a:p>
                  </a:txBody>
                  <a:tcPr marL="64008" marR="64008" marT="22860" marB="22860" anchor="ctr">
                    <a:solidFill>
                      <a:srgbClr val="FFFFFF"/>
                    </a:solidFill>
                  </a:tcPr>
                </a:tc>
                <a:extLst>
                  <a:ext uri="{0D108BD9-81ED-4DB2-BD59-A6C34878D82A}">
                    <a16:rowId xmlns:a16="http://schemas.microsoft.com/office/drawing/2014/main" val="10002"/>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7 823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8 488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8 714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8 463</a:t>
                      </a:r>
                    </a:p>
                  </a:txBody>
                  <a:tcPr marL="64008" marR="64008" marT="22860" marB="22860" anchor="ctr">
                    <a:solidFill>
                      <a:srgbClr val="FFFFFF"/>
                    </a:solidFill>
                  </a:tcPr>
                </a:tc>
                <a:extLst>
                  <a:ext uri="{0D108BD9-81ED-4DB2-BD59-A6C34878D82A}">
                    <a16:rowId xmlns:a16="http://schemas.microsoft.com/office/drawing/2014/main" val="10003"/>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333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345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353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330</a:t>
                      </a:r>
                    </a:p>
                  </a:txBody>
                  <a:tcPr marL="64008" marR="64008" marT="22860" marB="22860" anchor="ctr">
                    <a:solidFill>
                      <a:srgbClr val="FFFFFF"/>
                    </a:solidFill>
                  </a:tcPr>
                </a:tc>
                <a:extLst>
                  <a:ext uri="{0D108BD9-81ED-4DB2-BD59-A6C34878D82A}">
                    <a16:rowId xmlns:a16="http://schemas.microsoft.com/office/drawing/2014/main" val="10004"/>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95,9 %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96,3 %</a:t>
                      </a:r>
                    </a:p>
                  </a:txBody>
                  <a:tcPr marL="64008" marR="64008" marT="22860" marB="22860" anchor="ctr">
                    <a:solidFill>
                      <a:srgbClr val="FFFFFF"/>
                    </a:solidFill>
                  </a:tcPr>
                </a:tc>
                <a:extLst>
                  <a:ext uri="{0D108BD9-81ED-4DB2-BD59-A6C34878D82A}">
                    <a16:rowId xmlns:a16="http://schemas.microsoft.com/office/drawing/2014/main" val="10005"/>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6"/>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8 114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8 795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9 063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9 405</a:t>
                      </a:r>
                    </a:p>
                  </a:txBody>
                  <a:tcPr marL="64008" marR="64008" marT="22860" marB="22860" anchor="ctr">
                    <a:solidFill>
                      <a:srgbClr val="FFFFFF"/>
                    </a:solidFill>
                  </a:tcPr>
                </a:tc>
                <a:extLst>
                  <a:ext uri="{0D108BD9-81ED-4DB2-BD59-A6C34878D82A}">
                    <a16:rowId xmlns:a16="http://schemas.microsoft.com/office/drawing/2014/main" val="10007"/>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7 785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8 452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8 709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9 039</a:t>
                      </a:r>
                    </a:p>
                  </a:txBody>
                  <a:tcPr marL="64008" marR="64008" marT="22860" marB="22860" anchor="ctr">
                    <a:solidFill>
                      <a:srgbClr val="FFFFFF"/>
                    </a:solidFill>
                  </a:tcPr>
                </a:tc>
                <a:extLst>
                  <a:ext uri="{0D108BD9-81ED-4DB2-BD59-A6C34878D82A}">
                    <a16:rowId xmlns:a16="http://schemas.microsoft.com/office/drawing/2014/main" val="10008"/>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329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344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354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366</a:t>
                      </a:r>
                    </a:p>
                  </a:txBody>
                  <a:tcPr marL="64008" marR="64008" marT="22860" marB="22860" anchor="ctr">
                    <a:solidFill>
                      <a:srgbClr val="FFFFFF"/>
                    </a:solidFill>
                  </a:tcPr>
                </a:tc>
                <a:extLst>
                  <a:ext uri="{0D108BD9-81ED-4DB2-BD59-A6C34878D82A}">
                    <a16:rowId xmlns:a16="http://schemas.microsoft.com/office/drawing/2014/main" val="10009"/>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96,1 %</a:t>
                      </a:r>
                    </a:p>
                  </a:txBody>
                  <a:tcPr marL="64008" marR="64008" marT="22860" marB="22860" anchor="ctr">
                    <a:solidFill>
                      <a:srgbClr val="FFFFFF"/>
                    </a:solidFill>
                  </a:tcPr>
                </a:tc>
                <a:extLst>
                  <a:ext uri="{0D108BD9-81ED-4DB2-BD59-A6C34878D82A}">
                    <a16:rowId xmlns:a16="http://schemas.microsoft.com/office/drawing/2014/main" val="10010"/>
                  </a:ext>
                </a:extLst>
              </a:tr>
            </a:tbl>
          </a:graphicData>
        </a:graphic>
      </p:graphicFrame>
      <p:sp>
        <p:nvSpPr>
          <p:cNvPr id="5" name="TextBox 4"/>
          <p:cNvSpPr txBox="1"/>
          <p:nvPr/>
        </p:nvSpPr>
        <p:spPr>
          <a:xfrm>
            <a:off x="5468112" y="1124712"/>
            <a:ext cx="3218688"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Reste après AMO, en M€</a:t>
            </a:r>
          </a:p>
        </p:txBody>
      </p:sp>
      <p:graphicFrame>
        <p:nvGraphicFramePr>
          <p:cNvPr id="6" name="Chart 5"/>
          <p:cNvGraphicFramePr>
            <a:graphicFrameLocks noGrp="1"/>
          </p:cNvGraphicFramePr>
          <p:nvPr>
            <p:extLst>
              <p:ext uri="{D42A27DB-BD31-4B8C-83A1-F6EECF244321}">
                <p14:modId xmlns:p14="http://schemas.microsoft.com/office/powerpoint/2010/main" val="2974560922"/>
              </p:ext>
            </p:extLst>
          </p:nvPr>
        </p:nvGraphicFramePr>
        <p:xfrm>
          <a:off x="5394960" y="1545336"/>
          <a:ext cx="3310128" cy="2432304"/>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5559552" y="4087368"/>
            <a:ext cx="1143000" cy="274320"/>
          </a:xfrm>
          <a:prstGeom prst="rect">
            <a:avLst/>
          </a:prstGeom>
          <a:noFill/>
        </p:spPr>
        <p:txBody>
          <a:bodyPr wrap="square" lIns="0" tIns="0" rIns="0" bIns="0">
            <a:noAutofit/>
          </a:bodyPr>
          <a:lstStyle/>
          <a:p>
            <a:pPr>
              <a:lnSpc>
                <a:spcPct val="112000"/>
              </a:lnSpc>
              <a:spcBef>
                <a:spcPts val="0"/>
              </a:spcBef>
              <a:spcAft>
                <a:spcPts val="0"/>
              </a:spcAft>
            </a:pPr>
            <a:r>
              <a:rPr lang="fr-FR" sz="1600" b="0" cap="none">
                <a:solidFill>
                  <a:srgbClr val="EF4647"/>
                </a:solidFill>
                <a:latin typeface="Montserrat"/>
              </a:rPr>
              <a:t>+2,4 %</a:t>
            </a:r>
          </a:p>
        </p:txBody>
      </p:sp>
      <p:sp>
        <p:nvSpPr>
          <p:cNvPr id="8" name="TextBox 7"/>
          <p:cNvSpPr txBox="1"/>
          <p:nvPr/>
        </p:nvSpPr>
        <p:spPr>
          <a:xfrm>
            <a:off x="6729984" y="4069080"/>
            <a:ext cx="1920240" cy="384048"/>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404040"/>
                </a:solidFill>
                <a:latin typeface="Avenir Next LT Pro Light"/>
              </a:rPr>
              <a:t>Hausse du reste après AMO entre 2023 et 2024, en année de soins</a:t>
            </a:r>
          </a:p>
        </p:txBody>
      </p:sp>
      <p:sp>
        <p:nvSpPr>
          <p:cNvPr id="9" name="TextBox 8"/>
          <p:cNvSpPr txBox="1"/>
          <p:nvPr/>
        </p:nvSpPr>
        <p:spPr>
          <a:xfrm>
            <a:off x="457200" y="4572000"/>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En 2024 : volume +2,0 %, dépense moyenne +0,6 %. Pas de bosse de règlement en 2025.</a:t>
            </a:r>
          </a:p>
        </p:txBody>
      </p:sp>
      <p:sp>
        <p:nvSpPr>
          <p:cNvPr id="10" name="TextBox 9"/>
          <p:cNvSpPr txBox="1"/>
          <p:nvPr/>
        </p:nvSpPr>
        <p:spPr>
          <a:xfrm>
            <a:off x="457200" y="4864608"/>
            <a:ext cx="8229600" cy="256032"/>
          </a:xfrm>
          <a:prstGeom prst="rect">
            <a:avLst/>
          </a:prstGeom>
          <a:noFill/>
        </p:spPr>
        <p:txBody>
          <a:bodyPr wrap="square" lIns="0" tIns="0" rIns="0" bIns="0">
            <a:noAutofit/>
          </a:bodyPr>
          <a:lstStyle/>
          <a:p>
            <a:pPr>
              <a:lnSpc>
                <a:spcPct val="112000"/>
              </a:lnSpc>
              <a:spcBef>
                <a:spcPts val="0"/>
              </a:spcBef>
              <a:spcAft>
                <a:spcPts val="0"/>
              </a:spcAft>
            </a:pPr>
            <a:r>
              <a:rPr lang="fr-FR" sz="950" b="1" cap="none" dirty="0">
                <a:solidFill>
                  <a:srgbClr val="5B0C02"/>
                </a:solidFill>
                <a:latin typeface="Avenir Next LT Pro Light"/>
              </a:rPr>
              <a:t>Ce que ce graphique ne montre pas</a:t>
            </a:r>
          </a:p>
        </p:txBody>
      </p:sp>
      <p:sp>
        <p:nvSpPr>
          <p:cNvPr id="11" name="TextBox 10"/>
          <p:cNvSpPr txBox="1"/>
          <p:nvPr/>
        </p:nvSpPr>
        <p:spPr>
          <a:xfrm>
            <a:off x="457200" y="5074920"/>
            <a:ext cx="8229600" cy="301752"/>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 2025 en année de soins : observée, liquidée à environ 90 %. Sur les séjours, le reste après AMO est le ticket modérateur. Ce poste ne couvre pas la rééducation, la dialyse ni l’hospitalisation à domicile.</a:t>
            </a:r>
          </a:p>
        </p:txBody>
      </p:sp>
      <p:sp>
        <p:nvSpPr>
          <p:cNvPr id="12" name="TextBox 11"/>
          <p:cNvSpPr txBox="1"/>
          <p:nvPr/>
        </p:nvSpPr>
        <p:spPr>
          <a:xfrm>
            <a:off x="457200" y="5431536"/>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adre chiffre"/>
          <p:cNvSpPr/>
          <p:nvPr/>
        </p:nvSpPr>
        <p:spPr>
          <a:xfrm>
            <a:off x="5468112" y="4032504"/>
            <a:ext cx="3236975" cy="448056"/>
          </a:xfrm>
          <a:prstGeom prst="rect">
            <a:avLst/>
          </a:prstGeom>
          <a:noFill/>
          <a:ln w="12700">
            <a:solidFill>
              <a:srgbClr val="5B0C02"/>
            </a:solidFill>
          </a:ln>
        </p:spPr>
        <p:txBody>
          <a:bodyPr rtlCol="0" anchor="ctr"/>
          <a:lstStyle/>
          <a:p>
            <a:pPr algn="ctr"/>
            <a:endParaRPr/>
          </a:p>
        </p:txBody>
      </p:sp>
      <p:sp>
        <p:nvSpPr>
          <p:cNvPr id="2" name="Title 1"/>
          <p:cNvSpPr>
            <a:spLocks noGrp="1"/>
          </p:cNvSpPr>
          <p:nvPr>
            <p:ph type="title"/>
          </p:nvPr>
        </p:nvSpPr>
        <p:spPr>
          <a:xfrm>
            <a:off x="466344" y="283464"/>
            <a:ext cx="6766560" cy="310896"/>
          </a:xfrm>
        </p:spPr>
        <p:txBody>
          <a:bodyPr/>
          <a:lstStyle/>
          <a:p>
            <a:r>
              <a:rPr>
                <a:solidFill>
                  <a:srgbClr val="EF4647"/>
                </a:solidFill>
              </a:rPr>
              <a:t>Rééducation : hausse et rattrapage</a:t>
            </a:r>
          </a:p>
        </p:txBody>
      </p:sp>
      <p:sp>
        <p:nvSpPr>
          <p:cNvPr id="3" name="Text Placeholder 2"/>
          <p:cNvSpPr>
            <a:spLocks noGrp="1"/>
          </p:cNvSpPr>
          <p:nvPr>
            <p:ph type="body" sz="quarter" idx="13"/>
          </p:nvPr>
        </p:nvSpPr>
        <p:spPr>
          <a:xfrm>
            <a:off x="466344" y="612648"/>
            <a:ext cx="6766560" cy="292608"/>
          </a:xfrm>
        </p:spPr>
        <p:txBody>
          <a:bodyPr/>
          <a:lstStyle/>
          <a:p>
            <a:r>
              <a:t>SSR/SMR : changement de financement au 1er janvier 2024</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60603">
                <a:tc>
                  <a:txBody>
                    <a:bodyPr/>
                    <a:lstStyle/>
                    <a:p>
                      <a:pPr algn="l">
                        <a:lnSpc>
                          <a:spcPct val="100000"/>
                        </a:lnSpc>
                        <a:spcBef>
                          <a:spcPts val="0"/>
                        </a:spcBef>
                        <a:spcAft>
                          <a:spcPts val="0"/>
                        </a:spcAft>
                      </a:pPr>
                      <a:r>
                        <a:rPr lang="fr-FR" sz="950" b="1">
                          <a:solidFill>
                            <a:srgbClr val="404040"/>
                          </a:solidFill>
                          <a:latin typeface="Avenir Next LT Pro Light"/>
                        </a:rPr>
                        <a:t>En M€ sauf parts</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2022</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2025*</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soins*</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3 517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3 665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4 144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4 315</a:t>
                      </a:r>
                    </a:p>
                  </a:txBody>
                  <a:tcPr marL="64008" marR="64008" marT="22860" marB="22860" anchor="ctr">
                    <a:solidFill>
                      <a:srgbClr val="FFFFFF"/>
                    </a:solidFill>
                  </a:tcPr>
                </a:tc>
                <a:extLst>
                  <a:ext uri="{0D108BD9-81ED-4DB2-BD59-A6C34878D82A}">
                    <a16:rowId xmlns:a16="http://schemas.microsoft.com/office/drawing/2014/main" val="10002"/>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2 994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3 118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3 552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3 682</a:t>
                      </a:r>
                    </a:p>
                  </a:txBody>
                  <a:tcPr marL="64008" marR="64008" marT="22860" marB="22860" anchor="ctr">
                    <a:solidFill>
                      <a:srgbClr val="FFFFFF"/>
                    </a:solidFill>
                  </a:tcPr>
                </a:tc>
                <a:extLst>
                  <a:ext uri="{0D108BD9-81ED-4DB2-BD59-A6C34878D82A}">
                    <a16:rowId xmlns:a16="http://schemas.microsoft.com/office/drawing/2014/main" val="10003"/>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523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546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593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633</a:t>
                      </a:r>
                    </a:p>
                  </a:txBody>
                  <a:tcPr marL="64008" marR="64008" marT="22860" marB="22860" anchor="ctr">
                    <a:solidFill>
                      <a:srgbClr val="FFFFFF"/>
                    </a:solidFill>
                  </a:tcPr>
                </a:tc>
                <a:extLst>
                  <a:ext uri="{0D108BD9-81ED-4DB2-BD59-A6C34878D82A}">
                    <a16:rowId xmlns:a16="http://schemas.microsoft.com/office/drawing/2014/main" val="10004"/>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85,7 %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85,3 %</a:t>
                      </a:r>
                    </a:p>
                  </a:txBody>
                  <a:tcPr marL="64008" marR="64008" marT="22860" marB="22860" anchor="ctr">
                    <a:solidFill>
                      <a:srgbClr val="FFFFFF"/>
                    </a:solidFill>
                  </a:tcPr>
                </a:tc>
                <a:extLst>
                  <a:ext uri="{0D108BD9-81ED-4DB2-BD59-A6C34878D82A}">
                    <a16:rowId xmlns:a16="http://schemas.microsoft.com/office/drawing/2014/main" val="10005"/>
                  </a:ext>
                </a:extLst>
              </a:tr>
              <a:tr h="260603">
                <a:tc gridSpan="5">
                  <a:txBody>
                    <a:bodyPr/>
                    <a:lstStyle/>
                    <a:p>
                      <a:pPr algn="l">
                        <a:lnSpc>
                          <a:spcPct val="100000"/>
                        </a:lnSpc>
                        <a:spcBef>
                          <a:spcPts val="0"/>
                        </a:spcBef>
                        <a:spcAft>
                          <a:spcPts val="0"/>
                        </a:spcAft>
                      </a:pPr>
                      <a:r>
                        <a:rPr lang="fr-FR" sz="950" b="1">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6"/>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3 516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3 676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3 893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4 953</a:t>
                      </a:r>
                    </a:p>
                  </a:txBody>
                  <a:tcPr marL="64008" marR="64008" marT="22860" marB="22860" anchor="ctr">
                    <a:solidFill>
                      <a:srgbClr val="FFFFFF"/>
                    </a:solidFill>
                  </a:tcPr>
                </a:tc>
                <a:extLst>
                  <a:ext uri="{0D108BD9-81ED-4DB2-BD59-A6C34878D82A}">
                    <a16:rowId xmlns:a16="http://schemas.microsoft.com/office/drawing/2014/main" val="10007"/>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2 991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3 124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3 351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4 232</a:t>
                      </a:r>
                    </a:p>
                  </a:txBody>
                  <a:tcPr marL="64008" marR="64008" marT="22860" marB="22860" anchor="ctr">
                    <a:solidFill>
                      <a:srgbClr val="FFFFFF"/>
                    </a:solidFill>
                  </a:tcPr>
                </a:tc>
                <a:extLst>
                  <a:ext uri="{0D108BD9-81ED-4DB2-BD59-A6C34878D82A}">
                    <a16:rowId xmlns:a16="http://schemas.microsoft.com/office/drawing/2014/main" val="10008"/>
                  </a:ext>
                </a:extLst>
              </a:tr>
              <a:tr h="260603">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525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552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541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721</a:t>
                      </a:r>
                    </a:p>
                  </a:txBody>
                  <a:tcPr marL="64008" marR="64008" marT="22860" marB="22860" anchor="ctr">
                    <a:solidFill>
                      <a:srgbClr val="FFFFFF"/>
                    </a:solidFill>
                  </a:tcPr>
                </a:tc>
                <a:extLst>
                  <a:ext uri="{0D108BD9-81ED-4DB2-BD59-A6C34878D82A}">
                    <a16:rowId xmlns:a16="http://schemas.microsoft.com/office/drawing/2014/main" val="10009"/>
                  </a:ext>
                </a:extLst>
              </a:tr>
              <a:tr h="260603">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86,1 %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85,4 %</a:t>
                      </a:r>
                    </a:p>
                  </a:txBody>
                  <a:tcPr marL="64008" marR="64008" marT="22860" marB="22860" anchor="ctr">
                    <a:solidFill>
                      <a:srgbClr val="FFFFFF"/>
                    </a:solidFill>
                  </a:tcPr>
                </a:tc>
                <a:extLst>
                  <a:ext uri="{0D108BD9-81ED-4DB2-BD59-A6C34878D82A}">
                    <a16:rowId xmlns:a16="http://schemas.microsoft.com/office/drawing/2014/main" val="10010"/>
                  </a:ext>
                </a:extLst>
              </a:tr>
            </a:tbl>
          </a:graphicData>
        </a:graphic>
      </p:graphicFrame>
      <p:sp>
        <p:nvSpPr>
          <p:cNvPr id="5" name="TextBox 4"/>
          <p:cNvSpPr txBox="1"/>
          <p:nvPr/>
        </p:nvSpPr>
        <p:spPr>
          <a:xfrm>
            <a:off x="5468112" y="1124712"/>
            <a:ext cx="3218688"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Reste après AMO, en M€</a:t>
            </a:r>
          </a:p>
        </p:txBody>
      </p:sp>
      <p:graphicFrame>
        <p:nvGraphicFramePr>
          <p:cNvPr id="6" name="Chart 5"/>
          <p:cNvGraphicFramePr>
            <a:graphicFrameLocks noGrp="1"/>
          </p:cNvGraphicFramePr>
          <p:nvPr/>
        </p:nvGraphicFramePr>
        <p:xfrm>
          <a:off x="5394960" y="1545336"/>
          <a:ext cx="3310128" cy="2432304"/>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5559552" y="4087368"/>
            <a:ext cx="1143000" cy="274320"/>
          </a:xfrm>
          <a:prstGeom prst="rect">
            <a:avLst/>
          </a:prstGeom>
          <a:noFill/>
        </p:spPr>
        <p:txBody>
          <a:bodyPr wrap="square" lIns="0" tIns="0" rIns="0" bIns="0">
            <a:noAutofit/>
          </a:bodyPr>
          <a:lstStyle/>
          <a:p>
            <a:pPr>
              <a:lnSpc>
                <a:spcPct val="112000"/>
              </a:lnSpc>
              <a:spcBef>
                <a:spcPts val="0"/>
              </a:spcBef>
              <a:spcAft>
                <a:spcPts val="0"/>
              </a:spcAft>
            </a:pPr>
            <a:r>
              <a:rPr lang="fr-FR" sz="1600" b="0" cap="none">
                <a:solidFill>
                  <a:srgbClr val="EF4647"/>
                </a:solidFill>
                <a:latin typeface="Montserrat"/>
              </a:rPr>
              <a:t>+33,2 %</a:t>
            </a:r>
          </a:p>
        </p:txBody>
      </p:sp>
      <p:sp>
        <p:nvSpPr>
          <p:cNvPr id="8" name="TextBox 7"/>
          <p:cNvSpPr txBox="1"/>
          <p:nvPr/>
        </p:nvSpPr>
        <p:spPr>
          <a:xfrm>
            <a:off x="6729984" y="4069080"/>
            <a:ext cx="1920240" cy="384048"/>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404040"/>
                </a:solidFill>
                <a:latin typeface="Avenir Next LT Pro Light"/>
              </a:rPr>
              <a:t>Hausse du reste après AMO entre 2024 et 2025, en date de paiement</a:t>
            </a:r>
          </a:p>
        </p:txBody>
      </p:sp>
      <p:sp>
        <p:nvSpPr>
          <p:cNvPr id="9" name="TextBox 8"/>
          <p:cNvSpPr txBox="1"/>
          <p:nvPr/>
        </p:nvSpPr>
        <p:spPr>
          <a:xfrm>
            <a:off x="457200" y="4553712"/>
            <a:ext cx="8229600" cy="384048"/>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En année de soins, le reste après AMO augmente de 8,5 % en 2024. En date de paiement, 2025 fait +33 % parce que les factures 2024, retardées par la réforme, s’y ajoutent.</a:t>
            </a:r>
          </a:p>
        </p:txBody>
      </p:sp>
      <p:sp>
        <p:nvSpPr>
          <p:cNvPr id="10" name="TextBox 9"/>
          <p:cNvSpPr txBox="1"/>
          <p:nvPr/>
        </p:nvSpPr>
        <p:spPr>
          <a:xfrm>
            <a:off x="457200" y="4956048"/>
            <a:ext cx="8229600" cy="182880"/>
          </a:xfrm>
          <a:prstGeom prst="rect">
            <a:avLst/>
          </a:prstGeom>
          <a:noFill/>
        </p:spPr>
        <p:txBody>
          <a:bodyPr wrap="square" lIns="0" tIns="0" rIns="0" bIns="0">
            <a:noAutofit/>
          </a:bodyPr>
          <a:lstStyle/>
          <a:p>
            <a:pPr>
              <a:lnSpc>
                <a:spcPct val="112000"/>
              </a:lnSpc>
              <a:spcBef>
                <a:spcPts val="0"/>
              </a:spcBef>
              <a:spcAft>
                <a:spcPts val="0"/>
              </a:spcAft>
            </a:pPr>
            <a:r>
              <a:rPr lang="fr-FR" sz="950" b="1" cap="none">
                <a:solidFill>
                  <a:srgbClr val="5B0C02"/>
                </a:solidFill>
                <a:latin typeface="Avenir Next LT Pro Light"/>
              </a:rPr>
              <a:t>Ce que ce graphique ne montre pas</a:t>
            </a:r>
          </a:p>
        </p:txBody>
      </p:sp>
      <p:sp>
        <p:nvSpPr>
          <p:cNvPr id="11" name="TextBox 10"/>
          <p:cNvSpPr txBox="1"/>
          <p:nvPr/>
        </p:nvSpPr>
        <p:spPr>
          <a:xfrm>
            <a:off x="457200" y="5166360"/>
            <a:ext cx="8229600" cy="274320"/>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Niveaux de dépense 2023 et 2024 non comparables (réforme). * 2025 observée, liquidée à environ 90 %, non redressée. À maturité, reste après AMO de +20 à +27 % en 2025.</a:t>
            </a:r>
          </a:p>
        </p:txBody>
      </p:sp>
      <p:sp>
        <p:nvSpPr>
          <p:cNvPr id="12" name="TextBox 11"/>
          <p:cNvSpPr txBox="1"/>
          <p:nvPr/>
        </p:nvSpPr>
        <p:spPr>
          <a:xfrm>
            <a:off x="457200" y="5458968"/>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r>
              <a:rPr>
                <a:solidFill>
                  <a:srgbClr val="EF4647"/>
                </a:solidFill>
              </a:rPr>
              <a:t>Rééducation : un déplacement vers les moins de 60 ans</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Reste après AMO par tranche d’âge, en année de soins (2025 observée, non liquidée)</a:t>
            </a:r>
          </a:p>
        </p:txBody>
      </p:sp>
      <p:sp>
        <p:nvSpPr>
          <p:cNvPr id="4" name="TextBox 3"/>
          <p:cNvSpPr txBox="1"/>
          <p:nvPr/>
        </p:nvSpPr>
        <p:spPr>
          <a:xfrm>
            <a:off x="457200" y="1106424"/>
            <a:ext cx="5669280"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Reste après AMO, en M€</a:t>
            </a:r>
          </a:p>
        </p:txBody>
      </p:sp>
      <p:graphicFrame>
        <p:nvGraphicFramePr>
          <p:cNvPr id="5" name="Chart 4"/>
          <p:cNvGraphicFramePr>
            <a:graphicFrameLocks noGrp="1"/>
          </p:cNvGraphicFramePr>
          <p:nvPr/>
        </p:nvGraphicFramePr>
        <p:xfrm>
          <a:off x="384048" y="1517904"/>
          <a:ext cx="5806440" cy="23774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6455664" y="1764792"/>
            <a:ext cx="2231136" cy="448056"/>
          </a:xfrm>
          <a:prstGeom prst="rect">
            <a:avLst/>
          </a:prstGeom>
          <a:noFill/>
        </p:spPr>
        <p:txBody>
          <a:bodyPr wrap="square" lIns="0" tIns="0" rIns="0" bIns="0">
            <a:noAutofit/>
          </a:bodyPr>
          <a:lstStyle/>
          <a:p>
            <a:pPr>
              <a:lnSpc>
                <a:spcPct val="112000"/>
              </a:lnSpc>
              <a:spcBef>
                <a:spcPts val="0"/>
              </a:spcBef>
              <a:spcAft>
                <a:spcPts val="0"/>
              </a:spcAft>
            </a:pPr>
            <a:r>
              <a:rPr lang="fr-FR" sz="2200" b="0" cap="none">
                <a:solidFill>
                  <a:srgbClr val="EF4647"/>
                </a:solidFill>
                <a:latin typeface="Montserrat"/>
              </a:rPr>
              <a:t>×2,0 à ×3,8</a:t>
            </a:r>
          </a:p>
        </p:txBody>
      </p:sp>
      <p:sp>
        <p:nvSpPr>
          <p:cNvPr id="7" name="TextBox 6"/>
          <p:cNvSpPr txBox="1"/>
          <p:nvPr/>
        </p:nvSpPr>
        <p:spPr>
          <a:xfrm>
            <a:off x="6455664" y="2276856"/>
            <a:ext cx="2231136" cy="493776"/>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chez les 0–49 ans</a:t>
            </a:r>
          </a:p>
          <a:p>
            <a:pPr>
              <a:lnSpc>
                <a:spcPct val="112000"/>
              </a:lnSpc>
              <a:spcBef>
                <a:spcPts val="0"/>
              </a:spcBef>
              <a:spcAft>
                <a:spcPts val="0"/>
              </a:spcAft>
            </a:pPr>
            <a:r>
              <a:rPr lang="fr-FR" sz="1100" b="0" cap="none">
                <a:solidFill>
                  <a:srgbClr val="404040"/>
                </a:solidFill>
                <a:latin typeface="Avenir Next LT Pro Light"/>
              </a:rPr>
              <a:t>entre 2023 et 2024</a:t>
            </a:r>
          </a:p>
        </p:txBody>
      </p:sp>
      <p:sp>
        <p:nvSpPr>
          <p:cNvPr id="8" name="TextBox 7"/>
          <p:cNvSpPr txBox="1"/>
          <p:nvPr/>
        </p:nvSpPr>
        <p:spPr>
          <a:xfrm>
            <a:off x="6455664" y="2916936"/>
            <a:ext cx="2231136" cy="420624"/>
          </a:xfrm>
          <a:prstGeom prst="rect">
            <a:avLst/>
          </a:prstGeom>
          <a:noFill/>
        </p:spPr>
        <p:txBody>
          <a:bodyPr wrap="square" lIns="0" tIns="0" rIns="0" bIns="0">
            <a:noAutofit/>
          </a:bodyPr>
          <a:lstStyle/>
          <a:p>
            <a:pPr>
              <a:lnSpc>
                <a:spcPct val="112000"/>
              </a:lnSpc>
              <a:spcBef>
                <a:spcPts val="0"/>
              </a:spcBef>
              <a:spcAft>
                <a:spcPts val="0"/>
              </a:spcAft>
            </a:pPr>
            <a:r>
              <a:rPr lang="fr-FR" sz="2200" b="0" cap="none">
                <a:solidFill>
                  <a:srgbClr val="5B0C02"/>
                </a:solidFill>
                <a:latin typeface="Montserrat"/>
              </a:rPr>
              <a:t>−31 %</a:t>
            </a:r>
          </a:p>
        </p:txBody>
      </p:sp>
      <p:sp>
        <p:nvSpPr>
          <p:cNvPr id="9" name="TextBox 8"/>
          <p:cNvSpPr txBox="1"/>
          <p:nvPr/>
        </p:nvSpPr>
        <p:spPr>
          <a:xfrm>
            <a:off x="6455664" y="3401568"/>
            <a:ext cx="2231136" cy="384048"/>
          </a:xfrm>
          <a:prstGeom prst="rect">
            <a:avLst/>
          </a:prstGeom>
          <a:noFill/>
        </p:spPr>
        <p:txBody>
          <a:bodyPr wrap="square" lIns="0" tIns="0" rIns="0" bIns="0">
            <a:noAutofit/>
          </a:bodyPr>
          <a:lstStyle/>
          <a:p>
            <a:pPr>
              <a:lnSpc>
                <a:spcPct val="112000"/>
              </a:lnSpc>
              <a:spcBef>
                <a:spcPts val="0"/>
              </a:spcBef>
              <a:spcAft>
                <a:spcPts val="0"/>
              </a:spcAft>
            </a:pPr>
            <a:r>
              <a:rPr lang="fr-FR" sz="1100" b="0" cap="none">
                <a:solidFill>
                  <a:srgbClr val="404040"/>
                </a:solidFill>
                <a:latin typeface="Avenir Next LT Pro Light"/>
              </a:rPr>
              <a:t>chez les 80 ans et plus</a:t>
            </a:r>
          </a:p>
        </p:txBody>
      </p:sp>
      <p:graphicFrame>
        <p:nvGraphicFramePr>
          <p:cNvPr id="10" name="Table 9"/>
          <p:cNvGraphicFramePr>
            <a:graphicFrameLocks noGrp="1"/>
          </p:cNvGraphicFramePr>
          <p:nvPr/>
        </p:nvGraphicFramePr>
        <p:xfrm>
          <a:off x="457200" y="4005072"/>
          <a:ext cx="8229600" cy="950976"/>
        </p:xfrm>
        <a:graphic>
          <a:graphicData uri="http://schemas.openxmlformats.org/drawingml/2006/table">
            <a:tbl>
              <a:tblPr>
                <a:tableStyleId>{5C22544A-7EE6-4342-B048-85BDC9FD1C3A}</a:tableStyleId>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gridCol w="914400">
                  <a:extLst>
                    <a:ext uri="{9D8B030D-6E8A-4147-A177-3AD203B41FA5}">
                      <a16:colId xmlns:a16="http://schemas.microsoft.com/office/drawing/2014/main" val="20006"/>
                    </a:ext>
                  </a:extLst>
                </a:gridCol>
                <a:gridCol w="914400">
                  <a:extLst>
                    <a:ext uri="{9D8B030D-6E8A-4147-A177-3AD203B41FA5}">
                      <a16:colId xmlns:a16="http://schemas.microsoft.com/office/drawing/2014/main" val="20007"/>
                    </a:ext>
                  </a:extLst>
                </a:gridCol>
                <a:gridCol w="914400">
                  <a:extLst>
                    <a:ext uri="{9D8B030D-6E8A-4147-A177-3AD203B41FA5}">
                      <a16:colId xmlns:a16="http://schemas.microsoft.com/office/drawing/2014/main" val="20008"/>
                    </a:ext>
                  </a:extLst>
                </a:gridCol>
              </a:tblGrid>
              <a:tr h="237744">
                <a:tc>
                  <a:txBody>
                    <a:bodyPr/>
                    <a:lstStyle/>
                    <a:p>
                      <a:pPr algn="l">
                        <a:lnSpc>
                          <a:spcPct val="100000"/>
                        </a:lnSpc>
                        <a:spcBef>
                          <a:spcPts val="0"/>
                        </a:spcBef>
                        <a:spcAft>
                          <a:spcPts val="0"/>
                        </a:spcAft>
                      </a:pPr>
                      <a:r>
                        <a:rPr lang="fr-FR" sz="900" b="1">
                          <a:solidFill>
                            <a:srgbClr val="404040"/>
                          </a:solidFill>
                          <a:latin typeface="Avenir Next LT Pro Light"/>
                        </a:rPr>
                        <a:t>En M€</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0–19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20–29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30–39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40–49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50–59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60–69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70–79</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00" b="1">
                          <a:solidFill>
                            <a:srgbClr val="404040"/>
                          </a:solidFill>
                          <a:latin typeface="Avenir Next LT Pro Light"/>
                        </a:rPr>
                        <a:t>80 +</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37744">
                <a:tc>
                  <a:txBody>
                    <a:bodyPr/>
                    <a:lstStyle/>
                    <a:p>
                      <a:pPr algn="l">
                        <a:lnSpc>
                          <a:spcPct val="100000"/>
                        </a:lnSpc>
                        <a:spcBef>
                          <a:spcPts val="0"/>
                        </a:spcBef>
                        <a:spcAft>
                          <a:spcPts val="0"/>
                        </a:spcAft>
                      </a:pPr>
                      <a:r>
                        <a:rPr lang="fr-FR" sz="900" b="0">
                          <a:solidFill>
                            <a:srgbClr val="404040"/>
                          </a:solidFill>
                          <a:latin typeface="Avenir Next LT Pro Light"/>
                        </a:rPr>
                        <a:t>2023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8,2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13,7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15,9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29,6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59,4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92,1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141,0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186,2</a:t>
                      </a:r>
                    </a:p>
                  </a:txBody>
                  <a:tcPr marL="64008" marR="64008" marT="22860" marB="22860" anchor="ctr">
                    <a:solidFill>
                      <a:srgbClr val="FFFFFF"/>
                    </a:solidFill>
                  </a:tcPr>
                </a:tc>
                <a:extLst>
                  <a:ext uri="{0D108BD9-81ED-4DB2-BD59-A6C34878D82A}">
                    <a16:rowId xmlns:a16="http://schemas.microsoft.com/office/drawing/2014/main" val="10001"/>
                  </a:ext>
                </a:extLst>
              </a:tr>
              <a:tr h="237744">
                <a:tc>
                  <a:txBody>
                    <a:bodyPr/>
                    <a:lstStyle/>
                    <a:p>
                      <a:pPr algn="l">
                        <a:lnSpc>
                          <a:spcPct val="100000"/>
                        </a:lnSpc>
                        <a:spcBef>
                          <a:spcPts val="0"/>
                        </a:spcBef>
                        <a:spcAft>
                          <a:spcPts val="0"/>
                        </a:spcAft>
                      </a:pPr>
                      <a:r>
                        <a:rPr lang="fr-FR" sz="900" b="0">
                          <a:solidFill>
                            <a:srgbClr val="404040"/>
                          </a:solidFill>
                          <a:latin typeface="Avenir Next LT Pro Light"/>
                        </a:rPr>
                        <a:t>2024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31,3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30,6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48,2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58,1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78,0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94,2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124,6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127,9</a:t>
                      </a:r>
                    </a:p>
                  </a:txBody>
                  <a:tcPr marL="64008" marR="64008" marT="22860" marB="22860" anchor="ctr">
                    <a:solidFill>
                      <a:srgbClr val="FFFFFF"/>
                    </a:solidFill>
                  </a:tcPr>
                </a:tc>
                <a:extLst>
                  <a:ext uri="{0D108BD9-81ED-4DB2-BD59-A6C34878D82A}">
                    <a16:rowId xmlns:a16="http://schemas.microsoft.com/office/drawing/2014/main" val="10002"/>
                  </a:ext>
                </a:extLst>
              </a:tr>
              <a:tr h="237744">
                <a:tc>
                  <a:txBody>
                    <a:bodyPr/>
                    <a:lstStyle/>
                    <a:p>
                      <a:pPr algn="l">
                        <a:lnSpc>
                          <a:spcPct val="100000"/>
                        </a:lnSpc>
                        <a:spcBef>
                          <a:spcPts val="0"/>
                        </a:spcBef>
                        <a:spcAft>
                          <a:spcPts val="0"/>
                        </a:spcAft>
                      </a:pPr>
                      <a:r>
                        <a:rPr lang="fr-FR" sz="900" b="0">
                          <a:solidFill>
                            <a:srgbClr val="404040"/>
                          </a:solidFill>
                          <a:latin typeface="Avenir Next LT Pro Light"/>
                        </a:rPr>
                        <a:t>2025*</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38,4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35,4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58,4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67,8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88,0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102,0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128,3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00" b="0">
                          <a:solidFill>
                            <a:srgbClr val="404040"/>
                          </a:solidFill>
                          <a:latin typeface="Avenir Next LT Pro Light"/>
                        </a:rPr>
                        <a:t>114,6</a:t>
                      </a:r>
                    </a:p>
                  </a:txBody>
                  <a:tcPr marL="64008" marR="64008" marT="22860" marB="22860" anchor="ctr">
                    <a:solidFill>
                      <a:srgbClr val="FFFFFF"/>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457200" y="5029200"/>
            <a:ext cx="8229600" cy="182880"/>
          </a:xfrm>
          <a:prstGeom prst="rect">
            <a:avLst/>
          </a:prstGeom>
          <a:noFill/>
        </p:spPr>
        <p:txBody>
          <a:bodyPr wrap="square" lIns="0" tIns="0" rIns="0" bIns="0">
            <a:noAutofit/>
          </a:bodyPr>
          <a:lstStyle/>
          <a:p>
            <a:pPr>
              <a:lnSpc>
                <a:spcPct val="112000"/>
              </a:lnSpc>
              <a:spcBef>
                <a:spcPts val="0"/>
              </a:spcBef>
              <a:spcAft>
                <a:spcPts val="0"/>
              </a:spcAft>
            </a:pPr>
            <a:r>
              <a:rPr lang="fr-FR" sz="950" b="1" cap="none">
                <a:solidFill>
                  <a:srgbClr val="5B0C02"/>
                </a:solidFill>
                <a:latin typeface="Avenir Next LT Pro Light"/>
              </a:rPr>
              <a:t>Ce que ce graphique ne montre pas</a:t>
            </a:r>
          </a:p>
        </p:txBody>
      </p:sp>
      <p:sp>
        <p:nvSpPr>
          <p:cNvPr id="12" name="TextBox 11"/>
          <p:cNvSpPr txBox="1"/>
          <p:nvPr/>
        </p:nvSpPr>
        <p:spPr>
          <a:xfrm>
            <a:off x="457200" y="5230368"/>
            <a:ext cx="8229600" cy="292608"/>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 2025 observée au 31/12/2025, liquidée à environ 85 %, à lire comme un minimum. Montants agrégés, pas un risque individuel. L’effet des tarifs et des exonérations reste une hypothèse. DAMIR ne chiffre pas la charge d’un portefeuille.</a:t>
            </a:r>
          </a:p>
        </p:txBody>
      </p:sp>
      <p:sp>
        <p:nvSpPr>
          <p:cNvPr id="13" name="TextBox 12"/>
          <p:cNvSpPr txBox="1"/>
          <p:nvPr/>
        </p:nvSpPr>
        <p:spPr>
          <a:xfrm>
            <a:off x="457200" y="5541264"/>
            <a:ext cx="8001000" cy="128016"/>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adre chiffre"/>
          <p:cNvSpPr/>
          <p:nvPr/>
        </p:nvSpPr>
        <p:spPr>
          <a:xfrm>
            <a:off x="5468112" y="4032504"/>
            <a:ext cx="3236975" cy="448056"/>
          </a:xfrm>
          <a:prstGeom prst="rect">
            <a:avLst/>
          </a:prstGeom>
          <a:noFill/>
          <a:ln w="12700">
            <a:solidFill>
              <a:srgbClr val="5B0C02"/>
            </a:solidFill>
          </a:ln>
        </p:spPr>
        <p:txBody>
          <a:bodyPr rtlCol="0" anchor="ctr"/>
          <a:lstStyle/>
          <a:p>
            <a:pPr algn="ctr"/>
            <a:endParaRPr/>
          </a:p>
        </p:txBody>
      </p:sp>
      <p:sp>
        <p:nvSpPr>
          <p:cNvPr id="2" name="Title 1"/>
          <p:cNvSpPr>
            <a:spLocks noGrp="1"/>
          </p:cNvSpPr>
          <p:nvPr>
            <p:ph type="title"/>
          </p:nvPr>
        </p:nvSpPr>
        <p:spPr>
          <a:xfrm>
            <a:off x="466344" y="283464"/>
            <a:ext cx="6766560" cy="310896"/>
          </a:xfrm>
        </p:spPr>
        <p:txBody>
          <a:bodyPr/>
          <a:lstStyle/>
          <a:p>
            <a:r>
              <a:rPr>
                <a:solidFill>
                  <a:srgbClr val="EF4647"/>
                </a:solidFill>
              </a:rPr>
              <a:t>Anesthésie : les dépassements augmentent</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Cliniques : honoraires d’anesthésie (95 % du poste)</a:t>
            </a:r>
          </a:p>
        </p:txBody>
      </p:sp>
      <p:graphicFrame>
        <p:nvGraphicFramePr>
          <p:cNvPr id="4" name="Table 3"/>
          <p:cNvGraphicFramePr>
            <a:graphicFrameLocks noGrp="1"/>
          </p:cNvGraphicFramePr>
          <p:nvPr/>
        </p:nvGraphicFramePr>
        <p:xfrm>
          <a:off x="457200" y="1152144"/>
          <a:ext cx="4736592" cy="3415275"/>
        </p:xfrm>
        <a:graphic>
          <a:graphicData uri="http://schemas.openxmlformats.org/drawingml/2006/table">
            <a:tbl>
              <a:tblPr>
                <a:tableStyleId>{5C22544A-7EE6-4342-B048-85BDC9FD1C3A}</a:tableStyleId>
              </a:tblPr>
              <a:tblGrid>
                <a:gridCol w="1810512">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227685">
                <a:tc>
                  <a:txBody>
                    <a:bodyPr/>
                    <a:lstStyle/>
                    <a:p>
                      <a:pPr algn="l">
                        <a:lnSpc>
                          <a:spcPct val="100000"/>
                        </a:lnSpc>
                        <a:spcBef>
                          <a:spcPts val="0"/>
                        </a:spcBef>
                        <a:spcAft>
                          <a:spcPts val="0"/>
                        </a:spcAft>
                      </a:pPr>
                      <a:r>
                        <a:rPr lang="fr-FR" sz="950" b="1">
                          <a:solidFill>
                            <a:srgbClr val="404040"/>
                          </a:solidFill>
                          <a:latin typeface="Avenir Next LT Pro Light"/>
                        </a:rPr>
                        <a:t>En M€ sauf parts</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2022</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2023</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2024</a:t>
                      </a:r>
                    </a:p>
                  </a:txBody>
                  <a:tcPr marL="64008" marR="64008" marT="22860" marB="22860" anchor="ctr">
                    <a:solidFill>
                      <a:srgbClr val="BFBFBF">
                        <a:lumMod val="18000"/>
                        <a:lumOff val="82000"/>
                      </a:srgbClr>
                    </a:solidFill>
                  </a:tcPr>
                </a:tc>
                <a:tc>
                  <a:txBody>
                    <a:bodyPr/>
                    <a:lstStyle/>
                    <a:p>
                      <a:pPr algn="r">
                        <a:lnSpc>
                          <a:spcPct val="100000"/>
                        </a:lnSpc>
                        <a:spcBef>
                          <a:spcPts val="0"/>
                        </a:spcBef>
                        <a:spcAft>
                          <a:spcPts val="0"/>
                        </a:spcAft>
                      </a:pPr>
                      <a:r>
                        <a:rPr lang="fr-FR" sz="950" b="1">
                          <a:solidFill>
                            <a:srgbClr val="404040"/>
                          </a:solidFill>
                          <a:latin typeface="Avenir Next LT Pro Light"/>
                        </a:rPr>
                        <a:t>2025*</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227685">
                <a:tc gridSpan="5">
                  <a:txBody>
                    <a:bodyPr/>
                    <a:lstStyle/>
                    <a:p>
                      <a:pPr algn="l">
                        <a:lnSpc>
                          <a:spcPct val="100000"/>
                        </a:lnSpc>
                        <a:spcBef>
                          <a:spcPts val="0"/>
                        </a:spcBef>
                        <a:spcAft>
                          <a:spcPts val="0"/>
                        </a:spcAft>
                      </a:pPr>
                      <a:r>
                        <a:rPr lang="fr-FR" sz="950" b="1">
                          <a:solidFill>
                            <a:srgbClr val="5B0C02"/>
                          </a:solidFill>
                          <a:latin typeface="Avenir Next LT Pro Light"/>
                        </a:rPr>
                        <a:t>Année de soins*</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1"/>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1 217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1 322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1 382</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1 398</a:t>
                      </a:r>
                    </a:p>
                  </a:txBody>
                  <a:tcPr marL="64008" marR="64008" marT="22860" marB="22860" anchor="ctr">
                    <a:solidFill>
                      <a:srgbClr val="FFFFFF"/>
                    </a:solidFill>
                  </a:tcPr>
                </a:tc>
                <a:extLst>
                  <a:ext uri="{0D108BD9-81ED-4DB2-BD59-A6C34878D82A}">
                    <a16:rowId xmlns:a16="http://schemas.microsoft.com/office/drawing/2014/main" val="10002"/>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840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886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903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899</a:t>
                      </a:r>
                    </a:p>
                  </a:txBody>
                  <a:tcPr marL="64008" marR="64008" marT="22860" marB="22860" anchor="ctr">
                    <a:solidFill>
                      <a:srgbClr val="FFFFFF"/>
                    </a:solidFill>
                  </a:tcPr>
                </a:tc>
                <a:extLst>
                  <a:ext uri="{0D108BD9-81ED-4DB2-BD59-A6C34878D82A}">
                    <a16:rowId xmlns:a16="http://schemas.microsoft.com/office/drawing/2014/main" val="10003"/>
                  </a:ext>
                </a:extLst>
              </a:tr>
              <a:tr h="227685">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377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436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499</a:t>
                      </a:r>
                    </a:p>
                  </a:txBody>
                  <a:tcPr marL="64008" marR="64008" marT="22860" marB="22860" anchor="ctr">
                    <a:solidFill>
                      <a:srgbClr val="FFFFFF"/>
                    </a:solidFill>
                  </a:tcPr>
                </a:tc>
                <a:extLst>
                  <a:ext uri="{0D108BD9-81ED-4DB2-BD59-A6C34878D82A}">
                    <a16:rowId xmlns:a16="http://schemas.microsoft.com/office/drawing/2014/main" val="10004"/>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dont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374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434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478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498</a:t>
                      </a:r>
                    </a:p>
                  </a:txBody>
                  <a:tcPr marL="64008" marR="64008" marT="22860" marB="22860" anchor="ctr">
                    <a:solidFill>
                      <a:srgbClr val="FFFFFF"/>
                    </a:solidFill>
                  </a:tcPr>
                </a:tc>
                <a:extLst>
                  <a:ext uri="{0D108BD9-81ED-4DB2-BD59-A6C34878D82A}">
                    <a16:rowId xmlns:a16="http://schemas.microsoft.com/office/drawing/2014/main" val="10005"/>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69,0 %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67,0 %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65,3 %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64,3 %</a:t>
                      </a:r>
                    </a:p>
                  </a:txBody>
                  <a:tcPr marL="64008" marR="64008" marT="22860" marB="22860" anchor="ctr">
                    <a:solidFill>
                      <a:srgbClr val="FFFFFF"/>
                    </a:solidFill>
                  </a:tcPr>
                </a:tc>
                <a:extLst>
                  <a:ext uri="{0D108BD9-81ED-4DB2-BD59-A6C34878D82A}">
                    <a16:rowId xmlns:a16="http://schemas.microsoft.com/office/drawing/2014/main" val="10006"/>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des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30,8 %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32,8 %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34,6 %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35,7 %</a:t>
                      </a:r>
                    </a:p>
                  </a:txBody>
                  <a:tcPr marL="64008" marR="64008" marT="22860" marB="22860" anchor="ctr">
                    <a:solidFill>
                      <a:srgbClr val="FFFFFF"/>
                    </a:solidFill>
                  </a:tcPr>
                </a:tc>
                <a:extLst>
                  <a:ext uri="{0D108BD9-81ED-4DB2-BD59-A6C34878D82A}">
                    <a16:rowId xmlns:a16="http://schemas.microsoft.com/office/drawing/2014/main" val="10007"/>
                  </a:ext>
                </a:extLst>
              </a:tr>
              <a:tr h="227685">
                <a:tc gridSpan="5">
                  <a:txBody>
                    <a:bodyPr/>
                    <a:lstStyle/>
                    <a:p>
                      <a:pPr algn="l">
                        <a:lnSpc>
                          <a:spcPct val="100000"/>
                        </a:lnSpc>
                        <a:spcBef>
                          <a:spcPts val="0"/>
                        </a:spcBef>
                        <a:spcAft>
                          <a:spcPts val="0"/>
                        </a:spcAft>
                      </a:pPr>
                      <a:r>
                        <a:rPr lang="fr-FR" sz="950" b="1">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8"/>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Dépense présentée</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1 209</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1 318</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1 380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1 478</a:t>
                      </a:r>
                    </a:p>
                  </a:txBody>
                  <a:tcPr marL="64008" marR="64008" marT="22860" marB="22860" anchor="ctr">
                    <a:solidFill>
                      <a:srgbClr val="FFFFFF"/>
                    </a:solidFill>
                  </a:tcPr>
                </a:tc>
                <a:extLst>
                  <a:ext uri="{0D108BD9-81ED-4DB2-BD59-A6C34878D82A}">
                    <a16:rowId xmlns:a16="http://schemas.microsoft.com/office/drawing/2014/main" val="10009"/>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Remboursement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836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884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903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954</a:t>
                      </a:r>
                    </a:p>
                  </a:txBody>
                  <a:tcPr marL="64008" marR="64008" marT="22860" marB="22860" anchor="ctr">
                    <a:solidFill>
                      <a:srgbClr val="FFFFFF"/>
                    </a:solidFill>
                  </a:tcPr>
                </a:tc>
                <a:extLst>
                  <a:ext uri="{0D108BD9-81ED-4DB2-BD59-A6C34878D82A}">
                    <a16:rowId xmlns:a16="http://schemas.microsoft.com/office/drawing/2014/main" val="10010"/>
                  </a:ext>
                </a:extLst>
              </a:tr>
              <a:tr h="227685">
                <a:tc>
                  <a:txBody>
                    <a:bodyPr/>
                    <a:lstStyle/>
                    <a:p>
                      <a:pPr algn="l">
                        <a:lnSpc>
                          <a:spcPct val="100000"/>
                        </a:lnSpc>
                        <a:spcBef>
                          <a:spcPts val="0"/>
                        </a:spcBef>
                        <a:spcAft>
                          <a:spcPts val="0"/>
                        </a:spcAft>
                      </a:pPr>
                      <a:r>
                        <a:rPr lang="fr-FR" sz="950" b="1">
                          <a:solidFill>
                            <a:srgbClr val="404040"/>
                          </a:solidFill>
                          <a:latin typeface="Avenir Next LT Pro Light"/>
                        </a:rPr>
                        <a:t>Reste après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373</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434</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477</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1">
                          <a:solidFill>
                            <a:srgbClr val="404040"/>
                          </a:solidFill>
                          <a:latin typeface="Avenir Next LT Pro Light"/>
                        </a:rPr>
                        <a:t>524</a:t>
                      </a:r>
                    </a:p>
                  </a:txBody>
                  <a:tcPr marL="64008" marR="64008" marT="22860" marB="22860" anchor="ctr">
                    <a:solidFill>
                      <a:srgbClr val="FFFFFF"/>
                    </a:solidFill>
                  </a:tcPr>
                </a:tc>
                <a:extLst>
                  <a:ext uri="{0D108BD9-81ED-4DB2-BD59-A6C34878D82A}">
                    <a16:rowId xmlns:a16="http://schemas.microsoft.com/office/drawing/2014/main" val="10011"/>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dont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370</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431</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476</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523</a:t>
                      </a:r>
                    </a:p>
                  </a:txBody>
                  <a:tcPr marL="64008" marR="64008" marT="22860" marB="22860" anchor="ctr">
                    <a:solidFill>
                      <a:srgbClr val="FFFFFF"/>
                    </a:solidFill>
                  </a:tcPr>
                </a:tc>
                <a:extLst>
                  <a:ext uri="{0D108BD9-81ED-4DB2-BD59-A6C34878D82A}">
                    <a16:rowId xmlns:a16="http://schemas.microsoft.com/office/drawing/2014/main" val="10012"/>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AMO</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69,2 %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67,1 %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65,4 %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64,5 %</a:t>
                      </a:r>
                    </a:p>
                  </a:txBody>
                  <a:tcPr marL="64008" marR="64008" marT="22860" marB="22860" anchor="ctr">
                    <a:solidFill>
                      <a:srgbClr val="FFFFFF"/>
                    </a:solidFill>
                  </a:tcPr>
                </a:tc>
                <a:extLst>
                  <a:ext uri="{0D108BD9-81ED-4DB2-BD59-A6C34878D82A}">
                    <a16:rowId xmlns:a16="http://schemas.microsoft.com/office/drawing/2014/main" val="10013"/>
                  </a:ext>
                </a:extLst>
              </a:tr>
              <a:tr h="227685">
                <a:tc>
                  <a:txBody>
                    <a:bodyPr/>
                    <a:lstStyle/>
                    <a:p>
                      <a:pPr algn="l">
                        <a:lnSpc>
                          <a:spcPct val="100000"/>
                        </a:lnSpc>
                        <a:spcBef>
                          <a:spcPts val="0"/>
                        </a:spcBef>
                        <a:spcAft>
                          <a:spcPts val="0"/>
                        </a:spcAft>
                      </a:pPr>
                      <a:r>
                        <a:rPr lang="fr-FR" sz="950" b="0">
                          <a:solidFill>
                            <a:srgbClr val="404040"/>
                          </a:solidFill>
                          <a:latin typeface="Avenir Next LT Pro Light"/>
                        </a:rPr>
                        <a:t>Part des dépassements</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30,6 %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32,7 %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34,5 %</a:t>
                      </a:r>
                    </a:p>
                  </a:txBody>
                  <a:tcPr marL="64008" marR="64008" marT="22860" marB="22860" anchor="ctr">
                    <a:solidFill>
                      <a:srgbClr val="FFFFFF"/>
                    </a:solidFill>
                  </a:tcPr>
                </a:tc>
                <a:tc>
                  <a:txBody>
                    <a:bodyPr/>
                    <a:lstStyle/>
                    <a:p>
                      <a:pPr algn="r">
                        <a:lnSpc>
                          <a:spcPct val="100000"/>
                        </a:lnSpc>
                        <a:spcBef>
                          <a:spcPts val="0"/>
                        </a:spcBef>
                        <a:spcAft>
                          <a:spcPts val="0"/>
                        </a:spcAft>
                      </a:pPr>
                      <a:r>
                        <a:rPr lang="fr-FR" sz="950" b="0">
                          <a:solidFill>
                            <a:srgbClr val="404040"/>
                          </a:solidFill>
                          <a:latin typeface="Avenir Next LT Pro Light"/>
                        </a:rPr>
                        <a:t>35,4 %</a:t>
                      </a:r>
                    </a:p>
                  </a:txBody>
                  <a:tcPr marL="64008" marR="64008" marT="22860" marB="22860" anchor="ctr">
                    <a:solidFill>
                      <a:srgbClr val="FFFFFF"/>
                    </a:solidFill>
                  </a:tcPr>
                </a:tc>
                <a:extLst>
                  <a:ext uri="{0D108BD9-81ED-4DB2-BD59-A6C34878D82A}">
                    <a16:rowId xmlns:a16="http://schemas.microsoft.com/office/drawing/2014/main" val="10014"/>
                  </a:ext>
                </a:extLst>
              </a:tr>
            </a:tbl>
          </a:graphicData>
        </a:graphic>
      </p:graphicFrame>
      <p:sp>
        <p:nvSpPr>
          <p:cNvPr id="5" name="TextBox 4"/>
          <p:cNvSpPr txBox="1"/>
          <p:nvPr/>
        </p:nvSpPr>
        <p:spPr>
          <a:xfrm>
            <a:off x="5468112" y="1124712"/>
            <a:ext cx="3218688" cy="256032"/>
          </a:xfrm>
          <a:prstGeom prst="rect">
            <a:avLst/>
          </a:prstGeom>
          <a:noFill/>
        </p:spPr>
        <p:txBody>
          <a:bodyPr wrap="square" lIns="0" tIns="0" rIns="0" bIns="0">
            <a:noAutofit/>
          </a:bodyPr>
          <a:lstStyle/>
          <a:p>
            <a:pPr>
              <a:lnSpc>
                <a:spcPct val="112000"/>
              </a:lnSpc>
              <a:spcBef>
                <a:spcPts val="0"/>
              </a:spcBef>
              <a:spcAft>
                <a:spcPts val="0"/>
              </a:spcAft>
            </a:pPr>
            <a:r>
              <a:rPr lang="fr-FR" sz="1100" b="1" cap="none">
                <a:solidFill>
                  <a:srgbClr val="5B0C02"/>
                </a:solidFill>
                <a:latin typeface="Avenir Next LT Pro Light"/>
              </a:rPr>
              <a:t>Dépassements, en M€</a:t>
            </a:r>
          </a:p>
        </p:txBody>
      </p:sp>
      <p:graphicFrame>
        <p:nvGraphicFramePr>
          <p:cNvPr id="6" name="Chart 5"/>
          <p:cNvGraphicFramePr>
            <a:graphicFrameLocks noGrp="1"/>
          </p:cNvGraphicFramePr>
          <p:nvPr/>
        </p:nvGraphicFramePr>
        <p:xfrm>
          <a:off x="5394960" y="1545336"/>
          <a:ext cx="3310128" cy="242316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5559552" y="4087368"/>
            <a:ext cx="1143000" cy="274320"/>
          </a:xfrm>
          <a:prstGeom prst="rect">
            <a:avLst/>
          </a:prstGeom>
          <a:noFill/>
        </p:spPr>
        <p:txBody>
          <a:bodyPr wrap="square" lIns="0" tIns="0" rIns="0" bIns="0">
            <a:noAutofit/>
          </a:bodyPr>
          <a:lstStyle/>
          <a:p>
            <a:pPr>
              <a:lnSpc>
                <a:spcPct val="112000"/>
              </a:lnSpc>
              <a:spcBef>
                <a:spcPts val="0"/>
              </a:spcBef>
              <a:spcAft>
                <a:spcPts val="0"/>
              </a:spcAft>
            </a:pPr>
            <a:r>
              <a:rPr lang="fr-FR" sz="1600" b="0" cap="none">
                <a:solidFill>
                  <a:srgbClr val="EF4647"/>
                </a:solidFill>
                <a:latin typeface="Montserrat"/>
              </a:rPr>
              <a:t>+10,0 %</a:t>
            </a:r>
          </a:p>
        </p:txBody>
      </p:sp>
      <p:sp>
        <p:nvSpPr>
          <p:cNvPr id="8" name="TextBox 7"/>
          <p:cNvSpPr txBox="1"/>
          <p:nvPr/>
        </p:nvSpPr>
        <p:spPr>
          <a:xfrm>
            <a:off x="6729984" y="4069080"/>
            <a:ext cx="1920240" cy="384048"/>
          </a:xfrm>
          <a:prstGeom prst="rect">
            <a:avLst/>
          </a:prstGeom>
          <a:noFill/>
        </p:spPr>
        <p:txBody>
          <a:bodyPr wrap="square" lIns="0" tIns="0" rIns="0" bIns="0">
            <a:noAutofit/>
          </a:bodyPr>
          <a:lstStyle/>
          <a:p>
            <a:pPr>
              <a:lnSpc>
                <a:spcPct val="112000"/>
              </a:lnSpc>
              <a:spcBef>
                <a:spcPts val="0"/>
              </a:spcBef>
              <a:spcAft>
                <a:spcPts val="0"/>
              </a:spcAft>
            </a:pPr>
            <a:r>
              <a:rPr lang="fr-FR" sz="850" b="0" cap="none">
                <a:solidFill>
                  <a:srgbClr val="404040"/>
                </a:solidFill>
                <a:latin typeface="Avenir Next LT Pro Light"/>
              </a:rPr>
              <a:t>Hausse des dépassements entre 2024 et 2025, en date de paiement</a:t>
            </a:r>
          </a:p>
        </p:txBody>
      </p:sp>
      <p:sp>
        <p:nvSpPr>
          <p:cNvPr id="9" name="TextBox 8"/>
          <p:cNvSpPr txBox="1"/>
          <p:nvPr/>
        </p:nvSpPr>
        <p:spPr>
          <a:xfrm>
            <a:off x="457200" y="4654296"/>
            <a:ext cx="8229600" cy="274320"/>
          </a:xfrm>
          <a:prstGeom prst="rect">
            <a:avLst/>
          </a:prstGeom>
          <a:noFill/>
        </p:spPr>
        <p:txBody>
          <a:bodyPr wrap="square" lIns="0" tIns="0" rIns="0" bIns="0">
            <a:noAutofit/>
          </a:bodyPr>
          <a:lstStyle/>
          <a:p>
            <a:pPr>
              <a:lnSpc>
                <a:spcPct val="100000"/>
              </a:lnSpc>
              <a:spcBef>
                <a:spcPts val="0"/>
              </a:spcBef>
              <a:spcAft>
                <a:spcPts val="0"/>
              </a:spcAft>
            </a:pPr>
            <a:r>
              <a:rPr lang="fr-FR" sz="950" b="1" dirty="0">
                <a:solidFill>
                  <a:srgbClr val="5B0C02"/>
                </a:solidFill>
                <a:latin typeface="Avenir Next LT Pro Light"/>
              </a:rPr>
              <a:t>En 2024, le nombre d'actes n'augmente que de 1,1 %, mais les dépassements progressent de 9 à 13 % dans chaque tranche d'âge =&gt; ce sont les tarifs pratiqués qui montent, pas le nombre d'opérations..</a:t>
            </a:r>
          </a:p>
        </p:txBody>
      </p:sp>
      <p:sp>
        <p:nvSpPr>
          <p:cNvPr id="10" name="TextBox 9"/>
          <p:cNvSpPr txBox="1"/>
          <p:nvPr/>
        </p:nvSpPr>
        <p:spPr>
          <a:xfrm>
            <a:off x="457200" y="5020056"/>
            <a:ext cx="8229600" cy="256032"/>
          </a:xfrm>
          <a:prstGeom prst="rect">
            <a:avLst/>
          </a:prstGeom>
          <a:noFill/>
        </p:spPr>
        <p:txBody>
          <a:bodyPr wrap="square" lIns="0" tIns="0" rIns="0" bIns="0">
            <a:noAutofit/>
          </a:bodyPr>
          <a:lstStyle/>
          <a:p>
            <a:pPr>
              <a:lnSpc>
                <a:spcPct val="112000"/>
              </a:lnSpc>
              <a:spcBef>
                <a:spcPts val="0"/>
              </a:spcBef>
              <a:spcAft>
                <a:spcPts val="0"/>
              </a:spcAft>
            </a:pPr>
            <a:r>
              <a:rPr lang="fr-FR" sz="950" b="1" cap="none" dirty="0">
                <a:solidFill>
                  <a:srgbClr val="5B0C02"/>
                </a:solidFill>
                <a:latin typeface="Avenir Next LT Pro Light"/>
              </a:rPr>
              <a:t>Ce que ce graphique ne montre pas</a:t>
            </a:r>
          </a:p>
        </p:txBody>
      </p:sp>
      <p:sp>
        <p:nvSpPr>
          <p:cNvPr id="11" name="TextBox 10"/>
          <p:cNvSpPr txBox="1"/>
          <p:nvPr/>
        </p:nvSpPr>
        <p:spPr>
          <a:xfrm>
            <a:off x="457200" y="5221224"/>
            <a:ext cx="8229600" cy="283464"/>
          </a:xfrm>
          <a:prstGeom prst="rect">
            <a:avLst/>
          </a:prstGeom>
          <a:noFill/>
        </p:spPr>
        <p:txBody>
          <a:bodyPr wrap="square" lIns="0" tIns="0" rIns="0" bIns="0">
            <a:noAutofit/>
          </a:bodyPr>
          <a:lstStyle/>
          <a:p>
            <a:pPr>
              <a:lnSpc>
                <a:spcPct val="112000"/>
              </a:lnSpc>
              <a:spcBef>
                <a:spcPts val="0"/>
              </a:spcBef>
              <a:spcAft>
                <a:spcPts val="0"/>
              </a:spcAft>
            </a:pPr>
            <a:r>
              <a:rPr lang="fr-FR" sz="900" b="0" cap="none">
                <a:solidFill>
                  <a:srgbClr val="404040"/>
                </a:solidFill>
                <a:latin typeface="Avenir Next LT Pro Light"/>
              </a:rPr>
              <a:t>* 2025 en année de soins : observée, liquidée à environ 94 %. À maturité, reste après AMO de 532 M€ (+10,8 %). Les honoraires de chirurgie sont hors de ce poste. Les chiffres ne couvrent pas tous les honoraires en clinique.</a:t>
            </a:r>
          </a:p>
        </p:txBody>
      </p:sp>
      <p:sp>
        <p:nvSpPr>
          <p:cNvPr id="12" name="TextBox 11"/>
          <p:cNvSpPr txBox="1"/>
          <p:nvPr/>
        </p:nvSpPr>
        <p:spPr>
          <a:xfrm>
            <a:off x="457200" y="5550408"/>
            <a:ext cx="8001000" cy="128016"/>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344" y="283464"/>
            <a:ext cx="6766560" cy="310896"/>
          </a:xfrm>
        </p:spPr>
        <p:txBody>
          <a:bodyPr/>
          <a:lstStyle/>
          <a:p>
            <a:pPr>
              <a:lnSpc>
                <a:spcPct val="112000"/>
              </a:lnSpc>
              <a:spcBef>
                <a:spcPts val="0"/>
              </a:spcBef>
              <a:spcAft>
                <a:spcPts val="0"/>
              </a:spcAft>
            </a:pPr>
            <a:r>
              <a:rPr>
                <a:solidFill>
                  <a:srgbClr val="EF4647"/>
                </a:solidFill>
              </a:rPr>
              <a:t>Conclusion</a:t>
            </a:r>
          </a:p>
        </p:txBody>
      </p:sp>
      <p:sp>
        <p:nvSpPr>
          <p:cNvPr id="3" name="Text Placeholder 2"/>
          <p:cNvSpPr>
            <a:spLocks noGrp="1"/>
          </p:cNvSpPr>
          <p:nvPr>
            <p:ph type="body" sz="quarter" idx="13"/>
          </p:nvPr>
        </p:nvSpPr>
        <p:spPr>
          <a:xfrm>
            <a:off x="466344" y="612648"/>
            <a:ext cx="6766560" cy="292608"/>
          </a:xfrm>
        </p:spPr>
        <p:txBody>
          <a:bodyPr/>
          <a:lstStyle/>
          <a:p>
            <a:pPr>
              <a:lnSpc>
                <a:spcPct val="112000"/>
              </a:lnSpc>
              <a:spcBef>
                <a:spcPts val="0"/>
              </a:spcBef>
              <a:spcAft>
                <a:spcPts val="0"/>
              </a:spcAft>
            </a:pPr>
            <a:r>
              <a:rPr lang="fr-FR" sz="1100" b="0" cap="none">
                <a:solidFill>
                  <a:srgbClr val="404040"/>
                </a:solidFill>
                <a:latin typeface="Avenir Next LT Pro Light"/>
              </a:rPr>
              <a:t>Une hausse réelle sur deux postes, sans effet du ROC visible dans ces données</a:t>
            </a:r>
          </a:p>
        </p:txBody>
      </p:sp>
      <p:graphicFrame>
        <p:nvGraphicFramePr>
          <p:cNvPr id="4" name="Table 3"/>
          <p:cNvGraphicFramePr>
            <a:graphicFrameLocks noGrp="1"/>
          </p:cNvGraphicFramePr>
          <p:nvPr>
            <p:extLst>
              <p:ext uri="{D42A27DB-BD31-4B8C-83A1-F6EECF244321}">
                <p14:modId xmlns:p14="http://schemas.microsoft.com/office/powerpoint/2010/main" val="3699683725"/>
              </p:ext>
            </p:extLst>
          </p:nvPr>
        </p:nvGraphicFramePr>
        <p:xfrm>
          <a:off x="457200" y="1097280"/>
          <a:ext cx="8229600" cy="2029968"/>
        </p:xfrm>
        <a:graphic>
          <a:graphicData uri="http://schemas.openxmlformats.org/drawingml/2006/table">
            <a:tbl>
              <a:tblPr>
                <a:tableStyleId>{5C22544A-7EE6-4342-B048-85BDC9FD1C3A}</a:tableStyleId>
              </a:tblPr>
              <a:tblGrid>
                <a:gridCol w="1938528">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2770632">
                  <a:extLst>
                    <a:ext uri="{9D8B030D-6E8A-4147-A177-3AD203B41FA5}">
                      <a16:colId xmlns:a16="http://schemas.microsoft.com/office/drawing/2014/main" val="20002"/>
                    </a:ext>
                  </a:extLst>
                </a:gridCol>
              </a:tblGrid>
              <a:tr h="292608">
                <a:tc>
                  <a:txBody>
                    <a:bodyPr/>
                    <a:lstStyle/>
                    <a:p>
                      <a:pPr algn="l">
                        <a:lnSpc>
                          <a:spcPct val="100000"/>
                        </a:lnSpc>
                        <a:spcBef>
                          <a:spcPts val="0"/>
                        </a:spcBef>
                        <a:spcAft>
                          <a:spcPts val="0"/>
                        </a:spcAft>
                      </a:pPr>
                      <a:r>
                        <a:rPr lang="fr-FR" sz="1050" b="1">
                          <a:solidFill>
                            <a:srgbClr val="404040"/>
                          </a:solidFill>
                          <a:latin typeface="Avenir Next LT Pro Light"/>
                        </a:rPr>
                        <a:t>Poste</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1050" b="1">
                          <a:solidFill>
                            <a:srgbClr val="404040"/>
                          </a:solidFill>
                          <a:latin typeface="Avenir Next LT Pro Light"/>
                        </a:rPr>
                        <a:t>Constat 2022 à 2025</a:t>
                      </a:r>
                    </a:p>
                  </a:txBody>
                  <a:tcPr marL="64008" marR="64008" marT="22860" marB="22860" anchor="ctr">
                    <a:solidFill>
                      <a:srgbClr val="BFBFBF">
                        <a:lumMod val="18000"/>
                        <a:lumOff val="82000"/>
                      </a:srgbClr>
                    </a:solidFill>
                  </a:tcPr>
                </a:tc>
                <a:tc>
                  <a:txBody>
                    <a:bodyPr/>
                    <a:lstStyle/>
                    <a:p>
                      <a:pPr algn="l">
                        <a:lnSpc>
                          <a:spcPct val="100000"/>
                        </a:lnSpc>
                        <a:spcBef>
                          <a:spcPts val="0"/>
                        </a:spcBef>
                        <a:spcAft>
                          <a:spcPts val="0"/>
                        </a:spcAft>
                      </a:pPr>
                      <a:r>
                        <a:rPr lang="fr-FR" sz="1050" b="1">
                          <a:solidFill>
                            <a:srgbClr val="404040"/>
                          </a:solidFill>
                          <a:latin typeface="Avenir Next LT Pro Light"/>
                        </a:rPr>
                        <a:t>Lecture</a:t>
                      </a:r>
                    </a:p>
                  </a:txBody>
                  <a:tcPr marL="64008" marR="64008" marT="22860" marB="22860" anchor="ctr">
                    <a:solidFill>
                      <a:srgbClr val="BFBFBF">
                        <a:lumMod val="18000"/>
                        <a:lumOff val="82000"/>
                      </a:srgbClr>
                    </a:solidFill>
                  </a:tcPr>
                </a:tc>
                <a:extLst>
                  <a:ext uri="{0D108BD9-81ED-4DB2-BD59-A6C34878D82A}">
                    <a16:rowId xmlns:a16="http://schemas.microsoft.com/office/drawing/2014/main" val="10000"/>
                  </a:ext>
                </a:extLst>
              </a:tr>
              <a:tr h="411480">
                <a:tc>
                  <a:txBody>
                    <a:bodyPr/>
                    <a:lstStyle/>
                    <a:p>
                      <a:pPr algn="l">
                        <a:lnSpc>
                          <a:spcPct val="100000"/>
                        </a:lnSpc>
                        <a:spcBef>
                          <a:spcPts val="0"/>
                        </a:spcBef>
                        <a:spcAft>
                          <a:spcPts val="0"/>
                        </a:spcAft>
                      </a:pPr>
                      <a:r>
                        <a:rPr lang="fr-FR" sz="1000" b="0">
                          <a:solidFill>
                            <a:srgbClr val="404040"/>
                          </a:solidFill>
                          <a:latin typeface="Avenir Next LT Pro Light"/>
                        </a:rPr>
                        <a:t>Séjours ordinaires en clinique</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Reste après AMO +2 % en 2024, sans effet de calendrier en 2025</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Pas de dérive</a:t>
                      </a:r>
                    </a:p>
                  </a:txBody>
                  <a:tcPr marL="64008" marR="64008" marT="22860" marB="22860" anchor="ctr">
                    <a:solidFill>
                      <a:srgbClr val="FFFFFF"/>
                    </a:solidFill>
                  </a:tcPr>
                </a:tc>
                <a:extLst>
                  <a:ext uri="{0D108BD9-81ED-4DB2-BD59-A6C34878D82A}">
                    <a16:rowId xmlns:a16="http://schemas.microsoft.com/office/drawing/2014/main" val="10001"/>
                  </a:ext>
                </a:extLst>
              </a:tr>
              <a:tr h="502920">
                <a:tc>
                  <a:txBody>
                    <a:bodyPr/>
                    <a:lstStyle/>
                    <a:p>
                      <a:pPr algn="l">
                        <a:lnSpc>
                          <a:spcPct val="100000"/>
                        </a:lnSpc>
                        <a:spcBef>
                          <a:spcPts val="0"/>
                        </a:spcBef>
                        <a:spcAft>
                          <a:spcPts val="0"/>
                        </a:spcAft>
                      </a:pPr>
                      <a:r>
                        <a:rPr lang="fr-FR" sz="1000" b="0">
                          <a:solidFill>
                            <a:srgbClr val="404040"/>
                          </a:solidFill>
                          <a:latin typeface="Avenir Next LT Pro Light"/>
                        </a:rPr>
                        <a:t>Rééducation</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Reste après AMO +8,5 % en 2024, environ +20 % en 2025, surtout chez les moins de 50 ans</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Hausse réelle, liée à la réforme de 2024</a:t>
                      </a:r>
                    </a:p>
                  </a:txBody>
                  <a:tcPr marL="64008" marR="64008" marT="22860" marB="22860" anchor="ctr">
                    <a:solidFill>
                      <a:srgbClr val="FFFFFF"/>
                    </a:solidFill>
                  </a:tcPr>
                </a:tc>
                <a:extLst>
                  <a:ext uri="{0D108BD9-81ED-4DB2-BD59-A6C34878D82A}">
                    <a16:rowId xmlns:a16="http://schemas.microsoft.com/office/drawing/2014/main" val="10002"/>
                  </a:ext>
                </a:extLst>
              </a:tr>
              <a:tr h="411480">
                <a:tc>
                  <a:txBody>
                    <a:bodyPr/>
                    <a:lstStyle/>
                    <a:p>
                      <a:pPr algn="l">
                        <a:lnSpc>
                          <a:spcPct val="100000"/>
                        </a:lnSpc>
                        <a:spcBef>
                          <a:spcPts val="0"/>
                        </a:spcBef>
                        <a:spcAft>
                          <a:spcPts val="0"/>
                        </a:spcAft>
                      </a:pPr>
                      <a:r>
                        <a:rPr lang="fr-FR" sz="1000" b="0">
                          <a:solidFill>
                            <a:srgbClr val="404040"/>
                          </a:solidFill>
                          <a:latin typeface="Avenir Next LT Pro Light"/>
                        </a:rPr>
                        <a:t>Honoraires d’anesthésie</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dirty="0">
                          <a:solidFill>
                            <a:srgbClr val="404040"/>
                          </a:solidFill>
                          <a:latin typeface="Avenir Next LT Pro Light"/>
                        </a:rPr>
                        <a:t>Dépassements +10 % par an, en date de soins comme en date de paiement</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Hausse réelle et régulière</a:t>
                      </a:r>
                    </a:p>
                  </a:txBody>
                  <a:tcPr marL="64008" marR="64008" marT="22860" marB="22860" anchor="ctr">
                    <a:solidFill>
                      <a:srgbClr val="FFFFFF"/>
                    </a:solidFill>
                  </a:tcPr>
                </a:tc>
                <a:extLst>
                  <a:ext uri="{0D108BD9-81ED-4DB2-BD59-A6C34878D82A}">
                    <a16:rowId xmlns:a16="http://schemas.microsoft.com/office/drawing/2014/main" val="10003"/>
                  </a:ext>
                </a:extLst>
              </a:tr>
              <a:tr h="411480">
                <a:tc>
                  <a:txBody>
                    <a:bodyPr/>
                    <a:lstStyle/>
                    <a:p>
                      <a:pPr algn="l">
                        <a:lnSpc>
                          <a:spcPct val="100000"/>
                        </a:lnSpc>
                        <a:spcBef>
                          <a:spcPts val="0"/>
                        </a:spcBef>
                        <a:spcAft>
                          <a:spcPts val="0"/>
                        </a:spcAft>
                      </a:pPr>
                      <a:r>
                        <a:rPr lang="fr-FR" sz="1000" b="0">
                          <a:solidFill>
                            <a:srgbClr val="404040"/>
                          </a:solidFill>
                          <a:latin typeface="Avenir Next LT Pro Light"/>
                        </a:rPr>
                        <a:t>ROC</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Déployé en 2025 dans les hôpitaux publics, dont les séjours sont hors de ces données</a:t>
                      </a:r>
                    </a:p>
                  </a:txBody>
                  <a:tcPr marL="64008" marR="64008" marT="22860" marB="22860" anchor="ctr">
                    <a:solidFill>
                      <a:srgbClr val="FFFFFF"/>
                    </a:solidFill>
                  </a:tcPr>
                </a:tc>
                <a:tc>
                  <a:txBody>
                    <a:bodyPr/>
                    <a:lstStyle/>
                    <a:p>
                      <a:pPr algn="l">
                        <a:lnSpc>
                          <a:spcPct val="100000"/>
                        </a:lnSpc>
                        <a:spcBef>
                          <a:spcPts val="0"/>
                        </a:spcBef>
                        <a:spcAft>
                          <a:spcPts val="0"/>
                        </a:spcAft>
                      </a:pPr>
                      <a:r>
                        <a:rPr lang="fr-FR" sz="1000" b="0">
                          <a:solidFill>
                            <a:srgbClr val="404040"/>
                          </a:solidFill>
                          <a:latin typeface="Avenir Next LT Pro Light"/>
                        </a:rPr>
                        <a:t>Effet non mesurable ici</a:t>
                      </a:r>
                    </a:p>
                  </a:txBody>
                  <a:tcPr marL="64008" marR="64008" marT="22860" marB="22860" anchor="ctr">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457200" y="3337560"/>
            <a:ext cx="8229600" cy="256032"/>
          </a:xfrm>
          <a:prstGeom prst="rect">
            <a:avLst/>
          </a:prstGeom>
          <a:noFill/>
        </p:spPr>
        <p:txBody>
          <a:bodyPr wrap="square" lIns="0" tIns="0" rIns="0" bIns="0">
            <a:noAutofit/>
          </a:bodyPr>
          <a:lstStyle/>
          <a:p>
            <a:pPr>
              <a:lnSpc>
                <a:spcPct val="112000"/>
              </a:lnSpc>
              <a:spcBef>
                <a:spcPts val="0"/>
              </a:spcBef>
              <a:spcAft>
                <a:spcPts val="0"/>
              </a:spcAft>
            </a:pPr>
            <a:r>
              <a:rPr sz="1200" b="1" lang="fr-FR" cap="none">
                <a:solidFill>
                  <a:srgbClr val="5B0C02"/>
                </a:solidFill>
                <a:latin typeface="Avenir Next LT Pro Light"/>
              </a:rPr>
              <a:t>En résumé</a:t>
            </a:r>
          </a:p>
        </p:txBody>
      </p:sp>
      <p:sp>
        <p:nvSpPr>
          <p:cNvPr id="6" name="TextBox 5"/>
          <p:cNvSpPr txBox="1"/>
          <p:nvPr/>
        </p:nvSpPr>
        <p:spPr>
          <a:xfrm>
            <a:off x="457200" y="3611880"/>
            <a:ext cx="8229600" cy="1463040"/>
          </a:xfrm>
          <a:prstGeom prst="rect">
            <a:avLst/>
          </a:prstGeom>
          <a:noFill/>
        </p:spPr>
        <p:txBody>
          <a:bodyPr wrap="square" lIns="0" tIns="0" rIns="0" bIns="0">
            <a:noAutofit/>
          </a:bodyPr>
          <a:lstStyle/>
          <a:p>
            <a:pPr>
              <a:lnSpc>
                <a:spcPct val="112000"/>
              </a:lnSpc>
              <a:spcBef>
                <a:spcPts val="0"/>
              </a:spcBef>
              <a:spcAft>
                <a:spcPts val="600"/>
              </a:spcAft>
            </a:pPr>
            <a:r>
              <a:rPr sz="1050" b="0" lang="fr-FR" cap="none">
                <a:solidFill>
                  <a:srgbClr val="404040"/>
                </a:solidFill>
                <a:latin typeface="Avenir Next LT Pro Light"/>
              </a:rPr>
              <a:t>La hausse de ce qui reste à payer après l’Assurance Maladie est réelle, mais elle se concentre sur deux postes : les dépassements d’honoraires en anesthésie et le ticket modérateur en rééducation. Elle est visible depuis 2023 et ne dépend pas du ROC.</a:t>
            </a:r>
          </a:p>
          <a:p>
            <a:pPr>
              <a:lnSpc>
                <a:spcPct val="112000"/>
              </a:lnSpc>
              <a:spcBef>
                <a:spcPts val="0"/>
              </a:spcBef>
              <a:spcAft>
                <a:spcPts val="600"/>
              </a:spcAft>
            </a:pPr>
            <a:r>
              <a:rPr sz="1050" b="0" lang="fr-FR" cap="none">
                <a:solidFill>
                  <a:srgbClr val="404040"/>
                </a:solidFill>
                <a:latin typeface="Avenir Next LT Pro Light"/>
              </a:rPr>
              <a:t>Le ROC ne change pas les soins, il change le moment où les factures arrivent. En 2025, il concerne les hôpitaux publics, dont les séjours ne figurent pas dans ces données, et le rythme de remboursement de l’Assurance Maladie n’a pas varié. Son effet ne peut donc pas être mesuré ici. S’il existe, il s’ajoute à cette hausse sous la forme d’un décalage de facturation, à lire dans les comptes d’une complémentaire en comparant la date des soins et la date du paiement.</a:t>
            </a:r>
          </a:p>
        </p:txBody>
      </p:sp>
      <p:sp>
        <p:nvSpPr>
          <p:cNvPr id="7" name="TextBox 6"/>
          <p:cNvSpPr txBox="1"/>
          <p:nvPr/>
        </p:nvSpPr>
        <p:spPr>
          <a:xfrm>
            <a:off x="457200" y="5138928"/>
            <a:ext cx="8229600" cy="274320"/>
          </a:xfrm>
          <a:prstGeom prst="rect">
            <a:avLst/>
          </a:prstGeom>
          <a:noFill/>
        </p:spPr>
        <p:txBody>
          <a:bodyPr wrap="square" lIns="0" tIns="0" rIns="0" bIns="0">
            <a:noAutofit/>
          </a:bodyPr>
          <a:lstStyle/>
          <a:p>
            <a:pPr>
              <a:lnSpc>
                <a:spcPct val="112000"/>
              </a:lnSpc>
              <a:spcBef>
                <a:spcPts val="0"/>
              </a:spcBef>
              <a:spcAft>
                <a:spcPts val="0"/>
              </a:spcAft>
            </a:pPr>
            <a:r>
              <a:rPr sz="950" b="0" lang="fr-FR" cap="none">
                <a:solidFill>
                  <a:srgbClr val="5B0C02"/>
                </a:solidFill>
                <a:latin typeface="Avenir Next LT Pro Light"/>
              </a:rPr>
              <a:t>Limites : ces données ne donnent ni la part du ROC en euros, ni les séjours de l’hôpital public, ni le partage entre le patient et la complémentaire.</a:t>
            </a:r>
          </a:p>
        </p:txBody>
      </p:sp>
      <p:sp>
        <p:nvSpPr>
          <p:cNvPr id="8" name="TextBox 7"/>
          <p:cNvSpPr txBox="1"/>
          <p:nvPr/>
        </p:nvSpPr>
        <p:spPr>
          <a:xfrm>
            <a:off x="457200" y="5468112"/>
            <a:ext cx="8001000" cy="146304"/>
          </a:xfrm>
          <a:prstGeom prst="rect">
            <a:avLst/>
          </a:prstGeom>
          <a:noFill/>
        </p:spPr>
        <p:txBody>
          <a:bodyPr wrap="square" lIns="0" tIns="0" rIns="0" bIns="0">
            <a:noAutofit/>
          </a:bodyPr>
          <a:lstStyle/>
          <a:p>
            <a:pPr>
              <a:lnSpc>
                <a:spcPct val="112000"/>
              </a:lnSpc>
              <a:spcBef>
                <a:spcPts val="0"/>
              </a:spcBef>
              <a:spcAft>
                <a:spcPts val="0"/>
              </a:spcAft>
            </a:pPr>
            <a:r>
              <a:rPr lang="fr-FR" sz="750" b="0"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E57CE92-AD3E-4068-1BE4-94DEC0381060}"/>
              </a:ext>
            </a:extLst>
          </p:cNvPr>
          <p:cNvSpPr txBox="1"/>
          <p:nvPr/>
        </p:nvSpPr>
        <p:spPr>
          <a:xfrm>
            <a:off x="7162800" y="5468779"/>
            <a:ext cx="1981200" cy="246221"/>
          </a:xfrm>
          <a:prstGeom prst="rect">
            <a:avLst/>
          </a:prstGeom>
          <a:noFill/>
        </p:spPr>
        <p:txBody>
          <a:bodyPr wrap="square" rtlCol="0">
            <a:spAutoFit/>
          </a:bodyPr>
          <a:lstStyle/>
          <a:p>
            <a:pPr algn="l"/>
            <a:r>
              <a:rPr lang="fr-FR" sz="1000" noProof="0">
                <a:solidFill>
                  <a:schemeClr val="accent5"/>
                </a:solidFill>
              </a:rPr>
              <a:t>communication@forsides.com</a:t>
            </a:r>
          </a:p>
        </p:txBody>
      </p:sp>
    </p:spTree>
    <p:extLst>
      <p:ext uri="{BB962C8B-B14F-4D97-AF65-F5344CB8AC3E}">
        <p14:creationId xmlns:p14="http://schemas.microsoft.com/office/powerpoint/2010/main" val="2431778703"/>
      </p:ext>
    </p:extLst>
  </p:cSld>
  <p:clrMapOvr>
    <a:masterClrMapping/>
  </p:clrMapOvr>
</p:sld>
</file>

<file path=ppt/theme/theme1.xml><?xml version="1.0" encoding="utf-8"?>
<a:theme xmlns:a="http://schemas.openxmlformats.org/drawingml/2006/main" name="18 07 18 Thème FORSIDES">
  <a:themeElements>
    <a:clrScheme name="FORSIDES">
      <a:dk1>
        <a:srgbClr val="404040"/>
      </a:dk1>
      <a:lt1>
        <a:srgbClr val="FFFFFF"/>
      </a:lt1>
      <a:dk2>
        <a:srgbClr val="5B0C02"/>
      </a:dk2>
      <a:lt2>
        <a:srgbClr val="FFFFFF"/>
      </a:lt2>
      <a:accent1>
        <a:srgbClr val="EF4647"/>
      </a:accent1>
      <a:accent2>
        <a:srgbClr val="5B0C02"/>
      </a:accent2>
      <a:accent3>
        <a:srgbClr val="404040"/>
      </a:accent3>
      <a:accent4>
        <a:srgbClr val="808080"/>
      </a:accent4>
      <a:accent5>
        <a:srgbClr val="BFBFBF"/>
      </a:accent5>
      <a:accent6>
        <a:srgbClr val="A5B6C5"/>
      </a:accent6>
      <a:hlink>
        <a:srgbClr val="5B0C02"/>
      </a:hlink>
      <a:folHlink>
        <a:srgbClr val="EF4647"/>
      </a:folHlink>
    </a:clrScheme>
    <a:fontScheme name="Personnalisé 2">
      <a:majorFont>
        <a:latin typeface="Montserrat"/>
        <a:ea typeface=""/>
        <a:cs typeface=""/>
      </a:majorFont>
      <a:minorFont>
        <a:latin typeface="Avenir Next LT Pro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lIns="0" rIns="0" rtlCol="0" anchor="ctr"/>
      <a:lstStyle>
        <a:defPPr algn="ctr">
          <a:defRPr sz="800" cap="all"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ap="flat" cmpd="sng" algn="ctr">
          <a:solidFill>
            <a:schemeClr val="tx2"/>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a:spAutoFit/>
      </a:bodyPr>
      <a:lstStyle>
        <a:defPPr algn="l">
          <a:defRPr sz="6600" dirty="0">
            <a:solidFill>
              <a:schemeClr val="accent1"/>
            </a:solidFill>
          </a:defRPr>
        </a:defPPr>
      </a:lstStyle>
    </a:tx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3f5fdb73-2779-412e-8ab1-8f50f8c5090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DC111B863CCFF45AFD913A1822A08C3" ma:contentTypeVersion="8" ma:contentTypeDescription="Crée un document." ma:contentTypeScope="" ma:versionID="11027c6d05f17e03099bf94fc14ee579">
  <xsd:schema xmlns:xsd="http://www.w3.org/2001/XMLSchema" xmlns:xs="http://www.w3.org/2001/XMLSchema" xmlns:p="http://schemas.microsoft.com/office/2006/metadata/properties" xmlns:ns3="3f5fdb73-2779-412e-8ab1-8f50f8c50903" targetNamespace="http://schemas.microsoft.com/office/2006/metadata/properties" ma:root="true" ma:fieldsID="624010545f0cea6cd533097d55d83335" ns3:_="">
    <xsd:import namespace="3f5fdb73-2779-412e-8ab1-8f50f8c50903"/>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5fdb73-2779-412e-8ab1-8f50f8c5090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0BA603A-71B9-440C-B1B9-F2383059DB44}">
  <ds:schemaRefs>
    <ds:schemaRef ds:uri="http://schemas.microsoft.com/sharepoint/v3/contenttype/forms"/>
  </ds:schemaRefs>
</ds:datastoreItem>
</file>

<file path=customXml/itemProps2.xml><?xml version="1.0" encoding="utf-8"?>
<ds:datastoreItem xmlns:ds="http://schemas.openxmlformats.org/officeDocument/2006/customXml" ds:itemID="{146B4A1F-629B-4736-89B2-8C1C5B094FA0}">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3f5fdb73-2779-412e-8ab1-8f50f8c50903"/>
    <ds:schemaRef ds:uri="http://purl.org/dc/term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BF15B7D6-D972-4047-BBB2-34012DDDA2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f5fdb73-2779-412e-8ab1-8f50f8c5090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3938</TotalTime>
  <Words>2166</Words>
  <Application>Microsoft Office PowerPoint</Application>
  <PresentationFormat>Affichage à l'écran (16:10)</PresentationFormat>
  <Paragraphs>353</Paragraphs>
  <Slides>10</Slides>
  <Notes>10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10</vt:i4>
      </vt:variant>
    </vt:vector>
  </HeadingPairs>
  <TitlesOfParts>
    <vt:vector size="18" baseType="lpstr">
      <vt:lpstr>Arial</vt:lpstr>
      <vt:lpstr>Avenir Next LT Pro</vt:lpstr>
      <vt:lpstr>Avenir Next LT Pro Light</vt:lpstr>
      <vt:lpstr>Calibri</vt:lpstr>
      <vt:lpstr>Courier New</vt:lpstr>
      <vt:lpstr>Montserrat</vt:lpstr>
      <vt:lpstr>Wingdings</vt:lpstr>
      <vt:lpstr>18 07 18 Thème FORSIDES</vt:lpstr>
      <vt:lpstr>Hospitalisation : dérive réelle ou effet ROC ?</vt:lpstr>
      <vt:lpstr>DAMIR : le périmètre de l’étude</vt:lpstr>
      <vt:lpstr>ROC : la facturation de la part complémentaire</vt:lpstr>
      <vt:lpstr>Trois postes, et les règles qui ont changé</vt:lpstr>
      <vt:lpstr>Séjours ordinaires : une hausse modérée</vt:lpstr>
      <vt:lpstr>Rééducation : hausse et rattrapage</vt:lpstr>
      <vt:lpstr>Rééducation : un déplacement vers les moins de 60 ans</vt:lpstr>
      <vt:lpstr>Anesthésie : les dépassements augmentent</vt:lpstr>
      <vt:lpstr>Conclusion</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Hospitalisation : dérive réelle ou effet ROC ?</dc:title>
  <dc:subject>Analyse par poste des remboursements AMO 2022–2025</dc:subject>
  <dc:creator>Forsides</dc:creator>
  <cp:keywords>Hospitalisation, Open DAMIR, ROC, SSR, SMR, anesthésie</cp:keywords>
  <cp:lastModifiedBy>Simon MALAURENT</cp:lastModifiedBy>
  <cp:revision>62</cp:revision>
  <dcterms:created xsi:type="dcterms:W3CDTF">2024-05-03T13:43:52Z</dcterms:created>
  <dcterms:modified xsi:type="dcterms:W3CDTF">2026-09-21T07:21:15Z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0x0101004DC111B863CCFF45AFD913A1822A08C3</vt:lpwstr>
  </property>
</Properties>
</file>