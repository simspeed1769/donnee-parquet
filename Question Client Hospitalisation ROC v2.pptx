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ustomXml/itemProps1.xml" ContentType="application/vnd.openxmlformats-officedocument.customXmlProperties+xml"/>
  <Override PartName="/ppt/customXml/itemProps2.xml" ContentType="application/vnd.openxmlformats-officedocument.customXmlProperties+xml"/>
  <Override PartName="/ppt/customXml/itemProps3.xml" ContentType="application/vnd.openxmlformats-officedocument.customXmlProperties+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1"/>
  </p:notesMasterIdLst>
  <p:sldIdLst>
    <p:sldId id="11533" r:id="rId5"/>
    <p:sldId id="11534" r:id="rId9"/>
    <p:sldId id="11535" r:id="rId8"/>
    <p:sldId id="11536" r:id="rId7"/>
    <p:sldId id="11537" r:id="rId6"/>
    <p:sldId id="11538" r:id="rId17"/>
    <p:sldId id="11539" r:id="rId18"/>
    <p:sldId id="11540" r:id="rId19"/>
    <p:sldId id="11541" r:id="rId20"/>
    <p:sldId id="11530" r:id="rId10"/>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9B5072-B8D0-1D3C-5BC1-D1FFCA4E368B}" name="Alexia BIDEL" initials="AB" userId="S::alexia.bidel@forsides.com::cfdb95dc-505d-469b-aeaf-c63558aa3e2b" providerId="AD"/>
  <p188:author id="{BD6010B3-DB18-7AD9-0975-A97DF1470138}" name="Léa SERRET" initials="LS" userId="S::lea.serret@forsides.com::2ccb72fa-5045-4b93-b65c-d471669e6c9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2C55E"/>
    <a:srgbClr val="F5FFF9"/>
    <a:srgbClr val="4B5563"/>
    <a:srgbClr val="9CA3AF"/>
    <a:srgbClr val="475569"/>
    <a:srgbClr val="6B7280"/>
    <a:srgbClr val="E8770E"/>
    <a:srgbClr val="E3E8ED"/>
    <a:srgbClr val="C0392B"/>
    <a:srgbClr val="FEEB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46F890A9-2807-4EBB-B81D-B2AA78EC7F39}" styleName="Style foncé 2 - Accentuation 5/Accentuation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Style foncé 2 - Accentuation 1/Accentuation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2C8C85-51F0-491E-9774-3900AFEF0FD7}" styleName="Style léger 2 - Accentuation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25E5076-3810-47DD-B79F-674D7AD40C01}" styleName="Style foncé 1 - Accentuation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Style à thème 2 - Accentuation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864" autoAdjust="0"/>
  </p:normalViewPr>
  <p:slideViewPr>
    <p:cSldViewPr snapToGrid="0">
      <p:cViewPr varScale="1">
        <p:scale>
          <a:sx n="116" d="100"/>
          <a:sy n="116" d="100"/>
        </p:scale>
        <p:origin x="150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6.xml"/><Relationship Id="rId7" Type="http://schemas.openxmlformats.org/officeDocument/2006/relationships/slide" Target="slides/slide5.xml"/><Relationship Id="rId8" Type="http://schemas.openxmlformats.org/officeDocument/2006/relationships/slide" Target="slides/slide4.xml"/><Relationship Id="rId9" Type="http://schemas.openxmlformats.org/officeDocument/2006/relationships/slide" Target="slides/slide3.xml"/><Relationship Id="rId10" Type="http://schemas.openxmlformats.org/officeDocument/2006/relationships/slide" Target="slides/slide9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8/10/relationships/authors" Target="authors.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Année de soins</c:v>
                </c:pt>
              </c:strCache>
            </c:strRef>
          </c:tx>
          <c:spPr>
            <a:solidFill>
              <a:srgbClr val="A5B6C5"/>
            </a:solidFill>
            <a:ln>
              <a:noFill/>
            </a:ln>
          </c:spPr>
          <c:cat>
            <c:strRef>
              <c:f>Sheet1!$A$2:$A$5</c:f>
              <c:strCache>
                <c:ptCount val="4"/>
                <c:pt idx="0">
                  <c:v>2022</c:v>
                </c:pt>
                <c:pt idx="1">
                  <c:v>2023</c:v>
                </c:pt>
                <c:pt idx="2">
                  <c:v>2024</c:v>
                </c:pt>
                <c:pt idx="3">
                  <c:v>2025*</c:v>
                </c:pt>
              </c:strCache>
            </c:strRef>
          </c:cat>
          <c:val>
            <c:numRef>
              <c:f>Sheet1!$B$2:$B$5</c:f>
              <c:numCache>
                <c:formatCode>General</c:formatCode>
                <c:ptCount val="4"/>
                <c:pt idx="0">
                  <c:v>333</c:v>
                </c:pt>
                <c:pt idx="1">
                  <c:v>345</c:v>
                </c:pt>
                <c:pt idx="2">
                  <c:v>353</c:v>
                </c:pt>
                <c:pt idx="3">
                  <c:v>330</c:v>
                </c:pt>
              </c:numCache>
            </c:numRef>
          </c:val>
        </c:ser>
        <c:ser>
          <c:idx val="1"/>
          <c:order val="1"/>
          <c:tx>
            <c:strRef>
              <c:f>Sheet1!$C$1</c:f>
              <c:strCache>
                <c:ptCount val="1"/>
                <c:pt idx="0">
                  <c:v>Année de règlement</c:v>
                </c:pt>
              </c:strCache>
            </c:strRef>
          </c:tx>
          <c:spPr>
            <a:solidFill>
              <a:srgbClr val="EF4647"/>
            </a:solidFill>
            <a:ln>
              <a:noFill/>
            </a:ln>
          </c:spPr>
          <c:cat>
            <c:strRef>
              <c:f>Sheet1!$A$2:$A$5</c:f>
              <c:strCache>
                <c:ptCount val="4"/>
                <c:pt idx="0">
                  <c:v>2022</c:v>
                </c:pt>
                <c:pt idx="1">
                  <c:v>2023</c:v>
                </c:pt>
                <c:pt idx="2">
                  <c:v>2024</c:v>
                </c:pt>
                <c:pt idx="3">
                  <c:v>2025*</c:v>
                </c:pt>
              </c:strCache>
            </c:strRef>
          </c:cat>
          <c:val>
            <c:numRef>
              <c:f>Sheet1!$C$2:$C$5</c:f>
              <c:numCache>
                <c:formatCode>General</c:formatCode>
                <c:ptCount val="4"/>
                <c:pt idx="0">
                  <c:v>329</c:v>
                </c:pt>
                <c:pt idx="1">
                  <c:v>344</c:v>
                </c:pt>
                <c:pt idx="2">
                  <c:v>354</c:v>
                </c:pt>
                <c:pt idx="3">
                  <c:v>366</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4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10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Année de soins</c:v>
                </c:pt>
              </c:strCache>
            </c:strRef>
          </c:tx>
          <c:spPr>
            <a:solidFill>
              <a:srgbClr val="A5B6C5"/>
            </a:solidFill>
            <a:ln>
              <a:noFill/>
            </a:ln>
          </c:spPr>
          <c:cat>
            <c:strRef>
              <c:f>Sheet1!$A$2:$A$5</c:f>
              <c:strCache>
                <c:ptCount val="4"/>
                <c:pt idx="0">
                  <c:v>2022</c:v>
                </c:pt>
                <c:pt idx="1">
                  <c:v>2023</c:v>
                </c:pt>
                <c:pt idx="2">
                  <c:v>2024</c:v>
                </c:pt>
                <c:pt idx="3">
                  <c:v>2025*</c:v>
                </c:pt>
              </c:strCache>
            </c:strRef>
          </c:cat>
          <c:val>
            <c:numRef>
              <c:f>Sheet1!$B$2:$B$5</c:f>
              <c:numCache>
                <c:formatCode>General</c:formatCode>
                <c:ptCount val="4"/>
                <c:pt idx="0">
                  <c:v>523</c:v>
                </c:pt>
                <c:pt idx="1">
                  <c:v>546</c:v>
                </c:pt>
                <c:pt idx="2">
                  <c:v>593</c:v>
                </c:pt>
                <c:pt idx="3">
                  <c:v>633</c:v>
                </c:pt>
              </c:numCache>
            </c:numRef>
          </c:val>
        </c:ser>
        <c:ser>
          <c:idx val="1"/>
          <c:order val="1"/>
          <c:tx>
            <c:strRef>
              <c:f>Sheet1!$C$1</c:f>
              <c:strCache>
                <c:ptCount val="1"/>
                <c:pt idx="0">
                  <c:v>Année de règlement</c:v>
                </c:pt>
              </c:strCache>
            </c:strRef>
          </c:tx>
          <c:spPr>
            <a:solidFill>
              <a:srgbClr val="EF4647"/>
            </a:solidFill>
            <a:ln>
              <a:noFill/>
            </a:ln>
          </c:spPr>
          <c:cat>
            <c:strRef>
              <c:f>Sheet1!$A$2:$A$5</c:f>
              <c:strCache>
                <c:ptCount val="4"/>
                <c:pt idx="0">
                  <c:v>2022</c:v>
                </c:pt>
                <c:pt idx="1">
                  <c:v>2023</c:v>
                </c:pt>
                <c:pt idx="2">
                  <c:v>2024</c:v>
                </c:pt>
                <c:pt idx="3">
                  <c:v>2025*</c:v>
                </c:pt>
              </c:strCache>
            </c:strRef>
          </c:cat>
          <c:val>
            <c:numRef>
              <c:f>Sheet1!$C$2:$C$5</c:f>
              <c:numCache>
                <c:formatCode>General</c:formatCode>
                <c:ptCount val="4"/>
                <c:pt idx="0">
                  <c:v>525</c:v>
                </c:pt>
                <c:pt idx="1">
                  <c:v>552</c:v>
                </c:pt>
                <c:pt idx="2">
                  <c:v>541</c:v>
                </c:pt>
                <c:pt idx="3">
                  <c:v>721</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8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20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2023</c:v>
                </c:pt>
              </c:strCache>
            </c:strRef>
          </c:tx>
          <c:spPr>
            <a:solidFill>
              <a:srgbClr val="A5B6C5"/>
            </a:solidFill>
            <a:ln>
              <a:noFill/>
            </a:ln>
          </c:spPr>
          <c:cat>
            <c:strRef>
              <c:f>Sheet1!$A$2:$A$9</c:f>
              <c:strCache>
                <c:ptCount val="8"/>
                <c:pt idx="0">
                  <c:v>0–19</c:v>
                </c:pt>
                <c:pt idx="1">
                  <c:v>20–29</c:v>
                </c:pt>
                <c:pt idx="2">
                  <c:v>30–39</c:v>
                </c:pt>
                <c:pt idx="3">
                  <c:v>40–49</c:v>
                </c:pt>
                <c:pt idx="4">
                  <c:v>50–59</c:v>
                </c:pt>
                <c:pt idx="5">
                  <c:v>60–69</c:v>
                </c:pt>
                <c:pt idx="6">
                  <c:v>70–79</c:v>
                </c:pt>
                <c:pt idx="7">
                  <c:v>80 +</c:v>
                </c:pt>
              </c:strCache>
            </c:strRef>
          </c:cat>
          <c:val>
            <c:numRef>
              <c:f>Sheet1!$B$2:$B$9</c:f>
              <c:numCache>
                <c:formatCode>General</c:formatCode>
                <c:ptCount val="8"/>
                <c:pt idx="0">
                  <c:v>8.2</c:v>
                </c:pt>
                <c:pt idx="1">
                  <c:v>13.7</c:v>
                </c:pt>
                <c:pt idx="2">
                  <c:v>15.9</c:v>
                </c:pt>
                <c:pt idx="3">
                  <c:v>29.6</c:v>
                </c:pt>
                <c:pt idx="4">
                  <c:v>59.4</c:v>
                </c:pt>
                <c:pt idx="5">
                  <c:v>92.1</c:v>
                </c:pt>
                <c:pt idx="6">
                  <c:v>141.0</c:v>
                </c:pt>
                <c:pt idx="7">
                  <c:v>186.2</c:v>
                </c:pt>
              </c:numCache>
            </c:numRef>
          </c:val>
        </c:ser>
        <c:ser>
          <c:idx val="1"/>
          <c:order val="1"/>
          <c:tx>
            <c:strRef>
              <c:f>Sheet1!$C$1</c:f>
              <c:strCache>
                <c:ptCount val="1"/>
                <c:pt idx="0">
                  <c:v>2024</c:v>
                </c:pt>
              </c:strCache>
            </c:strRef>
          </c:tx>
          <c:spPr>
            <a:solidFill>
              <a:srgbClr val="EF4647"/>
            </a:solidFill>
            <a:ln>
              <a:noFill/>
            </a:ln>
          </c:spPr>
          <c:cat>
            <c:strRef>
              <c:f>Sheet1!$A$2:$A$9</c:f>
              <c:strCache>
                <c:ptCount val="8"/>
                <c:pt idx="0">
                  <c:v>0–19</c:v>
                </c:pt>
                <c:pt idx="1">
                  <c:v>20–29</c:v>
                </c:pt>
                <c:pt idx="2">
                  <c:v>30–39</c:v>
                </c:pt>
                <c:pt idx="3">
                  <c:v>40–49</c:v>
                </c:pt>
                <c:pt idx="4">
                  <c:v>50–59</c:v>
                </c:pt>
                <c:pt idx="5">
                  <c:v>60–69</c:v>
                </c:pt>
                <c:pt idx="6">
                  <c:v>70–79</c:v>
                </c:pt>
                <c:pt idx="7">
                  <c:v>80 +</c:v>
                </c:pt>
              </c:strCache>
            </c:strRef>
          </c:cat>
          <c:val>
            <c:numRef>
              <c:f>Sheet1!$C$2:$C$9</c:f>
              <c:numCache>
                <c:formatCode>General</c:formatCode>
                <c:ptCount val="8"/>
                <c:pt idx="0">
                  <c:v>31.3</c:v>
                </c:pt>
                <c:pt idx="1">
                  <c:v>30.6</c:v>
                </c:pt>
                <c:pt idx="2">
                  <c:v>48.2</c:v>
                </c:pt>
                <c:pt idx="3">
                  <c:v>58.1</c:v>
                </c:pt>
                <c:pt idx="4">
                  <c:v>78.0</c:v>
                </c:pt>
                <c:pt idx="5">
                  <c:v>94.2</c:v>
                </c:pt>
                <c:pt idx="6">
                  <c:v>124.6</c:v>
                </c:pt>
                <c:pt idx="7">
                  <c:v>127.9</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2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5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Année de soins</c:v>
                </c:pt>
              </c:strCache>
            </c:strRef>
          </c:tx>
          <c:spPr>
            <a:solidFill>
              <a:srgbClr val="A5B6C5"/>
            </a:solidFill>
            <a:ln>
              <a:noFill/>
            </a:ln>
          </c:spPr>
          <c:cat>
            <c:strRef>
              <c:f>Sheet1!$A$2:$A$5</c:f>
              <c:strCache>
                <c:ptCount val="4"/>
                <c:pt idx="0">
                  <c:v>2022</c:v>
                </c:pt>
                <c:pt idx="1">
                  <c:v>2023</c:v>
                </c:pt>
                <c:pt idx="2">
                  <c:v>2024</c:v>
                </c:pt>
                <c:pt idx="3">
                  <c:v>2025*</c:v>
                </c:pt>
              </c:strCache>
            </c:strRef>
          </c:cat>
          <c:val>
            <c:numRef>
              <c:f>Sheet1!$B$2:$B$5</c:f>
              <c:numCache>
                <c:formatCode>General</c:formatCode>
                <c:ptCount val="4"/>
                <c:pt idx="0">
                  <c:v>374</c:v>
                </c:pt>
                <c:pt idx="1">
                  <c:v>434</c:v>
                </c:pt>
                <c:pt idx="2">
                  <c:v>478</c:v>
                </c:pt>
                <c:pt idx="3">
                  <c:v>498</c:v>
                </c:pt>
              </c:numCache>
            </c:numRef>
          </c:val>
        </c:ser>
        <c:ser>
          <c:idx val="1"/>
          <c:order val="1"/>
          <c:tx>
            <c:strRef>
              <c:f>Sheet1!$C$1</c:f>
              <c:strCache>
                <c:ptCount val="1"/>
                <c:pt idx="0">
                  <c:v>Année de règlement</c:v>
                </c:pt>
              </c:strCache>
            </c:strRef>
          </c:tx>
          <c:spPr>
            <a:solidFill>
              <a:srgbClr val="EF4647"/>
            </a:solidFill>
            <a:ln>
              <a:noFill/>
            </a:ln>
          </c:spPr>
          <c:cat>
            <c:strRef>
              <c:f>Sheet1!$A$2:$A$5</c:f>
              <c:strCache>
                <c:ptCount val="4"/>
                <c:pt idx="0">
                  <c:v>2022</c:v>
                </c:pt>
                <c:pt idx="1">
                  <c:v>2023</c:v>
                </c:pt>
                <c:pt idx="2">
                  <c:v>2024</c:v>
                </c:pt>
                <c:pt idx="3">
                  <c:v>2025*</c:v>
                </c:pt>
              </c:strCache>
            </c:strRef>
          </c:cat>
          <c:val>
            <c:numRef>
              <c:f>Sheet1!$C$2:$C$5</c:f>
              <c:numCache>
                <c:formatCode>General</c:formatCode>
                <c:ptCount val="4"/>
                <c:pt idx="0">
                  <c:v>370</c:v>
                </c:pt>
                <c:pt idx="1">
                  <c:v>431</c:v>
                </c:pt>
                <c:pt idx="2">
                  <c:v>476</c:v>
                </c:pt>
                <c:pt idx="3">
                  <c:v>523</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6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20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ppt/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ppt/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ppt/customXml/item1.xml><?xml version="1.0" encoding="utf-8"?>
<?mso-contentType ?>
<FormTemplates xmlns="http://schemas.microsoft.com/sharepoint/v3/contenttype/forms">
  <Display>DocumentLibraryForm</Display>
  <Edit>DocumentLibraryForm</Edit>
  <New>DocumentLibraryForm</New>
</FormTemplates>
</file>

<file path=ppt/customXml/item2.xml><?xml version="1.0" encoding="utf-8"?>
<p:properties xmlns:p="http://schemas.microsoft.com/office/2006/metadata/properties" xmlns:xsi="http://www.w3.org/2001/XMLSchema-instance" xmlns:pc="http://schemas.microsoft.com/office/infopath/2007/PartnerControls">
  <documentManagement>
    <_activity xmlns="3f5fdb73-2779-412e-8ab1-8f50f8c50903" xsi:nil="true"/>
  </documentManagement>
</p:properties>
</file>

<file path=ppt/customXml/item3.xml><?xml version="1.0" encoding="utf-8"?>
<ct:contentTypeSchema xmlns:ct="http://schemas.microsoft.com/office/2006/metadata/contentType" xmlns:ma="http://schemas.microsoft.com/office/2006/metadata/properties/metaAttributes" ct:_="" ma:_="" ma:contentTypeName="Document" ma:contentTypeID="0x0101004DC111B863CCFF45AFD913A1822A08C3" ma:contentTypeVersion="8" ma:contentTypeDescription="Crée un document." ma:contentTypeScope="" ma:versionID="11027c6d05f17e03099bf94fc14ee579">
  <xsd:schema xmlns:xsd="http://www.w3.org/2001/XMLSchema" xmlns:xs="http://www.w3.org/2001/XMLSchema" xmlns:p="http://schemas.microsoft.com/office/2006/metadata/properties" xmlns:ns3="3f5fdb73-2779-412e-8ab1-8f50f8c50903" targetNamespace="http://schemas.microsoft.com/office/2006/metadata/properties" ma:root="true" ma:fieldsID="624010545f0cea6cd533097d55d83335" ns3:_="">
    <xsd:import namespace="3f5fdb73-2779-412e-8ab1-8f50f8c50903"/>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5fdb73-2779-412e-8ab1-8f50f8c5090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ppt/customXml/itemProps1.xml><?xml version="1.0" encoding="utf-8"?>
<ds:datastoreItem xmlns:ds="http://schemas.openxmlformats.org/officeDocument/2006/customXml" ds:itemID="{00BA603A-71B9-440C-B1B9-F2383059DB44}">
  <ds:schemaRefs>
    <ds:schemaRef ds:uri="http://schemas.microsoft.com/sharepoint/v3/contenttype/forms"/>
  </ds:schemaRefs>
</ds:datastoreItem>
</file>

<file path=ppt/customXml/itemProps2.xml><?xml version="1.0" encoding="utf-8"?>
<ds:datastoreItem xmlns:ds="http://schemas.openxmlformats.org/officeDocument/2006/customXml" ds:itemID="{146B4A1F-629B-4736-89B2-8C1C5B094FA0}">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3f5fdb73-2779-412e-8ab1-8f50f8c50903"/>
    <ds:schemaRef ds:uri="http://purl.org/dc/terms/"/>
    <ds:schemaRef ds:uri="http://schemas.openxmlformats.org/package/2006/metadata/core-properties"/>
    <ds:schemaRef ds:uri="http://www.w3.org/XML/1998/namespace"/>
  </ds:schemaRefs>
</ds:datastoreItem>
</file>

<file path=ppt/customXml/itemProps3.xml><?xml version="1.0" encoding="utf-8"?>
<ds:datastoreItem xmlns:ds="http://schemas.openxmlformats.org/officeDocument/2006/customXml" ds:itemID="{BF15B7D6-D972-4047-BBB2-34012DDDA2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f5fdb73-2779-412e-8ab1-8f50f8c5090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C2931A-9B9C-416F-AED9-37313714829F}" type="datetimeFigureOut">
              <a:rPr lang="fr-FR" smtClean="0"/>
              <a:t>18/09/2026</a:t>
            </a:fld>
            <a:endParaRPr lang="fr-FR"/>
          </a:p>
        </p:txBody>
      </p:sp>
      <p:sp>
        <p:nvSpPr>
          <p:cNvPr id="4" name="Espace réservé de l'image des diapositives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4A845C-32FB-4A18-97E1-E276771F3835}" type="slidenum">
              <a:rPr lang="fr-FR" smtClean="0"/>
              <a:t>‹N°›</a:t>
            </a:fld>
            <a:endParaRPr lang="fr-FR"/>
          </a:p>
        </p:txBody>
      </p:sp>
    </p:spTree>
    <p:extLst>
      <p:ext uri="{BB962C8B-B14F-4D97-AF65-F5344CB8AC3E}">
        <p14:creationId xmlns:p14="http://schemas.microsoft.com/office/powerpoint/2010/main" val="3207376626"/>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07988" y="739775"/>
            <a:ext cx="5919787" cy="3700463"/>
          </a:xfrm>
        </p:spPr>
        <p:txBody>
          <a:bodyPr/>
          <a:lstStyle/>
          <a:p>
            <a:endParaRPr lang="fr-FR"/>
          </a:p>
        </p:txBody>
      </p:sp>
      <p:sp>
        <p:nvSpPr>
          <p:cNvPr id="3" name="Espace réservé des commentaires 2"/>
          <p:cNvSpPr>
            <a:spLocks noGrp="1"/>
          </p:cNvSpPr>
          <p:nvPr>
            <p:ph type="body" idx="1"/>
          </p:nvPr>
        </p:nvSpPr>
        <p:spPr/>
        <p:txBody>
          <a:bodyPr/>
          <a:lstStyle/>
          <a:p>
            <a:r>
              <a:t>Question de Groupama : distinguer la dérive de l’hospitalisation et les effets de règlement associés au ROC. Analyse des flux arrêtés au 31 décembre 2025, septembre 2026. Le repère porte sur le privé et ne mesure pas la charge complémentaire.</a:t>
            </a:r>
          </a:p>
          <a:p/>
          <a:p>
            <a:r>
              <a:t>Sources</a:t>
            </a:r>
          </a:p>
          <a:p>
            <a:r>
              <a:t>Cnam, Open DAMIR. Données et définitions : analyse fournie, docs/ETUDE_HOSPITALISATION_PAR_POSTE.md et docs/ETUDE_HOSPITALISATION_2022_2025.md.</a:t>
            </a:r>
          </a:p>
        </p:txBody>
      </p:sp>
      <p:sp>
        <p:nvSpPr>
          <p:cNvPr id="4" name="Espace réservé du numéro de diapositive 3"/>
          <p:cNvSpPr>
            <a:spLocks noGrp="1"/>
          </p:cNvSpPr>
          <p:nvPr>
            <p:ph type="sldNum" sz="quarter" idx="10"/>
          </p:nvPr>
        </p:nvSpPr>
        <p:spPr/>
        <p:txBody>
          <a:bodyPr/>
          <a:lstStyle/>
          <a:p>
            <a:fld id="{69E30AB8-B1E9-B340-9196-4A9B860F9FAC}" type="slidenum">
              <a:rPr lang="en-US" smtClean="0"/>
              <a:pPr/>
              <a:t>1</a:t>
            </a:fld>
            <a:endParaRPr lang="en-US"/>
          </a:p>
        </p:txBody>
      </p:sp>
    </p:spTree>
    <p:extLst>
      <p:ext uri="{BB962C8B-B14F-4D97-AF65-F5344CB8AC3E}">
        <p14:creationId xmlns:p14="http://schemas.microsoft.com/office/powerpoint/2010/main" val="1013169034"/>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DAMIR : base publique de la Cnam, tous régimes, environ 1 300 natures de prestation. Une cellule agrégée croise mois de soins, prestation, région, tranche d’âge, sexe, nature d’assurance et ALD. Mesures disponibles : dépense présentée, remboursement AMO, base de remboursement, dépassements, quantités. Les séjours du public sont absents, mais certains actes et consultations externes et le forfait journalier figurent dans la base. La chambre particulière n’est pas un poste observable utilisable. DAMIR Studio lit les données localement, sans réseau.</a:t>
            </a:r>
          </a:p>
          <a:p>
            <a:r>
              <a:t>Le reste après AMO mêle ticket modérateur, dépassements et franchises. Il inclut la part du patient et ne représente pas la charge de l’AMC (Assurance Maladie complémentaire). Part des dépassements = dépassements / dépense.</a:t>
            </a:r>
          </a:p>
          <a:p>
            <a:r>
              <a:t>Sur un séjour, le taux de droit commun est 80 % du tarif, laissant 20 % de ticket modérateur, sauf exonération, notamment ALD, actes lourds ou maternité. Sur les séjours étudiés, les dépassements sont quasi nuls et le reste après AMO approche le ticket modérateur. Sur les honoraires d’anesthésie, les actes sont presque tous exonérés et le reste après AMO est presque entièrement constitué des dépassements.</a:t>
            </a:r>
          </a:p>
          <a:p/>
          <a:p>
            <a:r>
              <a:t>Sources</a:t>
            </a:r>
          </a:p>
          <a:p>
            <a:r>
              <a:t>Cnam, Open DAMIR. Données et définitions : analyse fournie, docs/ETUDE_HOSPITALISATION_PAR_POSTE.md et docs/ETUDE_HOSPITALISATION_2022_2025.md.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ROC : tiers payant dématérialisé portant sur la part complémentaire des prestations hospitalières, via la norme DRE-ES. Programme SIMPHONIE, accord de 2021 entre l’État, les fédérations hospitalières et les complémentaires. Le dispositif dépasse le seul champ des dépassements d’honoraires.</a:t>
            </a:r>
          </a:p>
          <a:p>
            <a:r>
              <a:t>Au 19 septembre 2024 : 473 établissements publics et ESPIC, soit 58 % des établissements concernés, 88 organismes complémentaires couvrant 97 % de la population protégée. Rejets rapportés : de 10–15 % à 0,1–0,2 %. Ces taux sont des repères externes, pas des mesures du portefeuille Groupama.</a:t>
            </a:r>
          </a:p>
          <a:p>
            <a:r>
              <a:t>Calendrier privé annoncé par la FHP-MCO le 21 juillet 2025 : pilotes à Montpellier et Marseille à la rentrée 2025, montée en charge en septembre 2026, généralisation en 2027. Ce calendrier annoncé ne constitue pas un constat de réalisation en septembre 2026.</a:t>
            </a:r>
          </a:p>
          <a:p>
            <a:r>
              <a:t>L’année de bascule peut cumuler les soins antérieurs réglés tardivement, les soins de l’année réglés plus vite et la reprise de factures rejetées. L’étude Groupama devra distinguer l’avance de règlement, la résorption du stock de rejets et l’évolution durable du paiement des factures. DAMIR ne permet pas de chiffrer ces effets. Aucun taux d’établissements ne doit être assimilé directement à une part de charge.</a:t>
            </a:r>
          </a:p>
          <a:p/>
          <a:p>
            <a:r>
              <a:t>Sources</a:t>
            </a:r>
          </a:p>
          <a:p>
            <a:r>
              <a:t>GIE SESAM-Vitale, ROC Établissements : https://www.sesam-vitale.fr/en/roc-es</a:t>
            </a:r>
          </a:p>
          <a:p>
            <a:r>
              <a:t>Groupe VYV, Le dispositif ROC : où en est-on ? https://www.groupe-vyv.fr/informations/le-dispositif-roc-ou-en-est-on/</a:t>
            </a:r>
          </a:p>
          <a:p>
            <a:r>
              <a:t>FHP-MCO, 21/07/2025 : https://www.fhpmco.fr/2025/07/21/roc-place-aux-cliniques-et-hopitaux-prives/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lecture compare séparément : séjours ordinaires en clinique, code 2111 ; rééducation SSR/SMR, anciens et nouveaux codes ; poste Hospitalisation Honoraires, dominé par l’anesthésie.</a:t>
            </a:r>
          </a:p>
          <a:p>
            <a:r>
              <a:t>Réforme SMR, décret 2023-696 : passage du prix de journée à des tarifs nationaux par type de séjour, plus dotation populationnelle, application intégrale en 2024. Difficultés de trésorerie et facturation retardée : 700 M€ liquidés fin septembre 2024 pour les premiers mois. Le niveau de dépense 2023/2024 est donc non comparable. Les codes 4243–4247 représentent 262 M€ dans l’analyse fournie, mais restent sans libellé dans la nomenclature locale. La réforme 2026 évoquée par la relectrice reste à identifier.</a:t>
            </a:r>
          </a:p>
          <a:p>
            <a:r>
              <a:t>Artefact de part AMO : grand poste 85,5 % en 2023, 87,6 % en 2024, 93,1 % en 2025. Dotation populationnelle SSR 2192 : 1 283 M€ en 2024, remboursés à 100 %. Dépense du code 2251 proche de 200 M€ par mois puis presque nulle à partir de novembre 2024, alors que l’AMO continue. Hors ces postes, part AMO stable, 91,5 % à 91,6 %, d’après l’analyse fournie. DREES, financement privé en 2024 : Sécurité sociale 87,9 % (−0,6 point), ménages 6,7 % (+0,8 point), complémentaires 5,1 % (−0,2 point). Champ DREES distinct de l’agrégat Open DAMIR.</a:t>
            </a:r>
          </a:p>
          <a:p>
            <a:r>
              <a:t>Cadence AMO : séjours ordinaires environ 91 %, stable depuis 2021 ; anesthésie environ 94 %, stable ; rééducation 90,3 % en 2021, 88,4 % en 2022, 89,0 % en 2023 et 84,4 % en 2024. Méthode Groupama : calculer les cadences AMC 2023 et 2024 par établissement, puis tester une déformation liée au raccordement ROC sur la seule part publique. Le calendrier de déploiement donne un scénario à pondérer par l’exposition réelle. Le chiffrage exige les dates de soins, facturation, règlement et le statut ROC, absents de DAMIR.</a:t>
            </a:r>
          </a:p>
          <a:p/>
          <a:p>
            <a:r>
              <a:t>Sources</a:t>
            </a:r>
          </a:p>
          <a:p>
            <a:r>
              <a:t>Cnam, Open DAMIR. Données et définitions : analyse fournie, docs/ETUDE_HOSPITALISATION_PAR_POSTE.md et docs/ETUDE_HOSPITALISATION_2022_2025.md.</a:t>
            </a:r>
          </a:p>
          <a:p>
            <a:r>
              <a:t>Sénat, question qSEQ241000269 : https://www.senat.fr/questions/base/2024/qSEQ241000269.html</a:t>
            </a:r>
          </a:p>
          <a:p>
            <a:r>
              <a:t>DREES, Les dépenses de santé en 2024, édition 2025, fiche 02, Les soins hospitaliers : https://drees.solidarites-sante.gouv.fr/sites/default/files/2025-12/CNS%20-%20Fiche%2002%20-%20Les%20soins%20hospitaliers.pdf</a:t>
            </a:r>
          </a:p>
          <a:p>
            <a:r>
              <a:t>GIE SESAM-Vitale, ROC Établissements : https://www.sesam-vitale.fr/en/roc-es</a:t>
            </a:r>
          </a:p>
          <a:p>
            <a:r>
              <a:t>Groupe VYV, Le dispositif ROC : où en est-on ? https://www.groupe-vyv.fr/informations/le-dispositif-roc-ou-en-est-on/</a:t>
            </a:r>
          </a:p>
          <a:p>
            <a:r>
              <a:t>FHP-MCO, 21/07/2025 : https://www.fhpmco.fr/2025/07/21/roc-place-aux-cliniques-et-hopitaux-prives/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code 2111 couvre les frais d’hébergement et environnement en GHS, en clinique, principalement chirurgie, médecine et obstétrique. AMO de droit commun : 80 % du tarif, sauf exonération, expliquant une part AMO agrégée proche de 96 %. Le reste après AMO est essentiellement le ticket modérateur.</a:t>
            </a:r>
          </a:p>
          <a:p>
            <a:r>
              <a:t>Année de soins 2023/2024 : dépense +2,7 %, AMO +2,7 %, reste après AMO +2,4 %. Volume +2,0 %, dépense moyenne par unité +0,6 %. Année de règlement : dépense +3,0 % en 2024 et +3,8 % en 2025, AMO +3,0 % puis +3,8 %, reste après AMO +2,9 % puis +3,6 %. Pas de bosse de calendrier comparable à celle de la rééducation.</a:t>
            </a:r>
          </a:p>
          <a:p>
            <a:r>
              <a:t>2025 en année de soins est observée au 31/12/2025, liquidée à environ 90 %. Aucune baisse de consommation ne peut être déduite du point 2025 incomplet. Cadence de référence 2024 : 91,3 %. Tous les montants et taux proviennent des tableaux fournis. Les variations sont calculées sur les données non arrondies dans l’analyse, pas sur les montants arrondis de la slide.</a:t>
            </a:r>
          </a:p>
          <a:p/>
          <a:p>
            <a:r>
              <a:t>Sources</a:t>
            </a:r>
          </a:p>
          <a:p>
            <a:r>
              <a:t>Cnam, Open DAMIR. Données et définitions : analyse fournie, docs/ETUDE_HOSPITALISATION_PAR_POSTE.md et docs/ETUDE_HOSPITALISATION_2022_2025.md.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Champ reconstruit : anciens codes 2211 et 2339, code 2110 et prestations présentes parmi 3145 à 3156. L’ancien champ conserve probablement de la psychiatrie privée et d’autres prix de journée après 2023. Cette limite empêche d’assimiler parfaitement le bloc à l’ensemble des SMR privés. La dotation populationnelle 2192 est exclue.</a:t>
            </a:r>
          </a:p>
          <a:p>
            <a:r>
              <a:t>En 2024, le code 2211 passe de 3 326 à 967 M€, le code 2110 apparaît à 1 432 M€, les codes 31xx montent en charge de février à juin. Nouveau financement au 01/01/2024. La hausse de dépense de 13,1 % en année de soins ne mesure pas une hausse équivalente d’activité. La DREES mesure +1,0 % d’activité SMR privée. AMO +13,9 %, reste après AMO +8,5 %.</a:t>
            </a:r>
          </a:p>
          <a:p>
            <a:r>
              <a:t>Année de règlement 2024 : dépense +5,9 %, AMO +7,3 %, reste après AMO −2,0 %. En 2025 : dépense +27,2 %, AMO +26,3 %, reste après AMO +33,2 %. La cadence AMO ralentit de 89,0 % (2023) à 84,4 % (2024), cohérente avec un rattrapage en 2025. Le calendrier constitue une explication, pas une mesure causale isolée du montant du rattrapage.</a:t>
            </a:r>
          </a:p>
          <a:p>
            <a:r>
              <a:t>Année de soins 2025 observée : dépense +4,1 %, AMO +3,7 %, reste après AMO +6,8 %. Sensibilité à maturité : montant observé divisé par une part liquidée comprise entre 84 et 89 %, soit dépense +17 à +23 %, reste après AMO +20 à +27 %. Il s’agit d’un ordre de grandeur sensible à la stabilité de la cadence, pas d’un niveau acquis. Même facteur appliqué à la dépense et à l’AMO : part AMO inchangée par construction. Ces montants ne sont pas une projection ROC.</a:t>
            </a:r>
          </a:p>
          <a:p/>
          <a:p>
            <a:r>
              <a:t>Sources</a:t>
            </a:r>
          </a:p>
          <a:p>
            <a:r>
              <a:t>Cnam, Open DAMIR. Données et définitions : analyse fournie, docs/ETUDE_HOSPITALISATION_PAR_POSTE.md et docs/ETUDE_HOSPITALISATION_2022_2025.md.</a:t>
            </a:r>
          </a:p>
          <a:p>
            <a:r>
              <a:t>Sénat, question qSEQ241000269 : https://www.senat.fr/questions/base/2024/qSEQ241000269.html</a:t>
            </a:r>
          </a:p>
          <a:p>
            <a:r>
              <a:t>DREES, Les dépenses de santé en 2024, édition 2025, fiche 02, Les soins hospitaliers : https://drees.solidarites-sante.gouv.fr/sites/default/files/2025-12/CNS%20-%20Fiche%2002%20-%20Les%20soins%20hospitaliers.pdf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montants agrégés de reste après AMO se déplacent vers les moins de 60 ans. 2023/2024 : 0–19 ans ×3,8, 20–29 ans ×2,2, 30–39 ans ×3,0, 40–49 ans ×2,0, 50–59 ans +31 %, 60–69 ans +2 %, 70–79 ans −12 %, 80 ans et plus −31 %. Les tranches les plus âgées restent porteuses de montants élevés.</a:t>
            </a:r>
          </a:p>
          <a:p>
            <a:r>
              <a:t>Hypothèse proposée par l’analyse : tarifs nationaux plus élevés que l’ancien prix de journée sur certaines rééducations ordinaires, combinés à des exonérations plus fréquentes chez les patients âgés. DAMIR ne démontre pas ce mécanisme et les montants ne sont pas rapportés au nombre d’assurés ou de séjours. La hausse chez les âges actifs peut exposer davantage un contrat collectif, mais ne constitue pas une estimation du risque individuel ni de la charge Groupama.</a:t>
            </a:r>
          </a:p>
          <a:p>
            <a:r>
              <a:t>Les découpages ALD et sexe de l’analyse de travail donnent hors ALD +8,6 %, ALD −21 %, femmes +4,3 %, hommes −4,0 %. Ils ne sont pas présentés comme une décomposition additive du +8,5 % global : leurs périmètres et dénominateurs demandent une réconciliation avant interprétation. Les montants par âge, arrondis, ne somment pas exactement aux totaux affichés.</a:t>
            </a:r>
          </a:p>
          <a:p/>
          <a:p>
            <a:r>
              <a:t>Sources</a:t>
            </a:r>
          </a:p>
          <a:p>
            <a:r>
              <a:t>Cnam, Open DAMIR. Données et définitions : analyse fournie, docs/ETUDE_HOSPITALISATION_PAR_POSTE.md et docs/ETUDE_HOSPITALISATION_2022_2025.md.</a:t>
            </a:r>
          </a:p>
          <a:p>
            <a:r>
              <a:t>Sénat, question qSEQ241000269 : https://www.senat.fr/questions/base/2024/qSEQ241000269.html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poste Hospitalisation Honoraires est dominé à environ 95 % par le code 1323, Acte d’anesthésie CCAM. Les montants portent sur le poste entier. Le reste après AMO est presque entièrement constitué de dépassements : 480 M€ de reste pour 478 M€ de dépassements en 2024, 499 M€ pour 498 M€ en 2025 observée.</a:t>
            </a:r>
          </a:p>
          <a:p>
            <a:r>
              <a:t>Année de soins 2023/2024 : dépense +4,5 %, AMO +1,9 %, reste après AMO +9,9 %, dépassements +10,3 %, part AMO −1,7 point, part des dépassements +1,8 point. 2025 observée : dépense +1,1 %, AMO −0,5 %, reste +4,1 %, dépassements +4,2 %.</a:t>
            </a:r>
          </a:p>
          <a:p>
            <a:r>
              <a:t>À maturité 2025, sous cadence AMO 2024 de 93,9 % : dépense 1 489 M€ (+7,7 %), reste après AMO 532 M€ (+10,8 %). Formule : montant observé divisé par 93,9 %, à partir des montants non arrondis. Même facteur appliqué à la dépense et au remboursement, donc part AMO inchangée. Cette hypothèse ne simule pas une déformation ROC.</a:t>
            </a:r>
          </a:p>
          <a:p>
            <a:r>
              <a:t>Année de règlement 2024 puis 2025 : dépense +4,7 % puis +7,1 %, AMO +2,2 % puis +5,6 %, reste après AMO +9,9 % chaque année, dépassements +10,4 % puis +10,0 %. Volume d’actes +1,1 % en 2024. Dépassements +9 à +13 % dans chaque tranche d’âge : une hausse diffuse, compatible avec un effet de prix. La stabilité de la cadence AMO et la convergence des deux datations ne montrent pas de bosse de calendrier comparable à la rééducation.</a:t>
            </a:r>
          </a:p>
          <a:p>
            <a:r>
              <a:t>Les honoraires de chirurgie CCAM 1321, hors du poste, représentent dans l’analyse environ 1,2 Md€ de dépassements et +8 % en 2024, avec un mélange cabinet/clinique. DREES : les honoraires de tous les praticiens en clinique atteignent 6,6 Md€ (+4,5 %). L’anesthésie n’en est qu’une partie.</a:t>
            </a:r>
          </a:p>
          <a:p/>
          <a:p>
            <a:r>
              <a:t>Sources</a:t>
            </a:r>
          </a:p>
          <a:p>
            <a:r>
              <a:t>Cnam, Open DAMIR. Données et définitions : analyse fournie, docs/ETUDE_HOSPITALISATION_PAR_POSTE.md et docs/ETUDE_HOSPITALISATION_2022_2025.md.</a:t>
            </a:r>
          </a:p>
          <a:p>
            <a:r>
              <a:t>DREES, Les dépenses de santé en 2024, édition 2025, fiche 02, Les soins hospitaliers : https://drees.solidarites-sante.gouv.fr/sites/default/files/2025-12/CNS%20-%20Fiche%2002%20-%20Les%20soins%20hospitaliers.pdf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dégradation apparente n’oppose pas mécaniquement ROC et dérive. La lecture fournie situe une hausse des dépassements, une hausse réglementaire du reste après AMO en rééducation et un rattrapage de facturation du privé. Le ROC est un effet attendu sur le canal complémentaire, surtout public en 2025, à établir sur les flux Groupama. Ces composantes ne sont pas des montants causaux additifs estimés par DAMIR.</a:t>
            </a:r>
          </a:p>
          <a:p>
            <a:r>
              <a:t>Le ticket modérateur de rééducation en 2025 à maturité pourrait progresser de +20 à +27 %, sous hypothèse de cadence stable entre 84 et 89 %. Cette sensibilité ne doit pas devenir un taux tarifaire sans analyse des garanties, de l’exposition et du partage patient/AMC. Les séjours ordinaires code 2111 ne montrent pas de dérive forte ni de bosse de calendrier.</a:t>
            </a:r>
          </a:p>
          <a:p>
            <a:r>
              <a:t>Données nécessaires : établissement, secteur public/privé, date de soins, date de facturation, date de règlement, statut et date de raccordement ROC, montants et rejets. Calculer les cadences AMC 2023 et 2024, puis appliquer un scénario de déformation au seul champ public concerné, pondéré par l’exposition réelle. Les taux de déploiement externes ne suffisent pas à chiffrer la part du ROC.</a:t>
            </a:r>
          </a:p>
          <a:p>
            <a:r>
              <a:t>Une hausse durable en année de soins peut justifier une action tarifaire selon les garanties. Une avance de règlement se traite dans les triangles et les PSAP. La baisse des rejets impose de distinguer reprise ponctuelle du stock et évolution durable des paiements. Aucun taux automatique de revalorisation ni montant de PSAP n’est déduit ici.</a:t>
            </a:r>
          </a:p>
          <a:p/>
          <a:p>
            <a:r>
              <a:t>Sources</a:t>
            </a:r>
          </a:p>
          <a:p>
            <a:r>
              <a:t>Cnam, Open DAMIR. Données et définitions : analyse fournie, docs/ETUDE_HOSPITALISATION_PAR_POSTE.md et docs/ETUDE_HOSPITALISATION_2022_2025.md.</a:t>
            </a:r>
          </a:p>
          <a:p>
            <a:r>
              <a:t>GIE SESAM-Vitale, ROC Établissements : https://www.sesam-vitale.fr/en/roc-es</a:t>
            </a:r>
          </a:p>
          <a:p>
            <a:r>
              <a:t>Groupe VYV, Le dispositif ROC : où en est-on ? https://www.groupe-vyv.fr/informations/le-dispositif-roc-ou-en-est-on/</a:t>
            </a:r>
          </a:p>
          <a:p>
            <a:r>
              <a:t>FHP-MCO, 21/07/2025 : https://www.fhpmco.fr/2025/07/21/roc-place-aux-cliniques-et-hopitaux-prives/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Sources</a:t>
            </a:r>
          </a:p>
          <a:p>
            <a:r>
              <a:t>Cnam, Open DAMIR. Données et définitions : analyse fournie, docs/ETUDE_HOSPITALISATION_PAR_POSTE.md et docs/ETUDE_HOSPITALISATION_2022_2025.md.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3.png"/><Relationship Id="rId9" Type="http://schemas.openxmlformats.org/officeDocument/2006/relationships/image" Target="../media/image11.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age de gar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Title 1">
            <a:extLst>
              <a:ext uri="{FF2B5EF4-FFF2-40B4-BE49-F238E27FC236}">
                <a16:creationId xmlns:a16="http://schemas.microsoft.com/office/drawing/2014/main" id="{CFD46FB4-C0CA-EDE2-E921-77BDA1EB87F4}"/>
              </a:ext>
            </a:extLst>
          </p:cNvPr>
          <p:cNvSpPr>
            <a:spLocks noGrp="1"/>
          </p:cNvSpPr>
          <p:nvPr>
            <p:ph type="ctrTitle" hasCustomPrompt="1"/>
          </p:nvPr>
        </p:nvSpPr>
        <p:spPr>
          <a:xfrm>
            <a:off x="254298" y="2461496"/>
            <a:ext cx="3812404" cy="1051024"/>
          </a:xfrm>
        </p:spPr>
        <p:txBody>
          <a:bodyPr wrap="square" lIns="0" tIns="0" rIns="0" bIns="0" anchor="b" anchorCtr="0">
            <a:noAutofit/>
          </a:bodyPr>
          <a:lstStyle>
            <a:lvl1pPr algn="l">
              <a:defRPr sz="2000" b="0" cap="none">
                <a:solidFill>
                  <a:schemeClr val="tx2">
                    <a:lumMod val="75000"/>
                    <a:lumOff val="25000"/>
                  </a:schemeClr>
                </a:solidFill>
                <a:latin typeface="Montserrat" panose="00000500000000000000" pitchFamily="2" charset="0"/>
              </a:defRPr>
            </a:lvl1pPr>
          </a:lstStyle>
          <a:p>
            <a:r>
              <a:rPr lang="fr-FR"/>
              <a:t>Titre de la présentation</a:t>
            </a:r>
            <a:br>
              <a:rPr lang="fr-FR"/>
            </a:br>
            <a:endParaRPr lang="en-US"/>
          </a:p>
        </p:txBody>
      </p:sp>
      <p:sp>
        <p:nvSpPr>
          <p:cNvPr id="6" name="Espace réservé du texte 8">
            <a:extLst>
              <a:ext uri="{FF2B5EF4-FFF2-40B4-BE49-F238E27FC236}">
                <a16:creationId xmlns:a16="http://schemas.microsoft.com/office/drawing/2014/main" id="{51627032-873D-A117-0872-22E71C6A35B7}"/>
              </a:ext>
            </a:extLst>
          </p:cNvPr>
          <p:cNvSpPr>
            <a:spLocks noGrp="1"/>
          </p:cNvSpPr>
          <p:nvPr>
            <p:ph type="body" sz="quarter" idx="11" hasCustomPrompt="1"/>
          </p:nvPr>
        </p:nvSpPr>
        <p:spPr>
          <a:xfrm>
            <a:off x="254298" y="942453"/>
            <a:ext cx="3835264" cy="333602"/>
          </a:xfrm>
          <a:prstGeom prst="rect">
            <a:avLst/>
          </a:prstGeom>
        </p:spPr>
        <p:txBody>
          <a:bodyPr lIns="0" tIns="0" rIns="0" bIns="0">
            <a:noAutofit/>
          </a:bodyPr>
          <a:lstStyle>
            <a:lvl1pPr marL="0" indent="0" algn="l">
              <a:buNone/>
              <a:defRPr lang="fr-FR" sz="2000" b="0" kern="1200" cap="all" baseline="0" dirty="0" smtClean="0">
                <a:solidFill>
                  <a:schemeClr val="tx1"/>
                </a:solidFill>
                <a:latin typeface="Montserrat" panose="00000500000000000000" pitchFamily="2" charset="0"/>
                <a:ea typeface="+mj-ea"/>
                <a:cs typeface="+mj-cs"/>
              </a:defRPr>
            </a:lvl1pPr>
          </a:lstStyle>
          <a:p>
            <a:pPr lvl="0"/>
            <a:r>
              <a:rPr lang="fr-FR"/>
              <a:t>NOM OU LOGO DU CLIENT</a:t>
            </a:r>
          </a:p>
        </p:txBody>
      </p:sp>
      <p:sp>
        <p:nvSpPr>
          <p:cNvPr id="7" name="Text Placeholder 7">
            <a:extLst>
              <a:ext uri="{FF2B5EF4-FFF2-40B4-BE49-F238E27FC236}">
                <a16:creationId xmlns:a16="http://schemas.microsoft.com/office/drawing/2014/main" id="{F3EA966D-D86B-4318-68E8-FB70874607F6}"/>
              </a:ext>
            </a:extLst>
          </p:cNvPr>
          <p:cNvSpPr>
            <a:spLocks noGrp="1"/>
          </p:cNvSpPr>
          <p:nvPr>
            <p:ph type="body" sz="quarter" idx="13" hasCustomPrompt="1"/>
          </p:nvPr>
        </p:nvSpPr>
        <p:spPr>
          <a:xfrm>
            <a:off x="254298" y="3865627"/>
            <a:ext cx="2653486" cy="169277"/>
          </a:xfrm>
          <a:prstGeom prst="rect">
            <a:avLst/>
          </a:prstGeom>
          <a:noFill/>
          <a:effectLst/>
        </p:spPr>
        <p:txBody>
          <a:bodyPr wrap="square" lIns="0" tIns="0" rIns="0" bIns="0" anchor="ctr" anchorCtr="0">
            <a:spAutoFit/>
          </a:bodyPr>
          <a:lstStyle>
            <a:lvl1pPr marL="0" indent="0" algn="l">
              <a:buNone/>
              <a:defRPr sz="11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Date</a:t>
            </a:r>
            <a:endParaRPr lang="en-US"/>
          </a:p>
        </p:txBody>
      </p:sp>
      <p:sp>
        <p:nvSpPr>
          <p:cNvPr id="9" name="Text Placeholder 7">
            <a:extLst>
              <a:ext uri="{FF2B5EF4-FFF2-40B4-BE49-F238E27FC236}">
                <a16:creationId xmlns:a16="http://schemas.microsoft.com/office/drawing/2014/main" id="{A8B5F414-C7A0-5E0C-F4A9-36EDA944515C}"/>
              </a:ext>
            </a:extLst>
          </p:cNvPr>
          <p:cNvSpPr>
            <a:spLocks noGrp="1"/>
          </p:cNvSpPr>
          <p:nvPr>
            <p:ph type="body" sz="quarter" idx="14" hasCustomPrompt="1"/>
          </p:nvPr>
        </p:nvSpPr>
        <p:spPr>
          <a:xfrm>
            <a:off x="254298" y="3591234"/>
            <a:ext cx="2653486" cy="184666"/>
          </a:xfrm>
          <a:prstGeom prst="rect">
            <a:avLst/>
          </a:prstGeom>
          <a:noFill/>
          <a:effectLst/>
        </p:spPr>
        <p:txBody>
          <a:bodyPr wrap="square" lIns="0" tIns="0" rIns="0" bIns="0" anchor="ctr" anchorCtr="0">
            <a:spAutoFit/>
          </a:bodyPr>
          <a:lstStyle>
            <a:lvl1pPr marL="0" indent="0" algn="l">
              <a:buNone/>
              <a:defRPr sz="12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Proposition d’accompagnement</a:t>
            </a:r>
          </a:p>
        </p:txBody>
      </p:sp>
      <p:grpSp>
        <p:nvGrpSpPr>
          <p:cNvPr id="11" name="Groupe 10">
            <a:extLst>
              <a:ext uri="{FF2B5EF4-FFF2-40B4-BE49-F238E27FC236}">
                <a16:creationId xmlns:a16="http://schemas.microsoft.com/office/drawing/2014/main" id="{C846A676-5CF5-1CE5-ADA1-7C1913CF3291}"/>
              </a:ext>
            </a:extLst>
          </p:cNvPr>
          <p:cNvGrpSpPr>
            <a:grpSpLocks noChangeAspect="1"/>
          </p:cNvGrpSpPr>
          <p:nvPr/>
        </p:nvGrpSpPr>
        <p:grpSpPr>
          <a:xfrm>
            <a:off x="6267753" y="3760840"/>
            <a:ext cx="2764534" cy="828000"/>
            <a:chOff x="4608564" y="2308123"/>
            <a:chExt cx="1649613" cy="494072"/>
          </a:xfrm>
        </p:grpSpPr>
        <p:pic>
          <p:nvPicPr>
            <p:cNvPr id="12" name="Image 11" descr="Une image contenant texte, Police, Graphique, typographie  Description générée automatiquement">
              <a:extLst>
                <a:ext uri="{FF2B5EF4-FFF2-40B4-BE49-F238E27FC236}">
                  <a16:creationId xmlns:a16="http://schemas.microsoft.com/office/drawing/2014/main" id="{21E21DBE-0BBD-7172-85E8-48E7FF315C8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3" name="Image 12" descr="Une image contenant texte, Police, Graphique, typographie  Description générée automatiquement">
              <a:extLst>
                <a:ext uri="{FF2B5EF4-FFF2-40B4-BE49-F238E27FC236}">
                  <a16:creationId xmlns:a16="http://schemas.microsoft.com/office/drawing/2014/main" id="{6BAD7092-7117-DA69-E60A-B7BBC801CE9E}"/>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2" name="Espace réservé du pied de page 1">
            <a:extLst>
              <a:ext uri="{FF2B5EF4-FFF2-40B4-BE49-F238E27FC236}">
                <a16:creationId xmlns:a16="http://schemas.microsoft.com/office/drawing/2014/main" id="{66EEEA6F-B229-E928-FF28-A19EE77C7B7B}"/>
              </a:ext>
            </a:extLst>
          </p:cNvPr>
          <p:cNvSpPr>
            <a:spLocks noGrp="1"/>
          </p:cNvSpPr>
          <p:nvPr>
            <p:ph type="ftr" sz="quarter" idx="15"/>
          </p:nvPr>
        </p:nvSpPr>
        <p:spPr>
          <a:xfrm>
            <a:off x="3028950" y="5405488"/>
            <a:ext cx="3086100" cy="303212"/>
          </a:xfrm>
          <a:prstGeom prst="rect">
            <a:avLst/>
          </a:prstGeom>
        </p:spPr>
        <p:txBody>
          <a:bodyPr/>
          <a:lstStyle/>
          <a:p>
            <a:endParaRPr lang="fr-FR"/>
          </a:p>
        </p:txBody>
      </p:sp>
    </p:spTree>
    <p:extLst>
      <p:ext uri="{BB962C8B-B14F-4D97-AF65-F5344CB8AC3E}">
        <p14:creationId xmlns:p14="http://schemas.microsoft.com/office/powerpoint/2010/main" val="162183943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ercalai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9" name="Espace réservé du texte 8">
            <a:extLst>
              <a:ext uri="{FF2B5EF4-FFF2-40B4-BE49-F238E27FC236}">
                <a16:creationId xmlns:a16="http://schemas.microsoft.com/office/drawing/2014/main" id="{28D3956E-F1FF-3942-FC61-6244C52F5059}"/>
              </a:ext>
            </a:extLst>
          </p:cNvPr>
          <p:cNvSpPr>
            <a:spLocks noGrp="1"/>
          </p:cNvSpPr>
          <p:nvPr>
            <p:ph type="body" sz="quarter" idx="11" hasCustomPrompt="1"/>
          </p:nvPr>
        </p:nvSpPr>
        <p:spPr>
          <a:xfrm>
            <a:off x="228600" y="1574913"/>
            <a:ext cx="3825240" cy="1572148"/>
          </a:xfrm>
          <a:prstGeom prst="rect">
            <a:avLst/>
          </a:prstGeom>
        </p:spPr>
        <p:txBody>
          <a:bodyPr>
            <a:noAutofit/>
          </a:bodyPr>
          <a:lstStyle>
            <a:lvl1pPr marL="0" indent="0" algn="l">
              <a:buNone/>
              <a:defRPr lang="fr-FR" sz="12450" b="0" kern="1200" cap="all" baseline="0" dirty="0" smtClean="0">
                <a:solidFill>
                  <a:schemeClr val="tx1">
                    <a:alpha val="10000"/>
                  </a:schemeClr>
                </a:solidFill>
                <a:latin typeface="Montserrat" panose="00000500000000000000" pitchFamily="2" charset="0"/>
                <a:ea typeface="+mj-ea"/>
                <a:cs typeface="+mj-cs"/>
              </a:defRPr>
            </a:lvl1pPr>
          </a:lstStyle>
          <a:p>
            <a:pPr lvl="0"/>
            <a:r>
              <a:rPr lang="fr-FR"/>
              <a:t>01</a:t>
            </a:r>
          </a:p>
        </p:txBody>
      </p:sp>
      <p:sp>
        <p:nvSpPr>
          <p:cNvPr id="20" name="Title 1">
            <a:extLst>
              <a:ext uri="{FF2B5EF4-FFF2-40B4-BE49-F238E27FC236}">
                <a16:creationId xmlns:a16="http://schemas.microsoft.com/office/drawing/2014/main" id="{93EC054C-0A61-C5E2-E040-E68118427BDA}"/>
              </a:ext>
            </a:extLst>
          </p:cNvPr>
          <p:cNvSpPr>
            <a:spLocks noGrp="1"/>
          </p:cNvSpPr>
          <p:nvPr>
            <p:ph type="ctrTitle" hasCustomPrompt="1"/>
          </p:nvPr>
        </p:nvSpPr>
        <p:spPr>
          <a:xfrm>
            <a:off x="228600" y="3239036"/>
            <a:ext cx="4366260" cy="403324"/>
          </a:xfrm>
        </p:spPr>
        <p:txBody>
          <a:bodyPr wrap="square" lIns="108000" tIns="0" bIns="0" anchor="t" anchorCtr="0">
            <a:noAutofit/>
          </a:bodyPr>
          <a:lstStyle>
            <a:lvl1pPr algn="l">
              <a:defRPr sz="2400" b="0" cap="none">
                <a:solidFill>
                  <a:schemeClr val="tx2">
                    <a:lumMod val="75000"/>
                    <a:lumOff val="25000"/>
                  </a:schemeClr>
                </a:solidFill>
                <a:latin typeface="Montserrat" panose="00000500000000000000" pitchFamily="2" charset="0"/>
              </a:defRPr>
            </a:lvl1pPr>
          </a:lstStyle>
          <a:p>
            <a:r>
              <a:rPr lang="fr-FR"/>
              <a:t>Titre intercalaire</a:t>
            </a:r>
            <a:br>
              <a:rPr lang="fr-FR"/>
            </a:br>
            <a:br>
              <a:rPr lang="fr-FR"/>
            </a:br>
            <a:br>
              <a:rPr lang="fr-FR"/>
            </a:br>
            <a:endParaRPr lang="en-US"/>
          </a:p>
        </p:txBody>
      </p:sp>
      <p:sp>
        <p:nvSpPr>
          <p:cNvPr id="21" name="Espace réservé du texte 16">
            <a:extLst>
              <a:ext uri="{FF2B5EF4-FFF2-40B4-BE49-F238E27FC236}">
                <a16:creationId xmlns:a16="http://schemas.microsoft.com/office/drawing/2014/main" id="{F6D2FFEF-8060-31E4-4439-6CE81B8BF862}"/>
              </a:ext>
            </a:extLst>
          </p:cNvPr>
          <p:cNvSpPr>
            <a:spLocks noGrp="1"/>
          </p:cNvSpPr>
          <p:nvPr>
            <p:ph type="body" sz="quarter" idx="12" hasCustomPrompt="1"/>
          </p:nvPr>
        </p:nvSpPr>
        <p:spPr>
          <a:xfrm>
            <a:off x="228918" y="3657918"/>
            <a:ext cx="4365942" cy="631825"/>
          </a:xfrm>
          <a:prstGeom prst="rect">
            <a:avLst/>
          </a:prstGeom>
        </p:spPr>
        <p:txBody>
          <a:bodyPr>
            <a:noAutofit/>
          </a:bodyPr>
          <a:lstStyle>
            <a:lvl1pPr marL="540000">
              <a:buClr>
                <a:schemeClr val="tx1"/>
              </a:buClr>
              <a:buSzPct val="60000"/>
              <a:defRPr/>
            </a:lvl1pPr>
          </a:lstStyle>
          <a:p>
            <a:pPr lvl="0"/>
            <a:r>
              <a:rPr lang="fr-FR"/>
              <a:t>Sous-titres</a:t>
            </a:r>
          </a:p>
        </p:txBody>
      </p:sp>
      <p:sp>
        <p:nvSpPr>
          <p:cNvPr id="2" name="Espace réservé du pied de page 1">
            <a:extLst>
              <a:ext uri="{FF2B5EF4-FFF2-40B4-BE49-F238E27FC236}">
                <a16:creationId xmlns:a16="http://schemas.microsoft.com/office/drawing/2014/main" id="{B1A68E45-4541-607F-B467-5BEFDE131906}"/>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98655974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avec spirale">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tx2">
                  <a:lumMod val="75000"/>
                  <a:lumOff val="25000"/>
                </a:schemeClr>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6" name="Espace réservé du contenu 5">
            <a:extLst>
              <a:ext uri="{FF2B5EF4-FFF2-40B4-BE49-F238E27FC236}">
                <a16:creationId xmlns:a16="http://schemas.microsoft.com/office/drawing/2014/main" id="{B5BBE27A-16A9-4A48-8A0F-5D850CC61169}"/>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grpSp>
        <p:nvGrpSpPr>
          <p:cNvPr id="13" name="Groupe 12">
            <a:extLst>
              <a:ext uri="{FF2B5EF4-FFF2-40B4-BE49-F238E27FC236}">
                <a16:creationId xmlns:a16="http://schemas.microsoft.com/office/drawing/2014/main" id="{545FE815-CF02-9932-C2A7-2567392C6422}"/>
              </a:ext>
            </a:extLst>
          </p:cNvPr>
          <p:cNvGrpSpPr/>
          <p:nvPr/>
        </p:nvGrpSpPr>
        <p:grpSpPr>
          <a:xfrm>
            <a:off x="7322267" y="184355"/>
            <a:ext cx="1649613" cy="494072"/>
            <a:chOff x="4608564" y="2308123"/>
            <a:chExt cx="1649613" cy="494072"/>
          </a:xfrm>
        </p:grpSpPr>
        <p:pic>
          <p:nvPicPr>
            <p:cNvPr id="7" name="Image 6" descr="Une image contenant texte, Police, Graphique, typographie  Description générée automatiquement">
              <a:extLst>
                <a:ext uri="{FF2B5EF4-FFF2-40B4-BE49-F238E27FC236}">
                  <a16:creationId xmlns:a16="http://schemas.microsoft.com/office/drawing/2014/main" id="{B65ED365-A332-949C-DAE1-B0F3A1940B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2" name="Image 11" descr="Une image contenant texte, Police, Graphique, typographie  Description générée automatiquement">
              <a:extLst>
                <a:ext uri="{FF2B5EF4-FFF2-40B4-BE49-F238E27FC236}">
                  <a16:creationId xmlns:a16="http://schemas.microsoft.com/office/drawing/2014/main" id="{C32823C7-EC42-1314-F44F-DB1D541EF9D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3" name="Espace réservé du pied de page 1">
            <a:extLst>
              <a:ext uri="{FF2B5EF4-FFF2-40B4-BE49-F238E27FC236}">
                <a16:creationId xmlns:a16="http://schemas.microsoft.com/office/drawing/2014/main" id="{9AD2453F-DCB3-C5FA-A6E5-422DD68599E0}"/>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2158598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avec spirale sans logo">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87C702FD-75B5-67AC-15A2-9482A3FC6757}"/>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1">
            <a:extLst>
              <a:ext uri="{FF2B5EF4-FFF2-40B4-BE49-F238E27FC236}">
                <a16:creationId xmlns:a16="http://schemas.microsoft.com/office/drawing/2014/main" id="{3880DA7C-5C20-FD6D-43B8-C637C16B83AB}"/>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97958729"/>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C5E984FB-1D01-5BFB-372D-2554912F1B7A}"/>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FBA45E2E-ACFA-E174-4C82-5FE876AB1BD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8" name="Image 7" descr="Une image contenant texte, Police, Graphique, typographie  Description générée automatiquement">
              <a:extLst>
                <a:ext uri="{FF2B5EF4-FFF2-40B4-BE49-F238E27FC236}">
                  <a16:creationId xmlns:a16="http://schemas.microsoft.com/office/drawing/2014/main" id="{FC00D8FC-0221-4F2E-37BB-7BAB308341D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944BC296-B3F2-358C-D8CD-11085DDE5B8A}"/>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37FA246-7A32-53BB-F3A8-086881CC6B4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57824318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71FFDB42-8AD4-6D11-C9E0-33F0D1441F44}"/>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ED7D41F5-D384-7B80-7AF6-6037FCFD8CD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7" name="Image 6" descr="Une image contenant texte, Police, Graphique, typographie  Description générée automatiquement">
              <a:extLst>
                <a:ext uri="{FF2B5EF4-FFF2-40B4-BE49-F238E27FC236}">
                  <a16:creationId xmlns:a16="http://schemas.microsoft.com/office/drawing/2014/main" id="{AE307396-59EC-B90F-C340-421A98BC539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6F8212AB-C114-A4AF-6897-CAD8B3D9BCCC}"/>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883194D1-66B5-7A48-D651-C12ED0399F8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1006049905"/>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u sans spirale sans logo">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9" name="Espace réservé du contenu 5">
            <a:extLst>
              <a:ext uri="{FF2B5EF4-FFF2-40B4-BE49-F238E27FC236}">
                <a16:creationId xmlns:a16="http://schemas.microsoft.com/office/drawing/2014/main" id="{F3C49862-DC55-CED8-3803-56C01AF2C893}"/>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8037D0B-15D9-AB15-2F2D-EAD4B6D5376C}"/>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403212092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vide avec spira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A831F68-AE6C-BB4B-3A49-3D1B539D1422}"/>
              </a:ext>
            </a:extLst>
          </p:cNvPr>
          <p:cNvSpPr/>
          <p:nvPr/>
        </p:nvSpPr>
        <p:spPr>
          <a:xfrm>
            <a:off x="7429963" y="5134708"/>
            <a:ext cx="1708220" cy="5802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 name="Slide Number Placeholder 5">
            <a:extLst>
              <a:ext uri="{FF2B5EF4-FFF2-40B4-BE49-F238E27FC236}">
                <a16:creationId xmlns:a16="http://schemas.microsoft.com/office/drawing/2014/main" id="{046B3D01-12E7-4372-77B4-33DC4FBE7626}"/>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E2AC66CF-8BC3-041B-AEB1-06A386F9B962}"/>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pied de page 1">
            <a:extLst>
              <a:ext uri="{FF2B5EF4-FFF2-40B4-BE49-F238E27FC236}">
                <a16:creationId xmlns:a16="http://schemas.microsoft.com/office/drawing/2014/main" id="{0BB5075D-3700-AF54-88A8-30C3ECFB4047}"/>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59750828"/>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vide sans spirale">
    <p:bg>
      <p:bgPr>
        <a:solidFill>
          <a:schemeClr val="bg1"/>
        </a:solidFill>
        <a:effectLst/>
      </p:bgPr>
    </p:bg>
    <p:spTree>
      <p:nvGrpSpPr>
        <p:cNvPr id="1" name=""/>
        <p:cNvGrpSpPr/>
        <p:nvPr/>
      </p:nvGrpSpPr>
      <p:grpSpPr>
        <a:xfrm>
          <a:off x="0" y="0"/>
          <a:ext cx="0" cy="0"/>
          <a:chOff x="0" y="0"/>
          <a:chExt cx="0" cy="0"/>
        </a:xfrm>
      </p:grpSpPr>
      <p:sp>
        <p:nvSpPr>
          <p:cNvPr id="2" name="Espace réservé du contenu 5">
            <a:extLst>
              <a:ext uri="{FF2B5EF4-FFF2-40B4-BE49-F238E27FC236}">
                <a16:creationId xmlns:a16="http://schemas.microsoft.com/office/drawing/2014/main" id="{2082BF5B-2EE5-EDB6-D3A7-6A1A7CE0353F}"/>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C234FE8D-8D99-C70E-2093-5530462AD0D2}"/>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955670262"/>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V">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18979-ECF8-47D2-7E44-AB88E7C4ADAE}"/>
              </a:ext>
            </a:extLst>
          </p:cNvPr>
          <p:cNvSpPr/>
          <p:nvPr userDrawn="1"/>
        </p:nvSpPr>
        <p:spPr>
          <a:xfrm>
            <a:off x="0" y="0"/>
            <a:ext cx="9144000" cy="1303020"/>
          </a:xfrm>
          <a:prstGeom prst="rect">
            <a:avLst/>
          </a:prstGeom>
          <a:solidFill>
            <a:schemeClr val="accent5">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aphicFrame>
        <p:nvGraphicFramePr>
          <p:cNvPr id="4" name="Tableau 3">
            <a:extLst>
              <a:ext uri="{FF2B5EF4-FFF2-40B4-BE49-F238E27FC236}">
                <a16:creationId xmlns:a16="http://schemas.microsoft.com/office/drawing/2014/main" id="{A7751F3F-A703-D076-F670-0F0E0030A969}"/>
              </a:ext>
            </a:extLst>
          </p:cNvPr>
          <p:cNvGraphicFramePr>
            <a:graphicFrameLocks noGrp="1"/>
          </p:cNvGraphicFramePr>
          <p:nvPr userDrawn="1">
            <p:extLst>
              <p:ext uri="{D42A27DB-BD31-4B8C-83A1-F6EECF244321}">
                <p14:modId xmlns:p14="http://schemas.microsoft.com/office/powerpoint/2010/main" val="1870080960"/>
              </p:ext>
            </p:extLst>
          </p:nvPr>
        </p:nvGraphicFramePr>
        <p:xfrm>
          <a:off x="3807372" y="52848"/>
          <a:ext cx="5336628" cy="1080000"/>
        </p:xfrm>
        <a:graphic>
          <a:graphicData uri="http://schemas.openxmlformats.org/drawingml/2006/table">
            <a:tbl>
              <a:tblPr firstRow="1" bandRow="1">
                <a:tableStyleId>{5C22544A-7EE6-4342-B048-85BDC9FD1C3A}</a:tableStyleId>
              </a:tblPr>
              <a:tblGrid>
                <a:gridCol w="179701">
                  <a:extLst>
                    <a:ext uri="{9D8B030D-6E8A-4147-A177-3AD203B41FA5}">
                      <a16:colId xmlns:a16="http://schemas.microsoft.com/office/drawing/2014/main" val="1542622483"/>
                    </a:ext>
                  </a:extLst>
                </a:gridCol>
                <a:gridCol w="4969392">
                  <a:extLst>
                    <a:ext uri="{9D8B030D-6E8A-4147-A177-3AD203B41FA5}">
                      <a16:colId xmlns:a16="http://schemas.microsoft.com/office/drawing/2014/main" val="2463262433"/>
                    </a:ext>
                  </a:extLst>
                </a:gridCol>
                <a:gridCol w="187535">
                  <a:extLst>
                    <a:ext uri="{9D8B030D-6E8A-4147-A177-3AD203B41FA5}">
                      <a16:colId xmlns:a16="http://schemas.microsoft.com/office/drawing/2014/main" val="3520011117"/>
                    </a:ext>
                  </a:extLst>
                </a:gridCol>
              </a:tblGrid>
              <a:tr h="327272">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marL="252000" marR="0" lvl="0" indent="0" algn="l" defTabSz="457196" rtl="0" eaLnBrk="1" fontAlgn="auto" latinLnBrk="0" hangingPunct="1">
                        <a:lnSpc>
                          <a:spcPct val="100000"/>
                        </a:lnSpc>
                        <a:spcBef>
                          <a:spcPts val="0"/>
                        </a:spcBef>
                        <a:spcAft>
                          <a:spcPts val="600"/>
                        </a:spcAft>
                        <a:buClr>
                          <a:srgbClr val="FB4933"/>
                        </a:buClr>
                        <a:buSzPct val="120000"/>
                        <a:buFont typeface="Arial" panose="020B0604020202020204" pitchFamily="34" charset="0"/>
                        <a:buNone/>
                        <a:tabLst/>
                        <a:defRPr/>
                      </a:pPr>
                      <a:r>
                        <a:rPr lang="fr-FR" sz="1400" b="0" i="0" u="none" strike="noStrike" kern="1200" cap="none" spc="0" normalizeH="0" baseline="0" noProof="0">
                          <a:ln>
                            <a:noFill/>
                          </a:ln>
                          <a:solidFill>
                            <a:schemeClr val="tx2">
                              <a:lumMod val="75000"/>
                              <a:lumOff val="25000"/>
                            </a:schemeClr>
                          </a:solidFill>
                          <a:effectLst/>
                          <a:uLnTx/>
                          <a:uFillTx/>
                          <a:latin typeface="+mj-lt"/>
                        </a:rPr>
                        <a:t>Ses atouts</a:t>
                      </a:r>
                    </a:p>
                    <a:p>
                      <a:pPr marL="36000" marR="0" lvl="1" indent="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None/>
                        <a:tabLst/>
                        <a:defRPr/>
                      </a:pPr>
                      <a:endParaRPr lang="fr-FR" sz="900" b="0" i="0" u="none" strike="noStrike" kern="1200" cap="none" spc="0" normalizeH="0" baseline="0" noProof="0">
                        <a:ln>
                          <a:noFill/>
                        </a:ln>
                        <a:solidFill>
                          <a:schemeClr val="accent4">
                            <a:lumMod val="75000"/>
                          </a:schemeClr>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975704466"/>
                  </a:ext>
                </a:extLst>
              </a:tr>
              <a:tr h="752728">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marL="216000" marR="0" lvl="1" indent="-18000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Char char="•"/>
                        <a:tabLst/>
                        <a:defRPr/>
                      </a:pPr>
                      <a:endParaRPr lang="fr-FR" sz="900" b="0" i="0" u="none" strike="noStrike" kern="1200" cap="none" spc="0" normalizeH="0" baseline="0" noProof="0">
                        <a:ln>
                          <a:noFill/>
                        </a:ln>
                        <a:solidFill>
                          <a:schemeClr val="accent4"/>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2862833"/>
                  </a:ext>
                </a:extLst>
              </a:tr>
            </a:tbl>
          </a:graphicData>
        </a:graphic>
      </p:graphicFrame>
      <p:grpSp>
        <p:nvGrpSpPr>
          <p:cNvPr id="21" name="Groupe 20">
            <a:extLst>
              <a:ext uri="{FF2B5EF4-FFF2-40B4-BE49-F238E27FC236}">
                <a16:creationId xmlns:a16="http://schemas.microsoft.com/office/drawing/2014/main" id="{064DAD38-A797-C470-ECB9-EAC33707FC61}"/>
              </a:ext>
            </a:extLst>
          </p:cNvPr>
          <p:cNvGrpSpPr/>
          <p:nvPr userDrawn="1"/>
        </p:nvGrpSpPr>
        <p:grpSpPr>
          <a:xfrm>
            <a:off x="0" y="-1905"/>
            <a:ext cx="3901440" cy="1295400"/>
            <a:chOff x="0" y="0"/>
            <a:chExt cx="3901440" cy="1295400"/>
          </a:xfrm>
          <a:solidFill>
            <a:schemeClr val="accent3"/>
          </a:solidFill>
        </p:grpSpPr>
        <p:sp>
          <p:nvSpPr>
            <p:cNvPr id="22" name="Parallélogramme 21">
              <a:extLst>
                <a:ext uri="{FF2B5EF4-FFF2-40B4-BE49-F238E27FC236}">
                  <a16:creationId xmlns:a16="http://schemas.microsoft.com/office/drawing/2014/main" id="{6C8BCF4C-A76A-BB47-20D3-AB05B0637CA8}"/>
                </a:ext>
              </a:extLst>
            </p:cNvPr>
            <p:cNvSpPr/>
            <p:nvPr/>
          </p:nvSpPr>
          <p:spPr>
            <a:xfrm>
              <a:off x="0" y="0"/>
              <a:ext cx="3901440" cy="1295400"/>
            </a:xfrm>
            <a:prstGeom prst="parallelogram">
              <a:avLst>
                <a:gd name="adj" fmla="val 40882"/>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3" name="Rectangle 22">
              <a:extLst>
                <a:ext uri="{FF2B5EF4-FFF2-40B4-BE49-F238E27FC236}">
                  <a16:creationId xmlns:a16="http://schemas.microsoft.com/office/drawing/2014/main" id="{DAD679EF-C860-56FC-9087-144476A5FB15}"/>
                </a:ext>
              </a:extLst>
            </p:cNvPr>
            <p:cNvSpPr/>
            <p:nvPr/>
          </p:nvSpPr>
          <p:spPr>
            <a:xfrm>
              <a:off x="0" y="0"/>
              <a:ext cx="2263140" cy="128778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pic>
        <p:nvPicPr>
          <p:cNvPr id="26" name="Graphique 25" descr="Ruban avec un remplissage uni">
            <a:extLst>
              <a:ext uri="{FF2B5EF4-FFF2-40B4-BE49-F238E27FC236}">
                <a16:creationId xmlns:a16="http://schemas.microsoft.com/office/drawing/2014/main" id="{F5AAE304-CAAC-5DEC-7E73-D39862D2E98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967374" y="66040"/>
            <a:ext cx="281552" cy="281552"/>
          </a:xfrm>
          <a:prstGeom prst="rect">
            <a:avLst/>
          </a:prstGeom>
        </p:spPr>
      </p:pic>
      <p:sp>
        <p:nvSpPr>
          <p:cNvPr id="28" name="Espace réservé pour une image  27">
            <a:extLst>
              <a:ext uri="{FF2B5EF4-FFF2-40B4-BE49-F238E27FC236}">
                <a16:creationId xmlns:a16="http://schemas.microsoft.com/office/drawing/2014/main" id="{553725D4-A0BC-66E3-51B3-0D4E1C950372}"/>
              </a:ext>
            </a:extLst>
          </p:cNvPr>
          <p:cNvSpPr>
            <a:spLocks noGrp="1"/>
          </p:cNvSpPr>
          <p:nvPr>
            <p:ph type="pic" sz="quarter" idx="10"/>
          </p:nvPr>
        </p:nvSpPr>
        <p:spPr>
          <a:xfrm>
            <a:off x="115888" y="93190"/>
            <a:ext cx="1008062" cy="1092200"/>
          </a:xfrm>
          <a:prstGeom prst="rect">
            <a:avLst/>
          </a:prstGeom>
        </p:spPr>
        <p:txBody>
          <a:bodyPr/>
          <a:lstStyle>
            <a:lvl1pPr marL="0" indent="0">
              <a:buNone/>
              <a:defRPr/>
            </a:lvl1pPr>
          </a:lstStyle>
          <a:p>
            <a:endParaRPr lang="fr-FR"/>
          </a:p>
        </p:txBody>
      </p:sp>
      <p:sp>
        <p:nvSpPr>
          <p:cNvPr id="2" name="Espace réservé du texte 8">
            <a:extLst>
              <a:ext uri="{FF2B5EF4-FFF2-40B4-BE49-F238E27FC236}">
                <a16:creationId xmlns:a16="http://schemas.microsoft.com/office/drawing/2014/main" id="{DB0F2FFB-83AA-4D28-72E7-5145481AA8AB}"/>
              </a:ext>
            </a:extLst>
          </p:cNvPr>
          <p:cNvSpPr>
            <a:spLocks noGrp="1"/>
          </p:cNvSpPr>
          <p:nvPr>
            <p:ph type="body" sz="quarter" idx="12" hasCustomPrompt="1"/>
          </p:nvPr>
        </p:nvSpPr>
        <p:spPr>
          <a:xfrm>
            <a:off x="1219679" y="85241"/>
            <a:ext cx="2488903"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NOM</a:t>
            </a:r>
          </a:p>
        </p:txBody>
      </p:sp>
      <p:sp>
        <p:nvSpPr>
          <p:cNvPr id="6" name="Espace réservé du texte 8">
            <a:extLst>
              <a:ext uri="{FF2B5EF4-FFF2-40B4-BE49-F238E27FC236}">
                <a16:creationId xmlns:a16="http://schemas.microsoft.com/office/drawing/2014/main" id="{C148EA3B-A067-17D5-7F1F-2B1F1E040300}"/>
              </a:ext>
            </a:extLst>
          </p:cNvPr>
          <p:cNvSpPr>
            <a:spLocks noGrp="1"/>
          </p:cNvSpPr>
          <p:nvPr>
            <p:ph type="body" sz="quarter" idx="14" hasCustomPrompt="1"/>
          </p:nvPr>
        </p:nvSpPr>
        <p:spPr>
          <a:xfrm>
            <a:off x="1219679" y="376188"/>
            <a:ext cx="2359751"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Prénom</a:t>
            </a:r>
          </a:p>
        </p:txBody>
      </p:sp>
      <p:sp>
        <p:nvSpPr>
          <p:cNvPr id="7" name="Espace réservé du texte 8">
            <a:extLst>
              <a:ext uri="{FF2B5EF4-FFF2-40B4-BE49-F238E27FC236}">
                <a16:creationId xmlns:a16="http://schemas.microsoft.com/office/drawing/2014/main" id="{41DC3F8F-65C6-2D2D-DF2F-073A77CECDC6}"/>
              </a:ext>
            </a:extLst>
          </p:cNvPr>
          <p:cNvSpPr>
            <a:spLocks noGrp="1"/>
          </p:cNvSpPr>
          <p:nvPr>
            <p:ph type="body" sz="quarter" idx="15" hasCustomPrompt="1"/>
          </p:nvPr>
        </p:nvSpPr>
        <p:spPr>
          <a:xfrm>
            <a:off x="1219679" y="664621"/>
            <a:ext cx="2269345" cy="175647"/>
          </a:xfrm>
          <a:prstGeom prst="rect">
            <a:avLst/>
          </a:prstGeom>
        </p:spPr>
        <p:txBody>
          <a:bodyPr lIns="0" tIns="0" rIns="0" bIns="0">
            <a:noAutofit/>
          </a:bodyPr>
          <a:lstStyle>
            <a:lvl1pPr marL="0" indent="0" algn="l">
              <a:buNone/>
              <a:defRPr lang="fr-FR" sz="12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FFFFFF"/>
                </a:solidFill>
                <a:effectLst/>
                <a:uLnTx/>
                <a:uFillTx/>
                <a:latin typeface="Montserrat"/>
                <a:ea typeface="+mn-ea"/>
                <a:cs typeface="+mn-cs"/>
              </a:rPr>
              <a:t>Poste</a:t>
            </a:r>
          </a:p>
        </p:txBody>
      </p:sp>
      <p:sp>
        <p:nvSpPr>
          <p:cNvPr id="8" name="Espace réservé du texte 8">
            <a:extLst>
              <a:ext uri="{FF2B5EF4-FFF2-40B4-BE49-F238E27FC236}">
                <a16:creationId xmlns:a16="http://schemas.microsoft.com/office/drawing/2014/main" id="{822DF923-F307-1F85-D956-C518A1699C2D}"/>
              </a:ext>
            </a:extLst>
          </p:cNvPr>
          <p:cNvSpPr>
            <a:spLocks noGrp="1"/>
          </p:cNvSpPr>
          <p:nvPr>
            <p:ph type="body" sz="quarter" idx="16" hasCustomPrompt="1"/>
          </p:nvPr>
        </p:nvSpPr>
        <p:spPr>
          <a:xfrm>
            <a:off x="1219679" y="904398"/>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+33 (0)6 XX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endParaRPr kumimoji="0" lang="fr-FR" sz="900" b="0" i="1" u="none" strike="noStrike" kern="1200" cap="none" spc="0" normalizeH="0" baseline="0" noProof="0">
              <a:ln>
                <a:noFill/>
              </a:ln>
              <a:solidFill>
                <a:srgbClr val="FFFFFF"/>
              </a:solidFill>
              <a:effectLst/>
              <a:uLnTx/>
              <a:uFillTx/>
              <a:latin typeface="Avenir Next LT Pro"/>
              <a:ea typeface="+mn-ea"/>
              <a:cs typeface="+mn-cs"/>
            </a:endParaRPr>
          </a:p>
        </p:txBody>
      </p:sp>
      <p:sp>
        <p:nvSpPr>
          <p:cNvPr id="9" name="Espace réservé du texte 8">
            <a:extLst>
              <a:ext uri="{FF2B5EF4-FFF2-40B4-BE49-F238E27FC236}">
                <a16:creationId xmlns:a16="http://schemas.microsoft.com/office/drawing/2014/main" id="{345442A2-B0F5-C15D-DA6C-5E7CA4EE183A}"/>
              </a:ext>
            </a:extLst>
          </p:cNvPr>
          <p:cNvSpPr>
            <a:spLocks noGrp="1"/>
          </p:cNvSpPr>
          <p:nvPr>
            <p:ph type="body" sz="quarter" idx="17" hasCustomPrompt="1"/>
          </p:nvPr>
        </p:nvSpPr>
        <p:spPr>
          <a:xfrm>
            <a:off x="1219679" y="1050449"/>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prenom.nom@forsides.com</a:t>
            </a:r>
            <a:endParaRPr kumimoji="0" lang="fr-FR" sz="1400" b="0" i="0" u="none" strike="noStrike" kern="1200" cap="none" spc="0" normalizeH="0" baseline="0" noProof="0">
              <a:ln>
                <a:noFill/>
              </a:ln>
              <a:solidFill>
                <a:srgbClr val="404040"/>
              </a:solidFill>
              <a:effectLst/>
              <a:uLnTx/>
              <a:uFillTx/>
              <a:latin typeface="Avenir Next LT Pro Light"/>
              <a:ea typeface="+mn-ea"/>
              <a:cs typeface="+mn-cs"/>
            </a:endParaRPr>
          </a:p>
        </p:txBody>
      </p:sp>
      <p:grpSp>
        <p:nvGrpSpPr>
          <p:cNvPr id="5" name="Groupe 4">
            <a:extLst>
              <a:ext uri="{FF2B5EF4-FFF2-40B4-BE49-F238E27FC236}">
                <a16:creationId xmlns:a16="http://schemas.microsoft.com/office/drawing/2014/main" id="{9101D5DD-06BF-C147-B6E6-1B8665008596}"/>
              </a:ext>
            </a:extLst>
          </p:cNvPr>
          <p:cNvGrpSpPr>
            <a:grpSpLocks noChangeAspect="1"/>
          </p:cNvGrpSpPr>
          <p:nvPr userDrawn="1"/>
        </p:nvGrpSpPr>
        <p:grpSpPr>
          <a:xfrm>
            <a:off x="7850412" y="70288"/>
            <a:ext cx="1223065" cy="366317"/>
            <a:chOff x="4608564" y="2308123"/>
            <a:chExt cx="1649613" cy="494072"/>
          </a:xfrm>
        </p:grpSpPr>
        <p:pic>
          <p:nvPicPr>
            <p:cNvPr id="10" name="Image 9" descr="Une image contenant texte, Police, Graphique, typographie  Description générée automatiquement">
              <a:extLst>
                <a:ext uri="{FF2B5EF4-FFF2-40B4-BE49-F238E27FC236}">
                  <a16:creationId xmlns:a16="http://schemas.microsoft.com/office/drawing/2014/main" id="{E7CB8CA2-1DDD-CDB2-5093-05342CE54E3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1" name="Image 10" descr="Une image contenant texte, Police, Graphique, typographie  Description générée automatiquement">
              <a:extLst>
                <a:ext uri="{FF2B5EF4-FFF2-40B4-BE49-F238E27FC236}">
                  <a16:creationId xmlns:a16="http://schemas.microsoft.com/office/drawing/2014/main" id="{687ADC69-5D48-458A-2E47-42487A7C786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Tree>
    <p:extLst>
      <p:ext uri="{BB962C8B-B14F-4D97-AF65-F5344CB8AC3E}">
        <p14:creationId xmlns:p14="http://schemas.microsoft.com/office/powerpoint/2010/main" val="2383830347"/>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fin">
    <p:bg>
      <p:bgPr>
        <a:solidFill>
          <a:schemeClr val="bg1">
            <a:alpha val="1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ABD1DBB-1ACA-FD9D-A676-47A938B285D4}"/>
              </a:ext>
            </a:extLst>
          </p:cNvPr>
          <p:cNvSpPr/>
          <p:nvPr/>
        </p:nvSpPr>
        <p:spPr>
          <a:xfrm rot="5400000">
            <a:off x="1714499" y="-1714499"/>
            <a:ext cx="5715002" cy="9144000"/>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nvGrpSpPr>
          <p:cNvPr id="12" name="Groupe 11">
            <a:extLst>
              <a:ext uri="{FF2B5EF4-FFF2-40B4-BE49-F238E27FC236}">
                <a16:creationId xmlns:a16="http://schemas.microsoft.com/office/drawing/2014/main" id="{084A7D52-A485-1865-7DDA-780EC8CDC093}"/>
              </a:ext>
            </a:extLst>
          </p:cNvPr>
          <p:cNvGrpSpPr/>
          <p:nvPr/>
        </p:nvGrpSpPr>
        <p:grpSpPr>
          <a:xfrm>
            <a:off x="47943" y="1308986"/>
            <a:ext cx="4148960" cy="1800000"/>
            <a:chOff x="47943" y="1308986"/>
            <a:chExt cx="4148960" cy="1800000"/>
          </a:xfrm>
        </p:grpSpPr>
        <p:pic>
          <p:nvPicPr>
            <p:cNvPr id="13" name="Image 12" descr="Une image contenant capture d’écran, obscurité  Description générée automatiquement">
              <a:extLst>
                <a:ext uri="{FF2B5EF4-FFF2-40B4-BE49-F238E27FC236}">
                  <a16:creationId xmlns:a16="http://schemas.microsoft.com/office/drawing/2014/main" id="{8D11FC98-EAD2-248A-02AA-1386AB19C643}"/>
                </a:ext>
              </a:extLst>
            </p:cNvPr>
            <p:cNvPicPr>
              <a:picLocks noChangeAspect="1"/>
            </p:cNvPicPr>
            <p:nvPr/>
          </p:nvPicPr>
          <p:blipFill rotWithShape="1">
            <a:blip r:embed="rId2">
              <a:extLst>
                <a:ext uri="{28A0092B-C50C-407E-A947-70E740481C1C}">
                  <a14:useLocalDpi xmlns:a14="http://schemas.microsoft.com/office/drawing/2010/main" val="0"/>
                </a:ext>
              </a:extLst>
            </a:blip>
            <a:srcRect l="35315" t="-23871" r="35346" b="-42726"/>
            <a:stretch/>
          </p:blipFill>
          <p:spPr>
            <a:xfrm>
              <a:off x="1747616" y="2236636"/>
              <a:ext cx="2449287" cy="670332"/>
            </a:xfrm>
            <a:prstGeom prst="rect">
              <a:avLst/>
            </a:prstGeom>
          </p:spPr>
        </p:pic>
        <p:grpSp>
          <p:nvGrpSpPr>
            <p:cNvPr id="14" name="Groupe 13">
              <a:extLst>
                <a:ext uri="{FF2B5EF4-FFF2-40B4-BE49-F238E27FC236}">
                  <a16:creationId xmlns:a16="http://schemas.microsoft.com/office/drawing/2014/main" id="{EE482E49-016A-1ABF-F0A6-757762D194EA}"/>
                </a:ext>
              </a:extLst>
            </p:cNvPr>
            <p:cNvGrpSpPr/>
            <p:nvPr userDrawn="1"/>
          </p:nvGrpSpPr>
          <p:grpSpPr>
            <a:xfrm>
              <a:off x="47943" y="1308986"/>
              <a:ext cx="3972334" cy="1800000"/>
              <a:chOff x="2606703" y="956198"/>
              <a:chExt cx="3428714" cy="1452922"/>
            </a:xfrm>
          </p:grpSpPr>
          <p:pic>
            <p:nvPicPr>
              <p:cNvPr id="15" name="Image 14" descr="Une image contenant texte, Police, Graphique, capture d’écran  Description générée automatiquement">
                <a:extLst>
                  <a:ext uri="{FF2B5EF4-FFF2-40B4-BE49-F238E27FC236}">
                    <a16:creationId xmlns:a16="http://schemas.microsoft.com/office/drawing/2014/main" id="{CDCA0478-D363-3A9E-696F-434D263EDD8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4952" t="23676" b="32974"/>
              <a:stretch/>
            </p:blipFill>
            <p:spPr>
              <a:xfrm>
                <a:off x="4076245" y="1264225"/>
                <a:ext cx="1959172" cy="480596"/>
              </a:xfrm>
              <a:prstGeom prst="rect">
                <a:avLst/>
              </a:prstGeom>
            </p:spPr>
          </p:pic>
          <p:pic>
            <p:nvPicPr>
              <p:cNvPr id="16" name="Image 15" descr="Une image contenant texte, Police, Graphique, capture d’écran  Description générée automatiquement">
                <a:extLst>
                  <a:ext uri="{FF2B5EF4-FFF2-40B4-BE49-F238E27FC236}">
                    <a16:creationId xmlns:a16="http://schemas.microsoft.com/office/drawing/2014/main" id="{1B025808-D017-F217-D915-AC182B1ED50F}"/>
                  </a:ext>
                </a:extLst>
              </p:cNvPr>
              <p:cNvPicPr>
                <a:picLocks/>
              </p:cNvPicPr>
              <p:nvPr userDrawn="1"/>
            </p:nvPicPr>
            <p:blipFill rotWithShape="1">
              <a:blip r:embed="rId3">
                <a:extLst>
                  <a:ext uri="{28A0092B-C50C-407E-A947-70E740481C1C}">
                    <a14:useLocalDpi xmlns:a14="http://schemas.microsoft.com/office/drawing/2010/main" val="0"/>
                  </a:ext>
                </a:extLst>
              </a:blip>
              <a:srcRect l="1" t="1738" r="62711" b="-1738"/>
              <a:stretch/>
            </p:blipFill>
            <p:spPr>
              <a:xfrm>
                <a:off x="2606703" y="956198"/>
                <a:ext cx="1553667" cy="1452922"/>
              </a:xfrm>
              <a:prstGeom prst="rect">
                <a:avLst/>
              </a:prstGeom>
            </p:spPr>
          </p:pic>
        </p:grpSp>
      </p:grpSp>
      <p:sp>
        <p:nvSpPr>
          <p:cNvPr id="17" name="Ellipse 16">
            <a:extLst>
              <a:ext uri="{FF2B5EF4-FFF2-40B4-BE49-F238E27FC236}">
                <a16:creationId xmlns:a16="http://schemas.microsoft.com/office/drawing/2014/main" id="{6A662C13-4424-5128-629C-A5804BDD0D9D}"/>
              </a:ext>
            </a:extLst>
          </p:cNvPr>
          <p:cNvSpPr/>
          <p:nvPr/>
        </p:nvSpPr>
        <p:spPr>
          <a:xfrm>
            <a:off x="4069080" y="2514599"/>
            <a:ext cx="114300" cy="116205"/>
          </a:xfrm>
          <a:prstGeom prst="ellipse">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8" name="Forme libre : forme 17">
            <a:extLst>
              <a:ext uri="{FF2B5EF4-FFF2-40B4-BE49-F238E27FC236}">
                <a16:creationId xmlns:a16="http://schemas.microsoft.com/office/drawing/2014/main" id="{B60BCFF1-7E8C-29FB-9F2E-545E8017D661}"/>
              </a:ext>
            </a:extLst>
          </p:cNvPr>
          <p:cNvSpPr/>
          <p:nvPr/>
        </p:nvSpPr>
        <p:spPr>
          <a:xfrm rot="1229371">
            <a:off x="4345423" y="1083080"/>
            <a:ext cx="4513269" cy="2380209"/>
          </a:xfrm>
          <a:custGeom>
            <a:avLst/>
            <a:gdLst>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Lst>
            <a:ahLst/>
            <a:cxnLst>
              <a:cxn ang="0">
                <a:pos x="connsiteX0" y="connsiteY0"/>
              </a:cxn>
              <a:cxn ang="0">
                <a:pos x="connsiteX1" y="connsiteY1"/>
              </a:cxn>
              <a:cxn ang="0">
                <a:pos x="connsiteX2" y="connsiteY2"/>
              </a:cxn>
              <a:cxn ang="0">
                <a:pos x="connsiteX3" y="connsiteY3"/>
              </a:cxn>
            </a:cxnLst>
            <a:rect l="l" t="t" r="r" b="b"/>
            <a:pathLst>
              <a:path w="2746187" h="2341354">
                <a:moveTo>
                  <a:pt x="2746187" y="0"/>
                </a:moveTo>
                <a:cubicBezTo>
                  <a:pt x="2461797" y="579664"/>
                  <a:pt x="2177408" y="1159328"/>
                  <a:pt x="1921594" y="1216478"/>
                </a:cubicBezTo>
                <a:cubicBezTo>
                  <a:pt x="1665780" y="1273628"/>
                  <a:pt x="1528347" y="167368"/>
                  <a:pt x="1211301" y="342900"/>
                </a:cubicBezTo>
                <a:cubicBezTo>
                  <a:pt x="894255" y="518432"/>
                  <a:pt x="104874" y="2328807"/>
                  <a:pt x="0" y="2341354"/>
                </a:cubicBezTo>
              </a:path>
            </a:pathLst>
          </a:custGeom>
          <a:noFill/>
          <a:ln>
            <a:gradFill flip="none" rotWithShape="1">
              <a:gsLst>
                <a:gs pos="0">
                  <a:schemeClr val="accent2">
                    <a:lumMod val="67000"/>
                  </a:schemeClr>
                </a:gs>
                <a:gs pos="90000">
                  <a:schemeClr val="accent2">
                    <a:lumMod val="97000"/>
                    <a:lumOff val="3000"/>
                  </a:schemeClr>
                </a:gs>
                <a:gs pos="33000">
                  <a:schemeClr val="accent2">
                    <a:lumMod val="60000"/>
                    <a:lumOff val="40000"/>
                  </a:schemeClr>
                </a:gs>
              </a:gsLst>
              <a:lin ang="16200000" scaled="1"/>
              <a:tileRect/>
            </a:gra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nvGrpSpPr>
          <p:cNvPr id="2" name="Groupe 1">
            <a:extLst>
              <a:ext uri="{FF2B5EF4-FFF2-40B4-BE49-F238E27FC236}">
                <a16:creationId xmlns:a16="http://schemas.microsoft.com/office/drawing/2014/main" id="{473C7E8B-109F-4996-4A44-B2CD2E6ACE6A}"/>
              </a:ext>
            </a:extLst>
          </p:cNvPr>
          <p:cNvGrpSpPr/>
          <p:nvPr userDrawn="1"/>
        </p:nvGrpSpPr>
        <p:grpSpPr>
          <a:xfrm rot="16200000">
            <a:off x="3732837" y="303838"/>
            <a:ext cx="1678329" cy="9143998"/>
            <a:chOff x="7465670" y="-3428998"/>
            <a:chExt cx="1678329" cy="9143998"/>
          </a:xfrm>
        </p:grpSpPr>
        <p:sp>
          <p:nvSpPr>
            <p:cNvPr id="19" name="Rectangle 18">
              <a:extLst>
                <a:ext uri="{FF2B5EF4-FFF2-40B4-BE49-F238E27FC236}">
                  <a16:creationId xmlns:a16="http://schemas.microsoft.com/office/drawing/2014/main" id="{33FD6EB3-A395-F57E-6AC5-CD3D523726B9}"/>
                </a:ext>
              </a:extLst>
            </p:cNvPr>
            <p:cNvSpPr/>
            <p:nvPr/>
          </p:nvSpPr>
          <p:spPr>
            <a:xfrm rot="5400000">
              <a:off x="3732836" y="303836"/>
              <a:ext cx="9143998" cy="167832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pic>
          <p:nvPicPr>
            <p:cNvPr id="20" name="Image 19">
              <a:extLst>
                <a:ext uri="{FF2B5EF4-FFF2-40B4-BE49-F238E27FC236}">
                  <a16:creationId xmlns:a16="http://schemas.microsoft.com/office/drawing/2014/main" id="{9F52A8FE-27C1-8937-3DB5-AB8C13B70EB2}"/>
                </a:ext>
              </a:extLst>
            </p:cNvPr>
            <p:cNvPicPr>
              <a:picLocks noChangeAspect="1"/>
            </p:cNvPicPr>
            <p:nvPr/>
          </p:nvPicPr>
          <p:blipFill>
            <a:blip r:embed="rId4"/>
            <a:stretch>
              <a:fillRect/>
            </a:stretch>
          </p:blipFill>
          <p:spPr>
            <a:xfrm rot="5400000">
              <a:off x="7518121" y="-2827240"/>
              <a:ext cx="1586194" cy="756000"/>
            </a:xfrm>
            <a:prstGeom prst="rect">
              <a:avLst/>
            </a:prstGeom>
          </p:spPr>
        </p:pic>
        <p:pic>
          <p:nvPicPr>
            <p:cNvPr id="21" name="Image 20">
              <a:extLst>
                <a:ext uri="{FF2B5EF4-FFF2-40B4-BE49-F238E27FC236}">
                  <a16:creationId xmlns:a16="http://schemas.microsoft.com/office/drawing/2014/main" id="{36F9FE4B-45F1-BF91-225A-A025BBC032C5}"/>
                </a:ext>
              </a:extLst>
            </p:cNvPr>
            <p:cNvPicPr>
              <a:picLocks noChangeAspect="1"/>
            </p:cNvPicPr>
            <p:nvPr/>
          </p:nvPicPr>
          <p:blipFill>
            <a:blip r:embed="rId5"/>
            <a:stretch>
              <a:fillRect/>
            </a:stretch>
          </p:blipFill>
          <p:spPr>
            <a:xfrm rot="5400000">
              <a:off x="7788048" y="4529811"/>
              <a:ext cx="1044000" cy="746074"/>
            </a:xfrm>
            <a:prstGeom prst="rect">
              <a:avLst/>
            </a:prstGeom>
          </p:spPr>
        </p:pic>
        <p:pic>
          <p:nvPicPr>
            <p:cNvPr id="22" name="Image 21" descr="Une image contenant texte, Graphique, affiche, Police  Description générée automatiquement">
              <a:extLst>
                <a:ext uri="{FF2B5EF4-FFF2-40B4-BE49-F238E27FC236}">
                  <a16:creationId xmlns:a16="http://schemas.microsoft.com/office/drawing/2014/main" id="{A8ADDECA-8C34-D481-6517-676FC76F5BB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5400000">
              <a:off x="7757825" y="-1244111"/>
              <a:ext cx="1141287" cy="684000"/>
            </a:xfrm>
            <a:prstGeom prst="rect">
              <a:avLst/>
            </a:prstGeom>
          </p:spPr>
        </p:pic>
        <p:pic>
          <p:nvPicPr>
            <p:cNvPr id="23" name="BF2A55E3-C5FD-4F13-B300-A3898496703C">
              <a:extLst>
                <a:ext uri="{FF2B5EF4-FFF2-40B4-BE49-F238E27FC236}">
                  <a16:creationId xmlns:a16="http://schemas.microsoft.com/office/drawing/2014/main" id="{473F9172-A582-FA4F-7F10-2CAC7B2C688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7679826" y="1812028"/>
              <a:ext cx="1217618"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Image 23" descr="Une image contenant texte, Police, Graphique, typographie  Description générée automatiquement">
              <a:extLst>
                <a:ext uri="{FF2B5EF4-FFF2-40B4-BE49-F238E27FC236}">
                  <a16:creationId xmlns:a16="http://schemas.microsoft.com/office/drawing/2014/main" id="{5A0BE7B8-BC98-0999-611A-DA5CFF41960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400000">
              <a:off x="7533256" y="325631"/>
              <a:ext cx="1410520" cy="504000"/>
            </a:xfrm>
            <a:prstGeom prst="rect">
              <a:avLst/>
            </a:prstGeom>
          </p:spPr>
        </p:pic>
      </p:grpSp>
      <p:pic>
        <p:nvPicPr>
          <p:cNvPr id="25" name="Image 24" descr="Une image contenant texte, Police, logo, Graphique  Description générée automatiquement">
            <a:extLst>
              <a:ext uri="{FF2B5EF4-FFF2-40B4-BE49-F238E27FC236}">
                <a16:creationId xmlns:a16="http://schemas.microsoft.com/office/drawing/2014/main" id="{857A256E-484A-7A7B-8CCD-17C1F670CFB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6240780" y="4747260"/>
            <a:ext cx="1496962" cy="487681"/>
          </a:xfrm>
          <a:prstGeom prst="rect">
            <a:avLst/>
          </a:prstGeom>
        </p:spPr>
      </p:pic>
    </p:spTree>
    <p:extLst>
      <p:ext uri="{BB962C8B-B14F-4D97-AF65-F5344CB8AC3E}">
        <p14:creationId xmlns:p14="http://schemas.microsoft.com/office/powerpoint/2010/main" val="24596078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1384" y="276620"/>
            <a:ext cx="8675615" cy="325346"/>
          </a:xfrm>
          <a:prstGeom prst="rect">
            <a:avLst/>
          </a:prstGeom>
        </p:spPr>
        <p:txBody>
          <a:bodyPr vert="horz" wrap="square" lIns="91440" tIns="46800" rIns="91440" bIns="46800" rtlCol="0" anchor="ctr" anchorCtr="0">
            <a:spAutoFit/>
          </a:bodyPr>
          <a:lstStyle/>
          <a:p>
            <a:r>
              <a:rPr lang="fr-FR"/>
              <a:t>Cliquer pour modifier le style du titre</a:t>
            </a:r>
            <a:endParaRPr lang="en-US"/>
          </a:p>
        </p:txBody>
      </p:sp>
      <p:sp>
        <p:nvSpPr>
          <p:cNvPr id="4" name="Espace réservé du pied de page 1">
            <a:extLst>
              <a:ext uri="{FF2B5EF4-FFF2-40B4-BE49-F238E27FC236}">
                <a16:creationId xmlns:a16="http://schemas.microsoft.com/office/drawing/2014/main" id="{CDD99D74-B279-103D-716D-60DF6ED06641}"/>
              </a:ext>
            </a:extLst>
          </p:cNvPr>
          <p:cNvSpPr>
            <a:spLocks noGrp="1"/>
          </p:cNvSpPr>
          <p:nvPr>
            <p:ph type="ftr" sz="quarter" idx="3"/>
          </p:nvPr>
        </p:nvSpPr>
        <p:spPr>
          <a:xfrm>
            <a:off x="3028950" y="5405488"/>
            <a:ext cx="3086100" cy="303212"/>
          </a:xfrm>
          <a:prstGeom prst="rect">
            <a:avLst/>
          </a:prstGeom>
        </p:spPr>
        <p:txBody>
          <a:bodyPr anchor="ctr"/>
          <a:lstStyle>
            <a:lvl1pPr algn="ctr">
              <a:defRPr sz="800"/>
            </a:lvl1pPr>
          </a:lstStyle>
          <a:p>
            <a:endParaRPr lang="fr-FR"/>
          </a:p>
        </p:txBody>
      </p:sp>
    </p:spTree>
    <p:extLst>
      <p:ext uri="{BB962C8B-B14F-4D97-AF65-F5344CB8AC3E}">
        <p14:creationId xmlns:p14="http://schemas.microsoft.com/office/powerpoint/2010/main" val="32562888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3" r:id="rId10"/>
    <p:sldLayoutId id="2147483682" r:id="rId11"/>
  </p:sldLayoutIdLst>
  <p:hf sldNum="0" hdr="0" dt="0"/>
  <p:txStyles>
    <p:titleStyle>
      <a:lvl1pPr algn="l" defTabSz="457196" rtl="0" eaLnBrk="1" latinLnBrk="0" hangingPunct="1">
        <a:spcBef>
          <a:spcPct val="0"/>
        </a:spcBef>
        <a:buNone/>
        <a:defRPr sz="1500" b="0" kern="1200" cap="all" baseline="0">
          <a:solidFill>
            <a:schemeClr val="accent5"/>
          </a:solidFill>
          <a:latin typeface="Montserrat" panose="00000500000000000000" pitchFamily="2" charset="0"/>
          <a:ea typeface="+mj-ea"/>
          <a:cs typeface="+mj-cs"/>
        </a:defRPr>
      </a:lvl1pPr>
    </p:titleStyle>
    <p:bodyStyle>
      <a:lvl1pPr marL="342896" indent="-342896" algn="l" defTabSz="457196" rtl="0" eaLnBrk="1" latinLnBrk="0" hangingPunct="1">
        <a:spcBef>
          <a:spcPct val="20000"/>
        </a:spcBef>
        <a:buClr>
          <a:schemeClr val="accent1"/>
        </a:buClr>
        <a:buSzPct val="80000"/>
        <a:buFont typeface="Arial" panose="020B0604020202020204" pitchFamily="34" charset="0"/>
        <a:buChar char="●"/>
        <a:defRPr sz="1400" kern="1200">
          <a:solidFill>
            <a:schemeClr val="accent3"/>
          </a:solidFill>
          <a:latin typeface="+mn-lt"/>
          <a:ea typeface="+mn-ea"/>
          <a:cs typeface="+mn-cs"/>
        </a:defRPr>
      </a:lvl1pPr>
      <a:lvl2pPr marL="742943" indent="-285747" algn="l" defTabSz="457196" rtl="0" eaLnBrk="1" latinLnBrk="0" hangingPunct="1">
        <a:spcBef>
          <a:spcPct val="20000"/>
        </a:spcBef>
        <a:buClr>
          <a:schemeClr val="tx2"/>
        </a:buClr>
        <a:buSzPct val="80000"/>
        <a:buFont typeface="Arial" panose="020B0604020202020204" pitchFamily="34" charset="0"/>
        <a:buChar char="●"/>
        <a:defRPr sz="1200" kern="1200">
          <a:solidFill>
            <a:schemeClr val="accent3"/>
          </a:solidFill>
          <a:latin typeface="+mn-lt"/>
          <a:ea typeface="+mn-ea"/>
          <a:cs typeface="+mn-cs"/>
        </a:defRPr>
      </a:lvl2pPr>
      <a:lvl3pPr marL="1142988" indent="-228597" algn="l" defTabSz="457196" rtl="0" eaLnBrk="1" latinLnBrk="0" hangingPunct="1">
        <a:spcBef>
          <a:spcPct val="20000"/>
        </a:spcBef>
        <a:buClr>
          <a:schemeClr val="accent4"/>
        </a:buClr>
        <a:buSzPct val="120000"/>
        <a:buFont typeface="Wingdings" panose="05000000000000000000" pitchFamily="2" charset="2"/>
        <a:buChar char="§"/>
        <a:defRPr sz="1100" kern="1200">
          <a:solidFill>
            <a:schemeClr val="accent3"/>
          </a:solidFill>
          <a:latin typeface="+mn-lt"/>
          <a:ea typeface="+mn-ea"/>
          <a:cs typeface="+mn-cs"/>
        </a:defRPr>
      </a:lvl3pPr>
      <a:lvl4pPr marL="1600184" indent="-228597" algn="l" defTabSz="457196" rtl="0" eaLnBrk="1" latinLnBrk="0" hangingPunct="1">
        <a:spcBef>
          <a:spcPct val="20000"/>
        </a:spcBef>
        <a:buClr>
          <a:schemeClr val="accent4"/>
        </a:buClr>
        <a:buSzPct val="80000"/>
        <a:buFont typeface="Arial" panose="020B0604020202020204" pitchFamily="34" charset="0"/>
        <a:buChar char="●"/>
        <a:defRPr sz="1100" kern="1200">
          <a:solidFill>
            <a:schemeClr val="accent3"/>
          </a:solidFill>
          <a:latin typeface="+mn-lt"/>
          <a:ea typeface="+mn-ea"/>
          <a:cs typeface="+mn-cs"/>
        </a:defRPr>
      </a:lvl4pPr>
      <a:lvl5pPr marL="2057379" indent="-228597" algn="l" defTabSz="457196" rtl="0" eaLnBrk="1" latinLnBrk="0" hangingPunct="1">
        <a:spcBef>
          <a:spcPct val="20000"/>
        </a:spcBef>
        <a:buClr>
          <a:schemeClr val="accent4"/>
        </a:buClr>
        <a:buSzPct val="100000"/>
        <a:buFont typeface="Courier New" panose="02070309020205020404" pitchFamily="49" charset="0"/>
        <a:buChar char="o"/>
        <a:defRPr sz="1100" kern="1200">
          <a:solidFill>
            <a:schemeClr val="accent3"/>
          </a:solidFill>
          <a:latin typeface="+mn-lt"/>
          <a:ea typeface="+mn-ea"/>
          <a:cs typeface="+mn-cs"/>
        </a:defRPr>
      </a:lvl5pPr>
      <a:lvl6pPr marL="2514575" indent="-228597" algn="l" defTabSz="457196" rtl="0" eaLnBrk="1" latinLnBrk="0" hangingPunct="1">
        <a:spcBef>
          <a:spcPct val="20000"/>
        </a:spcBef>
        <a:buFont typeface="Arial"/>
        <a:buChar char="•"/>
        <a:defRPr sz="2000" kern="1200">
          <a:solidFill>
            <a:schemeClr val="tx1"/>
          </a:solidFill>
          <a:latin typeface="+mn-lt"/>
          <a:ea typeface="+mn-ea"/>
          <a:cs typeface="+mn-cs"/>
        </a:defRPr>
      </a:lvl6pPr>
      <a:lvl7pPr marL="2971770" indent="-228597" algn="l" defTabSz="457196" rtl="0" eaLnBrk="1" latinLnBrk="0" hangingPunct="1">
        <a:spcBef>
          <a:spcPct val="20000"/>
        </a:spcBef>
        <a:buFont typeface="Arial"/>
        <a:buChar char="•"/>
        <a:defRPr sz="2000" kern="1200">
          <a:solidFill>
            <a:schemeClr val="tx1"/>
          </a:solidFill>
          <a:latin typeface="+mn-lt"/>
          <a:ea typeface="+mn-ea"/>
          <a:cs typeface="+mn-cs"/>
        </a:defRPr>
      </a:lvl7pPr>
      <a:lvl8pPr marL="3428966" indent="-228597" algn="l" defTabSz="457196" rtl="0" eaLnBrk="1" latinLnBrk="0" hangingPunct="1">
        <a:spcBef>
          <a:spcPct val="20000"/>
        </a:spcBef>
        <a:buFont typeface="Arial"/>
        <a:buChar char="•"/>
        <a:defRPr sz="2000" kern="1200">
          <a:solidFill>
            <a:schemeClr val="tx1"/>
          </a:solidFill>
          <a:latin typeface="+mn-lt"/>
          <a:ea typeface="+mn-ea"/>
          <a:cs typeface="+mn-cs"/>
        </a:defRPr>
      </a:lvl8pPr>
      <a:lvl9pPr marL="3886161" indent="-228597" algn="l" defTabSz="45719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96" rtl="0" eaLnBrk="1" latinLnBrk="0" hangingPunct="1">
        <a:defRPr sz="1800" kern="1200">
          <a:solidFill>
            <a:schemeClr val="tx1"/>
          </a:solidFill>
          <a:latin typeface="+mn-lt"/>
          <a:ea typeface="+mn-ea"/>
          <a:cs typeface="+mn-cs"/>
        </a:defRPr>
      </a:lvl1pPr>
      <a:lvl2pPr marL="457196" algn="l" defTabSz="457196" rtl="0" eaLnBrk="1" latinLnBrk="0" hangingPunct="1">
        <a:defRPr sz="1800" kern="1200">
          <a:solidFill>
            <a:schemeClr val="tx1"/>
          </a:solidFill>
          <a:latin typeface="+mn-lt"/>
          <a:ea typeface="+mn-ea"/>
          <a:cs typeface="+mn-cs"/>
        </a:defRPr>
      </a:lvl2pPr>
      <a:lvl3pPr marL="914391" algn="l" defTabSz="457196" rtl="0" eaLnBrk="1" latinLnBrk="0" hangingPunct="1">
        <a:defRPr sz="1800" kern="1200">
          <a:solidFill>
            <a:schemeClr val="tx1"/>
          </a:solidFill>
          <a:latin typeface="+mn-lt"/>
          <a:ea typeface="+mn-ea"/>
          <a:cs typeface="+mn-cs"/>
        </a:defRPr>
      </a:lvl3pPr>
      <a:lvl4pPr marL="1371587" algn="l" defTabSz="457196" rtl="0" eaLnBrk="1" latinLnBrk="0" hangingPunct="1">
        <a:defRPr sz="1800" kern="1200">
          <a:solidFill>
            <a:schemeClr val="tx1"/>
          </a:solidFill>
          <a:latin typeface="+mn-lt"/>
          <a:ea typeface="+mn-ea"/>
          <a:cs typeface="+mn-cs"/>
        </a:defRPr>
      </a:lvl4pPr>
      <a:lvl5pPr marL="1828782" algn="l" defTabSz="457196" rtl="0" eaLnBrk="1" latinLnBrk="0" hangingPunct="1">
        <a:defRPr sz="1800" kern="1200">
          <a:solidFill>
            <a:schemeClr val="tx1"/>
          </a:solidFill>
          <a:latin typeface="+mn-lt"/>
          <a:ea typeface="+mn-ea"/>
          <a:cs typeface="+mn-cs"/>
        </a:defRPr>
      </a:lvl5pPr>
      <a:lvl6pPr marL="2285978" algn="l" defTabSz="457196" rtl="0" eaLnBrk="1" latinLnBrk="0" hangingPunct="1">
        <a:defRPr sz="1800" kern="1200">
          <a:solidFill>
            <a:schemeClr val="tx1"/>
          </a:solidFill>
          <a:latin typeface="+mn-lt"/>
          <a:ea typeface="+mn-ea"/>
          <a:cs typeface="+mn-cs"/>
        </a:defRPr>
      </a:lvl6pPr>
      <a:lvl7pPr marL="2743173" algn="l" defTabSz="457196" rtl="0" eaLnBrk="1" latinLnBrk="0" hangingPunct="1">
        <a:defRPr sz="1800" kern="1200">
          <a:solidFill>
            <a:schemeClr val="tx1"/>
          </a:solidFill>
          <a:latin typeface="+mn-lt"/>
          <a:ea typeface="+mn-ea"/>
          <a:cs typeface="+mn-cs"/>
        </a:defRPr>
      </a:lvl7pPr>
      <a:lvl8pPr marL="3200368" algn="l" defTabSz="457196" rtl="0" eaLnBrk="1" latinLnBrk="0" hangingPunct="1">
        <a:defRPr sz="1800" kern="1200">
          <a:solidFill>
            <a:schemeClr val="tx1"/>
          </a:solidFill>
          <a:latin typeface="+mn-lt"/>
          <a:ea typeface="+mn-ea"/>
          <a:cs typeface="+mn-cs"/>
        </a:defRPr>
      </a:lvl8pPr>
      <a:lvl9pPr marL="3657563" algn="l" defTabSz="45719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2.xml"/><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3.xml"/><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4.xml"/><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8DCF94C1-BF6F-B377-CC0F-D338E968D7AD}"/>
              </a:ext>
            </a:extLst>
          </p:cNvPr>
          <p:cNvSpPr>
            <a:spLocks noGrp="1"/>
          </p:cNvSpPr>
          <p:nvPr>
            <p:ph type="ctrTitle"/>
          </p:nvPr>
        </p:nvSpPr>
        <p:spPr>
          <a:xfrm>
            <a:off x="256032" y="2240280"/>
            <a:ext cx="4315968" cy="1143000"/>
          </a:xfrm>
        </p:spPr>
        <p:txBody>
          <a:bodyPr/>
          <a:lstStyle/>
          <a:p>
            <a:r>
              <a:t>Hospitalisation : dérive réelle ou effet ROC ?</a:t>
            </a:r>
          </a:p>
        </p:txBody>
      </p:sp>
      <p:sp>
        <p:nvSpPr>
          <p:cNvPr id="14" name="Espace réservé du texte 13">
            <a:extLst>
              <a:ext uri="{FF2B5EF4-FFF2-40B4-BE49-F238E27FC236}">
                <a16:creationId xmlns:a16="http://schemas.microsoft.com/office/drawing/2014/main" id="{1856A6A8-6228-CCEA-185F-D00119B7A97D}"/>
              </a:ext>
            </a:extLst>
          </p:cNvPr>
          <p:cNvSpPr>
            <a:spLocks noGrp="1"/>
          </p:cNvSpPr>
          <p:nvPr>
            <p:ph type="body" sz="quarter" idx="13"/>
          </p:nvPr>
        </p:nvSpPr>
        <p:spPr>
          <a:xfrm>
            <a:off x="256032" y="4169663"/>
            <a:ext cx="2651760" cy="173736"/>
          </a:xfrm>
        </p:spPr>
        <p:txBody>
          <a:bodyPr/>
          <a:lstStyle/>
          <a:p>
            <a:r>
              <a:t>Septembre 2026</a:t>
            </a:r>
          </a:p>
        </p:txBody>
      </p:sp>
      <p:sp>
        <p:nvSpPr>
          <p:cNvPr id="2" name="Espace réservé du texte 1">
            <a:extLst>
              <a:ext uri="{FF2B5EF4-FFF2-40B4-BE49-F238E27FC236}">
                <a16:creationId xmlns:a16="http://schemas.microsoft.com/office/drawing/2014/main" id="{E4FFD18E-F838-81E7-D5D2-F3DBB3537446}"/>
              </a:ext>
            </a:extLst>
          </p:cNvPr>
          <p:cNvSpPr>
            <a:spLocks noGrp="1"/>
          </p:cNvSpPr>
          <p:nvPr>
            <p:ph type="body" sz="quarter" idx="14"/>
          </p:nvPr>
        </p:nvSpPr>
        <p:spPr>
          <a:xfrm>
            <a:off x="256032" y="3611880"/>
            <a:ext cx="4416552" cy="420624"/>
          </a:xfrm>
        </p:spPr>
        <p:txBody>
          <a:bodyPr/>
          <a:lstStyle/>
          <a:p>
            <a:r>
              <a:rPr dirty="0" err="1"/>
              <a:t>Ce que disent les remboursements
de l’Assurance Maladie, 2022–2025</a:t>
            </a:r>
          </a:p>
        </p:txBody>
      </p:sp>
    </p:spTree>
    <p:extLst>
      <p:ext uri="{BB962C8B-B14F-4D97-AF65-F5344CB8AC3E}">
        <p14:creationId xmlns:p14="http://schemas.microsoft.com/office/powerpoint/2010/main" val="1846611922"/>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DAMIR : le périmètre de l’étude</a:t>
            </a:r>
          </a:p>
        </p:txBody>
      </p:sp>
      <p:sp>
        <p:nvSpPr>
          <p:cNvPr id="3" name="Text Placeholder 2"/>
          <p:cNvSpPr>
            <a:spLocks noGrp="1"/>
          </p:cNvSpPr>
          <p:nvPr>
            <p:ph type="body" idx="13" sz="quarter"/>
          </p:nvPr>
        </p:nvSpPr>
        <p:spPr>
          <a:xfrm>
            <a:off x="466344" y="612648"/>
            <a:ext cx="6766560" cy="292608"/>
          </a:xfrm>
        </p:spPr>
        <p:txBody>
          <a:bodyPr/>
          <a:lstStyle/>
          <a:p>
            <a:r>
              <a:t>Des remboursements AMO aux repères du privé</a:t>
            </a:r>
          </a:p>
        </p:txBody>
      </p:sp>
      <p:sp>
        <p:nvSpPr>
          <p:cNvPr id="4" name="TextBox 3"/>
          <p:cNvSpPr txBox="1"/>
          <p:nvPr/>
        </p:nvSpPr>
        <p:spPr>
          <a:xfrm>
            <a:off x="457200" y="1133856"/>
            <a:ext cx="8229600" cy="502920"/>
          </a:xfrm>
          <a:prstGeom prst="rect">
            <a:avLst/>
          </a:prstGeom>
          <a:noFill/>
        </p:spPr>
        <p:txBody>
          <a:bodyPr wrap="square" lIns="0" rIns="0" tIns="0" bIns="0">
            <a:noAutofit/>
          </a:bodyPr>
          <a:lstStyle/>
          <a:p>
            <a:pPr>
              <a:lnSpc>
                <a:spcPct val="112000"/>
              </a:lnSpc>
              <a:spcBef>
                <a:spcPts val="0"/>
              </a:spcBef>
              <a:spcAft>
                <a:spcPts val="0"/>
              </a:spcAft>
            </a:pPr>
            <a:r>
              <a:rPr sz="1200" b="0" lang="fr-FR" cap="none">
                <a:solidFill>
                  <a:srgbClr val="404040"/>
                </a:solidFill>
                <a:latin typeface="Avenir Next LT Pro Light"/>
              </a:rPr>
              <a:t>Open DAMIR est la base publique de la Cnam, tous régimes. Elle décrit les dépenses présentées et les remboursements de l’Assurance Maladie (AMO), par cellules agrégées.</a:t>
            </a:r>
          </a:p>
        </p:txBody>
      </p:sp>
      <p:graphicFrame>
        <p:nvGraphicFramePr>
          <p:cNvPr id="5" name="Table 4"/>
          <p:cNvGraphicFramePr>
            <a:graphicFrameLocks noGrp="1"/>
          </p:cNvGraphicFramePr>
          <p:nvPr/>
        </p:nvGraphicFramePr>
        <p:xfrm>
          <a:off x="457200" y="1856231"/>
          <a:ext cx="8229600" cy="1499616"/>
        </p:xfrm>
        <a:graphic>
          <a:graphicData uri="http://schemas.openxmlformats.org/drawingml/2006/table">
            <a:tbl>
              <a:tblPr>
                <a:tableStyleId>{5C22544A-7EE6-4342-B048-85BDC9FD1C3A}</a:tableStyleId>
              </a:tblPr>
              <a:tblGrid>
                <a:gridCol w="4114800"/>
                <a:gridCol w="4114800"/>
              </a:tblGrid>
              <a:tr h="292608">
                <a:tc>
                  <a:txBody>
                    <a:bodyPr/>
                    <a:lstStyle/>
                    <a:p>
                      <a:pPr algn="l">
                        <a:lnSpc>
                          <a:spcPct val="100000"/>
                        </a:lnSpc>
                        <a:spcBef>
                          <a:spcPts val="0"/>
                        </a:spcBef>
                        <a:spcAft>
                          <a:spcPts val="0"/>
                        </a:spcAft>
                      </a:pPr>
                      <a:r>
                        <a:rPr sz="1100" b="1" lang="fr-FR">
                          <a:solidFill>
                            <a:srgbClr val="404040"/>
                          </a:solidFill>
                          <a:latin typeface="Avenir Next LT Pro Light"/>
                        </a:rPr>
                        <a:t>Ce que DAMIR contient</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100" b="1" lang="fr-FR">
                          <a:solidFill>
                            <a:srgbClr val="404040"/>
                          </a:solidFill>
                          <a:latin typeface="Avenir Next LT Pro Light"/>
                        </a:rPr>
                        <a:t>Ce que DAMIR ne contient pas</a:t>
                      </a:r>
                    </a:p>
                  </a:txBody>
                  <a:tcPr marL="64008" marR="64008" marT="22860" marB="22860" anchor="ctr">
                    <a:solidFill>
                      <a:srgbClr val="BFBFBF">
                        <a:lumMod val="18000"/>
                        <a:lumOff val="82000"/>
                      </a:srgbClr>
                    </a:solidFill>
                    <a:lnL w="0">
                      <a:noFill/>
                    </a:lnL>
                    <a:lnR w="0">
                      <a:noFill/>
                    </a:lnR>
                    <a:lnT w="0">
                      <a:noFill/>
                    </a:lnT>
                    <a:lnB w="0">
                      <a:noFill/>
                    </a:lnB>
                  </a:tcPr>
                </a:tc>
              </a:tr>
              <a:tr h="603504">
                <a:tc>
                  <a:txBody>
                    <a:bodyPr/>
                    <a:lstStyle/>
                    <a:p>
                      <a:pPr algn="l">
                        <a:lnSpc>
                          <a:spcPct val="100000"/>
                        </a:lnSpc>
                        <a:spcBef>
                          <a:spcPts val="0"/>
                        </a:spcBef>
                        <a:spcAft>
                          <a:spcPts val="0"/>
                        </a:spcAft>
                      </a:pPr>
                      <a:r>
                        <a:rPr sz="1100" b="0" lang="fr-FR">
                          <a:solidFill>
                            <a:srgbClr val="404040"/>
                          </a:solidFill>
                          <a:latin typeface="Avenir Next LT Pro Light"/>
                        </a:rPr>
                        <a:t>Soins de ville et séjours en clinique</a:t>
                      </a:r>
                    </a:p>
                    <a:p>
                      <a:pPr algn="l">
                        <a:lnSpc>
                          <a:spcPct val="100000"/>
                        </a:lnSpc>
                        <a:spcBef>
                          <a:spcPts val="0"/>
                        </a:spcBef>
                        <a:spcAft>
                          <a:spcPts val="0"/>
                        </a:spcAft>
                      </a:pPr>
                      <a:r>
                        <a:rPr sz="1100" b="0" lang="fr-FR">
                          <a:solidFill>
                            <a:srgbClr val="404040"/>
                          </a:solidFill>
                          <a:latin typeface="Avenir Next LT Pro Light"/>
                        </a:rPr>
                        <a:t>Dépense, remboursement AMO, dépassements</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100" b="0" lang="fr-FR">
                          <a:solidFill>
                            <a:srgbClr val="404040"/>
                          </a:solidFill>
                          <a:latin typeface="Avenir Next LT Pro Light"/>
                        </a:rPr>
                        <a:t>Séjours de l’hôpital public</a:t>
                      </a:r>
                    </a:p>
                    <a:p>
                      <a:pPr algn="l">
                        <a:lnSpc>
                          <a:spcPct val="100000"/>
                        </a:lnSpc>
                        <a:spcBef>
                          <a:spcPts val="0"/>
                        </a:spcBef>
                        <a:spcAft>
                          <a:spcPts val="0"/>
                        </a:spcAft>
                      </a:pPr>
                      <a:r>
                        <a:rPr sz="1100" b="0" lang="fr-FR">
                          <a:solidFill>
                            <a:srgbClr val="404040"/>
                          </a:solidFill>
                          <a:latin typeface="Avenir Next LT Pro Light"/>
                        </a:rPr>
                        <a:t>Chambre particulière, part payée par la complémentaire</a:t>
                      </a:r>
                    </a:p>
                  </a:txBody>
                  <a:tcPr marL="64008" marR="64008" marT="22860" marB="22860" anchor="ctr">
                    <a:solidFill>
                      <a:srgbClr val="FFFFFF"/>
                    </a:solidFill>
                    <a:lnL w="0">
                      <a:noFill/>
                    </a:lnL>
                    <a:lnR w="0">
                      <a:noFill/>
                    </a:lnR>
                    <a:lnT w="0">
                      <a:noFill/>
                    </a:lnT>
                    <a:lnB w="0">
                      <a:noFill/>
                    </a:lnB>
                  </a:tcPr>
                </a:tc>
              </a:tr>
              <a:tr h="603504">
                <a:tc>
                  <a:txBody>
                    <a:bodyPr/>
                    <a:lstStyle/>
                    <a:p>
                      <a:pPr algn="l">
                        <a:lnSpc>
                          <a:spcPct val="100000"/>
                        </a:lnSpc>
                        <a:spcBef>
                          <a:spcPts val="0"/>
                        </a:spcBef>
                        <a:spcAft>
                          <a:spcPts val="0"/>
                        </a:spcAft>
                      </a:pPr>
                      <a:r>
                        <a:rPr sz="1100" b="0" lang="fr-FR">
                          <a:solidFill>
                            <a:srgbClr val="404040"/>
                          </a:solidFill>
                          <a:latin typeface="Avenir Next LT Pro Light"/>
                        </a:rPr>
                        <a:t>Mois de soins, prestation, région, âge, sexe,</a:t>
                      </a:r>
                    </a:p>
                    <a:p>
                      <a:pPr algn="l">
                        <a:lnSpc>
                          <a:spcPct val="100000"/>
                        </a:lnSpc>
                        <a:spcBef>
                          <a:spcPts val="0"/>
                        </a:spcBef>
                        <a:spcAft>
                          <a:spcPts val="0"/>
                        </a:spcAft>
                      </a:pPr>
                      <a:r>
                        <a:rPr sz="1100" b="0" lang="fr-FR">
                          <a:solidFill>
                            <a:srgbClr val="404040"/>
                          </a:solidFill>
                          <a:latin typeface="Avenir Next LT Pro Light"/>
                        </a:rPr>
                        <a:t>nature d’assurance et ALD</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100" b="0" lang="fr-FR">
                          <a:solidFill>
                            <a:srgbClr val="404040"/>
                          </a:solidFill>
                          <a:latin typeface="Avenir Next LT Pro Light"/>
                        </a:rPr>
                        <a:t>Établissement identifié</a:t>
                      </a:r>
                    </a:p>
                    <a:p>
                      <a:pPr algn="l">
                        <a:lnSpc>
                          <a:spcPct val="100000"/>
                        </a:lnSpc>
                        <a:spcBef>
                          <a:spcPts val="0"/>
                        </a:spcBef>
                        <a:spcAft>
                          <a:spcPts val="0"/>
                        </a:spcAft>
                      </a:pPr>
                      <a:r>
                        <a:rPr sz="1100" b="0" lang="fr-FR">
                          <a:solidFill>
                            <a:srgbClr val="404040"/>
                          </a:solidFill>
                          <a:latin typeface="Avenir Next LT Pro Light"/>
                        </a:rPr>
                        <a:t>Statut ROC ou non ROC</a:t>
                      </a:r>
                    </a:p>
                  </a:txBody>
                  <a:tcPr marL="64008" marR="64008" marT="22860" marB="22860" anchor="ctr">
                    <a:solidFill>
                      <a:srgbClr val="FFFFFF"/>
                    </a:solidFill>
                    <a:lnL w="0">
                      <a:noFill/>
                    </a:lnL>
                    <a:lnR w="0">
                      <a:noFill/>
                    </a:lnR>
                    <a:lnT w="0">
                      <a:noFill/>
                    </a:lnT>
                    <a:lnB w="0">
                      <a:noFill/>
                    </a:lnB>
                  </a:tcPr>
                </a:tc>
              </a:tr>
            </a:tbl>
          </a:graphicData>
        </a:graphic>
      </p:graphicFrame>
      <p:sp>
        <p:nvSpPr>
          <p:cNvPr id="6" name="TextBox 5"/>
          <p:cNvSpPr txBox="1"/>
          <p:nvPr/>
        </p:nvSpPr>
        <p:spPr>
          <a:xfrm>
            <a:off x="457200" y="3639312"/>
            <a:ext cx="384048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Année de soins (survenance)</a:t>
            </a:r>
          </a:p>
        </p:txBody>
      </p:sp>
      <p:sp>
        <p:nvSpPr>
          <p:cNvPr id="7" name="TextBox 6"/>
          <p:cNvSpPr txBox="1"/>
          <p:nvPr/>
        </p:nvSpPr>
        <p:spPr>
          <a:xfrm>
            <a:off x="457200" y="3968496"/>
            <a:ext cx="3822191" cy="530352"/>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Les soins de l’année, quelle que soit la date du paiement. Les années récentes restent incomplètes.</a:t>
            </a:r>
          </a:p>
        </p:txBody>
      </p:sp>
      <p:sp>
        <p:nvSpPr>
          <p:cNvPr id="8" name="TextBox 7"/>
          <p:cNvSpPr txBox="1"/>
          <p:nvPr/>
        </p:nvSpPr>
        <p:spPr>
          <a:xfrm>
            <a:off x="4709160" y="3639312"/>
            <a:ext cx="3977639"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Année de règlement AMO</a:t>
            </a:r>
          </a:p>
        </p:txBody>
      </p:sp>
      <p:sp>
        <p:nvSpPr>
          <p:cNvPr id="9" name="TextBox 8"/>
          <p:cNvSpPr txBox="1"/>
          <p:nvPr/>
        </p:nvSpPr>
        <p:spPr>
          <a:xfrm>
            <a:off x="4709160" y="3968496"/>
            <a:ext cx="3977639" cy="530352"/>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Les paiements de l’année, toutes années de soins confondues. Année complète, distincte des comptes de l’AMC.</a:t>
            </a:r>
          </a:p>
        </p:txBody>
      </p:sp>
      <p:sp>
        <p:nvSpPr>
          <p:cNvPr id="10" name="TextBox 9"/>
          <p:cNvSpPr txBox="1"/>
          <p:nvPr/>
        </p:nvSpPr>
        <p:spPr>
          <a:xfrm>
            <a:off x="457200" y="4754880"/>
            <a:ext cx="8229600" cy="274320"/>
          </a:xfrm>
          <a:prstGeom prst="rect">
            <a:avLst/>
          </a:prstGeom>
          <a:noFill/>
        </p:spPr>
        <p:txBody>
          <a:bodyPr wrap="square" lIns="0" rIns="0" tIns="0" bIns="0">
            <a:noAutofit/>
          </a:bodyPr>
          <a:lstStyle/>
          <a:p>
            <a:pPr>
              <a:lnSpc>
                <a:spcPct val="112000"/>
              </a:lnSpc>
              <a:spcBef>
                <a:spcPts val="0"/>
              </a:spcBef>
              <a:spcAft>
                <a:spcPts val="0"/>
              </a:spcAft>
            </a:pPr>
            <a:r>
              <a:rPr sz="1200" b="1" lang="fr-FR" cap="none">
                <a:solidFill>
                  <a:srgbClr val="5B0C02"/>
                </a:solidFill>
                <a:latin typeface="Avenir Next LT Pro Light"/>
              </a:rPr>
              <a:t>Reste après AMO = dépense − remboursement AMO. Il inclut la part du patient.</a:t>
            </a:r>
          </a:p>
        </p:txBody>
      </p:sp>
      <p:sp>
        <p:nvSpPr>
          <p:cNvPr id="11" name="TextBox 10"/>
          <p:cNvSpPr txBox="1"/>
          <p:nvPr/>
        </p:nvSpPr>
        <p:spPr>
          <a:xfrm>
            <a:off x="457200" y="5047488"/>
            <a:ext cx="8229600" cy="320040"/>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404040"/>
                </a:solidFill>
                <a:latin typeface="Avenir Next LT Pro Light"/>
              </a:rPr>
              <a:t>Part AMO = remboursement / dépense. Dépassements = montants facturés au-delà du tarif.</a:t>
            </a:r>
          </a:p>
          <a:p>
            <a:pPr>
              <a:lnSpc>
                <a:spcPct val="112000"/>
              </a:lnSpc>
              <a:spcBef>
                <a:spcPts val="0"/>
              </a:spcBef>
              <a:spcAft>
                <a:spcPts val="0"/>
              </a:spcAft>
            </a:pPr>
            <a:r>
              <a:rPr sz="950" b="0" lang="fr-FR" cap="none">
                <a:solidFill>
                  <a:srgbClr val="404040"/>
                </a:solidFill>
                <a:latin typeface="Avenir Next LT Pro Light"/>
              </a:rPr>
              <a:t>Séjour : AMO à 80 % du tarif, ticket modérateur à 20 %, sauf exonération (ALD, actes lourds, maternité).</a:t>
            </a:r>
          </a:p>
        </p:txBody>
      </p:sp>
      <p:sp>
        <p:nvSpPr>
          <p:cNvPr id="12" name="TextBox 11"/>
          <p:cNvSpPr txBox="1"/>
          <p:nvPr/>
        </p:nvSpPr>
        <p:spPr>
          <a:xfrm>
            <a:off x="457200" y="5431536"/>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ROC : la facturation de la part complémentaire</a:t>
            </a:r>
          </a:p>
        </p:txBody>
      </p:sp>
      <p:sp>
        <p:nvSpPr>
          <p:cNvPr id="3" name="Text Placeholder 2"/>
          <p:cNvSpPr>
            <a:spLocks noGrp="1"/>
          </p:cNvSpPr>
          <p:nvPr>
            <p:ph type="body" idx="13" sz="quarter"/>
          </p:nvPr>
        </p:nvSpPr>
        <p:spPr>
          <a:xfrm>
            <a:off x="466344" y="612648"/>
            <a:ext cx="6766560" cy="292608"/>
          </a:xfrm>
        </p:spPr>
        <p:txBody>
          <a:bodyPr/>
          <a:lstStyle/>
          <a:p>
            <a:r>
              <a:t>Remboursement des Organismes Complémentaires</a:t>
            </a:r>
          </a:p>
        </p:txBody>
      </p:sp>
      <p:sp>
        <p:nvSpPr>
          <p:cNvPr id="4" name="TextBox 3"/>
          <p:cNvSpPr txBox="1"/>
          <p:nvPr/>
        </p:nvSpPr>
        <p:spPr>
          <a:xfrm>
            <a:off x="457200" y="1115568"/>
            <a:ext cx="8229600" cy="484632"/>
          </a:xfrm>
          <a:prstGeom prst="rect">
            <a:avLst/>
          </a:prstGeom>
          <a:noFill/>
        </p:spPr>
        <p:txBody>
          <a:bodyPr wrap="square" lIns="0" rIns="0" tIns="0" bIns="0">
            <a:noAutofit/>
          </a:bodyPr>
          <a:lstStyle/>
          <a:p>
            <a:pPr>
              <a:lnSpc>
                <a:spcPct val="112000"/>
              </a:lnSpc>
              <a:spcBef>
                <a:spcPts val="0"/>
              </a:spcBef>
              <a:spcAft>
                <a:spcPts val="0"/>
              </a:spcAft>
            </a:pPr>
            <a:r>
              <a:rPr sz="1200" b="0" lang="fr-FR" cap="none">
                <a:solidFill>
                  <a:srgbClr val="404040"/>
                </a:solidFill>
                <a:latin typeface="Avenir Next LT Pro Light"/>
              </a:rPr>
              <a:t>L’établissement vérifie les droits en temps réel, calcule la part complémentaire, obtient un engagement de paiement et facture directement l’AMC.</a:t>
            </a:r>
          </a:p>
        </p:txBody>
      </p:sp>
      <p:sp>
        <p:nvSpPr>
          <p:cNvPr id="5" name="TextBox 4"/>
          <p:cNvSpPr txBox="1"/>
          <p:nvPr/>
        </p:nvSpPr>
        <p:spPr>
          <a:xfrm>
            <a:off x="457200" y="1682496"/>
            <a:ext cx="8229600" cy="219456"/>
          </a:xfrm>
          <a:prstGeom prst="rect">
            <a:avLst/>
          </a:prstGeom>
          <a:noFill/>
        </p:spPr>
        <p:txBody>
          <a:bodyPr wrap="square" lIns="0" rIns="0" tIns="0" bIns="0">
            <a:noAutofit/>
          </a:bodyPr>
          <a:lstStyle/>
          <a:p>
            <a:pPr>
              <a:lnSpc>
                <a:spcPct val="112000"/>
              </a:lnSpc>
              <a:spcBef>
                <a:spcPts val="0"/>
              </a:spcBef>
              <a:spcAft>
                <a:spcPts val="0"/>
              </a:spcAft>
            </a:pPr>
            <a:r>
              <a:rPr sz="1050" b="0" lang="fr-FR" cap="none">
                <a:solidFill>
                  <a:srgbClr val="5B0C02"/>
                </a:solidFill>
                <a:latin typeface="Avenir Next LT Pro Light"/>
              </a:rPr>
              <a:t>Ticket modérateur, forfait journalier, chambre particulière et autres prestations facturées à l’AMC.</a:t>
            </a:r>
          </a:p>
        </p:txBody>
      </p:sp>
      <p:graphicFrame>
        <p:nvGraphicFramePr>
          <p:cNvPr id="6" name="Table 5"/>
          <p:cNvGraphicFramePr>
            <a:graphicFrameLocks noGrp="1"/>
          </p:cNvGraphicFramePr>
          <p:nvPr/>
        </p:nvGraphicFramePr>
        <p:xfrm>
          <a:off x="457200" y="2130552"/>
          <a:ext cx="8229600" cy="2029967"/>
        </p:xfrm>
        <a:graphic>
          <a:graphicData uri="http://schemas.openxmlformats.org/drawingml/2006/table">
            <a:tbl>
              <a:tblPr>
                <a:tableStyleId>{5C22544A-7EE6-4342-B048-85BDC9FD1C3A}</a:tableStyleId>
              </a:tblPr>
              <a:tblGrid>
                <a:gridCol w="1261872"/>
                <a:gridCol w="3611880"/>
                <a:gridCol w="3355848"/>
              </a:tblGrid>
              <a:tr h="292608">
                <a:tc>
                  <a:txBody>
                    <a:bodyPr/>
                    <a:lstStyle/>
                    <a:p>
                      <a:pPr algn="l">
                        <a:lnSpc>
                          <a:spcPct val="100000"/>
                        </a:lnSpc>
                        <a:spcBef>
                          <a:spcPts val="0"/>
                        </a:spcBef>
                        <a:spcAft>
                          <a:spcPts val="0"/>
                        </a:spcAft>
                      </a:pPr>
                      <a:r>
                        <a:rPr sz="1050" b="1" lang="fr-FR">
                          <a:solidFill>
                            <a:srgbClr val="404040"/>
                          </a:solidFill>
                          <a:latin typeface="Avenir Next LT Pro Light"/>
                        </a:rPr>
                        <a:t>Calendrier</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50" b="1" lang="fr-FR">
                          <a:solidFill>
                            <a:srgbClr val="404040"/>
                          </a:solidFill>
                          <a:latin typeface="Avenir Next LT Pro Light"/>
                        </a:rPr>
                        <a:t>Public et ESPIC</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50" b="1" lang="fr-FR">
                          <a:solidFill>
                            <a:srgbClr val="404040"/>
                          </a:solidFill>
                          <a:latin typeface="Avenir Next LT Pro Light"/>
                        </a:rPr>
                        <a:t>Cliniques privées</a:t>
                      </a:r>
                    </a:p>
                  </a:txBody>
                  <a:tcPr marL="64008" marR="64008" marT="22860" marB="22860" anchor="ctr">
                    <a:solidFill>
                      <a:srgbClr val="BFBFBF">
                        <a:lumMod val="18000"/>
                        <a:lumOff val="82000"/>
                      </a:srgbClr>
                    </a:solidFill>
                    <a:lnL w="0">
                      <a:noFill/>
                    </a:lnL>
                    <a:lnR w="0">
                      <a:noFill/>
                    </a:lnR>
                    <a:lnT w="0">
                      <a:noFill/>
                    </a:lnT>
                    <a:lnB w="0">
                      <a:noFill/>
                    </a:lnB>
                  </a:tcPr>
                </a:tc>
              </a:tr>
              <a:tr h="301752">
                <a:tc>
                  <a:txBody>
                    <a:bodyPr/>
                    <a:lstStyle/>
                    <a:p>
                      <a:pPr algn="l">
                        <a:lnSpc>
                          <a:spcPct val="100000"/>
                        </a:lnSpc>
                        <a:spcBef>
                          <a:spcPts val="0"/>
                        </a:spcBef>
                        <a:spcAft>
                          <a:spcPts val="0"/>
                        </a:spcAft>
                      </a:pPr>
                      <a:r>
                        <a:rPr sz="1050" b="0" lang="fr-FR">
                          <a:solidFill>
                            <a:srgbClr val="404040"/>
                          </a:solidFill>
                          <a:latin typeface="Avenir Next LT Pro Light"/>
                        </a:rPr>
                        <a:t>2021</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50" b="0" lang="fr-FR">
                          <a:solidFill>
                            <a:srgbClr val="404040"/>
                          </a:solidFill>
                          <a:latin typeface="Avenir Next LT Pro Light"/>
                        </a:rPr>
                        <a:t>Accord national SIMPHONIE</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p>
                  </a:txBody>
                  <a:tcPr marL="64008" marR="64008" marT="22860" marB="22860" anchor="ctr">
                    <a:solidFill>
                      <a:srgbClr val="FFFFFF"/>
                    </a:solidFill>
                    <a:lnL w="0">
                      <a:noFill/>
                    </a:lnL>
                    <a:lnR w="0">
                      <a:noFill/>
                    </a:lnR>
                    <a:lnT w="0">
                      <a:noFill/>
                    </a:lnT>
                    <a:lnB w="0">
                      <a:noFill/>
                    </a:lnB>
                  </a:tcPr>
                </a:tc>
              </a:tr>
              <a:tr h="521207">
                <a:tc>
                  <a:txBody>
                    <a:bodyPr/>
                    <a:lstStyle/>
                    <a:p>
                      <a:pPr algn="l">
                        <a:lnSpc>
                          <a:spcPct val="100000"/>
                        </a:lnSpc>
                        <a:spcBef>
                          <a:spcPts val="0"/>
                        </a:spcBef>
                        <a:spcAft>
                          <a:spcPts val="0"/>
                        </a:spcAft>
                      </a:pPr>
                      <a:r>
                        <a:rPr sz="1050" b="0" lang="fr-FR">
                          <a:solidFill>
                            <a:srgbClr val="404040"/>
                          </a:solidFill>
                          <a:latin typeface="Avenir Next LT Pro Light"/>
                        </a:rPr>
                        <a:t>19/09/2024</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50" b="0" lang="fr-FR">
                          <a:solidFill>
                            <a:srgbClr val="404040"/>
                          </a:solidFill>
                          <a:latin typeface="Avenir Next LT Pro Light"/>
                        </a:rPr>
                        <a:t>473 établissements, soit 58 %</a:t>
                      </a:r>
                    </a:p>
                    <a:p>
                      <a:pPr algn="l">
                        <a:lnSpc>
                          <a:spcPct val="100000"/>
                        </a:lnSpc>
                        <a:spcBef>
                          <a:spcPts val="0"/>
                        </a:spcBef>
                        <a:spcAft>
                          <a:spcPts val="0"/>
                        </a:spcAft>
                      </a:pPr>
                      <a:r>
                        <a:rPr sz="1050" b="0" lang="fr-FR">
                          <a:solidFill>
                            <a:srgbClr val="404040"/>
                          </a:solidFill>
                          <a:latin typeface="Avenir Next LT Pro Light"/>
                        </a:rPr>
                        <a:t>88 AMC, 97 % des personnes protégées</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p>
                  </a:txBody>
                  <a:tcPr marL="64008" marR="64008" marT="22860" marB="22860" anchor="ctr">
                    <a:solidFill>
                      <a:srgbClr val="FFFFFF"/>
                    </a:solidFill>
                    <a:lnL w="0">
                      <a:noFill/>
                    </a:lnL>
                    <a:lnR w="0">
                      <a:noFill/>
                    </a:lnR>
                    <a:lnT w="0">
                      <a:noFill/>
                    </a:lnT>
                    <a:lnB w="0">
                      <a:noFill/>
                    </a:lnB>
                  </a:tcPr>
                </a:tc>
              </a:tr>
              <a:tr h="603504">
                <a:tc>
                  <a:txBody>
                    <a:bodyPr/>
                    <a:lstStyle/>
                    <a:p>
                      <a:pPr algn="l">
                        <a:lnSpc>
                          <a:spcPct val="100000"/>
                        </a:lnSpc>
                        <a:spcBef>
                          <a:spcPts val="0"/>
                        </a:spcBef>
                        <a:spcAft>
                          <a:spcPts val="0"/>
                        </a:spcAft>
                      </a:pPr>
                      <a:r>
                        <a:rPr sz="1050" b="0" lang="fr-FR">
                          <a:solidFill>
                            <a:srgbClr val="404040"/>
                          </a:solidFill>
                          <a:latin typeface="Avenir Next LT Pro Light"/>
                        </a:rPr>
                        <a:t>2025–2026</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50" b="0" lang="fr-FR">
                          <a:solidFill>
                            <a:srgbClr val="404040"/>
                          </a:solidFill>
                          <a:latin typeface="Avenir Next LT Pro Light"/>
                        </a:rPr>
                        <a:t>Fin de déploiement prévue</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50" b="0" lang="fr-FR">
                          <a:solidFill>
                            <a:srgbClr val="404040"/>
                          </a:solidFill>
                          <a:latin typeface="Avenir Next LT Pro Light"/>
                        </a:rPr>
                        <a:t>Deux pilotes à la rentrée 2025</a:t>
                      </a:r>
                    </a:p>
                    <a:p>
                      <a:pPr algn="l">
                        <a:lnSpc>
                          <a:spcPct val="100000"/>
                        </a:lnSpc>
                        <a:spcBef>
                          <a:spcPts val="0"/>
                        </a:spcBef>
                        <a:spcAft>
                          <a:spcPts val="0"/>
                        </a:spcAft>
                      </a:pPr>
                      <a:r>
                        <a:rPr sz="1050" b="0" lang="fr-FR">
                          <a:solidFill>
                            <a:srgbClr val="404040"/>
                          </a:solidFill>
                          <a:latin typeface="Avenir Next LT Pro Light"/>
                        </a:rPr>
                        <a:t>Montée en charge prévue en septembre 2026</a:t>
                      </a:r>
                    </a:p>
                  </a:txBody>
                  <a:tcPr marL="64008" marR="64008" marT="22860" marB="22860" anchor="ctr">
                    <a:solidFill>
                      <a:srgbClr val="FFFFFF"/>
                    </a:solidFill>
                    <a:lnL w="0">
                      <a:noFill/>
                    </a:lnL>
                    <a:lnR w="0">
                      <a:noFill/>
                    </a:lnR>
                    <a:lnT w="0">
                      <a:noFill/>
                    </a:lnT>
                    <a:lnB w="0">
                      <a:noFill/>
                    </a:lnB>
                  </a:tcPr>
                </a:tc>
              </a:tr>
              <a:tr h="310896">
                <a:tc>
                  <a:txBody>
                    <a:bodyPr/>
                    <a:lstStyle/>
                    <a:p>
                      <a:pPr algn="l">
                        <a:lnSpc>
                          <a:spcPct val="100000"/>
                        </a:lnSpc>
                        <a:spcBef>
                          <a:spcPts val="0"/>
                        </a:spcBef>
                        <a:spcAft>
                          <a:spcPts val="0"/>
                        </a:spcAft>
                      </a:pPr>
                      <a:r>
                        <a:rPr sz="1050" b="0" lang="fr-FR">
                          <a:solidFill>
                            <a:srgbClr val="404040"/>
                          </a:solidFill>
                          <a:latin typeface="Avenir Next LT Pro Light"/>
                        </a:rPr>
                        <a:t>2027</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50" b="0" lang="fr-FR">
                          <a:solidFill>
                            <a:srgbClr val="404040"/>
                          </a:solidFill>
                          <a:latin typeface="Avenir Next LT Pro Light"/>
                        </a:rPr>
                        <a:t>Généralisation prévue</a:t>
                      </a:r>
                    </a:p>
                  </a:txBody>
                  <a:tcPr marL="64008" marR="64008" marT="22860" marB="22860" anchor="ctr">
                    <a:solidFill>
                      <a:srgbClr val="FFFFFF"/>
                    </a:solidFill>
                    <a:lnL w="0">
                      <a:noFill/>
                    </a:lnL>
                    <a:lnR w="0">
                      <a:noFill/>
                    </a:lnR>
                    <a:lnT w="0">
                      <a:noFill/>
                    </a:lnT>
                    <a:lnB w="0">
                      <a:noFill/>
                    </a:lnB>
                  </a:tcPr>
                </a:tc>
              </a:tr>
            </a:tbl>
          </a:graphicData>
        </a:graphic>
      </p:graphicFrame>
      <p:sp>
        <p:nvSpPr>
          <p:cNvPr id="7" name="TextBox 6"/>
          <p:cNvSpPr txBox="1"/>
          <p:nvPr/>
        </p:nvSpPr>
        <p:spPr>
          <a:xfrm>
            <a:off x="457200" y="4443984"/>
            <a:ext cx="3977639" cy="393192"/>
          </a:xfrm>
          <a:prstGeom prst="rect">
            <a:avLst/>
          </a:prstGeom>
          <a:noFill/>
        </p:spPr>
        <p:txBody>
          <a:bodyPr wrap="square" lIns="0" rIns="0" tIns="0" bIns="0">
            <a:noAutofit/>
          </a:bodyPr>
          <a:lstStyle/>
          <a:p>
            <a:pPr>
              <a:lnSpc>
                <a:spcPct val="112000"/>
              </a:lnSpc>
              <a:spcBef>
                <a:spcPts val="0"/>
              </a:spcBef>
              <a:spcAft>
                <a:spcPts val="0"/>
              </a:spcAft>
            </a:pPr>
            <a:r>
              <a:rPr sz="2100" b="0" lang="fr-FR" cap="none">
                <a:solidFill>
                  <a:srgbClr val="EF4647"/>
                </a:solidFill>
                <a:latin typeface="Montserrat"/>
              </a:rPr>
              <a:t>10–15 %   →   0,1–0,2 %</a:t>
            </a:r>
          </a:p>
        </p:txBody>
      </p:sp>
      <p:sp>
        <p:nvSpPr>
          <p:cNvPr id="8" name="TextBox 7"/>
          <p:cNvSpPr txBox="1"/>
          <p:nvPr/>
        </p:nvSpPr>
        <p:spPr>
          <a:xfrm>
            <a:off x="457200" y="4882896"/>
            <a:ext cx="3977639" cy="274320"/>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404040"/>
                </a:solidFill>
                <a:latin typeface="Avenir Next LT Pro Light"/>
              </a:rPr>
              <a:t>Rejets de factures rapportés par les complémentaires</a:t>
            </a:r>
          </a:p>
        </p:txBody>
      </p:sp>
      <p:sp>
        <p:nvSpPr>
          <p:cNvPr id="9" name="TextBox 8"/>
          <p:cNvSpPr txBox="1"/>
          <p:nvPr/>
        </p:nvSpPr>
        <p:spPr>
          <a:xfrm>
            <a:off x="4736592" y="4407408"/>
            <a:ext cx="3931920" cy="57607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Des paiements plus rapides et moins de rejets peuvent gonfler l’année de règlement sans hausse de consommation.</a:t>
            </a:r>
          </a:p>
        </p:txBody>
      </p:sp>
      <p:sp>
        <p:nvSpPr>
          <p:cNvPr id="10" name="TextBox 9"/>
          <p:cNvSpPr txBox="1"/>
          <p:nvPr/>
        </p:nvSpPr>
        <p:spPr>
          <a:xfrm>
            <a:off x="457200" y="5184648"/>
            <a:ext cx="8229600" cy="219456"/>
          </a:xfrm>
          <a:prstGeom prst="rect">
            <a:avLst/>
          </a:prstGeom>
          <a:noFill/>
        </p:spPr>
        <p:txBody>
          <a:bodyPr wrap="square" lIns="0" rIns="0" tIns="0" bIns="0">
            <a:noAutofit/>
          </a:bodyPr>
          <a:lstStyle/>
          <a:p>
            <a:pPr>
              <a:lnSpc>
                <a:spcPct val="112000"/>
              </a:lnSpc>
              <a:spcBef>
                <a:spcPts val="0"/>
              </a:spcBef>
              <a:spcAft>
                <a:spcPts val="0"/>
              </a:spcAft>
            </a:pPr>
            <a:r>
              <a:rPr sz="1000" b="0" lang="fr-FR" cap="none">
                <a:solidFill>
                  <a:srgbClr val="5B0C02"/>
                </a:solidFill>
                <a:latin typeface="Avenir Next LT Pro Light"/>
              </a:rPr>
              <a:t>En 2025, l’effet ROC est à rechercher surtout dans le public, hors des séjours couverts par DAMIR.</a:t>
            </a:r>
          </a:p>
        </p:txBody>
      </p:sp>
      <p:sp>
        <p:nvSpPr>
          <p:cNvPr id="11" name="TextBox 10"/>
          <p:cNvSpPr txBox="1"/>
          <p:nvPr/>
        </p:nvSpPr>
        <p:spPr>
          <a:xfrm>
            <a:off x="457200" y="5458968"/>
            <a:ext cx="8229600" cy="128016"/>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Sources : GIE SESAM-Vitale ; Groupe VYV (19/09/2024) ; FHP-MCO (21/07/2025). Calendrier annoncé.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Les ruptures à prendre en compte</a:t>
            </a:r>
          </a:p>
        </p:txBody>
      </p:sp>
      <p:sp>
        <p:nvSpPr>
          <p:cNvPr id="3" name="Text Placeholder 2"/>
          <p:cNvSpPr>
            <a:spLocks noGrp="1"/>
          </p:cNvSpPr>
          <p:nvPr>
            <p:ph type="body" idx="13" sz="quarter"/>
          </p:nvPr>
        </p:nvSpPr>
        <p:spPr>
          <a:xfrm>
            <a:off x="466344" y="612648"/>
            <a:ext cx="6766560" cy="292608"/>
          </a:xfrm>
        </p:spPr>
        <p:txBody>
          <a:bodyPr/>
          <a:lstStyle/>
          <a:p>
            <a:r>
              <a:t>Trois blocs : séjours ordinaires, rééducation, anesthésie</a:t>
            </a:r>
          </a:p>
        </p:txBody>
      </p:sp>
      <p:sp>
        <p:nvSpPr>
          <p:cNvPr id="4" name="TextBox 3"/>
          <p:cNvSpPr txBox="1"/>
          <p:nvPr/>
        </p:nvSpPr>
        <p:spPr>
          <a:xfrm>
            <a:off x="457200" y="1088136"/>
            <a:ext cx="480060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Réformes et changements d’enregistrement</a:t>
            </a:r>
          </a:p>
        </p:txBody>
      </p:sp>
      <p:graphicFrame>
        <p:nvGraphicFramePr>
          <p:cNvPr id="5" name="Table 4"/>
          <p:cNvGraphicFramePr>
            <a:graphicFrameLocks noGrp="1"/>
          </p:cNvGraphicFramePr>
          <p:nvPr/>
        </p:nvGraphicFramePr>
        <p:xfrm>
          <a:off x="457200" y="1463040"/>
          <a:ext cx="4736591" cy="2578608"/>
        </p:xfrm>
        <a:graphic>
          <a:graphicData uri="http://schemas.openxmlformats.org/drawingml/2006/table">
            <a:tbl>
              <a:tblPr>
                <a:tableStyleId>{5C22544A-7EE6-4342-B048-85BDC9FD1C3A}</a:tableStyleId>
              </a:tblPr>
              <a:tblGrid>
                <a:gridCol w="914400"/>
                <a:gridCol w="3822191"/>
              </a:tblGrid>
              <a:tr h="265176">
                <a:tc>
                  <a:txBody>
                    <a:bodyPr/>
                    <a:lstStyle/>
                    <a:p>
                      <a:pPr algn="l">
                        <a:lnSpc>
                          <a:spcPct val="100000"/>
                        </a:lnSpc>
                        <a:spcBef>
                          <a:spcPts val="0"/>
                        </a:spcBef>
                        <a:spcAft>
                          <a:spcPts val="0"/>
                        </a:spcAft>
                      </a:pPr>
                      <a:r>
                        <a:rPr sz="1000" b="1" lang="fr-FR">
                          <a:solidFill>
                            <a:srgbClr val="404040"/>
                          </a:solidFill>
                          <a:latin typeface="Avenir Next LT Pro Light"/>
                        </a:rPr>
                        <a:t>Date</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00" b="1" lang="fr-FR">
                          <a:solidFill>
                            <a:srgbClr val="404040"/>
                          </a:solidFill>
                          <a:latin typeface="Avenir Next LT Pro Light"/>
                        </a:rPr>
                        <a:t>Événement</a:t>
                      </a:r>
                    </a:p>
                  </a:txBody>
                  <a:tcPr marL="64008" marR="64008" marT="22860" marB="22860" anchor="ctr">
                    <a:solidFill>
                      <a:srgbClr val="BFBFBF">
                        <a:lumMod val="18000"/>
                        <a:lumOff val="82000"/>
                      </a:srgbClr>
                    </a:solidFill>
                    <a:lnL w="0">
                      <a:noFill/>
                    </a:lnL>
                    <a:lnR w="0">
                      <a:noFill/>
                    </a:lnR>
                    <a:lnT w="0">
                      <a:noFill/>
                    </a:lnT>
                    <a:lnB w="0">
                      <a:noFill/>
                    </a:lnB>
                  </a:tcPr>
                </a:tc>
              </a:tr>
              <a:tr h="530352">
                <a:tc>
                  <a:txBody>
                    <a:bodyPr/>
                    <a:lstStyle/>
                    <a:p>
                      <a:pPr algn="l">
                        <a:lnSpc>
                          <a:spcPct val="100000"/>
                        </a:lnSpc>
                        <a:spcBef>
                          <a:spcPts val="0"/>
                        </a:spcBef>
                        <a:spcAft>
                          <a:spcPts val="0"/>
                        </a:spcAft>
                      </a:pPr>
                      <a:r>
                        <a:rPr sz="1000" b="0" lang="fr-FR">
                          <a:solidFill>
                            <a:srgbClr val="404040"/>
                          </a:solidFill>
                          <a:latin typeface="Avenir Next LT Pro Light"/>
                        </a:rPr>
                        <a:t>01/2024</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Réforme du financement des SMR</a:t>
                      </a:r>
                    </a:p>
                    <a:p>
                      <a:pPr algn="l">
                        <a:lnSpc>
                          <a:spcPct val="100000"/>
                        </a:lnSpc>
                        <a:spcBef>
                          <a:spcPts val="0"/>
                        </a:spcBef>
                        <a:spcAft>
                          <a:spcPts val="0"/>
                        </a:spcAft>
                      </a:pPr>
                      <a:r>
                        <a:rPr sz="1000" b="0" lang="fr-FR">
                          <a:solidFill>
                            <a:srgbClr val="404040"/>
                          </a:solidFill>
                          <a:latin typeface="Avenir Next LT Pro Light"/>
                        </a:rPr>
                        <a:t>Nouveaux tarifs et codes, facturation retardée</a:t>
                      </a:r>
                    </a:p>
                  </a:txBody>
                  <a:tcPr marL="64008" marR="64008" marT="22860" marB="22860" anchor="ctr">
                    <a:solidFill>
                      <a:srgbClr val="FFFFFF"/>
                    </a:solidFill>
                    <a:lnL w="0">
                      <a:noFill/>
                    </a:lnL>
                    <a:lnR w="0">
                      <a:noFill/>
                    </a:lnR>
                    <a:lnT w="0">
                      <a:noFill/>
                    </a:lnT>
                    <a:lnB w="0">
                      <a:noFill/>
                    </a:lnB>
                  </a:tcPr>
                </a:tc>
              </a:tr>
              <a:tr h="466344">
                <a:tc>
                  <a:txBody>
                    <a:bodyPr/>
                    <a:lstStyle/>
                    <a:p>
                      <a:pPr algn="l">
                        <a:lnSpc>
                          <a:spcPct val="100000"/>
                        </a:lnSpc>
                        <a:spcBef>
                          <a:spcPts val="0"/>
                        </a:spcBef>
                        <a:spcAft>
                          <a:spcPts val="0"/>
                        </a:spcAft>
                      </a:pPr>
                      <a:r>
                        <a:rPr sz="1000" b="0" lang="fr-FR">
                          <a:solidFill>
                            <a:srgbClr val="404040"/>
                          </a:solidFill>
                          <a:latin typeface="Avenir Next LT Pro Light"/>
                        </a:rPr>
                        <a:t>2024</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Doublement des franchises</a:t>
                      </a:r>
                    </a:p>
                    <a:p>
                      <a:pPr algn="l">
                        <a:lnSpc>
                          <a:spcPct val="100000"/>
                        </a:lnSpc>
                        <a:spcBef>
                          <a:spcPts val="0"/>
                        </a:spcBef>
                        <a:spcAft>
                          <a:spcPts val="0"/>
                        </a:spcAft>
                      </a:pPr>
                      <a:r>
                        <a:rPr sz="1000" b="0" lang="fr-FR">
                          <a:solidFill>
                            <a:srgbClr val="404040"/>
                          </a:solidFill>
                          <a:latin typeface="Avenir Next LT Pro Light"/>
                        </a:rPr>
                        <a:t>et participations forfaitaires</a:t>
                      </a:r>
                    </a:p>
                  </a:txBody>
                  <a:tcPr marL="64008" marR="64008" marT="22860" marB="22860" anchor="ctr">
                    <a:solidFill>
                      <a:srgbClr val="FFFFFF"/>
                    </a:solidFill>
                    <a:lnL w="0">
                      <a:noFill/>
                    </a:lnL>
                    <a:lnR w="0">
                      <a:noFill/>
                    </a:lnR>
                    <a:lnT w="0">
                      <a:noFill/>
                    </a:lnT>
                    <a:lnB w="0">
                      <a:noFill/>
                    </a:lnB>
                  </a:tcPr>
                </a:tc>
              </a:tr>
              <a:tr h="539496">
                <a:tc>
                  <a:txBody>
                    <a:bodyPr/>
                    <a:lstStyle/>
                    <a:p>
                      <a:pPr algn="l">
                        <a:lnSpc>
                          <a:spcPct val="100000"/>
                        </a:lnSpc>
                        <a:spcBef>
                          <a:spcPts val="0"/>
                        </a:spcBef>
                        <a:spcAft>
                          <a:spcPts val="0"/>
                        </a:spcAft>
                      </a:pPr>
                      <a:r>
                        <a:rPr sz="1000" b="0" lang="fr-FR">
                          <a:solidFill>
                            <a:srgbClr val="404040"/>
                          </a:solidFill>
                          <a:latin typeface="Avenir Next LT Pro Light"/>
                        </a:rPr>
                        <a:t>11/2024</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Forfait journalier (2251) : dépense</a:t>
                      </a:r>
                    </a:p>
                    <a:p>
                      <a:pPr algn="l">
                        <a:lnSpc>
                          <a:spcPct val="100000"/>
                        </a:lnSpc>
                        <a:spcBef>
                          <a:spcPts val="0"/>
                        </a:spcBef>
                        <a:spcAft>
                          <a:spcPts val="0"/>
                        </a:spcAft>
                      </a:pPr>
                      <a:r>
                        <a:rPr sz="1000" b="0" lang="fr-FR">
                          <a:solidFill>
                            <a:srgbClr val="404040"/>
                          </a:solidFill>
                          <a:latin typeface="Avenir Next LT Pro Light"/>
                        </a:rPr>
                        <a:t>non enregistrée, cause non documentée</a:t>
                      </a:r>
                    </a:p>
                  </a:txBody>
                  <a:tcPr marL="64008" marR="64008" marT="22860" marB="22860" anchor="ctr">
                    <a:solidFill>
                      <a:srgbClr val="FFFFFF"/>
                    </a:solidFill>
                    <a:lnL w="0">
                      <a:noFill/>
                    </a:lnL>
                    <a:lnR w="0">
                      <a:noFill/>
                    </a:lnR>
                    <a:lnT w="0">
                      <a:noFill/>
                    </a:lnT>
                    <a:lnB w="0">
                      <a:noFill/>
                    </a:lnB>
                  </a:tcPr>
                </a:tc>
              </a:tr>
              <a:tr h="466344">
                <a:tc>
                  <a:txBody>
                    <a:bodyPr/>
                    <a:lstStyle/>
                    <a:p>
                      <a:pPr algn="l">
                        <a:lnSpc>
                          <a:spcPct val="100000"/>
                        </a:lnSpc>
                        <a:spcBef>
                          <a:spcPts val="0"/>
                        </a:spcBef>
                        <a:spcAft>
                          <a:spcPts val="0"/>
                        </a:spcAft>
                      </a:pPr>
                      <a:r>
                        <a:rPr sz="1000" b="0" lang="fr-FR">
                          <a:solidFill>
                            <a:srgbClr val="404040"/>
                          </a:solidFill>
                          <a:latin typeface="Avenir Next LT Pro Light"/>
                        </a:rPr>
                        <a:t>07/2025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Codes 4243–4247 sans libellé local</a:t>
                      </a:r>
                    </a:p>
                    <a:p>
                      <a:pPr algn="l">
                        <a:lnSpc>
                          <a:spcPct val="100000"/>
                        </a:lnSpc>
                        <a:spcBef>
                          <a:spcPts val="0"/>
                        </a:spcBef>
                        <a:spcAft>
                          <a:spcPts val="0"/>
                        </a:spcAft>
                      </a:pPr>
                      <a:r>
                        <a:rPr sz="1000" b="0" lang="fr-FR">
                          <a:solidFill>
                            <a:srgbClr val="404040"/>
                          </a:solidFill>
                          <a:latin typeface="Avenir Next LT Pro Light"/>
                        </a:rPr>
                        <a:t>262 M€ de prestations nouvelles</a:t>
                      </a:r>
                    </a:p>
                  </a:txBody>
                  <a:tcPr marL="64008" marR="64008" marT="22860" marB="22860" anchor="ctr">
                    <a:solidFill>
                      <a:srgbClr val="FFFFFF"/>
                    </a:solidFill>
                    <a:lnL w="0">
                      <a:noFill/>
                    </a:lnL>
                    <a:lnR w="0">
                      <a:noFill/>
                    </a:lnR>
                    <a:lnT w="0">
                      <a:noFill/>
                    </a:lnT>
                    <a:lnB w="0">
                      <a:noFill/>
                    </a:lnB>
                  </a:tcPr>
                </a:tc>
              </a:tr>
              <a:tr h="310896">
                <a:tc>
                  <a:txBody>
                    <a:bodyPr/>
                    <a:lstStyle/>
                    <a:p>
                      <a:pPr algn="l">
                        <a:lnSpc>
                          <a:spcPct val="100000"/>
                        </a:lnSpc>
                        <a:spcBef>
                          <a:spcPts val="0"/>
                        </a:spcBef>
                        <a:spcAft>
                          <a:spcPts val="0"/>
                        </a:spcAft>
                      </a:pPr>
                      <a:r>
                        <a:rPr sz="1000" b="0" lang="fr-FR">
                          <a:solidFill>
                            <a:srgbClr val="404040"/>
                          </a:solidFill>
                          <a:latin typeface="Avenir Next LT Pro Light"/>
                        </a:rPr>
                        <a:t>2026</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Réforme à préciser</a:t>
                      </a:r>
                    </a:p>
                  </a:txBody>
                  <a:tcPr marL="64008" marR="64008" marT="22860" marB="22860" anchor="ctr">
                    <a:solidFill>
                      <a:srgbClr val="FFFFFF"/>
                    </a:solidFill>
                    <a:lnL w="0">
                      <a:noFill/>
                    </a:lnL>
                    <a:lnR w="0">
                      <a:noFill/>
                    </a:lnR>
                    <a:lnT w="0">
                      <a:noFill/>
                    </a:lnT>
                    <a:lnB w="0">
                      <a:noFill/>
                    </a:lnB>
                  </a:tcPr>
                </a:tc>
              </a:tr>
            </a:tbl>
          </a:graphicData>
        </a:graphic>
      </p:graphicFrame>
      <p:sp>
        <p:nvSpPr>
          <p:cNvPr id="6" name="TextBox 5"/>
          <p:cNvSpPr txBox="1"/>
          <p:nvPr/>
        </p:nvSpPr>
        <p:spPr>
          <a:xfrm>
            <a:off x="5477256" y="1088136"/>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Cadence AMO : aucune accélération</a:t>
            </a:r>
          </a:p>
        </p:txBody>
      </p:sp>
      <p:graphicFrame>
        <p:nvGraphicFramePr>
          <p:cNvPr id="7" name="Table 6"/>
          <p:cNvGraphicFramePr>
            <a:graphicFrameLocks noGrp="1"/>
          </p:cNvGraphicFramePr>
          <p:nvPr/>
        </p:nvGraphicFramePr>
        <p:xfrm>
          <a:off x="5477256" y="1463040"/>
          <a:ext cx="3209544" cy="1261872"/>
        </p:xfrm>
        <a:graphic>
          <a:graphicData uri="http://schemas.openxmlformats.org/drawingml/2006/table">
            <a:tbl>
              <a:tblPr>
                <a:tableStyleId>{5C22544A-7EE6-4342-B048-85BDC9FD1C3A}</a:tableStyleId>
              </a:tblPr>
              <a:tblGrid>
                <a:gridCol w="1728216"/>
                <a:gridCol w="740664"/>
                <a:gridCol w="740664"/>
              </a:tblGrid>
              <a:tr h="301752">
                <a:tc>
                  <a:txBody>
                    <a:bodyPr/>
                    <a:lstStyle/>
                    <a:p>
                      <a:pPr algn="l">
                        <a:lnSpc>
                          <a:spcPct val="100000"/>
                        </a:lnSpc>
                        <a:spcBef>
                          <a:spcPts val="0"/>
                        </a:spcBef>
                        <a:spcAft>
                          <a:spcPts val="0"/>
                        </a:spcAft>
                      </a:pPr>
                      <a:r>
                        <a:rPr sz="950" b="1" lang="fr-FR">
                          <a:solidFill>
                            <a:srgbClr val="404040"/>
                          </a:solidFill>
                          <a:latin typeface="Avenir Next LT Pro Light"/>
                        </a:rPr>
                        <a:t>Réglé dans l’année</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r>
              <a:tr h="320040">
                <a:tc>
                  <a:txBody>
                    <a:bodyPr/>
                    <a:lstStyle/>
                    <a:p>
                      <a:pPr algn="l">
                        <a:lnSpc>
                          <a:spcPct val="100000"/>
                        </a:lnSpc>
                        <a:spcBef>
                          <a:spcPts val="0"/>
                        </a:spcBef>
                        <a:spcAft>
                          <a:spcPts val="0"/>
                        </a:spcAft>
                      </a:pPr>
                      <a:r>
                        <a:rPr sz="950" b="0" lang="fr-FR">
                          <a:solidFill>
                            <a:srgbClr val="404040"/>
                          </a:solidFill>
                          <a:latin typeface="Avenir Next LT Pro Light"/>
                        </a:rPr>
                        <a:t>Séjours ordinaires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91,3 %</a:t>
                      </a:r>
                    </a:p>
                  </a:txBody>
                  <a:tcPr marL="64008" marR="64008" marT="22860" marB="22860" anchor="ctr">
                    <a:solidFill>
                      <a:srgbClr val="FFFFFF"/>
                    </a:solidFill>
                    <a:lnL w="0">
                      <a:noFill/>
                    </a:lnL>
                    <a:lnR w="0">
                      <a:noFill/>
                    </a:lnR>
                    <a:lnT w="0">
                      <a:noFill/>
                    </a:lnT>
                    <a:lnB w="0">
                      <a:noFill/>
                    </a:lnB>
                  </a:tcPr>
                </a:tc>
              </a:tr>
              <a:tr h="320040">
                <a:tc>
                  <a:txBody>
                    <a:bodyPr/>
                    <a:lstStyle/>
                    <a:p>
                      <a:pPr algn="l">
                        <a:lnSpc>
                          <a:spcPct val="100000"/>
                        </a:lnSpc>
                        <a:spcBef>
                          <a:spcPts val="0"/>
                        </a:spcBef>
                        <a:spcAft>
                          <a:spcPts val="0"/>
                        </a:spcAft>
                      </a:pPr>
                      <a:r>
                        <a:rPr sz="950" b="0" lang="fr-FR">
                          <a:solidFill>
                            <a:srgbClr val="404040"/>
                          </a:solidFill>
                          <a:latin typeface="Avenir Next LT Pro Light"/>
                        </a:rPr>
                        <a:t>Anesthésie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~94 %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93,9 %</a:t>
                      </a:r>
                    </a:p>
                  </a:txBody>
                  <a:tcPr marL="64008" marR="64008" marT="22860" marB="22860" anchor="ctr">
                    <a:solidFill>
                      <a:srgbClr val="FFFFFF"/>
                    </a:solidFill>
                    <a:lnL w="0">
                      <a:noFill/>
                    </a:lnL>
                    <a:lnR w="0">
                      <a:noFill/>
                    </a:lnR>
                    <a:lnT w="0">
                      <a:noFill/>
                    </a:lnT>
                    <a:lnB w="0">
                      <a:noFill/>
                    </a:lnB>
                  </a:tcPr>
                </a:tc>
              </a:tr>
              <a:tr h="320040">
                <a:tc>
                  <a:txBody>
                    <a:bodyPr/>
                    <a:lstStyle/>
                    <a:p>
                      <a:pPr algn="l">
                        <a:lnSpc>
                          <a:spcPct val="100000"/>
                        </a:lnSpc>
                        <a:spcBef>
                          <a:spcPts val="0"/>
                        </a:spcBef>
                        <a:spcAft>
                          <a:spcPts val="0"/>
                        </a:spcAft>
                      </a:pPr>
                      <a:r>
                        <a:rPr sz="950" b="0" lang="fr-FR">
                          <a:solidFill>
                            <a:srgbClr val="404040"/>
                          </a:solidFill>
                          <a:latin typeface="Avenir Next LT Pro Light"/>
                        </a:rPr>
                        <a:t>Rééducation</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89,0 %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84,4 %</a:t>
                      </a:r>
                    </a:p>
                  </a:txBody>
                  <a:tcPr marL="64008" marR="64008" marT="22860" marB="22860" anchor="ctr">
                    <a:solidFill>
                      <a:srgbClr val="FFFFFF"/>
                    </a:solidFill>
                    <a:lnL w="0">
                      <a:noFill/>
                    </a:lnL>
                    <a:lnR w="0">
                      <a:noFill/>
                    </a:lnR>
                    <a:lnT w="0">
                      <a:noFill/>
                    </a:lnT>
                    <a:lnB w="0">
                      <a:noFill/>
                    </a:lnB>
                  </a:tcPr>
                </a:tc>
              </a:tr>
            </a:tbl>
          </a:graphicData>
        </a:graphic>
      </p:graphicFrame>
      <p:sp>
        <p:nvSpPr>
          <p:cNvPr id="8" name="TextBox 7"/>
          <p:cNvSpPr txBox="1"/>
          <p:nvPr/>
        </p:nvSpPr>
        <p:spPr>
          <a:xfrm>
            <a:off x="5477256" y="2907792"/>
            <a:ext cx="3209544" cy="768096"/>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Le témoin AMO reste stable ou ralentit. Une déformation ROC se calibre sur les flux de l’AMC et son exposition publique.</a:t>
            </a:r>
          </a:p>
        </p:txBody>
      </p:sp>
      <p:sp>
        <p:nvSpPr>
          <p:cNvPr id="9" name="TextBox 8"/>
          <p:cNvSpPr txBox="1"/>
          <p:nvPr/>
        </p:nvSpPr>
        <p:spPr>
          <a:xfrm>
            <a:off x="5477256" y="3694176"/>
            <a:ext cx="3209544" cy="475488"/>
          </a:xfrm>
          <a:prstGeom prst="rect">
            <a:avLst/>
          </a:prstGeom>
          <a:noFill/>
        </p:spPr>
        <p:txBody>
          <a:bodyPr wrap="square" lIns="0" rIns="0" tIns="0" bIns="0">
            <a:noAutofit/>
          </a:bodyPr>
          <a:lstStyle/>
          <a:p>
            <a:pPr>
              <a:lnSpc>
                <a:spcPct val="112000"/>
              </a:lnSpc>
              <a:spcBef>
                <a:spcPts val="0"/>
              </a:spcBef>
              <a:spcAft>
                <a:spcPts val="0"/>
              </a:spcAft>
            </a:pPr>
            <a:r>
              <a:rPr sz="1000" b="1" lang="fr-FR" cap="none">
                <a:solidFill>
                  <a:srgbClr val="5B0C02"/>
                </a:solidFill>
                <a:latin typeface="Avenir Next LT Pro Light"/>
              </a:rPr>
              <a:t>Les 58 % d’établissements raccordés ne sont pas 58 % de la charge du portefeuille.</a:t>
            </a:r>
          </a:p>
        </p:txBody>
      </p:sp>
      <p:sp>
        <p:nvSpPr>
          <p:cNvPr id="10" name="TextBox 9"/>
          <p:cNvSpPr txBox="1"/>
          <p:nvPr/>
        </p:nvSpPr>
        <p:spPr>
          <a:xfrm>
            <a:off x="457200" y="4361688"/>
            <a:ext cx="822960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L’agrégat « Hospitalisation » fausse la lecture</a:t>
            </a:r>
          </a:p>
        </p:txBody>
      </p:sp>
      <p:sp>
        <p:nvSpPr>
          <p:cNvPr id="11" name="TextBox 10"/>
          <p:cNvSpPr txBox="1"/>
          <p:nvPr/>
        </p:nvSpPr>
        <p:spPr>
          <a:xfrm>
            <a:off x="457200" y="4690872"/>
            <a:ext cx="8229600" cy="457200"/>
          </a:xfrm>
          <a:prstGeom prst="rect">
            <a:avLst/>
          </a:prstGeom>
          <a:noFill/>
        </p:spPr>
        <p:txBody>
          <a:bodyPr wrap="square" lIns="0" rIns="0" tIns="0" bIns="0">
            <a:noAutofit/>
          </a:bodyPr>
          <a:lstStyle/>
          <a:p>
            <a:pPr>
              <a:lnSpc>
                <a:spcPct val="112000"/>
              </a:lnSpc>
              <a:spcBef>
                <a:spcPts val="0"/>
              </a:spcBef>
              <a:spcAft>
                <a:spcPts val="0"/>
              </a:spcAft>
            </a:pPr>
            <a:r>
              <a:rPr sz="1050" b="0" lang="fr-FR" cap="none">
                <a:solidFill>
                  <a:srgbClr val="404040"/>
                </a:solidFill>
                <a:latin typeface="Avenir Next LT Pro Light"/>
              </a:rPr>
              <a:t>Dotation SSR (2192) à 100 % d’AMO et dépense du forfait journalier absente : la hausse de part AMO vient de l’enregistrement. La DREES observe au contraire −0,6 point dans le privé en 2024 (87,9 %).</a:t>
            </a:r>
          </a:p>
        </p:txBody>
      </p:sp>
      <p:sp>
        <p:nvSpPr>
          <p:cNvPr id="12" name="TextBox 11"/>
          <p:cNvSpPr txBox="1"/>
          <p:nvPr/>
        </p:nvSpPr>
        <p:spPr>
          <a:xfrm>
            <a:off x="457200" y="5221224"/>
            <a:ext cx="813816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Sources complémentaires : Sénat, qSEQ241000269 ; DREES, Comptes de la santé 2024, fiche 02 ; Groupe VYV.</a:t>
            </a:r>
          </a:p>
        </p:txBody>
      </p:sp>
      <p:sp>
        <p:nvSpPr>
          <p:cNvPr id="13" name="TextBox 12"/>
          <p:cNvSpPr txBox="1"/>
          <p:nvPr/>
        </p:nvSpPr>
        <p:spPr>
          <a:xfrm>
            <a:off x="457200" y="5431536"/>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Séjours ordinaires : une hausse modérée</a:t>
            </a:r>
          </a:p>
        </p:txBody>
      </p:sp>
      <p:sp>
        <p:nvSpPr>
          <p:cNvPr id="3" name="Text Placeholder 2"/>
          <p:cNvSpPr>
            <a:spLocks noGrp="1"/>
          </p:cNvSpPr>
          <p:nvPr>
            <p:ph type="body" idx="13" sz="quarter"/>
          </p:nvPr>
        </p:nvSpPr>
        <p:spPr>
          <a:xfrm>
            <a:off x="466344" y="612648"/>
            <a:ext cx="6766560" cy="292608"/>
          </a:xfrm>
        </p:spPr>
        <p:txBody>
          <a:bodyPr/>
          <a:lstStyle/>
          <a:p>
            <a:r>
              <a:t>Cliniques, code 2111 : frais d’hébergement et environnement en GHS</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gridCol w="731520"/>
                <a:gridCol w="731520"/>
                <a:gridCol w="731520"/>
                <a:gridCol w="731520"/>
              </a:tblGrid>
              <a:tr h="260603">
                <a:tc>
                  <a:txBody>
                    <a:bodyPr/>
                    <a:lstStyle/>
                    <a:p>
                      <a:pPr algn="l">
                        <a:lnSpc>
                          <a:spcPct val="100000"/>
                        </a:lnSpc>
                        <a:spcBef>
                          <a:spcPts val="0"/>
                        </a:spcBef>
                        <a:spcAft>
                          <a:spcPts val="0"/>
                        </a:spcAft>
                      </a:pPr>
                      <a:r>
                        <a:rPr sz="950" b="1" lang="fr-FR">
                          <a:solidFill>
                            <a:srgbClr val="404040"/>
                          </a:solidFill>
                          <a:latin typeface="Avenir Next LT Pro Light"/>
                        </a:rPr>
                        <a:t>En M€ sauf parts</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2022</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2025*</a:t>
                      </a:r>
                    </a:p>
                  </a:txBody>
                  <a:tcPr marL="64008" marR="64008" marT="22860" marB="22860" anchor="ctr">
                    <a:solidFill>
                      <a:srgbClr val="BFBFBF">
                        <a:lumMod val="18000"/>
                        <a:lumOff val="82000"/>
                      </a:srgbClr>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soins*</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8 155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8 833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9 067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8 792</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7 823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8 488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8 714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8 463</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333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345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353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330</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95,9 %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96,3 %</a:t>
                      </a:r>
                    </a:p>
                  </a:txBody>
                  <a:tcPr marL="64008" marR="64008" marT="22860" marB="22860" anchor="ctr">
                    <a:solidFill>
                      <a:srgbClr val="FFFFFF"/>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8 114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8 795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9 063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9 405</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7 785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8 452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8 709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9 039</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329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344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354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366</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5468112" y="1124712"/>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Reste après AMO, en M€</a:t>
            </a:r>
          </a:p>
        </p:txBody>
      </p:sp>
      <p:graphicFrame>
        <p:nvGraphicFramePr>
          <p:cNvPr id="6" name="Chart 5"/>
          <p:cNvGraphicFramePr>
            <a:graphicFrameLocks noGrp="1"/>
          </p:cNvGraphicFramePr>
          <p:nvPr/>
        </p:nvGraphicFramePr>
        <p:xfrm>
          <a:off x="5394960" y="1545336"/>
          <a:ext cx="3310128" cy="2432304"/>
        </p:xfrm>
        <a:graphic>
          <a:graphicData uri="http://schemas.openxmlformats.org/drawingml/2006/chart">
            <c:chart xmlns:c="http://schemas.openxmlformats.org/drawingml/2006/chart" r:id="rId2"/>
          </a:graphicData>
        </a:graphic>
      </p:graphicFrame>
      <p:sp>
        <p:nvSpPr>
          <p:cNvPr id="7" name="TextBox 6"/>
          <p:cNvSpPr txBox="1"/>
          <p:nvPr/>
        </p:nvSpPr>
        <p:spPr>
          <a:xfrm>
            <a:off x="5541264" y="4059936"/>
            <a:ext cx="1545336" cy="429768"/>
          </a:xfrm>
          <a:prstGeom prst="rect">
            <a:avLst/>
          </a:prstGeom>
          <a:noFill/>
        </p:spPr>
        <p:txBody>
          <a:bodyPr wrap="square" lIns="0" rIns="0" tIns="0" bIns="0">
            <a:noAutofit/>
          </a:bodyPr>
          <a:lstStyle/>
          <a:p>
            <a:pPr>
              <a:lnSpc>
                <a:spcPct val="112000"/>
              </a:lnSpc>
              <a:spcBef>
                <a:spcPts val="0"/>
              </a:spcBef>
              <a:spcAft>
                <a:spcPts val="0"/>
              </a:spcAft>
            </a:pPr>
            <a:r>
              <a:rPr sz="2300" b="0" lang="fr-FR" cap="none">
                <a:solidFill>
                  <a:srgbClr val="EF4647"/>
                </a:solidFill>
                <a:latin typeface="Montserrat"/>
              </a:rPr>
              <a:t>+2,4 %</a:t>
            </a:r>
          </a:p>
        </p:txBody>
      </p:sp>
      <p:sp>
        <p:nvSpPr>
          <p:cNvPr id="8" name="TextBox 7"/>
          <p:cNvSpPr txBox="1"/>
          <p:nvPr/>
        </p:nvSpPr>
        <p:spPr>
          <a:xfrm>
            <a:off x="6922008" y="4087368"/>
            <a:ext cx="1755648" cy="502920"/>
          </a:xfrm>
          <a:prstGeom prst="rect">
            <a:avLst/>
          </a:prstGeom>
          <a:noFill/>
        </p:spPr>
        <p:txBody>
          <a:bodyPr wrap="square" lIns="0" rIns="0" tIns="0" bIns="0">
            <a:noAutofit/>
          </a:bodyPr>
          <a:lstStyle/>
          <a:p>
            <a:pPr>
              <a:lnSpc>
                <a:spcPct val="112000"/>
              </a:lnSpc>
              <a:spcBef>
                <a:spcPts val="0"/>
              </a:spcBef>
              <a:spcAft>
                <a:spcPts val="0"/>
              </a:spcAft>
            </a:pPr>
            <a:r>
              <a:rPr sz="1000" b="0" lang="fr-FR" cap="none">
                <a:solidFill>
                  <a:srgbClr val="404040"/>
                </a:solidFill>
                <a:latin typeface="Avenir Next LT Pro Light"/>
              </a:rPr>
              <a:t>Reste après AMO</a:t>
            </a:r>
          </a:p>
          <a:p>
            <a:pPr>
              <a:lnSpc>
                <a:spcPct val="112000"/>
              </a:lnSpc>
              <a:spcBef>
                <a:spcPts val="0"/>
              </a:spcBef>
              <a:spcAft>
                <a:spcPts val="0"/>
              </a:spcAft>
            </a:pPr>
            <a:r>
              <a:rPr sz="1000" b="0" lang="fr-FR" cap="none">
                <a:solidFill>
                  <a:srgbClr val="404040"/>
                </a:solidFill>
                <a:latin typeface="Avenir Next LT Pro Light"/>
              </a:rPr>
              <a:t>en année de soins, 2024</a:t>
            </a:r>
          </a:p>
        </p:txBody>
      </p:sp>
      <p:sp>
        <p:nvSpPr>
          <p:cNvPr id="9" name="TextBox 8"/>
          <p:cNvSpPr txBox="1"/>
          <p:nvPr/>
        </p:nvSpPr>
        <p:spPr>
          <a:xfrm>
            <a:off x="457200" y="4453128"/>
            <a:ext cx="8229600" cy="274320"/>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En 2024 : volume +2,0 %, dépense moyenne +0,6 %. Pas de bosse de règlement en 2025.</a:t>
            </a:r>
          </a:p>
        </p:txBody>
      </p:sp>
      <p:sp>
        <p:nvSpPr>
          <p:cNvPr id="10" name="TextBox 9"/>
          <p:cNvSpPr txBox="1"/>
          <p:nvPr/>
        </p:nvSpPr>
        <p:spPr>
          <a:xfrm>
            <a:off x="457200" y="4864608"/>
            <a:ext cx="8229600" cy="256032"/>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1" name="TextBox 10"/>
          <p:cNvSpPr txBox="1"/>
          <p:nvPr/>
        </p:nvSpPr>
        <p:spPr>
          <a:xfrm>
            <a:off x="457200" y="5074920"/>
            <a:ext cx="8229600" cy="301752"/>
          </a:xfrm>
          <a:prstGeom prst="rect">
            <a:avLst/>
          </a:prstGeom>
          <a:noFill/>
        </p:spPr>
        <p:txBody>
          <a:bodyPr wrap="square" lIns="0" rIns="0" tIns="0" bIns="0">
            <a:noAutofit/>
          </a:bodyPr>
          <a:lstStyle/>
          <a:p>
            <a:pPr>
              <a:lnSpc>
                <a:spcPct val="112000"/>
              </a:lnSpc>
              <a:spcBef>
                <a:spcPts val="0"/>
              </a:spcBef>
              <a:spcAft>
                <a:spcPts val="0"/>
              </a:spcAft>
            </a:pPr>
            <a:r>
              <a:rPr sz="850" b="0" lang="fr-FR" cap="none">
                <a:solidFill>
                  <a:srgbClr val="404040"/>
                </a:solidFill>
                <a:latin typeface="Avenir Next LT Pro Light"/>
              </a:rPr>
              <a:t>* 2025 en année de soins : observée, liquidée à ~90 %. Le reste après AMO approche ici le ticket modérateur.</a:t>
            </a:r>
          </a:p>
          <a:p>
            <a:pPr>
              <a:lnSpc>
                <a:spcPct val="112000"/>
              </a:lnSpc>
              <a:spcBef>
                <a:spcPts val="0"/>
              </a:spcBef>
              <a:spcAft>
                <a:spcPts val="0"/>
              </a:spcAft>
            </a:pPr>
            <a:r>
              <a:rPr sz="850" b="0" lang="fr-FR" cap="none">
                <a:solidFill>
                  <a:srgbClr val="404040"/>
                </a:solidFill>
                <a:latin typeface="Avenir Next LT Pro Light"/>
              </a:rPr>
              <a:t>Le code 2111 ne représente pas tous les séjours. Les montants arrondis peuvent créer un écart de 1 M€.</a:t>
            </a:r>
          </a:p>
        </p:txBody>
      </p:sp>
      <p:sp>
        <p:nvSpPr>
          <p:cNvPr id="12" name="TextBox 11"/>
          <p:cNvSpPr txBox="1"/>
          <p:nvPr/>
        </p:nvSpPr>
        <p:spPr>
          <a:xfrm>
            <a:off x="457200" y="5431536"/>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Rééducation : hausse et rattrapage</a:t>
            </a:r>
          </a:p>
        </p:txBody>
      </p:sp>
      <p:sp>
        <p:nvSpPr>
          <p:cNvPr id="3" name="Text Placeholder 2"/>
          <p:cNvSpPr>
            <a:spLocks noGrp="1"/>
          </p:cNvSpPr>
          <p:nvPr>
            <p:ph type="body" idx="13" sz="quarter"/>
          </p:nvPr>
        </p:nvSpPr>
        <p:spPr>
          <a:xfrm>
            <a:off x="466344" y="612648"/>
            <a:ext cx="6766560" cy="292608"/>
          </a:xfrm>
        </p:spPr>
        <p:txBody>
          <a:bodyPr/>
          <a:lstStyle/>
          <a:p>
            <a:r>
              <a:t>SSR/SMR : changement de financement au 1er janvier 2024</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gridCol w="731520"/>
                <a:gridCol w="731520"/>
                <a:gridCol w="731520"/>
                <a:gridCol w="731520"/>
              </a:tblGrid>
              <a:tr h="260603">
                <a:tc>
                  <a:txBody>
                    <a:bodyPr/>
                    <a:lstStyle/>
                    <a:p>
                      <a:pPr algn="l">
                        <a:lnSpc>
                          <a:spcPct val="100000"/>
                        </a:lnSpc>
                        <a:spcBef>
                          <a:spcPts val="0"/>
                        </a:spcBef>
                        <a:spcAft>
                          <a:spcPts val="0"/>
                        </a:spcAft>
                      </a:pPr>
                      <a:r>
                        <a:rPr sz="950" b="1" lang="fr-FR">
                          <a:solidFill>
                            <a:srgbClr val="404040"/>
                          </a:solidFill>
                          <a:latin typeface="Avenir Next LT Pro Light"/>
                        </a:rPr>
                        <a:t>En M€ sauf parts</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2022</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2025*</a:t>
                      </a:r>
                    </a:p>
                  </a:txBody>
                  <a:tcPr marL="64008" marR="64008" marT="22860" marB="22860" anchor="ctr">
                    <a:solidFill>
                      <a:srgbClr val="BFBFBF">
                        <a:lumMod val="18000"/>
                        <a:lumOff val="82000"/>
                      </a:srgbClr>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soins*</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3 517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3 665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4 144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4 315</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2 994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3 118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3 552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3 682</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523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546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593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633</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85,7 %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85,3 %</a:t>
                      </a:r>
                    </a:p>
                  </a:txBody>
                  <a:tcPr marL="64008" marR="64008" marT="22860" marB="22860" anchor="ctr">
                    <a:solidFill>
                      <a:srgbClr val="FFFFFF"/>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3 516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3 676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3 893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4 953</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2 991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3 124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3 351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4 232</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525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552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541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721</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85,4 %</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5468112" y="1124712"/>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Reste après AMO, en M€</a:t>
            </a:r>
          </a:p>
        </p:txBody>
      </p:sp>
      <p:graphicFrame>
        <p:nvGraphicFramePr>
          <p:cNvPr id="6" name="Chart 5"/>
          <p:cNvGraphicFramePr>
            <a:graphicFrameLocks noGrp="1"/>
          </p:cNvGraphicFramePr>
          <p:nvPr/>
        </p:nvGraphicFramePr>
        <p:xfrm>
          <a:off x="5394960" y="1545336"/>
          <a:ext cx="3310128" cy="2432304"/>
        </p:xfrm>
        <a:graphic>
          <a:graphicData uri="http://schemas.openxmlformats.org/drawingml/2006/chart">
            <c:chart xmlns:c="http://schemas.openxmlformats.org/drawingml/2006/chart" r:id="rId2"/>
          </a:graphicData>
        </a:graphic>
      </p:graphicFrame>
      <p:sp>
        <p:nvSpPr>
          <p:cNvPr id="7" name="TextBox 6"/>
          <p:cNvSpPr txBox="1"/>
          <p:nvPr/>
        </p:nvSpPr>
        <p:spPr>
          <a:xfrm>
            <a:off x="5541264" y="4059936"/>
            <a:ext cx="1600200" cy="429768"/>
          </a:xfrm>
          <a:prstGeom prst="rect">
            <a:avLst/>
          </a:prstGeom>
          <a:noFill/>
        </p:spPr>
        <p:txBody>
          <a:bodyPr wrap="square" lIns="0" rIns="0" tIns="0" bIns="0">
            <a:noAutofit/>
          </a:bodyPr>
          <a:lstStyle/>
          <a:p>
            <a:pPr>
              <a:lnSpc>
                <a:spcPct val="112000"/>
              </a:lnSpc>
              <a:spcBef>
                <a:spcPts val="0"/>
              </a:spcBef>
              <a:spcAft>
                <a:spcPts val="0"/>
              </a:spcAft>
            </a:pPr>
            <a:r>
              <a:rPr sz="2300" b="0" lang="fr-FR" cap="none">
                <a:solidFill>
                  <a:srgbClr val="EF4647"/>
                </a:solidFill>
                <a:latin typeface="Montserrat"/>
              </a:rPr>
              <a:t>+33,2 %</a:t>
            </a:r>
          </a:p>
        </p:txBody>
      </p:sp>
      <p:sp>
        <p:nvSpPr>
          <p:cNvPr id="8" name="TextBox 7"/>
          <p:cNvSpPr txBox="1"/>
          <p:nvPr/>
        </p:nvSpPr>
        <p:spPr>
          <a:xfrm>
            <a:off x="7141464" y="4087368"/>
            <a:ext cx="1545336" cy="502920"/>
          </a:xfrm>
          <a:prstGeom prst="rect">
            <a:avLst/>
          </a:prstGeom>
          <a:noFill/>
        </p:spPr>
        <p:txBody>
          <a:bodyPr wrap="square" lIns="0" rIns="0" tIns="0" bIns="0">
            <a:noAutofit/>
          </a:bodyPr>
          <a:lstStyle/>
          <a:p>
            <a:pPr>
              <a:lnSpc>
                <a:spcPct val="112000"/>
              </a:lnSpc>
              <a:spcBef>
                <a:spcPts val="0"/>
              </a:spcBef>
              <a:spcAft>
                <a:spcPts val="0"/>
              </a:spcAft>
            </a:pPr>
            <a:r>
              <a:rPr sz="1000" b="0" lang="fr-FR" cap="none">
                <a:solidFill>
                  <a:srgbClr val="404040"/>
                </a:solidFill>
                <a:latin typeface="Avenir Next LT Pro Light"/>
              </a:rPr>
              <a:t>Reste après AMO</a:t>
            </a:r>
          </a:p>
          <a:p>
            <a:pPr>
              <a:lnSpc>
                <a:spcPct val="112000"/>
              </a:lnSpc>
              <a:spcBef>
                <a:spcPts val="0"/>
              </a:spcBef>
              <a:spcAft>
                <a:spcPts val="0"/>
              </a:spcAft>
            </a:pPr>
            <a:r>
              <a:rPr sz="1000" b="0" lang="fr-FR" cap="none">
                <a:solidFill>
                  <a:srgbClr val="404040"/>
                </a:solidFill>
                <a:latin typeface="Avenir Next LT Pro Light"/>
              </a:rPr>
              <a:t>en règlement, 2025</a:t>
            </a:r>
          </a:p>
        </p:txBody>
      </p:sp>
      <p:sp>
        <p:nvSpPr>
          <p:cNvPr id="9" name="TextBox 8"/>
          <p:cNvSpPr txBox="1"/>
          <p:nvPr/>
        </p:nvSpPr>
        <p:spPr>
          <a:xfrm>
            <a:off x="457200" y="4453128"/>
            <a:ext cx="8229600" cy="274320"/>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Le reste après AMO augmente de 8,5 % en soins en 2024. Le règlement 2025 rattrape les retards.</a:t>
            </a:r>
          </a:p>
        </p:txBody>
      </p:sp>
      <p:sp>
        <p:nvSpPr>
          <p:cNvPr id="10" name="TextBox 9"/>
          <p:cNvSpPr txBox="1"/>
          <p:nvPr/>
        </p:nvSpPr>
        <p:spPr>
          <a:xfrm>
            <a:off x="457200" y="4846320"/>
            <a:ext cx="8229600" cy="256032"/>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1" name="TextBox 10"/>
          <p:cNvSpPr txBox="1"/>
          <p:nvPr/>
        </p:nvSpPr>
        <p:spPr>
          <a:xfrm>
            <a:off x="457200" y="5056632"/>
            <a:ext cx="8229600" cy="310896"/>
          </a:xfrm>
          <a:prstGeom prst="rect">
            <a:avLst/>
          </a:prstGeom>
          <a:noFill/>
        </p:spPr>
        <p:txBody>
          <a:bodyPr wrap="square" lIns="0" rIns="0" tIns="0" bIns="0">
            <a:noAutofit/>
          </a:bodyPr>
          <a:lstStyle/>
          <a:p>
            <a:pPr>
              <a:lnSpc>
                <a:spcPct val="112000"/>
              </a:lnSpc>
              <a:spcBef>
                <a:spcPts val="0"/>
              </a:spcBef>
              <a:spcAft>
                <a:spcPts val="0"/>
              </a:spcAft>
            </a:pPr>
            <a:r>
              <a:rPr sz="850" b="0" lang="fr-FR" cap="none">
                <a:solidFill>
                  <a:srgbClr val="404040"/>
                </a:solidFill>
                <a:latin typeface="Avenir Next LT Pro Light"/>
              </a:rPr>
              <a:t>Niveaux de dépense 2023/2024 non comparables (réforme). * 2025 observée, liquidée à ~90 %, non redressée.</a:t>
            </a:r>
          </a:p>
          <a:p>
            <a:pPr>
              <a:lnSpc>
                <a:spcPct val="112000"/>
              </a:lnSpc>
              <a:spcBef>
                <a:spcPts val="0"/>
              </a:spcBef>
              <a:spcAft>
                <a:spcPts val="0"/>
              </a:spcAft>
            </a:pPr>
            <a:r>
              <a:rPr sz="850" b="0" lang="fr-FR" cap="none">
                <a:solidFill>
                  <a:srgbClr val="404040"/>
                </a:solidFill>
                <a:latin typeface="Avenir Next LT Pro Light"/>
              </a:rPr>
              <a:t>À maturité : reste après AMO +20 à +27 % en 2025, sous hypothèse de liquidation de 84–89 %.</a:t>
            </a:r>
          </a:p>
        </p:txBody>
      </p:sp>
      <p:sp>
        <p:nvSpPr>
          <p:cNvPr id="12" name="TextBox 11"/>
          <p:cNvSpPr txBox="1"/>
          <p:nvPr/>
        </p:nvSpPr>
        <p:spPr>
          <a:xfrm>
            <a:off x="457200" y="5431536"/>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Rééducation : un déplacement vers les moins de 60 ans</a:t>
            </a:r>
          </a:p>
        </p:txBody>
      </p:sp>
      <p:sp>
        <p:nvSpPr>
          <p:cNvPr id="3" name="Text Placeholder 2"/>
          <p:cNvSpPr>
            <a:spLocks noGrp="1"/>
          </p:cNvSpPr>
          <p:nvPr>
            <p:ph type="body" idx="13" sz="quarter"/>
          </p:nvPr>
        </p:nvSpPr>
        <p:spPr>
          <a:xfrm>
            <a:off x="466344" y="612648"/>
            <a:ext cx="6766560" cy="292608"/>
          </a:xfrm>
        </p:spPr>
        <p:txBody>
          <a:bodyPr/>
          <a:lstStyle/>
          <a:p>
            <a:r>
              <a:t>Reste après AMO par tranche d’âge, en année de soins</a:t>
            </a:r>
          </a:p>
        </p:txBody>
      </p:sp>
      <p:sp>
        <p:nvSpPr>
          <p:cNvPr id="4" name="TextBox 3"/>
          <p:cNvSpPr txBox="1"/>
          <p:nvPr/>
        </p:nvSpPr>
        <p:spPr>
          <a:xfrm>
            <a:off x="457200" y="1106424"/>
            <a:ext cx="566928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Reste après AMO, en M€</a:t>
            </a:r>
          </a:p>
        </p:txBody>
      </p:sp>
      <p:graphicFrame>
        <p:nvGraphicFramePr>
          <p:cNvPr id="5" name="Chart 4"/>
          <p:cNvGraphicFramePr>
            <a:graphicFrameLocks noGrp="1"/>
          </p:cNvGraphicFramePr>
          <p:nvPr/>
        </p:nvGraphicFramePr>
        <p:xfrm>
          <a:off x="384048" y="1517904"/>
          <a:ext cx="5806440" cy="2560320"/>
        </p:xfrm>
        <a:graphic>
          <a:graphicData uri="http://schemas.openxmlformats.org/drawingml/2006/chart">
            <c:chart xmlns:c="http://schemas.openxmlformats.org/drawingml/2006/chart" r:id="rId2"/>
          </a:graphicData>
        </a:graphic>
      </p:graphicFrame>
      <p:sp>
        <p:nvSpPr>
          <p:cNvPr id="6" name="TextBox 5"/>
          <p:cNvSpPr txBox="1"/>
          <p:nvPr/>
        </p:nvSpPr>
        <p:spPr>
          <a:xfrm>
            <a:off x="6455664" y="1764792"/>
            <a:ext cx="2231136" cy="448056"/>
          </a:xfrm>
          <a:prstGeom prst="rect">
            <a:avLst/>
          </a:prstGeom>
          <a:noFill/>
        </p:spPr>
        <p:txBody>
          <a:bodyPr wrap="square" lIns="0" rIns="0" tIns="0" bIns="0">
            <a:noAutofit/>
          </a:bodyPr>
          <a:lstStyle/>
          <a:p>
            <a:pPr>
              <a:lnSpc>
                <a:spcPct val="112000"/>
              </a:lnSpc>
              <a:spcBef>
                <a:spcPts val="0"/>
              </a:spcBef>
              <a:spcAft>
                <a:spcPts val="0"/>
              </a:spcAft>
            </a:pPr>
            <a:r>
              <a:rPr sz="2200" b="0" lang="fr-FR" cap="none">
                <a:solidFill>
                  <a:srgbClr val="EF4647"/>
                </a:solidFill>
                <a:latin typeface="Montserrat"/>
              </a:rPr>
              <a:t>×2,0 à ×3,8</a:t>
            </a:r>
          </a:p>
        </p:txBody>
      </p:sp>
      <p:sp>
        <p:nvSpPr>
          <p:cNvPr id="7" name="TextBox 6"/>
          <p:cNvSpPr txBox="1"/>
          <p:nvPr/>
        </p:nvSpPr>
        <p:spPr>
          <a:xfrm>
            <a:off x="6455664" y="2276856"/>
            <a:ext cx="2231136" cy="493776"/>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chez les 0–49 ans</a:t>
            </a:r>
          </a:p>
          <a:p>
            <a:pPr>
              <a:lnSpc>
                <a:spcPct val="112000"/>
              </a:lnSpc>
              <a:spcBef>
                <a:spcPts val="0"/>
              </a:spcBef>
              <a:spcAft>
                <a:spcPts val="0"/>
              </a:spcAft>
            </a:pPr>
            <a:r>
              <a:rPr sz="1100" b="0" lang="fr-FR" cap="none">
                <a:solidFill>
                  <a:srgbClr val="404040"/>
                </a:solidFill>
                <a:latin typeface="Avenir Next LT Pro Light"/>
              </a:rPr>
              <a:t>entre 2023 et 2024</a:t>
            </a:r>
          </a:p>
        </p:txBody>
      </p:sp>
      <p:sp>
        <p:nvSpPr>
          <p:cNvPr id="8" name="TextBox 7"/>
          <p:cNvSpPr txBox="1"/>
          <p:nvPr/>
        </p:nvSpPr>
        <p:spPr>
          <a:xfrm>
            <a:off x="6455664" y="2916936"/>
            <a:ext cx="2231136" cy="420624"/>
          </a:xfrm>
          <a:prstGeom prst="rect">
            <a:avLst/>
          </a:prstGeom>
          <a:noFill/>
        </p:spPr>
        <p:txBody>
          <a:bodyPr wrap="square" lIns="0" rIns="0" tIns="0" bIns="0">
            <a:noAutofit/>
          </a:bodyPr>
          <a:lstStyle/>
          <a:p>
            <a:pPr>
              <a:lnSpc>
                <a:spcPct val="112000"/>
              </a:lnSpc>
              <a:spcBef>
                <a:spcPts val="0"/>
              </a:spcBef>
              <a:spcAft>
                <a:spcPts val="0"/>
              </a:spcAft>
            </a:pPr>
            <a:r>
              <a:rPr sz="2200" b="0" lang="fr-FR" cap="none">
                <a:solidFill>
                  <a:srgbClr val="5B0C02"/>
                </a:solidFill>
                <a:latin typeface="Montserrat"/>
              </a:rPr>
              <a:t>−31 %</a:t>
            </a:r>
          </a:p>
        </p:txBody>
      </p:sp>
      <p:sp>
        <p:nvSpPr>
          <p:cNvPr id="9" name="TextBox 8"/>
          <p:cNvSpPr txBox="1"/>
          <p:nvPr/>
        </p:nvSpPr>
        <p:spPr>
          <a:xfrm>
            <a:off x="6455664" y="3401568"/>
            <a:ext cx="2231136" cy="384048"/>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chez les 80 ans et plus</a:t>
            </a:r>
          </a:p>
        </p:txBody>
      </p:sp>
      <p:graphicFrame>
        <p:nvGraphicFramePr>
          <p:cNvPr id="10" name="Table 9"/>
          <p:cNvGraphicFramePr>
            <a:graphicFrameLocks noGrp="1"/>
          </p:cNvGraphicFramePr>
          <p:nvPr/>
        </p:nvGraphicFramePr>
        <p:xfrm>
          <a:off x="457200" y="4224528"/>
          <a:ext cx="8229600" cy="713232"/>
        </p:xfrm>
        <a:graphic>
          <a:graphicData uri="http://schemas.openxmlformats.org/drawingml/2006/table">
            <a:tbl>
              <a:tblPr>
                <a:tableStyleId>{5C22544A-7EE6-4342-B048-85BDC9FD1C3A}</a:tableStyleId>
              </a:tblPr>
              <a:tblGrid>
                <a:gridCol w="914400"/>
                <a:gridCol w="914400"/>
                <a:gridCol w="914400"/>
                <a:gridCol w="914400"/>
                <a:gridCol w="914400"/>
                <a:gridCol w="914400"/>
                <a:gridCol w="914400"/>
                <a:gridCol w="914400"/>
                <a:gridCol w="914400"/>
              </a:tblGrid>
              <a:tr h="237744">
                <a:tc>
                  <a:txBody>
                    <a:bodyPr/>
                    <a:lstStyle/>
                    <a:p>
                      <a:pPr algn="l">
                        <a:lnSpc>
                          <a:spcPct val="100000"/>
                        </a:lnSpc>
                        <a:spcBef>
                          <a:spcPts val="0"/>
                        </a:spcBef>
                        <a:spcAft>
                          <a:spcPts val="0"/>
                        </a:spcAft>
                      </a:pPr>
                      <a:r>
                        <a:rPr sz="900" b="1" lang="fr-FR">
                          <a:solidFill>
                            <a:srgbClr val="404040"/>
                          </a:solidFill>
                          <a:latin typeface="Avenir Next LT Pro Light"/>
                        </a:rPr>
                        <a:t>En M€</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0–19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20–29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30–39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40–49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50–59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60–69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70–79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80 +</a:t>
                      </a:r>
                    </a:p>
                  </a:txBody>
                  <a:tcPr marL="64008" marR="64008" marT="22860" marB="22860" anchor="ctr">
                    <a:solidFill>
                      <a:srgbClr val="BFBFBF">
                        <a:lumMod val="18000"/>
                        <a:lumOff val="82000"/>
                      </a:srgbClr>
                    </a:solidFill>
                    <a:lnL w="0">
                      <a:noFill/>
                    </a:lnL>
                    <a:lnR w="0">
                      <a:noFill/>
                    </a:lnR>
                    <a:lnT w="0">
                      <a:noFill/>
                    </a:lnT>
                    <a:lnB w="0">
                      <a:noFill/>
                    </a:lnB>
                  </a:tcPr>
                </a:tc>
              </a:tr>
              <a:tr h="237744">
                <a:tc>
                  <a:txBody>
                    <a:bodyPr/>
                    <a:lstStyle/>
                    <a:p>
                      <a:pPr algn="l">
                        <a:lnSpc>
                          <a:spcPct val="100000"/>
                        </a:lnSpc>
                        <a:spcBef>
                          <a:spcPts val="0"/>
                        </a:spcBef>
                        <a:spcAft>
                          <a:spcPts val="0"/>
                        </a:spcAft>
                      </a:pPr>
                      <a:r>
                        <a:rPr sz="900" b="0" lang="fr-FR">
                          <a:solidFill>
                            <a:srgbClr val="404040"/>
                          </a:solidFill>
                          <a:latin typeface="Avenir Next LT Pro Light"/>
                        </a:rPr>
                        <a:t>2023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8,2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13,7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15,9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29,6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59,4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92,1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141,0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186,2</a:t>
                      </a:r>
                    </a:p>
                  </a:txBody>
                  <a:tcPr marL="64008" marR="64008" marT="22860" marB="22860" anchor="ctr">
                    <a:solidFill>
                      <a:srgbClr val="FFFFFF"/>
                    </a:solidFill>
                    <a:lnL w="0">
                      <a:noFill/>
                    </a:lnL>
                    <a:lnR w="0">
                      <a:noFill/>
                    </a:lnR>
                    <a:lnT w="0">
                      <a:noFill/>
                    </a:lnT>
                    <a:lnB w="0">
                      <a:noFill/>
                    </a:lnB>
                  </a:tcPr>
                </a:tc>
              </a:tr>
              <a:tr h="237744">
                <a:tc>
                  <a:txBody>
                    <a:bodyPr/>
                    <a:lstStyle/>
                    <a:p>
                      <a:pPr algn="l">
                        <a:lnSpc>
                          <a:spcPct val="100000"/>
                        </a:lnSpc>
                        <a:spcBef>
                          <a:spcPts val="0"/>
                        </a:spcBef>
                        <a:spcAft>
                          <a:spcPts val="0"/>
                        </a:spcAft>
                      </a:pPr>
                      <a:r>
                        <a:rPr sz="900" b="0" lang="fr-FR">
                          <a:solidFill>
                            <a:srgbClr val="404040"/>
                          </a:solidFill>
                          <a:latin typeface="Avenir Next LT Pro Light"/>
                        </a:rPr>
                        <a:t>2024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31,3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30,6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48,2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58,1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78,0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94,2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124,6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127,9</a:t>
                      </a:r>
                    </a:p>
                  </a:txBody>
                  <a:tcPr marL="64008" marR="64008" marT="22860" marB="22860" anchor="ctr">
                    <a:solidFill>
                      <a:srgbClr val="FFFFFF"/>
                    </a:solidFill>
                    <a:lnL w="0">
                      <a:noFill/>
                    </a:lnL>
                    <a:lnR w="0">
                      <a:noFill/>
                    </a:lnR>
                    <a:lnT w="0">
                      <a:noFill/>
                    </a:lnT>
                    <a:lnB w="0">
                      <a:noFill/>
                    </a:lnB>
                  </a:tcPr>
                </a:tc>
              </a:tr>
            </a:tbl>
          </a:graphicData>
        </a:graphic>
      </p:graphicFrame>
      <p:sp>
        <p:nvSpPr>
          <p:cNvPr id="11" name="TextBox 10"/>
          <p:cNvSpPr txBox="1"/>
          <p:nvPr/>
        </p:nvSpPr>
        <p:spPr>
          <a:xfrm>
            <a:off x="457200" y="5020056"/>
            <a:ext cx="8229600" cy="256032"/>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2" name="TextBox 11"/>
          <p:cNvSpPr txBox="1"/>
          <p:nvPr/>
        </p:nvSpPr>
        <p:spPr>
          <a:xfrm>
            <a:off x="457200" y="5221224"/>
            <a:ext cx="8229600" cy="283464"/>
          </a:xfrm>
          <a:prstGeom prst="rect">
            <a:avLst/>
          </a:prstGeom>
          <a:noFill/>
        </p:spPr>
        <p:txBody>
          <a:bodyPr wrap="square" lIns="0" rIns="0" tIns="0" bIns="0">
            <a:noAutofit/>
          </a:bodyPr>
          <a:lstStyle/>
          <a:p>
            <a:pPr>
              <a:lnSpc>
                <a:spcPct val="112000"/>
              </a:lnSpc>
              <a:spcBef>
                <a:spcPts val="0"/>
              </a:spcBef>
              <a:spcAft>
                <a:spcPts val="0"/>
              </a:spcAft>
            </a:pPr>
            <a:r>
              <a:rPr sz="850" b="0" lang="fr-FR" cap="none">
                <a:solidFill>
                  <a:srgbClr val="404040"/>
                </a:solidFill>
                <a:latin typeface="Avenir Next LT Pro Light"/>
              </a:rPr>
              <a:t>Ces montants agrégés ne mesurent pas un risque individuel. L’effet des tarifs et des exonérations reste</a:t>
            </a:r>
          </a:p>
          <a:p>
            <a:pPr>
              <a:lnSpc>
                <a:spcPct val="112000"/>
              </a:lnSpc>
              <a:spcBef>
                <a:spcPts val="0"/>
              </a:spcBef>
              <a:spcAft>
                <a:spcPts val="0"/>
              </a:spcAft>
            </a:pPr>
            <a:r>
              <a:rPr sz="850" b="0" lang="fr-FR" cap="none">
                <a:solidFill>
                  <a:srgbClr val="404040"/>
                </a:solidFill>
                <a:latin typeface="Avenir Next LT Pro Light"/>
              </a:rPr>
              <a:t>une hypothèse. Un portefeuille d’actifs peut être plus exposé, sans que DAMIR chiffre sa charge complémentaire.</a:t>
            </a:r>
          </a:p>
        </p:txBody>
      </p:sp>
      <p:sp>
        <p:nvSpPr>
          <p:cNvPr id="13" name="TextBox 12"/>
          <p:cNvSpPr txBox="1"/>
          <p:nvPr/>
        </p:nvSpPr>
        <p:spPr>
          <a:xfrm>
            <a:off x="457200" y="5550408"/>
            <a:ext cx="8001000" cy="128016"/>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Anesthésie : les dépassements augmentent</a:t>
            </a:r>
          </a:p>
        </p:txBody>
      </p:sp>
      <p:sp>
        <p:nvSpPr>
          <p:cNvPr id="3" name="Text Placeholder 2"/>
          <p:cNvSpPr>
            <a:spLocks noGrp="1"/>
          </p:cNvSpPr>
          <p:nvPr>
            <p:ph type="body" idx="13" sz="quarter"/>
          </p:nvPr>
        </p:nvSpPr>
        <p:spPr>
          <a:xfrm>
            <a:off x="466344" y="612648"/>
            <a:ext cx="6766560" cy="292608"/>
          </a:xfrm>
        </p:spPr>
        <p:txBody>
          <a:bodyPr/>
          <a:lstStyle/>
          <a:p>
            <a:r>
              <a:t>Poste « Hospitalisation Honoraires », dominé à ~95 % par l’anesthésie</a:t>
            </a:r>
          </a:p>
        </p:txBody>
      </p:sp>
      <p:graphicFrame>
        <p:nvGraphicFramePr>
          <p:cNvPr id="4" name="Table 3"/>
          <p:cNvGraphicFramePr>
            <a:graphicFrameLocks noGrp="1"/>
          </p:cNvGraphicFramePr>
          <p:nvPr/>
        </p:nvGraphicFramePr>
        <p:xfrm>
          <a:off x="457200" y="1152144"/>
          <a:ext cx="4736592" cy="3415275"/>
        </p:xfrm>
        <a:graphic>
          <a:graphicData uri="http://schemas.openxmlformats.org/drawingml/2006/table">
            <a:tbl>
              <a:tblPr>
                <a:tableStyleId>{5C22544A-7EE6-4342-B048-85BDC9FD1C3A}</a:tableStyleId>
              </a:tblPr>
              <a:tblGrid>
                <a:gridCol w="1810512"/>
                <a:gridCol w="731520"/>
                <a:gridCol w="731520"/>
                <a:gridCol w="731520"/>
                <a:gridCol w="731520"/>
              </a:tblGrid>
              <a:tr h="227685">
                <a:tc>
                  <a:txBody>
                    <a:bodyPr/>
                    <a:lstStyle/>
                    <a:p>
                      <a:pPr algn="l">
                        <a:lnSpc>
                          <a:spcPct val="100000"/>
                        </a:lnSpc>
                        <a:spcBef>
                          <a:spcPts val="0"/>
                        </a:spcBef>
                        <a:spcAft>
                          <a:spcPts val="0"/>
                        </a:spcAft>
                      </a:pPr>
                      <a:r>
                        <a:rPr sz="950" b="1" lang="fr-FR">
                          <a:solidFill>
                            <a:srgbClr val="404040"/>
                          </a:solidFill>
                          <a:latin typeface="Avenir Next LT Pro Light"/>
                        </a:rPr>
                        <a:t>En M€ sauf parts</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2022</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2025*</a:t>
                      </a:r>
                    </a:p>
                  </a:txBody>
                  <a:tcPr marL="64008" marR="64008" marT="22860" marB="22860" anchor="ctr">
                    <a:solidFill>
                      <a:srgbClr val="BFBFBF">
                        <a:lumMod val="18000"/>
                        <a:lumOff val="82000"/>
                      </a:srgbClr>
                    </a:solidFill>
                    <a:lnL w="0">
                      <a:noFill/>
                    </a:lnL>
                    <a:lnR w="0">
                      <a:noFill/>
                    </a:lnR>
                    <a:lnT w="0">
                      <a:noFill/>
                    </a:lnT>
                    <a:lnB w="0">
                      <a:noFill/>
                    </a:lnB>
                  </a:tcPr>
                </a:tc>
              </a:tr>
              <a:tr h="227685">
                <a:tc gridSpan="5">
                  <a:txBody>
                    <a:bodyPr/>
                    <a:lstStyle/>
                    <a:p>
                      <a:pPr algn="l">
                        <a:lnSpc>
                          <a:spcPct val="100000"/>
                        </a:lnSpc>
                        <a:spcBef>
                          <a:spcPts val="0"/>
                        </a:spcBef>
                        <a:spcAft>
                          <a:spcPts val="0"/>
                        </a:spcAft>
                      </a:pPr>
                      <a:r>
                        <a:rPr sz="950" b="1" lang="fr-FR">
                          <a:solidFill>
                            <a:srgbClr val="5B0C02"/>
                          </a:solidFill>
                          <a:latin typeface="Avenir Next LT Pro Light"/>
                        </a:rPr>
                        <a:t>Année de soins*</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1 217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1 322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1 382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1 398</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840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886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903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899</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377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436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499</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dont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374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434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478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498</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69,0 %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67,0 %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65,3 %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64,3 %</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des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30,8 %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32,8 %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34,6 %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35,7 %</a:t>
                      </a:r>
                    </a:p>
                  </a:txBody>
                  <a:tcPr marL="64008" marR="64008" marT="22860" marB="22860" anchor="ctr">
                    <a:solidFill>
                      <a:srgbClr val="FFFFFF"/>
                    </a:solidFill>
                    <a:lnL w="0">
                      <a:noFill/>
                    </a:lnL>
                    <a:lnR w="0">
                      <a:noFill/>
                    </a:lnR>
                    <a:lnT w="0">
                      <a:noFill/>
                    </a:lnT>
                    <a:lnB w="0">
                      <a:noFill/>
                    </a:lnB>
                  </a:tcPr>
                </a:tc>
              </a:tr>
              <a:tr h="227685">
                <a:tc gridSpan="5">
                  <a:txBody>
                    <a:bodyPr/>
                    <a:lstStyle/>
                    <a:p>
                      <a:pPr algn="l">
                        <a:lnSpc>
                          <a:spcPct val="100000"/>
                        </a:lnSpc>
                        <a:spcBef>
                          <a:spcPts val="0"/>
                        </a:spcBef>
                        <a:spcAft>
                          <a:spcPts val="0"/>
                        </a:spcAft>
                      </a:pPr>
                      <a:r>
                        <a:rPr sz="950" b="1" lang="fr-FR">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1 209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1 318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1 478</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836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884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903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954</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373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434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477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524</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dont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370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431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476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523</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69,2 %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67,1 %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65,4 %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64,5 %</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des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30,6 %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32,7 %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34,5 %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35,4 %</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5468112" y="1124712"/>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Dépassements, en M€</a:t>
            </a:r>
          </a:p>
        </p:txBody>
      </p:sp>
      <p:graphicFrame>
        <p:nvGraphicFramePr>
          <p:cNvPr id="6" name="Chart 5"/>
          <p:cNvGraphicFramePr>
            <a:graphicFrameLocks noGrp="1"/>
          </p:cNvGraphicFramePr>
          <p:nvPr/>
        </p:nvGraphicFramePr>
        <p:xfrm>
          <a:off x="5394960" y="1545336"/>
          <a:ext cx="3310128" cy="2423160"/>
        </p:xfrm>
        <a:graphic>
          <a:graphicData uri="http://schemas.openxmlformats.org/drawingml/2006/chart">
            <c:chart xmlns:c="http://schemas.openxmlformats.org/drawingml/2006/chart" r:id="rId2"/>
          </a:graphicData>
        </a:graphic>
      </p:graphicFrame>
      <p:sp>
        <p:nvSpPr>
          <p:cNvPr id="7" name="TextBox 6"/>
          <p:cNvSpPr txBox="1"/>
          <p:nvPr/>
        </p:nvSpPr>
        <p:spPr>
          <a:xfrm>
            <a:off x="5541264" y="4069080"/>
            <a:ext cx="1600200" cy="429768"/>
          </a:xfrm>
          <a:prstGeom prst="rect">
            <a:avLst/>
          </a:prstGeom>
          <a:noFill/>
        </p:spPr>
        <p:txBody>
          <a:bodyPr wrap="square" lIns="0" rIns="0" tIns="0" bIns="0">
            <a:noAutofit/>
          </a:bodyPr>
          <a:lstStyle/>
          <a:p>
            <a:pPr>
              <a:lnSpc>
                <a:spcPct val="112000"/>
              </a:lnSpc>
              <a:spcBef>
                <a:spcPts val="0"/>
              </a:spcBef>
              <a:spcAft>
                <a:spcPts val="0"/>
              </a:spcAft>
            </a:pPr>
            <a:r>
              <a:rPr sz="2300" b="0" lang="fr-FR" cap="none">
                <a:solidFill>
                  <a:srgbClr val="EF4647"/>
                </a:solidFill>
                <a:latin typeface="Montserrat"/>
              </a:rPr>
              <a:t>+10,0 %</a:t>
            </a:r>
          </a:p>
        </p:txBody>
      </p:sp>
      <p:sp>
        <p:nvSpPr>
          <p:cNvPr id="8" name="TextBox 7"/>
          <p:cNvSpPr txBox="1"/>
          <p:nvPr/>
        </p:nvSpPr>
        <p:spPr>
          <a:xfrm>
            <a:off x="7141464" y="4087368"/>
            <a:ext cx="1545336" cy="502920"/>
          </a:xfrm>
          <a:prstGeom prst="rect">
            <a:avLst/>
          </a:prstGeom>
          <a:noFill/>
        </p:spPr>
        <p:txBody>
          <a:bodyPr wrap="square" lIns="0" rIns="0" tIns="0" bIns="0">
            <a:noAutofit/>
          </a:bodyPr>
          <a:lstStyle/>
          <a:p>
            <a:pPr>
              <a:lnSpc>
                <a:spcPct val="112000"/>
              </a:lnSpc>
              <a:spcBef>
                <a:spcPts val="0"/>
              </a:spcBef>
              <a:spcAft>
                <a:spcPts val="0"/>
              </a:spcAft>
            </a:pPr>
            <a:r>
              <a:rPr sz="1000" b="0" lang="fr-FR" cap="none">
                <a:solidFill>
                  <a:srgbClr val="404040"/>
                </a:solidFill>
                <a:latin typeface="Avenir Next LT Pro Light"/>
              </a:rPr>
              <a:t>Dépassements</a:t>
            </a:r>
          </a:p>
          <a:p>
            <a:pPr>
              <a:lnSpc>
                <a:spcPct val="112000"/>
              </a:lnSpc>
              <a:spcBef>
                <a:spcPts val="0"/>
              </a:spcBef>
              <a:spcAft>
                <a:spcPts val="0"/>
              </a:spcAft>
            </a:pPr>
            <a:r>
              <a:rPr sz="1000" b="0" lang="fr-FR" cap="none">
                <a:solidFill>
                  <a:srgbClr val="404040"/>
                </a:solidFill>
                <a:latin typeface="Avenir Next LT Pro Light"/>
              </a:rPr>
              <a:t>en règlement, 2025</a:t>
            </a:r>
          </a:p>
        </p:txBody>
      </p:sp>
      <p:sp>
        <p:nvSpPr>
          <p:cNvPr id="9" name="TextBox 8"/>
          <p:cNvSpPr txBox="1"/>
          <p:nvPr/>
        </p:nvSpPr>
        <p:spPr>
          <a:xfrm>
            <a:off x="457200" y="4654296"/>
            <a:ext cx="8229600" cy="274320"/>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En 2024 : actes +1,1 %, dépassements +9 à +13 % selon l’âge. La hausse porte surtout sur les prix.</a:t>
            </a:r>
          </a:p>
        </p:txBody>
      </p:sp>
      <p:sp>
        <p:nvSpPr>
          <p:cNvPr id="10" name="TextBox 9"/>
          <p:cNvSpPr txBox="1"/>
          <p:nvPr/>
        </p:nvSpPr>
        <p:spPr>
          <a:xfrm>
            <a:off x="457200" y="5020056"/>
            <a:ext cx="8229600" cy="256032"/>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1" name="TextBox 10"/>
          <p:cNvSpPr txBox="1"/>
          <p:nvPr/>
        </p:nvSpPr>
        <p:spPr>
          <a:xfrm>
            <a:off x="457200" y="5221224"/>
            <a:ext cx="8229600" cy="283464"/>
          </a:xfrm>
          <a:prstGeom prst="rect">
            <a:avLst/>
          </a:prstGeom>
          <a:noFill/>
        </p:spPr>
        <p:txBody>
          <a:bodyPr wrap="square" lIns="0" rIns="0" tIns="0" bIns="0">
            <a:noAutofit/>
          </a:bodyPr>
          <a:lstStyle/>
          <a:p>
            <a:pPr>
              <a:lnSpc>
                <a:spcPct val="112000"/>
              </a:lnSpc>
              <a:spcBef>
                <a:spcPts val="0"/>
              </a:spcBef>
              <a:spcAft>
                <a:spcPts val="0"/>
              </a:spcAft>
            </a:pPr>
            <a:r>
              <a:rPr sz="850" b="0" lang="fr-FR" cap="none">
                <a:solidFill>
                  <a:srgbClr val="404040"/>
                </a:solidFill>
                <a:latin typeface="Avenir Next LT Pro Light"/>
              </a:rPr>
              <a:t>* 2025 en soins : observée, liquidée à ~94 %. À maturité : reste après AMO 532 M€ (+10,8 %), observé ÷ 93,9 %.</a:t>
            </a:r>
          </a:p>
          <a:p>
            <a:pPr>
              <a:lnSpc>
                <a:spcPct val="112000"/>
              </a:lnSpc>
              <a:spcBef>
                <a:spcPts val="0"/>
              </a:spcBef>
              <a:spcAft>
                <a:spcPts val="0"/>
              </a:spcAft>
            </a:pPr>
            <a:r>
              <a:rPr sz="850" b="0" lang="fr-FR" cap="none">
                <a:solidFill>
                  <a:srgbClr val="404040"/>
                </a:solidFill>
                <a:latin typeface="Avenir Next LT Pro Light"/>
              </a:rPr>
              <a:t>La chirurgie (code 1321) est hors de ce poste. Les chiffres ne couvrent pas tous les honoraires en clinique.</a:t>
            </a:r>
          </a:p>
        </p:txBody>
      </p:sp>
      <p:sp>
        <p:nvSpPr>
          <p:cNvPr id="12" name="TextBox 11"/>
          <p:cNvSpPr txBox="1"/>
          <p:nvPr/>
        </p:nvSpPr>
        <p:spPr>
          <a:xfrm>
            <a:off x="457200" y="5550408"/>
            <a:ext cx="8001000" cy="128016"/>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La dérive et les effets de calendrier se cumulent</a:t>
            </a:r>
          </a:p>
        </p:txBody>
      </p:sp>
      <p:sp>
        <p:nvSpPr>
          <p:cNvPr id="3" name="Text Placeholder 2"/>
          <p:cNvSpPr>
            <a:spLocks noGrp="1"/>
          </p:cNvSpPr>
          <p:nvPr>
            <p:ph type="body" idx="13" sz="quarter"/>
          </p:nvPr>
        </p:nvSpPr>
        <p:spPr>
          <a:xfrm>
            <a:off x="466344" y="612648"/>
            <a:ext cx="6766560" cy="292608"/>
          </a:xfrm>
        </p:spPr>
        <p:txBody>
          <a:bodyPr/>
          <a:lstStyle/>
          <a:p>
            <a:r>
              <a:t>La part de chaque composante reste à mesurer chez Groupama</a:t>
            </a:r>
          </a:p>
        </p:txBody>
      </p:sp>
      <p:graphicFrame>
        <p:nvGraphicFramePr>
          <p:cNvPr id="4" name="Table 3"/>
          <p:cNvGraphicFramePr>
            <a:graphicFrameLocks noGrp="1"/>
          </p:cNvGraphicFramePr>
          <p:nvPr/>
        </p:nvGraphicFramePr>
        <p:xfrm>
          <a:off x="457200" y="1225296"/>
          <a:ext cx="8229600" cy="2697480"/>
        </p:xfrm>
        <a:graphic>
          <a:graphicData uri="http://schemas.openxmlformats.org/drawingml/2006/table">
            <a:tbl>
              <a:tblPr>
                <a:tableStyleId>{5C22544A-7EE6-4342-B048-85BDC9FD1C3A}</a:tableStyleId>
              </a:tblPr>
              <a:tblGrid>
                <a:gridCol w="1938528"/>
                <a:gridCol w="3520440"/>
                <a:gridCol w="2770632"/>
              </a:tblGrid>
              <a:tr h="320040">
                <a:tc>
                  <a:txBody>
                    <a:bodyPr/>
                    <a:lstStyle/>
                    <a:p>
                      <a:pPr algn="l">
                        <a:lnSpc>
                          <a:spcPct val="100000"/>
                        </a:lnSpc>
                        <a:spcBef>
                          <a:spcPts val="0"/>
                        </a:spcBef>
                        <a:spcAft>
                          <a:spcPts val="0"/>
                        </a:spcAft>
                      </a:pPr>
                      <a:r>
                        <a:rPr sz="1100" b="1" lang="fr-FR">
                          <a:solidFill>
                            <a:srgbClr val="404040"/>
                          </a:solidFill>
                          <a:latin typeface="Avenir Next LT Pro Light"/>
                        </a:rPr>
                        <a:t>Composante</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100" b="1" lang="fr-FR">
                          <a:solidFill>
                            <a:srgbClr val="404040"/>
                          </a:solidFill>
                          <a:latin typeface="Avenir Next LT Pro Light"/>
                        </a:rPr>
                        <a:t>Repère dans l’étude</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100" b="1" lang="fr-FR">
                          <a:solidFill>
                            <a:srgbClr val="404040"/>
                          </a:solidFill>
                          <a:latin typeface="Avenir Next LT Pro Light"/>
                        </a:rPr>
                        <a:t>Conséquence à examiner</a:t>
                      </a:r>
                    </a:p>
                  </a:txBody>
                  <a:tcPr marL="64008" marR="64008" marT="22860" marB="22860" anchor="ctr">
                    <a:solidFill>
                      <a:srgbClr val="BFBFBF">
                        <a:lumMod val="18000"/>
                        <a:lumOff val="82000"/>
                      </a:srgbClr>
                    </a:solidFill>
                    <a:lnL w="0">
                      <a:noFill/>
                    </a:lnL>
                    <a:lnR w="0">
                      <a:noFill/>
                    </a:lnR>
                    <a:lnT w="0">
                      <a:noFill/>
                    </a:lnT>
                    <a:lnB w="0">
                      <a:noFill/>
                    </a:lnB>
                  </a:tcPr>
                </a:tc>
              </a:tr>
              <a:tr h="594360">
                <a:tc>
                  <a:txBody>
                    <a:bodyPr/>
                    <a:lstStyle/>
                    <a:p>
                      <a:pPr algn="l">
                        <a:lnSpc>
                          <a:spcPct val="100000"/>
                        </a:lnSpc>
                        <a:spcBef>
                          <a:spcPts val="0"/>
                        </a:spcBef>
                        <a:spcAft>
                          <a:spcPts val="0"/>
                        </a:spcAft>
                      </a:pPr>
                      <a:r>
                        <a:rPr sz="1100" b="0" lang="fr-FR">
                          <a:solidFill>
                            <a:srgbClr val="404040"/>
                          </a:solidFill>
                          <a:latin typeface="Avenir Next LT Pro Light"/>
                        </a:rPr>
                        <a:t>Dépassements</a:t>
                      </a:r>
                    </a:p>
                    <a:p>
                      <a:pPr algn="l">
                        <a:lnSpc>
                          <a:spcPct val="100000"/>
                        </a:lnSpc>
                        <a:spcBef>
                          <a:spcPts val="0"/>
                        </a:spcBef>
                        <a:spcAft>
                          <a:spcPts val="0"/>
                        </a:spcAft>
                      </a:pPr>
                      <a:r>
                        <a:rPr sz="1100" b="0" lang="fr-FR">
                          <a:solidFill>
                            <a:srgbClr val="404040"/>
                          </a:solidFill>
                          <a:latin typeface="Avenir Next LT Pro Light"/>
                        </a:rPr>
                        <a:t>d’anesthésie</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100" b="0" lang="fr-FR">
                          <a:solidFill>
                            <a:srgbClr val="404040"/>
                          </a:solidFill>
                          <a:latin typeface="Avenir Next LT Pro Light"/>
                        </a:rPr>
                        <a:t>Environ +10 % par an</a:t>
                      </a:r>
                    </a:p>
                    <a:p>
                      <a:pPr algn="l">
                        <a:lnSpc>
                          <a:spcPct val="100000"/>
                        </a:lnSpc>
                        <a:spcBef>
                          <a:spcPts val="0"/>
                        </a:spcBef>
                        <a:spcAft>
                          <a:spcPts val="0"/>
                        </a:spcAft>
                      </a:pPr>
                      <a:r>
                        <a:rPr sz="1100" b="0" lang="fr-FR">
                          <a:solidFill>
                            <a:srgbClr val="404040"/>
                          </a:solidFill>
                          <a:latin typeface="Avenir Next LT Pro Light"/>
                        </a:rPr>
                        <a:t>Dérive présente dans les deux datations</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100" b="0" lang="fr-FR">
                          <a:solidFill>
                            <a:srgbClr val="404040"/>
                          </a:solidFill>
                          <a:latin typeface="Avenir Next LT Pro Light"/>
                        </a:rPr>
                        <a:t>Tarification</a:t>
                      </a:r>
                    </a:p>
                    <a:p>
                      <a:pPr algn="l">
                        <a:lnSpc>
                          <a:spcPct val="100000"/>
                        </a:lnSpc>
                        <a:spcBef>
                          <a:spcPts val="0"/>
                        </a:spcBef>
                        <a:spcAft>
                          <a:spcPts val="0"/>
                        </a:spcAft>
                      </a:pPr>
                      <a:r>
                        <a:rPr sz="1100" b="0" lang="fr-FR">
                          <a:solidFill>
                            <a:srgbClr val="404040"/>
                          </a:solidFill>
                          <a:latin typeface="Avenir Next LT Pro Light"/>
                        </a:rPr>
                        <a:t>selon les garanties</a:t>
                      </a:r>
                    </a:p>
                  </a:txBody>
                  <a:tcPr marL="64008" marR="64008" marT="22860" marB="22860" anchor="ctr">
                    <a:solidFill>
                      <a:srgbClr val="FFFFFF"/>
                    </a:solidFill>
                    <a:lnL w="0">
                      <a:noFill/>
                    </a:lnL>
                    <a:lnR w="0">
                      <a:noFill/>
                    </a:lnR>
                    <a:lnT w="0">
                      <a:noFill/>
                    </a:lnT>
                    <a:lnB w="0">
                      <a:noFill/>
                    </a:lnB>
                  </a:tcPr>
                </a:tc>
              </a:tr>
              <a:tr h="594360">
                <a:tc>
                  <a:txBody>
                    <a:bodyPr/>
                    <a:lstStyle/>
                    <a:p>
                      <a:pPr algn="l">
                        <a:lnSpc>
                          <a:spcPct val="100000"/>
                        </a:lnSpc>
                        <a:spcBef>
                          <a:spcPts val="0"/>
                        </a:spcBef>
                        <a:spcAft>
                          <a:spcPts val="0"/>
                        </a:spcAft>
                      </a:pPr>
                      <a:r>
                        <a:rPr sz="1100" b="0" lang="fr-FR">
                          <a:solidFill>
                            <a:srgbClr val="404040"/>
                          </a:solidFill>
                          <a:latin typeface="Avenir Next LT Pro Light"/>
                        </a:rPr>
                        <a:t>Ticket modérateur</a:t>
                      </a:r>
                    </a:p>
                    <a:p>
                      <a:pPr algn="l">
                        <a:lnSpc>
                          <a:spcPct val="100000"/>
                        </a:lnSpc>
                        <a:spcBef>
                          <a:spcPts val="0"/>
                        </a:spcBef>
                        <a:spcAft>
                          <a:spcPts val="0"/>
                        </a:spcAft>
                      </a:pPr>
                      <a:r>
                        <a:rPr sz="1100" b="0" lang="fr-FR">
                          <a:solidFill>
                            <a:srgbClr val="404040"/>
                          </a:solidFill>
                          <a:latin typeface="Avenir Next LT Pro Light"/>
                        </a:rPr>
                        <a:t>de rééducation</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100" b="0" lang="fr-FR">
                          <a:solidFill>
                            <a:srgbClr val="404040"/>
                          </a:solidFill>
                          <a:latin typeface="Avenir Next LT Pro Light"/>
                        </a:rPr>
                        <a:t>+8,5 % en soins en 2024</a:t>
                      </a:r>
                    </a:p>
                    <a:p>
                      <a:pPr algn="l">
                        <a:lnSpc>
                          <a:spcPct val="100000"/>
                        </a:lnSpc>
                        <a:spcBef>
                          <a:spcPts val="0"/>
                        </a:spcBef>
                        <a:spcAft>
                          <a:spcPts val="0"/>
                        </a:spcAft>
                      </a:pPr>
                      <a:r>
                        <a:rPr sz="1100" b="0" lang="fr-FR">
                          <a:solidFill>
                            <a:srgbClr val="404040"/>
                          </a:solidFill>
                          <a:latin typeface="Avenir Next LT Pro Light"/>
                        </a:rPr>
                        <a:t>Hausse concentrée avant 60 ans</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100" b="0" lang="fr-FR">
                          <a:solidFill>
                            <a:srgbClr val="404040"/>
                          </a:solidFill>
                          <a:latin typeface="Avenir Next LT Pro Light"/>
                        </a:rPr>
                        <a:t>Tarification</a:t>
                      </a:r>
                    </a:p>
                    <a:p>
                      <a:pPr algn="l">
                        <a:lnSpc>
                          <a:spcPct val="100000"/>
                        </a:lnSpc>
                        <a:spcBef>
                          <a:spcPts val="0"/>
                        </a:spcBef>
                        <a:spcAft>
                          <a:spcPts val="0"/>
                        </a:spcAft>
                      </a:pPr>
                      <a:r>
                        <a:rPr sz="1100" b="0" lang="fr-FR">
                          <a:solidFill>
                            <a:srgbClr val="404040"/>
                          </a:solidFill>
                          <a:latin typeface="Avenir Next LT Pro Light"/>
                        </a:rPr>
                        <a:t>selon le portefeuille</a:t>
                      </a:r>
                    </a:p>
                  </a:txBody>
                  <a:tcPr marL="64008" marR="64008" marT="22860" marB="22860" anchor="ctr">
                    <a:solidFill>
                      <a:srgbClr val="FFFFFF"/>
                    </a:solidFill>
                    <a:lnL w="0">
                      <a:noFill/>
                    </a:lnL>
                    <a:lnR w="0">
                      <a:noFill/>
                    </a:lnR>
                    <a:lnT w="0">
                      <a:noFill/>
                    </a:lnT>
                    <a:lnB w="0">
                      <a:noFill/>
                    </a:lnB>
                  </a:tcPr>
                </a:tc>
              </a:tr>
              <a:tr h="594360">
                <a:tc>
                  <a:txBody>
                    <a:bodyPr/>
                    <a:lstStyle/>
                    <a:p>
                      <a:pPr algn="l">
                        <a:lnSpc>
                          <a:spcPct val="100000"/>
                        </a:lnSpc>
                        <a:spcBef>
                          <a:spcPts val="0"/>
                        </a:spcBef>
                        <a:spcAft>
                          <a:spcPts val="0"/>
                        </a:spcAft>
                      </a:pPr>
                      <a:r>
                        <a:rPr sz="1100" b="0" lang="fr-FR">
                          <a:solidFill>
                            <a:srgbClr val="404040"/>
                          </a:solidFill>
                          <a:latin typeface="Avenir Next LT Pro Light"/>
                        </a:rPr>
                        <a:t>Rattrapage</a:t>
                      </a:r>
                    </a:p>
                    <a:p>
                      <a:pPr algn="l">
                        <a:lnSpc>
                          <a:spcPct val="100000"/>
                        </a:lnSpc>
                        <a:spcBef>
                          <a:spcPts val="0"/>
                        </a:spcBef>
                        <a:spcAft>
                          <a:spcPts val="0"/>
                        </a:spcAft>
                      </a:pPr>
                      <a:r>
                        <a:rPr sz="1100" b="0" lang="fr-FR">
                          <a:solidFill>
                            <a:srgbClr val="404040"/>
                          </a:solidFill>
                          <a:latin typeface="Avenir Next LT Pro Light"/>
                        </a:rPr>
                        <a:t>de rééducation</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100" b="0" lang="fr-FR">
                          <a:solidFill>
                            <a:srgbClr val="404040"/>
                          </a:solidFill>
                          <a:latin typeface="Avenir Next LT Pro Light"/>
                        </a:rPr>
                        <a:t>+33,2 % de reste après AMO</a:t>
                      </a:r>
                    </a:p>
                    <a:p>
                      <a:pPr algn="l">
                        <a:lnSpc>
                          <a:spcPct val="100000"/>
                        </a:lnSpc>
                        <a:spcBef>
                          <a:spcPts val="0"/>
                        </a:spcBef>
                        <a:spcAft>
                          <a:spcPts val="0"/>
                        </a:spcAft>
                      </a:pPr>
                      <a:r>
                        <a:rPr sz="1100" b="0" lang="fr-FR">
                          <a:solidFill>
                            <a:srgbClr val="404040"/>
                          </a:solidFill>
                          <a:latin typeface="Avenir Next LT Pro Light"/>
                        </a:rPr>
                        <a:t>en règlement en 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100" b="0" lang="fr-FR">
                          <a:solidFill>
                            <a:srgbClr val="404040"/>
                          </a:solidFill>
                          <a:latin typeface="Avenir Next LT Pro Light"/>
                        </a:rPr>
                        <a:t>Cadences et provisions</a:t>
                      </a:r>
                    </a:p>
                    <a:p>
                      <a:pPr algn="l">
                        <a:lnSpc>
                          <a:spcPct val="100000"/>
                        </a:lnSpc>
                        <a:spcBef>
                          <a:spcPts val="0"/>
                        </a:spcBef>
                        <a:spcAft>
                          <a:spcPts val="0"/>
                        </a:spcAft>
                      </a:pPr>
                      <a:r>
                        <a:rPr sz="1100" b="0" lang="fr-FR">
                          <a:solidFill>
                            <a:srgbClr val="404040"/>
                          </a:solidFill>
                          <a:latin typeface="Avenir Next LT Pro Light"/>
                        </a:rPr>
                        <a:t>pour sinistres à payer (PSAP)</a:t>
                      </a:r>
                    </a:p>
                  </a:txBody>
                  <a:tcPr marL="64008" marR="64008" marT="22860" marB="22860" anchor="ctr">
                    <a:solidFill>
                      <a:srgbClr val="FFFFFF"/>
                    </a:solidFill>
                    <a:lnL w="0">
                      <a:noFill/>
                    </a:lnL>
                    <a:lnR w="0">
                      <a:noFill/>
                    </a:lnR>
                    <a:lnT w="0">
                      <a:noFill/>
                    </a:lnT>
                    <a:lnB w="0">
                      <a:noFill/>
                    </a:lnB>
                  </a:tcPr>
                </a:tc>
              </a:tr>
              <a:tr h="594360">
                <a:tc>
                  <a:txBody>
                    <a:bodyPr/>
                    <a:lstStyle/>
                    <a:p>
                      <a:pPr algn="l">
                        <a:lnSpc>
                          <a:spcPct val="100000"/>
                        </a:lnSpc>
                        <a:spcBef>
                          <a:spcPts val="0"/>
                        </a:spcBef>
                        <a:spcAft>
                          <a:spcPts val="0"/>
                        </a:spcAft>
                      </a:pPr>
                      <a:r>
                        <a:rPr sz="1100" b="0" lang="fr-FR">
                          <a:solidFill>
                            <a:srgbClr val="404040"/>
                          </a:solidFill>
                          <a:latin typeface="Avenir Next LT Pro Light"/>
                        </a:rPr>
                        <a:t>ROC</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100" b="0" lang="fr-FR">
                          <a:solidFill>
                            <a:srgbClr val="404040"/>
                          </a:solidFill>
                          <a:latin typeface="Avenir Next LT Pro Light"/>
                        </a:rPr>
                        <a:t>Effet attendu surtout dans le public</a:t>
                      </a:r>
                    </a:p>
                    <a:p>
                      <a:pPr algn="l">
                        <a:lnSpc>
                          <a:spcPct val="100000"/>
                        </a:lnSpc>
                        <a:spcBef>
                          <a:spcPts val="0"/>
                        </a:spcBef>
                        <a:spcAft>
                          <a:spcPts val="0"/>
                        </a:spcAft>
                      </a:pPr>
                      <a:r>
                        <a:rPr sz="1100" b="0" lang="fr-FR">
                          <a:solidFill>
                            <a:srgbClr val="404040"/>
                          </a:solidFill>
                          <a:latin typeface="Avenir Next LT Pro Light"/>
                        </a:rPr>
                        <a:t>Non mesurable avec DAMIR</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100" b="0" lang="fr-FR">
                          <a:solidFill>
                            <a:srgbClr val="404040"/>
                          </a:solidFill>
                          <a:latin typeface="Avenir Next LT Pro Light"/>
                        </a:rPr>
                        <a:t>Cadences et PSAP</a:t>
                      </a:r>
                    </a:p>
                    <a:p>
                      <a:pPr algn="l">
                        <a:lnSpc>
                          <a:spcPct val="100000"/>
                        </a:lnSpc>
                        <a:spcBef>
                          <a:spcPts val="0"/>
                        </a:spcBef>
                        <a:spcAft>
                          <a:spcPts val="0"/>
                        </a:spcAft>
                      </a:pPr>
                      <a:r>
                        <a:rPr sz="1100" b="0" lang="fr-FR">
                          <a:solidFill>
                            <a:srgbClr val="404040"/>
                          </a:solidFill>
                          <a:latin typeface="Avenir Next LT Pro Light"/>
                        </a:rPr>
                        <a:t>sur les flux de l’AMC</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457200" y="4014215"/>
            <a:ext cx="8229600" cy="256032"/>
          </a:xfrm>
          <a:prstGeom prst="rect">
            <a:avLst/>
          </a:prstGeom>
          <a:noFill/>
        </p:spPr>
        <p:txBody>
          <a:bodyPr wrap="square" lIns="0" rIns="0" tIns="0" bIns="0">
            <a:noAutofit/>
          </a:bodyPr>
          <a:lstStyle/>
          <a:p>
            <a:pPr>
              <a:lnSpc>
                <a:spcPct val="112000"/>
              </a:lnSpc>
              <a:spcBef>
                <a:spcPts val="0"/>
              </a:spcBef>
              <a:spcAft>
                <a:spcPts val="0"/>
              </a:spcAft>
            </a:pPr>
            <a:r>
              <a:rPr sz="1200" b="1" lang="fr-FR" cap="none">
                <a:solidFill>
                  <a:srgbClr val="5B0C02"/>
                </a:solidFill>
                <a:latin typeface="Avenir Next LT Pro Light"/>
              </a:rPr>
              <a:t>Lecture proposée pour Groupama</a:t>
            </a:r>
          </a:p>
        </p:txBody>
      </p:sp>
      <p:sp>
        <p:nvSpPr>
          <p:cNvPr id="6" name="TextBox 5"/>
          <p:cNvSpPr txBox="1"/>
          <p:nvPr/>
        </p:nvSpPr>
        <p:spPr>
          <a:xfrm>
            <a:off x="457200" y="4389120"/>
            <a:ext cx="8229600" cy="530352"/>
          </a:xfrm>
          <a:prstGeom prst="rect">
            <a:avLst/>
          </a:prstGeom>
          <a:noFill/>
        </p:spPr>
        <p:txBody>
          <a:bodyPr wrap="square" lIns="0" rIns="0" tIns="0" bIns="0">
            <a:noAutofit/>
          </a:bodyPr>
          <a:lstStyle/>
          <a:p>
            <a:pPr>
              <a:lnSpc>
                <a:spcPct val="112000"/>
              </a:lnSpc>
              <a:spcBef>
                <a:spcPts val="0"/>
              </a:spcBef>
              <a:spcAft>
                <a:spcPts val="0"/>
              </a:spcAft>
            </a:pPr>
            <a:r>
              <a:rPr sz="1150" b="0" lang="fr-FR" cap="none">
                <a:solidFill>
                  <a:srgbClr val="404040"/>
                </a:solidFill>
                <a:latin typeface="Avenir Next LT Pro Light"/>
              </a:rPr>
              <a:t>Séparer public et privé, puis chaque poste. Comparer les années de soins et de règlement,</a:t>
            </a:r>
          </a:p>
          <a:p>
            <a:pPr>
              <a:lnSpc>
                <a:spcPct val="112000"/>
              </a:lnSpc>
              <a:spcBef>
                <a:spcPts val="0"/>
              </a:spcBef>
              <a:spcAft>
                <a:spcPts val="0"/>
              </a:spcAft>
            </a:pPr>
            <a:r>
              <a:rPr sz="1150" b="0" lang="fr-FR" cap="none">
                <a:solidFill>
                  <a:srgbClr val="404040"/>
                </a:solidFill>
                <a:latin typeface="Avenir Next LT Pro Light"/>
              </a:rPr>
              <a:t>reconstituer les cadences AMC 2023–2024 et tester la montée en charge ROC par établissement.</a:t>
            </a:r>
          </a:p>
        </p:txBody>
      </p:sp>
      <p:sp>
        <p:nvSpPr>
          <p:cNvPr id="7" name="TextBox 6"/>
          <p:cNvSpPr txBox="1"/>
          <p:nvPr/>
        </p:nvSpPr>
        <p:spPr>
          <a:xfrm>
            <a:off x="457200" y="5047488"/>
            <a:ext cx="8229600" cy="329184"/>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5B0C02"/>
                </a:solidFill>
                <a:latin typeface="Avenir Next LT Pro Light"/>
              </a:rPr>
              <a:t>Les séjours ordinaires donnent un repère modéré. DAMIR ne chiffre ni la part ROC en euros,</a:t>
            </a:r>
          </a:p>
          <a:p>
            <a:pPr>
              <a:lnSpc>
                <a:spcPct val="112000"/>
              </a:lnSpc>
              <a:spcBef>
                <a:spcPts val="0"/>
              </a:spcBef>
              <a:spcAft>
                <a:spcPts val="0"/>
              </a:spcAft>
            </a:pPr>
            <a:r>
              <a:rPr sz="950" b="0" lang="fr-FR" cap="none">
                <a:solidFill>
                  <a:srgbClr val="5B0C02"/>
                </a:solidFill>
                <a:latin typeface="Avenir Next LT Pro Light"/>
              </a:rPr>
              <a:t>ni les séjours du public, ni le partage patient / complémentaire.</a:t>
            </a:r>
          </a:p>
        </p:txBody>
      </p:sp>
      <p:sp>
        <p:nvSpPr>
          <p:cNvPr id="8" name="TextBox 7"/>
          <p:cNvSpPr txBox="1"/>
          <p:nvPr/>
        </p:nvSpPr>
        <p:spPr>
          <a:xfrm>
            <a:off x="457200" y="5431536"/>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E57CE92-AD3E-4068-1BE4-94DEC0381060}"/>
              </a:ext>
            </a:extLst>
          </p:cNvPr>
          <p:cNvSpPr txBox="1"/>
          <p:nvPr/>
        </p:nvSpPr>
        <p:spPr>
          <a:xfrm>
            <a:off x="7162800" y="5468779"/>
            <a:ext cx="1981200" cy="246221"/>
          </a:xfrm>
          <a:prstGeom prst="rect">
            <a:avLst/>
          </a:prstGeom>
          <a:noFill/>
        </p:spPr>
        <p:txBody>
          <a:bodyPr wrap="square" rtlCol="0">
            <a:spAutoFit/>
          </a:bodyPr>
          <a:lstStyle/>
          <a:p>
            <a:pPr algn="l"/>
            <a:r>
              <a:rPr lang="fr-FR" sz="1000" noProof="0">
                <a:solidFill>
                  <a:schemeClr val="accent5"/>
                </a:solidFill>
              </a:rPr>
              <a:t>communication@forsides.com</a:t>
            </a:r>
          </a:p>
        </p:txBody>
      </p:sp>
    </p:spTree>
    <p:extLst>
      <p:ext uri="{BB962C8B-B14F-4D97-AF65-F5344CB8AC3E}">
        <p14:creationId xmlns:p14="http://schemas.microsoft.com/office/powerpoint/2010/main" val="2431778703"/>
      </p:ext>
    </p:extLst>
  </p:cSld>
  <p:clrMapOvr>
    <a:masterClrMapping/>
  </p:clrMapOvr>
</p:sld>
</file>

<file path=ppt/theme/theme1.xml><?xml version="1.0" encoding="utf-8"?>
<a:theme xmlns:a="http://schemas.openxmlformats.org/drawingml/2006/main" name="18 07 18 Thème FORSIDES">
  <a:themeElements>
    <a:clrScheme name="FORSIDES">
      <a:dk1>
        <a:srgbClr val="404040"/>
      </a:dk1>
      <a:lt1>
        <a:srgbClr val="FFFFFF"/>
      </a:lt1>
      <a:dk2>
        <a:srgbClr val="5B0C02"/>
      </a:dk2>
      <a:lt2>
        <a:srgbClr val="FFFFFF"/>
      </a:lt2>
      <a:accent1>
        <a:srgbClr val="EF4647"/>
      </a:accent1>
      <a:accent2>
        <a:srgbClr val="5B0C02"/>
      </a:accent2>
      <a:accent3>
        <a:srgbClr val="404040"/>
      </a:accent3>
      <a:accent4>
        <a:srgbClr val="808080"/>
      </a:accent4>
      <a:accent5>
        <a:srgbClr val="BFBFBF"/>
      </a:accent5>
      <a:accent6>
        <a:srgbClr val="A5B6C5"/>
      </a:accent6>
      <a:hlink>
        <a:srgbClr val="5B0C02"/>
      </a:hlink>
      <a:folHlink>
        <a:srgbClr val="EF4647"/>
      </a:folHlink>
    </a:clrScheme>
    <a:fontScheme name="Personnalisé 2">
      <a:majorFont>
        <a:latin typeface="Montserrat"/>
        <a:ea typeface=""/>
        <a:cs typeface=""/>
      </a:majorFont>
      <a:minorFont>
        <a:latin typeface="Avenir Next LT Pro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lIns="0" rIns="0" rtlCol="0" anchor="ctr"/>
      <a:lstStyle>
        <a:defPPr algn="ctr">
          <a:defRPr sz="800" cap="all"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ap="flat" cmpd="sng" algn="ctr">
          <a:solidFill>
            <a:schemeClr val="tx2"/>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a:spAutoFit/>
      </a:bodyPr>
      <a:lstStyle>
        <a:defPPr algn="l">
          <a:defRPr sz="6600" dirty="0">
            <a:solidFill>
              <a:schemeClr val="accent1"/>
            </a:solidFill>
          </a:defRPr>
        </a:defPPr>
      </a:lstStyle>
    </a:tx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3852</TotalTime>
  <Words>937</Words>
  <Application>Microsoft Office PowerPoint</Application>
  <PresentationFormat>Affichage à l'écran (16:10)</PresentationFormat>
  <Paragraphs>117</Paragraphs>
  <Slides>6</Slides>
  <Notes>2</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6</vt:i4>
      </vt:variant>
    </vt:vector>
  </HeadingPairs>
  <TitlesOfParts>
    <vt:vector size="14" baseType="lpstr">
      <vt:lpstr>Arial</vt:lpstr>
      <vt:lpstr>Avenir Next LT Pro</vt:lpstr>
      <vt:lpstr>Avenir Next LT Pro Light</vt:lpstr>
      <vt:lpstr>Calibri</vt:lpstr>
      <vt:lpstr>Courier New</vt:lpstr>
      <vt:lpstr>Montserrat</vt:lpstr>
      <vt:lpstr>Wingdings</vt:lpstr>
      <vt:lpstr>18 07 18 Thème FORSIDES</vt:lpstr>
      <vt:lpstr>Hospitalisation : dérive réelle ou effet ROC ?</vt:lpstr>
      <vt:lpstr>Ce que l'on regarde, et comment</vt:lpstr>
      <vt:lpstr>Hospitalisation Honoraires, une vraie dérive</vt:lpstr>
      <vt:lpstr>Hospitalisation globale =&gt; une piste ROC</vt:lpstr>
      <vt:lpstr>Dérive observée et hypothèse ROC</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Hospitalisation : dérive réelle ou effet ROC ?</dc:title>
  <dc:creator>Forsides</dc:creator>
  <cp:lastModifiedBy>Simon MALAURENT</cp:lastModifiedBy>
  <cp:revision>58</cp:revision>
  <dcterms:created xsi:type="dcterms:W3CDTF">2024-05-03T13:43:52Z</dcterms:created>
  <dcterms:modified xsi:type="dcterms:W3CDTF">2026-09-18T12:31:32Z</dcterms:modified>
  <dc:subject>Analyse par poste des remboursements AMO 2022–2025</dc:subject>
  <cp:keywords>Hospitalisation, Open DAMIR, ROC, SSR, SMR, anesthésie</cp:keyword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0x0101004DC111B863CCFF45AFD913A1822A08C3</vt:lpwstr>
  </property>
</Properties>
</file>