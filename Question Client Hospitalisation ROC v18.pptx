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5"/>
  </p:notesMasterIdLst>
  <p:sldIdLst>
    <p:sldId id="11533" r:id="rId5"/>
    <p:sldId id="11534" r:id="rId6"/>
    <p:sldId id="11535" r:id="rId7"/>
    <p:sldId id="11536" r:id="rId8"/>
    <p:sldId id="11537" r:id="rId9"/>
    <p:sldId id="11538" r:id="rId10"/>
    <p:sldId id="11539" r:id="rId11"/>
    <p:sldId id="11540" r:id="rId12"/>
    <p:sldId id="11541" r:id="rId13"/>
    <p:sldId id="11530" r:id="rId14"/>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64" autoAdjust="0"/>
  </p:normalViewPr>
  <p:slideViewPr>
    <p:cSldViewPr snapToGrid="0">
      <p:cViewPr>
        <p:scale>
          <a:sx n="100" d="100"/>
          <a:sy n="100" d="100"/>
        </p:scale>
        <p:origin x="97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8E8-4745-8C34-467979802B17}"/>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8E8-4745-8C34-467979802B17}"/>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4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1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5B1D-4421-91B5-42F2C972261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5B1D-4421-91B5-42F2C972261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8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2023</c:v>
                </c:pt>
              </c:strCache>
            </c:strRef>
          </c:tx>
          <c:spPr>
            <a:solidFill>
              <a:srgbClr val="A5B6C5"/>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8.1999999999999993</c:v>
                </c:pt>
                <c:pt idx="1">
                  <c:v>13.7</c:v>
                </c:pt>
                <c:pt idx="2">
                  <c:v>15.9</c:v>
                </c:pt>
                <c:pt idx="3">
                  <c:v>29.6</c:v>
                </c:pt>
                <c:pt idx="4">
                  <c:v>59.4</c:v>
                </c:pt>
                <c:pt idx="5">
                  <c:v>92.1</c:v>
                </c:pt>
                <c:pt idx="6">
                  <c:v>141</c:v>
                </c:pt>
                <c:pt idx="7">
                  <c:v>186.2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93E-49FA-88C0-7D4EB88542E8}"/>
            </c:ext>
          </c:extLst>
        </c:ser>
        <c:ser>
          <c:idx val="1"/>
          <c:order val="1"/>
          <c:tx>
            <c:strRef>
              <c:f>Sheet1!$C$1</c:f>
              <c:strCache>
                <c:ptCount val="1"/>
                <c:pt idx="0">
                  <c:v>2024</c:v>
                </c:pt>
              </c:strCache>
            </c:strRef>
          </c:tx>
          <c:spPr>
            <a:solidFill>
              <a:srgbClr val="EF4647"/>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c:v>
                </c:pt>
                <c:pt idx="5">
                  <c:v>94.2</c:v>
                </c:pt>
                <c:pt idx="6">
                  <c:v>124.6</c:v>
                </c:pt>
                <c:pt idx="7">
                  <c:v>127.9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493E-49FA-88C0-7D4EB88542E8}"/>
            </c:ext>
          </c:extLst>
        </c:ser>
        <c:ser>
          <c:idx val="2"/>
          <c:order val="2"/>
          <c:tx>
            <c:strRef>
              <c:f>Sheet1!$D$1</c:f>
              <c:strCache>
                <c:ptCount val="1"/>
                <c:pt idx="0">
                  <c:v>2025*</c:v>
                </c:pt>
              </c:strCache>
            </c:strRef>
          </c:tx>
          <c:spPr>
            <a:solidFill>
              <a:srgbClr val="5B0C02"/>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c:v>
                </c:pt>
                <c:pt idx="5">
                  <c:v>102</c:v>
                </c:pt>
                <c:pt idx="6">
                  <c:v>128.30000000000001</c:v>
                </c:pt>
                <c:pt idx="7">
                  <c:v>114.6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93E-49FA-88C0-7D4EB88542E8}"/>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2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5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5A6-4E6B-B33D-4DDA173F7E8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5A6-4E6B-B33D-4DDA173F7E8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6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21/09/2026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a:endParaRPr/>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sz="quarter" idx="13"/>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92608">
                <a:tc>
                  <a:txBody>
                    <a:bodyPr/>
                    <a:lstStyle/>
                    <a:p>
                      <a:pPr algn="l">
                        <a:lnSpc>
                          <a:spcPct val="100000"/>
                        </a:lnSpc>
                        <a:spcBef>
                          <a:spcPts val="0"/>
                        </a:spcBef>
                        <a:spcAft>
                          <a:spcPts val="0"/>
                        </a:spcAft>
                      </a:pPr>
                      <a:r>
                        <a:rPr lang="fr-FR" sz="1100" b="1" dirty="0">
                          <a:solidFill>
                            <a:srgbClr val="404040"/>
                          </a:solidFill>
                          <a:latin typeface="Avenir Next LT Pro Light"/>
                        </a:rPr>
                        <a:t>Ce que DAMIR contient</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100" b="1">
                          <a:solidFill>
                            <a:srgbClr val="404040"/>
                          </a:solidFill>
                          <a:latin typeface="Avenir Next LT Pro Light"/>
                        </a:rPr>
                        <a:t>Ce que DAMIR ne contient pas</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Soins de ville et séjours en clinique</a:t>
                      </a:r>
                    </a:p>
                    <a:p>
                      <a:pPr algn="l">
                        <a:lnSpc>
                          <a:spcPct val="100000"/>
                        </a:lnSpc>
                        <a:spcBef>
                          <a:spcPts val="0"/>
                        </a:spcBef>
                        <a:spcAft>
                          <a:spcPts val="0"/>
                        </a:spcAft>
                      </a:pPr>
                      <a:r>
                        <a:rPr lang="fr-FR" sz="1100" b="0">
                          <a:solidFill>
                            <a:srgbClr val="404040"/>
                          </a:solidFill>
                          <a:latin typeface="Avenir Next LT Pro Light"/>
                        </a:rPr>
                        <a:t>Dépense, remboursement AMO, dépassements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a:solidFill>
                            <a:srgbClr val="404040"/>
                          </a:solidFill>
                          <a:latin typeface="Avenir Next LT Pro Light"/>
                        </a:rPr>
                        <a:t>Séjours de l’hôpital public</a:t>
                      </a:r>
                    </a:p>
                    <a:p>
                      <a:pPr algn="l">
                        <a:lnSpc>
                          <a:spcPct val="100000"/>
                        </a:lnSpc>
                        <a:spcBef>
                          <a:spcPts val="0"/>
                        </a:spcBef>
                        <a:spcAft>
                          <a:spcPts val="0"/>
                        </a:spcAft>
                      </a:pPr>
                      <a:r>
                        <a:rPr lang="fr-FR" sz="1100" b="0">
                          <a:solidFill>
                            <a:srgbClr val="404040"/>
                          </a:solidFill>
                          <a:latin typeface="Avenir Next LT Pro Light"/>
                        </a:rPr>
                        <a:t>Chambre particulière, part payée par la complémentaire</a:t>
                      </a:r>
                    </a:p>
                  </a:txBody>
                  <a:tcPr marL="64008" marR="64008" marT="22860" marB="22860" anchor="ctr">
                    <a:solidFill>
                      <a:srgbClr val="FFFFFF"/>
                    </a:solidFill>
                  </a:tcPr>
                </a:tc>
                <a:extLst>
                  <a:ext uri="{0D108BD9-81ED-4DB2-BD59-A6C34878D82A}">
                    <a16:rowId xmlns:a16="http://schemas.microsoft.com/office/drawing/2014/main" val="10001"/>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Mois de soins, prestation, région, âge, sexe,</a:t>
                      </a:r>
                    </a:p>
                    <a:p>
                      <a:pPr algn="l">
                        <a:lnSpc>
                          <a:spcPct val="100000"/>
                        </a:lnSpc>
                        <a:spcBef>
                          <a:spcPts val="0"/>
                        </a:spcBef>
                        <a:spcAft>
                          <a:spcPts val="0"/>
                        </a:spcAft>
                      </a:pPr>
                      <a:r>
                        <a:rPr lang="fr-FR" sz="1100" b="0">
                          <a:solidFill>
                            <a:srgbClr val="404040"/>
                          </a:solidFill>
                          <a:latin typeface="Avenir Next LT Pro Light"/>
                        </a:rPr>
                        <a:t>nature d’assurance et ALD</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dirty="0">
                          <a:solidFill>
                            <a:srgbClr val="404040"/>
                          </a:solidFill>
                          <a:latin typeface="Avenir Next LT Pro Light"/>
                        </a:rPr>
                        <a:t>Établissement identifié</a:t>
                      </a:r>
                    </a:p>
                    <a:p>
                      <a:pPr algn="l">
                        <a:lnSpc>
                          <a:spcPct val="100000"/>
                        </a:lnSpc>
                        <a:spcBef>
                          <a:spcPts val="0"/>
                        </a:spcBef>
                        <a:spcAft>
                          <a:spcPts val="0"/>
                        </a:spcAft>
                      </a:pPr>
                      <a:r>
                        <a:rPr lang="fr-FR" sz="1100" b="0" dirty="0">
                          <a:solidFill>
                            <a:srgbClr val="404040"/>
                          </a:solidFill>
                          <a:latin typeface="Avenir Next LT Pro Light"/>
                        </a:rPr>
                        <a:t>Statut ROC ou non ROC</a:t>
                      </a:r>
                    </a:p>
                  </a:txBody>
                  <a:tcPr marL="64008" marR="64008" marT="22860" marB="22860" anchor="ctr">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3639312"/>
            <a:ext cx="38404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050" b="1"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lang="fr-FR" sz="950" b="0"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sz="quarter" idx="13"/>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tIns="0" rIns="0" bIns="0">
            <a:noAutofit/>
          </a:bodyPr>
          <a:lstStyle/>
          <a:p>
            <a:pPr>
              <a:lnSpc>
                <a:spcPct val="112000"/>
              </a:lnSpc>
              <a:spcBef>
                <a:spcPts val="0"/>
              </a:spcBef>
              <a:spcAft>
                <a:spcPts val="0"/>
              </a:spcAft>
            </a:pPr>
            <a:r>
              <a:rPr lang="fr-FR" sz="1200" b="0"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3355848">
                  <a:extLst>
                    <a:ext uri="{9D8B030D-6E8A-4147-A177-3AD203B41FA5}">
                      <a16:colId xmlns:a16="http://schemas.microsoft.com/office/drawing/2014/main" val="20002"/>
                    </a:ext>
                  </a:extLst>
                </a:gridCol>
              </a:tblGrid>
              <a:tr h="292608">
                <a:tc>
                  <a:txBody>
                    <a:bodyPr/>
                    <a:lstStyle/>
                    <a:p>
                      <a:pPr algn="l">
                        <a:lnSpc>
                          <a:spcPct val="100000"/>
                        </a:lnSpc>
                        <a:spcBef>
                          <a:spcPts val="0"/>
                        </a:spcBef>
                        <a:spcAft>
                          <a:spcPts val="0"/>
                        </a:spcAft>
                      </a:pPr>
                      <a:r>
                        <a:rPr lang="fr-FR" sz="1050" b="1">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1000" b="0">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473 hôpitaux et ESPIC facturent via ROC, un peu plus d’un sur deux.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3"/>
                  </a:ext>
                </a:extLst>
              </a:tr>
              <a:tr h="320040">
                <a:tc>
                  <a:txBody>
                    <a:bodyPr/>
                    <a:lstStyle/>
                    <a:p>
                      <a:pPr algn="l">
                        <a:lnSpc>
                          <a:spcPct val="100000"/>
                        </a:lnSpc>
                        <a:spcBef>
                          <a:spcPts val="0"/>
                        </a:spcBef>
                        <a:spcAft>
                          <a:spcPts val="0"/>
                        </a:spcAft>
                      </a:pPr>
                      <a:r>
                        <a:rPr lang="fr-FR" sz="1000" b="0">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4297680"/>
            <a:ext cx="3977639" cy="393192"/>
          </a:xfrm>
          <a:prstGeom prst="rect">
            <a:avLst/>
          </a:prstGeom>
          <a:noFill/>
        </p:spPr>
        <p:txBody>
          <a:bodyPr wrap="square" lIns="0" tIns="0" rIns="0" bIns="0">
            <a:noAutofit/>
          </a:bodyPr>
          <a:lstStyle/>
          <a:p>
            <a:pPr>
              <a:lnSpc>
                <a:spcPct val="112000"/>
              </a:lnSpc>
              <a:spcBef>
                <a:spcPts val="0"/>
              </a:spcBef>
              <a:spcAft>
                <a:spcPts val="0"/>
              </a:spcAft>
            </a:pPr>
            <a:r>
              <a:rPr lang="fr-FR" sz="2100" b="0" cap="none">
                <a:solidFill>
                  <a:srgbClr val="EF4647"/>
                </a:solidFill>
                <a:latin typeface="Montserrat"/>
              </a:rPr>
              <a:t>10–15 %   →   0,1–0,2 %</a:t>
            </a:r>
          </a:p>
        </p:txBody>
      </p:sp>
      <p:sp>
        <p:nvSpPr>
          <p:cNvPr id="8" name="TextBox 7"/>
          <p:cNvSpPr txBox="1"/>
          <p:nvPr/>
        </p:nvSpPr>
        <p:spPr>
          <a:xfrm>
            <a:off x="457200" y="4681728"/>
            <a:ext cx="3977639" cy="32918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Factures hospitalières rejetées, avant et après le ROC (chiffres des complémentaires raccordées)</a:t>
            </a:r>
          </a:p>
        </p:txBody>
      </p:sp>
      <p:sp>
        <p:nvSpPr>
          <p:cNvPr id="9" name="TextBox 8"/>
          <p:cNvSpPr txBox="1"/>
          <p:nvPr/>
        </p:nvSpPr>
        <p:spPr>
          <a:xfrm>
            <a:off x="4736592" y="4315968"/>
            <a:ext cx="3931920" cy="777240"/>
          </a:xfrm>
          <a:prstGeom prst="rect">
            <a:avLst/>
          </a:prstGeom>
          <a:noFill/>
        </p:spPr>
        <p:txBody>
          <a:bodyPr wrap="square" lIns="0" tIns="0" rIns="0" bIns="0">
            <a:noAutofit/>
          </a:bodyPr>
          <a:lstStyle/>
          <a:p>
            <a:pPr>
              <a:lnSpc>
                <a:spcPct val="112000"/>
              </a:lnSpc>
              <a:spcBef>
                <a:spcPts val="0"/>
              </a:spcBef>
              <a:spcAft>
                <a:spcPts val="0"/>
              </a:spcAft>
            </a:pPr>
            <a:r>
              <a:rPr lang="fr-FR" sz="1000" b="1"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tIns="0" rIns="0" bIns="0">
            <a:noAutofit/>
          </a:bodyPr>
          <a:lstStyle/>
          <a:p>
            <a:pPr>
              <a:lnSpc>
                <a:spcPct val="100000"/>
              </a:lnSpc>
              <a:spcBef>
                <a:spcPts val="0"/>
              </a:spcBef>
              <a:spcAft>
                <a:spcPts val="0"/>
              </a:spcAft>
            </a:pPr>
            <a:r>
              <a:rPr lang="fr-FR" sz="950" b="0" cap="none" dirty="0">
                <a:solidFill>
                  <a:srgbClr val="404040"/>
                </a:solidFill>
                <a:latin typeface="Avenir Next LT Pro Light"/>
              </a:rPr>
              <a:t>En 2025, le ROC joue à l’hôpital public, dont les séjours ne sont pas dans </a:t>
            </a:r>
            <a:r>
              <a:rPr lang="fr-FR" sz="950" dirty="0" b="0">
                <a:solidFill>
                  <a:srgbClr val="404040"/>
                </a:solidFill>
                <a:latin typeface="Avenir Next LT Pro Light"/>
              </a:rPr>
              <a:t>DAMIR (DAMIR ne contient que les séjours des cliniques privées). Son </a:t>
            </a:r>
            <a:r>
              <a:rPr lang="fr-FR" sz="950" b="0" cap="none" dirty="0">
                <a:solidFill>
                  <a:srgbClr val="404040"/>
                </a:solidFill>
                <a:latin typeface="Avenir Next LT Pro Light"/>
              </a:rPr>
              <a:t>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arte 3"/>
          <p:cNvSpPr/>
          <p:nvPr/>
        </p:nvSpPr>
        <p:spPr>
          <a:xfrm>
            <a:off x="6035040" y="1143000"/>
            <a:ext cx="2651760" cy="2011680"/>
          </a:xfrm>
          <a:prstGeom prst="roundRect">
            <a:avLst>
              <a:gd name="adj" fmla="val 5000"/>
            </a:avLst>
          </a:prstGeom>
          <a:solidFill>
            <a:srgbClr val="F4F2EF"/>
          </a:solidFill>
          <a:ln>
            <a:noFill/>
          </a:ln>
        </p:spPr>
        <p:txBody>
          <a:bodyPr rtlCol="0" anchor="ctr"/>
          <a:lstStyle/>
          <a:p>
            <a:pPr algn="ctr"/>
          </a:p>
        </p:txBody>
      </p:sp>
      <p:sp>
        <p:nvSpPr>
          <p:cNvPr id="21" name="Carte 2"/>
          <p:cNvSpPr/>
          <p:nvPr/>
        </p:nvSpPr>
        <p:spPr>
          <a:xfrm>
            <a:off x="3246120" y="1143000"/>
            <a:ext cx="2651760" cy="2011680"/>
          </a:xfrm>
          <a:prstGeom prst="roundRect">
            <a:avLst>
              <a:gd name="adj" fmla="val 5000"/>
            </a:avLst>
          </a:prstGeom>
          <a:solidFill>
            <a:srgbClr val="F4F2EF"/>
          </a:solidFill>
          <a:ln>
            <a:noFill/>
          </a:ln>
        </p:spPr>
        <p:txBody>
          <a:bodyPr rtlCol="0" anchor="ctr"/>
          <a:lstStyle/>
          <a:p>
            <a:pPr algn="ctr"/>
          </a:p>
        </p:txBody>
      </p:sp>
      <p:sp>
        <p:nvSpPr>
          <p:cNvPr id="14" name="Carte 1"/>
          <p:cNvSpPr/>
          <p:nvPr/>
        </p:nvSpPr>
        <p:spPr>
          <a:xfrm>
            <a:off x="457200" y="1143000"/>
            <a:ext cx="2651760" cy="2011680"/>
          </a:xfrm>
          <a:prstGeom prst="roundRect">
            <a:avLst>
              <a:gd name="adj" fmla="val 5000"/>
            </a:avLst>
          </a:prstGeom>
          <a:solidFill>
            <a:srgbClr val="F4F2EF"/>
          </a:solidFill>
          <a:ln>
            <a:noFill/>
          </a:ln>
        </p:spPr>
        <p:txBody>
          <a:bodyPr rtlCol="0" anchor="ctr"/>
          <a:lstStyle/>
          <a:p>
            <a:pPr algn="ctr"/>
          </a:p>
        </p:txBody>
      </p:sp>
      <p:sp>
        <p:nvSpPr>
          <p:cNvPr id="2" name="Title 1"/>
          <p:cNvSpPr>
            <a:spLocks noGrp="1"/>
          </p:cNvSpPr>
          <p:nvPr>
            <p:ph type="title"/>
          </p:nvPr>
        </p:nvSpPr>
        <p:spPr>
          <a:xfrm>
            <a:off x="466344" y="283464"/>
            <a:ext cx="6766560" cy="310896"/>
          </a:xfrm>
        </p:spPr>
        <p:txBody>
          <a:bodyPr/>
          <a:lstStyle/>
          <a:p>
            <a:r>
              <a:rPr>
                <a:solidFill>
                  <a:srgbClr val="EF4647"/>
                </a:solidFill>
              </a:rPr>
              <a:t>Trois postes suivis, et les règles qui ont changé</a:t>
            </a:r>
          </a:p>
        </p:txBody>
      </p:sp>
      <p:sp>
        <p:nvSpPr>
          <p:cNvPr id="3" name="Text Placeholder 2"/>
          <p:cNvSpPr>
            <a:spLocks noGrp="1"/>
          </p:cNvSpPr>
          <p:nvPr>
            <p:ph type="body" sz="quarter" idx="13"/>
          </p:nvPr>
        </p:nvSpPr>
        <p:spPr>
          <a:xfrm>
            <a:off x="466344" y="612648"/>
            <a:ext cx="6766560" cy="292608"/>
          </a:xfrm>
        </p:spPr>
        <p:txBody>
          <a:bodyPr/>
          <a:lstStyle/>
          <a:p>
            <a:r>
              <a:t>Ce que chaque poste recouvre, ce qu’il montre, et ce qui déforme la lecture de 2024 et 2025</a:t>
            </a:r>
          </a:p>
        </p:txBody>
      </p:sp>
      <p:sp>
        <p:nvSpPr>
          <p:cNvPr id="6" name="TextBox 5"/>
          <p:cNvSpPr txBox="1"/>
          <p:nvPr/>
        </p:nvSpPr>
        <p:spPr>
          <a:xfrm>
            <a:off x="5486400" y="3429000"/>
            <a:ext cx="3200400" cy="274320"/>
          </a:xfrm>
          <a:prstGeom prst="rect">
            <a:avLst/>
          </a:prstGeom>
          <a:noFill/>
        </p:spPr>
        <p:txBody>
          <a:bodyPr wrap="square" lIns="0" tIns="0" rIns="0" bIns="0">
            <a:noAutofit/>
          </a:bodyPr>
          <a:lstStyle/>
          <a:p>
            <a:pPr>
              <a:lnSpc>
                <a:spcPct val="112000"/>
              </a:lnSpc>
              <a:spcBef>
                <a:spcPts val="0"/>
              </a:spcBef>
              <a:spcAft>
                <a:spcPts val="0"/>
              </a:spcAft>
            </a:pPr>
            <a:r>
              <a:rPr sz="1150" b="1" lang="fr-FR" cap="none">
                <a:solidFill>
                  <a:srgbClr val="5B0C02"/>
                </a:solidFill>
                <a:latin typeface="Avenir Next LT Pro Light"/>
              </a:rPr>
              <a:t>Cadence de l’Assurance Maladie</a:t>
            </a:r>
          </a:p>
        </p:txBody>
      </p:sp>
      <p:graphicFrame>
        <p:nvGraphicFramePr>
          <p:cNvPr id="7" name="Table 6"/>
          <p:cNvGraphicFramePr>
            <a:graphicFrameLocks noGrp="1"/>
          </p:cNvGraphicFramePr>
          <p:nvPr/>
        </p:nvGraphicFramePr>
        <p:xfrm>
          <a:off x="5486400" y="3749039"/>
          <a:ext cx="3200400" cy="1024128"/>
        </p:xfrm>
        <a:graphic>
          <a:graphicData uri="http://schemas.openxmlformats.org/drawingml/2006/table">
            <a:tbl>
              <a:tblPr>
                <a:tableStyleId>{5C22544A-7EE6-4342-B048-85BDC9FD1C3A}</a:tableStyleId>
              </a:tblPr>
              <a:tblGrid>
                <a:gridCol w="1728216">
                  <a:extLst>
                    <a:ext uri="{9D8B030D-6E8A-4147-A177-3AD203B41FA5}">
                      <a16:colId xmlns:a16="http://schemas.microsoft.com/office/drawing/2014/main" val="20000"/>
                    </a:ext>
                  </a:extLst>
                </a:gridCol>
                <a:gridCol w="740664">
                  <a:extLst>
                    <a:ext uri="{9D8B030D-6E8A-4147-A177-3AD203B41FA5}">
                      <a16:colId xmlns:a16="http://schemas.microsoft.com/office/drawing/2014/main" val="20001"/>
                    </a:ext>
                  </a:extLst>
                </a:gridCol>
                <a:gridCol w="740664">
                  <a:extLst>
                    <a:ext uri="{9D8B030D-6E8A-4147-A177-3AD203B41FA5}">
                      <a16:colId xmlns:a16="http://schemas.microsoft.com/office/drawing/2014/main" val="20002"/>
                    </a:ext>
                  </a:extLst>
                </a:gridCol>
              </a:tblGrid>
              <a:tr h="256032">
                <a:tc>
                  <a:txBody>
                    <a:bodyPr/>
                    <a:lstStyle/>
                    <a:p>
                      <a:pPr algn="l">
                        <a:lnSpc>
                          <a:spcPct val="100000"/>
                        </a:lnSpc>
                        <a:spcBef>
                          <a:spcPts val="0"/>
                        </a:spcBef>
                        <a:spcAft>
                          <a:spcPts val="0"/>
                        </a:spcAft>
                      </a:pPr>
                      <a:r>
                        <a:rPr lang="fr-FR" sz="950" b="1">
                          <a:solidFill>
                            <a:srgbClr val="404040"/>
                          </a:solidFill>
                          <a:latin typeface="Avenir Next LT Pro Light"/>
                        </a:rPr>
                        <a:t>Part réglée dans l’année</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Séjours ordinaires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91,3 %</a:t>
                      </a:r>
                    </a:p>
                  </a:txBody>
                  <a:tcPr marL="64008" marR="64008" marT="22860" marB="22860" anchor="ctr">
                    <a:solidFill>
                      <a:srgbClr val="FFFFFF"/>
                    </a:solidFill>
                  </a:tcPr>
                </a:tc>
                <a:extLst>
                  <a:ext uri="{0D108BD9-81ED-4DB2-BD59-A6C34878D82A}">
                    <a16:rowId xmlns:a16="http://schemas.microsoft.com/office/drawing/2014/main" val="10001"/>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Anesthésie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93,9 %</a:t>
                      </a:r>
                    </a:p>
                  </a:txBody>
                  <a:tcPr marL="64008" marR="64008" marT="22860" marB="22860" anchor="ctr">
                    <a:solidFill>
                      <a:srgbClr val="FFFFFF"/>
                    </a:solidFill>
                  </a:tcPr>
                </a:tc>
                <a:extLst>
                  <a:ext uri="{0D108BD9-81ED-4DB2-BD59-A6C34878D82A}">
                    <a16:rowId xmlns:a16="http://schemas.microsoft.com/office/drawing/2014/main" val="10002"/>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Rééducation</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84,4 %</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962" name="Table règles"/>
          <p:cNvGraphicFramePr>
            <a:graphicFrameLocks noGrp="1"/>
          </p:cNvGraphicFramePr>
          <p:nvPr/>
        </p:nvGraphicFramePr>
        <p:xfrm>
          <a:off x="457200" y="3749039"/>
          <a:ext cx="4754880" cy="1188720"/>
        </p:xfrm>
        <a:graphic>
          <a:graphicData uri="http://schemas.openxmlformats.org/drawingml/2006/table">
            <a:tbl>
              <a:tblPr>
                <a:tableStyleId>{5C22544A-7EE6-4342-B048-85BDC9FD1C3A}</a:tableStyleId>
              </a:tblPr>
              <a:tblGrid>
                <a:gridCol w="11887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256032">
                <a:tc>
                  <a:txBody>
                    <a:bodyPr/>
                    <a:lstStyle/>
                    <a:p>
                      <a:pPr algn="l">
                        <a:lnSpc>
                          <a:spcPct val="100000"/>
                        </a:lnSpc>
                        <a:spcBef>
                          <a:spcPts val="0"/>
                        </a:spcBef>
                        <a:spcAft>
                          <a:spcPts val="0"/>
                        </a:spcAft>
                      </a:pPr>
                      <a:r>
                        <a:rPr lang="fr-FR" sz="950" b="1">
                          <a:solidFill>
                            <a:srgbClr val="404040"/>
                          </a:solidFill>
                          <a:latin typeface="Avenir Next LT Pro Light"/>
                        </a:rPr>
                        <a:t>Date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950" b="1">
                          <a:solidFill>
                            <a:srgbClr val="404040"/>
                          </a:solidFill>
                          <a:latin typeface="Avenir Next LT Pro Light"/>
                        </a:rPr>
                        <a:t>Ce qui change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Janvier 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Nouvelle facturation des cliniques de rééducation, factures en retard</a:t>
                      </a:r>
                    </a:p>
                  </a:txBody>
                  <a:tcPr marL="64008" marR="64008" marT="22860" marB="22860" anchor="ctr">
                    <a:solidFill>
                      <a:srgbClr val="FFFFFF"/>
                    </a:solidFill>
                  </a:tcPr>
                </a:tc>
                <a:extLst>
                  <a:ext uri="{0D108BD9-81ED-4DB2-BD59-A6C34878D82A}">
                    <a16:rowId xmlns:a16="http://schemas.microsoft.com/office/drawing/2014/main" val="10001"/>
                  </a:ext>
                </a:extLst>
              </a:tr>
              <a:tr h="274320">
                <a:tc>
                  <a:txBody>
                    <a:bodyPr/>
                    <a:lstStyle/>
                    <a:p>
                      <a:pPr algn="l">
                        <a:lnSpc>
                          <a:spcPct val="100000"/>
                        </a:lnSpc>
                        <a:spcBef>
                          <a:spcPts val="0"/>
                        </a:spcBef>
                        <a:spcAft>
                          <a:spcPts val="0"/>
                        </a:spcAft>
                      </a:pPr>
                      <a:r>
                        <a:rPr lang="fr-FR" sz="950" b="0">
                          <a:solidFill>
                            <a:srgbClr val="404040"/>
                          </a:solidFill>
                          <a:latin typeface="Avenir Next LT Pro Light"/>
                        </a:rPr>
                        <a:t>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Franchises et participations forfaitaires doublées</a:t>
                      </a:r>
                    </a:p>
                  </a:txBody>
                  <a:tcPr marL="64008" marR="64008" marT="22860" marB="22860" anchor="ctr">
                    <a:solidFill>
                      <a:srgbClr val="FFFFFF"/>
                    </a:solidFill>
                  </a:tcPr>
                </a:tc>
                <a:extLst>
                  <a:ext uri="{0D108BD9-81ED-4DB2-BD59-A6C34878D82A}">
                    <a16:rowId xmlns:a16="http://schemas.microsoft.com/office/drawing/2014/main" val="10002"/>
                  </a:ext>
                </a:extLst>
              </a:tr>
              <a:tr h="274320">
                <a:tc>
                  <a:txBody>
                    <a:bodyPr/>
                    <a:lstStyle/>
                    <a:p>
                      <a:pPr algn="l">
                        <a:lnSpc>
                          <a:spcPct val="100000"/>
                        </a:lnSpc>
                        <a:spcBef>
                          <a:spcPts val="0"/>
                        </a:spcBef>
                        <a:spcAft>
                          <a:spcPts val="0"/>
                        </a:spcAft>
                      </a:pPr>
                      <a:r>
                        <a:rPr lang="fr-FR" sz="950" b="0">
                          <a:solidFill>
                            <a:srgbClr val="404040"/>
                          </a:solidFill>
                          <a:latin typeface="Avenir Next LT Pro Light"/>
                        </a:rPr>
                        <a:t>Novembre 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Forfait journalier absent des dépenses de la base</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486400" y="4828032"/>
            <a:ext cx="3200400" cy="411480"/>
          </a:xfrm>
          <a:prstGeom prst="rect">
            <a:avLst/>
          </a:prstGeom>
          <a:noFill/>
        </p:spPr>
        <p:txBody>
          <a:bodyPr wrap="square" lIns="0" tIns="0" rIns="0" bIns="0">
            <a:noAutofit/>
          </a:bodyPr>
          <a:lstStyle/>
          <a:p>
            <a:pPr>
              <a:lnSpc>
                <a:spcPct val="112000"/>
              </a:lnSpc>
              <a:spcBef>
                <a:spcPts val="0"/>
              </a:spcBef>
              <a:spcAft>
                <a:spcPts val="0"/>
              </a:spcAft>
            </a:pPr>
            <a:r>
              <a:rPr sz="900" b="0" lang="fr-FR" cap="none">
                <a:solidFill>
                  <a:srgbClr val="404040"/>
                </a:solidFill>
                <a:latin typeface="Avenir Next LT Pro Light"/>
              </a:rPr>
              <a:t>Part des soins de l’année remboursée au 31 décembre. Stable, sauf la rééducation en 2024. Aucune accélération côté Assurance Maladie.</a:t>
            </a:r>
          </a:p>
        </p:txBody>
      </p:sp>
      <p:sp>
        <p:nvSpPr>
          <p:cNvPr id="12" name="TextBox 11"/>
          <p:cNvSpPr txBox="1"/>
          <p:nvPr/>
        </p:nvSpPr>
        <p:spPr>
          <a:xfrm>
            <a:off x="457200" y="5413248"/>
            <a:ext cx="8138160" cy="118872"/>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541264"/>
            <a:ext cx="8001000" cy="118872"/>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pic>
        <p:nvPicPr>
          <p:cNvPr id="15" name="Icône 1" descr="icon_hopital.png"/>
          <p:cNvPicPr>
            <a:picLocks noChangeAspect="1"/>
          </p:cNvPicPr>
          <p:nvPr/>
        </p:nvPicPr>
        <p:blipFill>
          <a:blip r:embed="rId6"/>
          <a:stretch>
            <a:fillRect/>
          </a:stretch>
        </p:blipFill>
        <p:spPr>
          <a:xfrm>
            <a:off x="640080" y="1325880"/>
            <a:ext cx="384048" cy="384048"/>
          </a:xfrm>
          <a:prstGeom prst="rect">
            <a:avLst/>
          </a:prstGeom>
        </p:spPr>
      </p:pic>
      <p:sp>
        <p:nvSpPr>
          <p:cNvPr id="16" name="Carte titre 1"/>
          <p:cNvSpPr txBox="1"/>
          <p:nvPr/>
        </p:nvSpPr>
        <p:spPr>
          <a:xfrm>
            <a:off x="1115568" y="1325880"/>
            <a:ext cx="1810512" cy="384048"/>
          </a:xfrm>
          <a:prstGeom prst="rect">
            <a:avLst/>
          </a:prstGeom>
          <a:noFill/>
        </p:spPr>
        <p:txBody>
          <a:bodyPr wrap="square" lIns="0" rIns="0" tIns="0" bIns="0" anchor="ctr">
            <a:noAutofit/>
          </a:bodyPr>
          <a:lstStyle/>
          <a:p>
            <a:pPr>
              <a:lnSpc>
                <a:spcPct val="112000"/>
              </a:lnSpc>
              <a:spcBef>
                <a:spcPts val="0"/>
              </a:spcBef>
              <a:spcAft>
                <a:spcPts val="0"/>
              </a:spcAft>
            </a:pPr>
            <a:r>
              <a:rPr sz="1100" b="1" lang="fr-FR" cap="none">
                <a:solidFill>
                  <a:srgbClr val="5B0C02"/>
                </a:solidFill>
                <a:latin typeface="Avenir Next LT Pro Light"/>
              </a:rPr>
              <a:t>Séjours ordinaires en clinique</a:t>
            </a:r>
          </a:p>
        </p:txBody>
      </p:sp>
      <p:sp>
        <p:nvSpPr>
          <p:cNvPr id="17" name="Carte quoi 1"/>
          <p:cNvSpPr txBox="1"/>
          <p:nvPr/>
        </p:nvSpPr>
        <p:spPr>
          <a:xfrm>
            <a:off x="640080" y="1828800"/>
            <a:ext cx="2286000"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Médecine, chirurgie, maternité : la facture de la clinique, hors honoraires des médecins.</a:t>
            </a:r>
          </a:p>
        </p:txBody>
      </p:sp>
      <p:sp>
        <p:nvSpPr>
          <p:cNvPr id="18" name="Carte chiffre 1"/>
          <p:cNvSpPr txBox="1"/>
          <p:nvPr/>
        </p:nvSpPr>
        <p:spPr>
          <a:xfrm>
            <a:off x="640080" y="2331720"/>
            <a:ext cx="2286000" cy="329184"/>
          </a:xfrm>
          <a:prstGeom prst="rect">
            <a:avLst/>
          </a:prstGeom>
          <a:noFill/>
        </p:spPr>
        <p:txBody>
          <a:bodyPr wrap="square" lIns="0" rIns="0" tIns="0" bIns="0">
            <a:noAutofit/>
          </a:bodyPr>
          <a:lstStyle/>
          <a:p>
            <a:pPr>
              <a:lnSpc>
                <a:spcPct val="112000"/>
              </a:lnSpc>
              <a:spcBef>
                <a:spcPts val="0"/>
              </a:spcBef>
              <a:spcAft>
                <a:spcPts val="0"/>
              </a:spcAft>
            </a:pPr>
            <a:r>
              <a:rPr sz="1800" b="1" lang="fr-FR" cap="none">
                <a:solidFill>
                  <a:srgbClr val="EF4647"/>
                </a:solidFill>
                <a:latin typeface="Avenir Next LT Pro Light"/>
              </a:rPr>
              <a:t>+2 %</a:t>
            </a:r>
          </a:p>
        </p:txBody>
      </p:sp>
      <p:sp>
        <p:nvSpPr>
          <p:cNvPr id="19" name="Carte légende 1"/>
          <p:cNvSpPr txBox="1"/>
          <p:nvPr/>
        </p:nvSpPr>
        <p:spPr>
          <a:xfrm>
            <a:off x="640080" y="2642615"/>
            <a:ext cx="2286000" cy="182880"/>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808080"/>
                </a:solidFill>
                <a:latin typeface="Avenir Next LT Pro Light"/>
              </a:rPr>
              <a:t>de reste après AMO en 2024</a:t>
            </a:r>
          </a:p>
        </p:txBody>
      </p:sp>
      <p:sp>
        <p:nvSpPr>
          <p:cNvPr id="20" name="Carte verdict 1"/>
          <p:cNvSpPr txBox="1"/>
          <p:nvPr/>
        </p:nvSpPr>
        <p:spPr>
          <a:xfrm>
            <a:off x="640080" y="2862072"/>
            <a:ext cx="2286000" cy="22860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Stable. Le poste de référence.</a:t>
            </a:r>
          </a:p>
        </p:txBody>
      </p:sp>
      <p:pic>
        <p:nvPicPr>
          <p:cNvPr id="22" name="Icône 2" descr="icon_reeduc.png"/>
          <p:cNvPicPr>
            <a:picLocks noChangeAspect="1"/>
          </p:cNvPicPr>
          <p:nvPr/>
        </p:nvPicPr>
        <p:blipFill>
          <a:blip r:embed="rId7"/>
          <a:stretch>
            <a:fillRect/>
          </a:stretch>
        </p:blipFill>
        <p:spPr>
          <a:xfrm>
            <a:off x="3429000" y="1325880"/>
            <a:ext cx="384048" cy="384048"/>
          </a:xfrm>
          <a:prstGeom prst="rect">
            <a:avLst/>
          </a:prstGeom>
        </p:spPr>
      </p:pic>
      <p:sp>
        <p:nvSpPr>
          <p:cNvPr id="23" name="Carte titre 2"/>
          <p:cNvSpPr txBox="1"/>
          <p:nvPr/>
        </p:nvSpPr>
        <p:spPr>
          <a:xfrm>
            <a:off x="3904487" y="1325880"/>
            <a:ext cx="1810512" cy="384048"/>
          </a:xfrm>
          <a:prstGeom prst="rect">
            <a:avLst/>
          </a:prstGeom>
          <a:noFill/>
        </p:spPr>
        <p:txBody>
          <a:bodyPr wrap="square" lIns="0" rIns="0" tIns="0" bIns="0" anchor="ctr">
            <a:noAutofit/>
          </a:bodyPr>
          <a:lstStyle/>
          <a:p>
            <a:pPr>
              <a:lnSpc>
                <a:spcPct val="112000"/>
              </a:lnSpc>
              <a:spcBef>
                <a:spcPts val="0"/>
              </a:spcBef>
              <a:spcAft>
                <a:spcPts val="0"/>
              </a:spcAft>
            </a:pPr>
            <a:r>
              <a:rPr sz="1100" b="1" lang="fr-FR" cap="none">
                <a:solidFill>
                  <a:srgbClr val="5B0C02"/>
                </a:solidFill>
                <a:latin typeface="Avenir Next LT Pro Light"/>
              </a:rPr>
              <a:t>Rééducation</a:t>
            </a:r>
          </a:p>
        </p:txBody>
      </p:sp>
      <p:sp>
        <p:nvSpPr>
          <p:cNvPr id="24" name="Carte quoi 2"/>
          <p:cNvSpPr txBox="1"/>
          <p:nvPr/>
        </p:nvSpPr>
        <p:spPr>
          <a:xfrm>
            <a:off x="3429000" y="1828800"/>
            <a:ext cx="2286000"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Rééducation et convalescence après une opération, un AVC ou un accident.</a:t>
            </a:r>
          </a:p>
        </p:txBody>
      </p:sp>
      <p:sp>
        <p:nvSpPr>
          <p:cNvPr id="25" name="Carte chiffre 2"/>
          <p:cNvSpPr txBox="1"/>
          <p:nvPr/>
        </p:nvSpPr>
        <p:spPr>
          <a:xfrm>
            <a:off x="3429000" y="2331720"/>
            <a:ext cx="2286000" cy="329184"/>
          </a:xfrm>
          <a:prstGeom prst="rect">
            <a:avLst/>
          </a:prstGeom>
          <a:noFill/>
        </p:spPr>
        <p:txBody>
          <a:bodyPr wrap="square" lIns="0" rIns="0" tIns="0" bIns="0">
            <a:noAutofit/>
          </a:bodyPr>
          <a:lstStyle/>
          <a:p>
            <a:pPr>
              <a:lnSpc>
                <a:spcPct val="112000"/>
              </a:lnSpc>
              <a:spcBef>
                <a:spcPts val="0"/>
              </a:spcBef>
              <a:spcAft>
                <a:spcPts val="0"/>
              </a:spcAft>
            </a:pPr>
            <a:r>
              <a:rPr sz="1500" b="1" lang="fr-FR" cap="none">
                <a:solidFill>
                  <a:srgbClr val="EF4647"/>
                </a:solidFill>
                <a:latin typeface="Avenir Next LT Pro Light"/>
              </a:rPr>
              <a:t>+8,5 % puis ≈ +20 %</a:t>
            </a:r>
          </a:p>
        </p:txBody>
      </p:sp>
      <p:sp>
        <p:nvSpPr>
          <p:cNvPr id="26" name="Carte légende 2"/>
          <p:cNvSpPr txBox="1"/>
          <p:nvPr/>
        </p:nvSpPr>
        <p:spPr>
          <a:xfrm>
            <a:off x="3429000" y="2642615"/>
            <a:ext cx="2286000" cy="182880"/>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808080"/>
                </a:solidFill>
                <a:latin typeface="Avenir Next LT Pro Light"/>
              </a:rPr>
              <a:t>de reste après AMO, 2024 puis 2025</a:t>
            </a:r>
          </a:p>
        </p:txBody>
      </p:sp>
      <p:sp>
        <p:nvSpPr>
          <p:cNvPr id="27" name="Carte verdict 2"/>
          <p:cNvSpPr txBox="1"/>
          <p:nvPr/>
        </p:nvSpPr>
        <p:spPr>
          <a:xfrm>
            <a:off x="3429000" y="2862072"/>
            <a:ext cx="2286000" cy="22860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En hausse, surtout avant 50 ans.</a:t>
            </a:r>
          </a:p>
        </p:txBody>
      </p:sp>
      <p:pic>
        <p:nvPicPr>
          <p:cNvPr id="29" name="Icône 3" descr="icon_seringue.png"/>
          <p:cNvPicPr>
            <a:picLocks noChangeAspect="1"/>
          </p:cNvPicPr>
          <p:nvPr/>
        </p:nvPicPr>
        <p:blipFill>
          <a:blip r:embed="rId8"/>
          <a:stretch>
            <a:fillRect/>
          </a:stretch>
        </p:blipFill>
        <p:spPr>
          <a:xfrm>
            <a:off x="6217920" y="1325880"/>
            <a:ext cx="384048" cy="384048"/>
          </a:xfrm>
          <a:prstGeom prst="rect">
            <a:avLst/>
          </a:prstGeom>
        </p:spPr>
      </p:pic>
      <p:sp>
        <p:nvSpPr>
          <p:cNvPr id="30" name="Carte titre 3"/>
          <p:cNvSpPr txBox="1"/>
          <p:nvPr/>
        </p:nvSpPr>
        <p:spPr>
          <a:xfrm>
            <a:off x="6693407" y="1325880"/>
            <a:ext cx="1810512" cy="384048"/>
          </a:xfrm>
          <a:prstGeom prst="rect">
            <a:avLst/>
          </a:prstGeom>
          <a:noFill/>
        </p:spPr>
        <p:txBody>
          <a:bodyPr wrap="square" lIns="0" rIns="0" tIns="0" bIns="0" anchor="ctr">
            <a:noAutofit/>
          </a:bodyPr>
          <a:lstStyle/>
          <a:p>
            <a:pPr>
              <a:lnSpc>
                <a:spcPct val="112000"/>
              </a:lnSpc>
              <a:spcBef>
                <a:spcPts val="0"/>
              </a:spcBef>
              <a:spcAft>
                <a:spcPts val="0"/>
              </a:spcAft>
            </a:pPr>
            <a:r>
              <a:rPr sz="1100" b="1" lang="fr-FR" cap="none">
                <a:solidFill>
                  <a:srgbClr val="5B0C02"/>
                </a:solidFill>
                <a:latin typeface="Avenir Next LT Pro Light"/>
              </a:rPr>
              <a:t>Honoraires d’anesthésie</a:t>
            </a:r>
          </a:p>
        </p:txBody>
      </p:sp>
      <p:sp>
        <p:nvSpPr>
          <p:cNvPr id="31" name="Carte quoi 3"/>
          <p:cNvSpPr txBox="1"/>
          <p:nvPr/>
        </p:nvSpPr>
        <p:spPr>
          <a:xfrm>
            <a:off x="6217920" y="1828800"/>
            <a:ext cx="2286000"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La facture de l’anesthésiste pour une opération en clinique.</a:t>
            </a:r>
          </a:p>
        </p:txBody>
      </p:sp>
      <p:sp>
        <p:nvSpPr>
          <p:cNvPr id="32" name="Carte chiffre 3"/>
          <p:cNvSpPr txBox="1"/>
          <p:nvPr/>
        </p:nvSpPr>
        <p:spPr>
          <a:xfrm>
            <a:off x="6217920" y="2331720"/>
            <a:ext cx="2286000" cy="329184"/>
          </a:xfrm>
          <a:prstGeom prst="rect">
            <a:avLst/>
          </a:prstGeom>
          <a:noFill/>
        </p:spPr>
        <p:txBody>
          <a:bodyPr wrap="square" lIns="0" rIns="0" tIns="0" bIns="0">
            <a:noAutofit/>
          </a:bodyPr>
          <a:lstStyle/>
          <a:p>
            <a:pPr>
              <a:lnSpc>
                <a:spcPct val="112000"/>
              </a:lnSpc>
              <a:spcBef>
                <a:spcPts val="0"/>
              </a:spcBef>
              <a:spcAft>
                <a:spcPts val="0"/>
              </a:spcAft>
            </a:pPr>
            <a:r>
              <a:rPr sz="1800" b="1" lang="fr-FR" cap="none">
                <a:solidFill>
                  <a:srgbClr val="EF4647"/>
                </a:solidFill>
                <a:latin typeface="Avenir Next LT Pro Light"/>
              </a:rPr>
              <a:t>+10 % par an</a:t>
            </a:r>
          </a:p>
        </p:txBody>
      </p:sp>
      <p:sp>
        <p:nvSpPr>
          <p:cNvPr id="33" name="Carte légende 3"/>
          <p:cNvSpPr txBox="1"/>
          <p:nvPr/>
        </p:nvSpPr>
        <p:spPr>
          <a:xfrm>
            <a:off x="6217920" y="2642615"/>
            <a:ext cx="2286000" cy="182880"/>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808080"/>
                </a:solidFill>
                <a:latin typeface="Avenir Next LT Pro Light"/>
              </a:rPr>
              <a:t>de dépassements d’honoraires</a:t>
            </a:r>
          </a:p>
        </p:txBody>
      </p:sp>
      <p:sp>
        <p:nvSpPr>
          <p:cNvPr id="34" name="Carte verdict 3"/>
          <p:cNvSpPr txBox="1"/>
          <p:nvPr/>
        </p:nvSpPr>
        <p:spPr>
          <a:xfrm>
            <a:off x="6217920" y="2862072"/>
            <a:ext cx="2286000" cy="22860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En hausse régulière.</a:t>
            </a:r>
          </a:p>
        </p:txBody>
      </p:sp>
      <p:sp>
        <p:nvSpPr>
          <p:cNvPr id="35" name="Règles titre"/>
          <p:cNvSpPr txBox="1"/>
          <p:nvPr/>
        </p:nvSpPr>
        <p:spPr>
          <a:xfrm>
            <a:off x="457200" y="3429000"/>
            <a:ext cx="4754880" cy="274320"/>
          </a:xfrm>
          <a:prstGeom prst="rect">
            <a:avLst/>
          </a:prstGeom>
          <a:noFill/>
        </p:spPr>
        <p:txBody>
          <a:bodyPr wrap="square" lIns="0" rIns="0" tIns="0" bIns="0">
            <a:noAutofit/>
          </a:bodyPr>
          <a:lstStyle/>
          <a:p>
            <a:pPr>
              <a:lnSpc>
                <a:spcPct val="112000"/>
              </a:lnSpc>
              <a:spcBef>
                <a:spcPts val="0"/>
              </a:spcBef>
              <a:spcAft>
                <a:spcPts val="0"/>
              </a:spcAft>
            </a:pPr>
            <a:r>
              <a:rPr sz="1150" b="1" lang="fr-FR" cap="none">
                <a:solidFill>
                  <a:srgbClr val="5B0C02"/>
                </a:solidFill>
                <a:latin typeface="Avenir Next LT Pro Light"/>
              </a:rPr>
              <a:t>Les règles qui ont changé</a:t>
            </a:r>
          </a:p>
        </p:txBody>
      </p:sp>
      <p:sp>
        <p:nvSpPr>
          <p:cNvPr id="963" name="Pourquoi eux"/>
          <p:cNvSpPr txBox="1"/>
          <p:nvPr/>
        </p:nvSpPr>
        <p:spPr>
          <a:xfrm>
            <a:off x="457200" y="5029200"/>
            <a:ext cx="4754880" cy="274320"/>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808080"/>
                </a:solidFill>
                <a:latin typeface="Avenir Next LT Pro Light"/>
              </a:rPr>
              <a:t>Les autres postes de l’hospitalisation sont stables et pèsent peu, ou ne se lisent pas dans ces données.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frais de séjour de médecine, chirurgie et obstétrique</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8 155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8 833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8 792</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7 823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8 488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8 463</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330</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95,9 %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9 405</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7 785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9 039</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329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366</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extLst>
              <p:ext uri="{D42A27DB-BD31-4B8C-83A1-F6EECF244321}">
                <p14:modId xmlns:p14="http://schemas.microsoft.com/office/powerpoint/2010/main" val="2974560922"/>
              </p:ext>
            </p:extLst>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+2,4 %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2023 et 2024, en année de soins</a:t>
            </a:r>
          </a:p>
        </p:txBody>
      </p:sp>
      <p:sp>
        <p:nvSpPr>
          <p:cNvPr id="9" name="TextBox 8"/>
          <p:cNvSpPr txBox="1"/>
          <p:nvPr/>
        </p:nvSpPr>
        <p:spPr>
          <a:xfrm>
            <a:off x="457200" y="457200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050" b="1" cap="none">
                <a:solidFill>
                  <a:srgbClr val="5B0C02"/>
                </a:solidFill>
                <a:latin typeface="Avenir Next LT Pro Light"/>
              </a:rPr>
              <a:t>En 2024 : volume +2,0 %, dépense moyenne +0,6 %. Pas de bosse de règlement en 2025.</a:t>
            </a:r>
          </a:p>
        </p:txBody>
      </p:sp>
      <p:sp>
        <p:nvSpPr>
          <p:cNvPr id="11" name="TextBox 10"/>
          <p:cNvSpPr txBox="1"/>
          <p:nvPr/>
        </p:nvSpPr>
        <p:spPr>
          <a:xfrm>
            <a:off x="457200" y="4901184"/>
            <a:ext cx="8229600" cy="301752"/>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808080"/>
                </a:solidFill>
                <a:latin typeface="Avenir Next LT Pro Light"/>
              </a:rPr>
              <a:t>Note : 2025 en année de soins observée, liquidée à environ 90 %. Sur les séjours, le reste après AMO est le ticket modérateur. Ce poste ne couvre pas la rééducation, la dialyse ni l’hospitalisation à domicile.</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sz="quarter" idx="13"/>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3 665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4 144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4 315</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3 682</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633</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3 893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4 953</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3 351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4 232</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721</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85,4 %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+33,2 %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2024 et 2025, en date de paiement</a:t>
            </a:r>
          </a:p>
        </p:txBody>
      </p:sp>
      <p:sp>
        <p:nvSpPr>
          <p:cNvPr id="9" name="TextBox 8"/>
          <p:cNvSpPr txBox="1"/>
          <p:nvPr/>
        </p:nvSpPr>
        <p:spPr>
          <a:xfrm>
            <a:off x="457200" y="4553712"/>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050" b="1" cap="none">
                <a:solidFill>
                  <a:srgbClr val="5B0C02"/>
                </a:solidFill>
                <a:latin typeface="Avenir Next LT Pro Light"/>
              </a:rPr>
              <a:t>En année de soins, le reste après AMO augmente de 8,5 % en 2024. En date de paiement, 2025 fait +33 % parce que les factures 2024, retardées par la réforme, s’y ajoutent.</a:t>
            </a:r>
          </a:p>
        </p:txBody>
      </p:sp>
      <p:sp>
        <p:nvSpPr>
          <p:cNvPr id="11" name="TextBox 10"/>
          <p:cNvSpPr txBox="1"/>
          <p:nvPr/>
        </p:nvSpPr>
        <p:spPr>
          <a:xfrm>
            <a:off x="457200" y="4992624"/>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808080"/>
                </a:solidFill>
                <a:latin typeface="Avenir Next LT Pro Light"/>
              </a:rPr>
              <a:t>Note : Niveaux de dépense 2023 et 2024 non comparables (réforme). * 2025 observée, liquidée à environ 90 %, non redressée. À maturité, reste après AMO de +20 à +27 % en 2025.</a:t>
            </a:r>
          </a:p>
        </p:txBody>
      </p:sp>
      <p:sp>
        <p:nvSpPr>
          <p:cNvPr id="12" name="TextBox 11"/>
          <p:cNvSpPr txBox="1"/>
          <p:nvPr/>
        </p:nvSpPr>
        <p:spPr>
          <a:xfrm>
            <a:off x="457200" y="5458968"/>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55664" y="1764792"/>
            <a:ext cx="2231136" cy="448056"/>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0–49 ans</a:t>
            </a:r>
          </a:p>
          <a:p>
            <a:pPr>
              <a:lnSpc>
                <a:spcPct val="112000"/>
              </a:lnSpc>
              <a:spcBef>
                <a:spcPts val="0"/>
              </a:spcBef>
              <a:spcAft>
                <a:spcPts val="0"/>
              </a:spcAft>
            </a:pPr>
            <a:r>
              <a:rPr lang="fr-FR" sz="1100" b="0"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237744">
                <a:tc>
                  <a:txBody>
                    <a:bodyPr/>
                    <a:lstStyle/>
                    <a:p>
                      <a:pPr algn="l">
                        <a:lnSpc>
                          <a:spcPct val="100000"/>
                        </a:lnSpc>
                        <a:spcBef>
                          <a:spcPts val="0"/>
                        </a:spcBef>
                        <a:spcAft>
                          <a:spcPts val="0"/>
                        </a:spcAft>
                      </a:pPr>
                      <a:r>
                        <a:rPr lang="fr-FR" sz="900" b="1">
                          <a:solidFill>
                            <a:srgbClr val="404040"/>
                          </a:solidFill>
                          <a:latin typeface="Avenir Next LT Pro Light"/>
                        </a:rPr>
                        <a:t>En M€</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0–19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20–29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30–39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40–49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50–59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60–69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70–79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80 +</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13,7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15,9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29,6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92,1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141,0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186,2</a:t>
                      </a:r>
                    </a:p>
                  </a:txBody>
                  <a:tcPr marL="64008" marR="64008" marT="22860" marB="22860" anchor="ctr">
                    <a:solidFill>
                      <a:srgbClr val="FFFFFF"/>
                    </a:solidFill>
                  </a:tcPr>
                </a:tc>
                <a:extLst>
                  <a:ext uri="{0D108BD9-81ED-4DB2-BD59-A6C34878D82A}">
                    <a16:rowId xmlns:a16="http://schemas.microsoft.com/office/drawing/2014/main" val="10001"/>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31,3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30,6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48,2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78,0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94,2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127,9</a:t>
                      </a:r>
                    </a:p>
                  </a:txBody>
                  <a:tcPr marL="64008" marR="64008" marT="22860" marB="22860" anchor="ctr">
                    <a:solidFill>
                      <a:srgbClr val="FFFFFF"/>
                    </a:solidFill>
                  </a:tcPr>
                </a:tc>
                <a:extLst>
                  <a:ext uri="{0D108BD9-81ED-4DB2-BD59-A6C34878D82A}">
                    <a16:rowId xmlns:a16="http://schemas.microsoft.com/office/drawing/2014/main" val="10002"/>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67,8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102,0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128,3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114,6</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457200" y="5065776"/>
            <a:ext cx="8229600" cy="29260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808080"/>
                </a:solidFill>
                <a:latin typeface="Avenir Next LT Pro Light"/>
              </a:rPr>
              <a:t>Note :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honoraires d’anesthésie (95 % du poste)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27685">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1 322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1 398</a:t>
                      </a:r>
                    </a:p>
                  </a:txBody>
                  <a:tcPr marL="64008" marR="64008" marT="22860" marB="22860" anchor="ctr">
                    <a:solidFill>
                      <a:srgbClr val="FFFFFF"/>
                    </a:solidFill>
                  </a:tcPr>
                </a:tc>
                <a:extLst>
                  <a:ext uri="{0D108BD9-81ED-4DB2-BD59-A6C34878D82A}">
                    <a16:rowId xmlns:a16="http://schemas.microsoft.com/office/drawing/2014/main" val="1000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899</a:t>
                      </a:r>
                    </a:p>
                  </a:txBody>
                  <a:tcPr marL="64008" marR="64008" marT="22860" marB="22860" anchor="ctr">
                    <a:solidFill>
                      <a:srgbClr val="FFFFFF"/>
                    </a:solidFill>
                  </a:tcPr>
                </a:tc>
                <a:extLst>
                  <a:ext uri="{0D108BD9-81ED-4DB2-BD59-A6C34878D82A}">
                    <a16:rowId xmlns:a16="http://schemas.microsoft.com/office/drawing/2014/main" val="10003"/>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499</a:t>
                      </a:r>
                    </a:p>
                  </a:txBody>
                  <a:tcPr marL="64008" marR="64008" marT="22860" marB="22860" anchor="ctr">
                    <a:solidFill>
                      <a:srgbClr val="FFFFFF"/>
                    </a:solidFill>
                  </a:tcPr>
                </a:tc>
                <a:extLst>
                  <a:ext uri="{0D108BD9-81ED-4DB2-BD59-A6C34878D82A}">
                    <a16:rowId xmlns:a16="http://schemas.microsoft.com/office/drawing/2014/main" val="10004"/>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498</a:t>
                      </a:r>
                    </a:p>
                  </a:txBody>
                  <a:tcPr marL="64008" marR="64008" marT="22860" marB="22860" anchor="ctr">
                    <a:solidFill>
                      <a:srgbClr val="FFFFFF"/>
                    </a:solidFill>
                  </a:tcPr>
                </a:tc>
                <a:extLst>
                  <a:ext uri="{0D108BD9-81ED-4DB2-BD59-A6C34878D82A}">
                    <a16:rowId xmlns:a16="http://schemas.microsoft.com/office/drawing/2014/main" val="10005"/>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65,3 %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64,3 %</a:t>
                      </a:r>
                    </a:p>
                  </a:txBody>
                  <a:tcPr marL="64008" marR="64008" marT="22860" marB="22860" anchor="ctr">
                    <a:solidFill>
                      <a:srgbClr val="FFFFFF"/>
                    </a:solidFill>
                  </a:tcPr>
                </a:tc>
                <a:extLst>
                  <a:ext uri="{0D108BD9-81ED-4DB2-BD59-A6C34878D82A}">
                    <a16:rowId xmlns:a16="http://schemas.microsoft.com/office/drawing/2014/main" val="10006"/>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35,7 %</a:t>
                      </a:r>
                    </a:p>
                  </a:txBody>
                  <a:tcPr marL="64008" marR="64008" marT="22860" marB="22860" anchor="ctr">
                    <a:solidFill>
                      <a:srgbClr val="FFFFFF"/>
                    </a:solidFill>
                  </a:tcPr>
                </a:tc>
                <a:extLst>
                  <a:ext uri="{0D108BD9-81ED-4DB2-BD59-A6C34878D82A}">
                    <a16:rowId xmlns:a16="http://schemas.microsoft.com/office/drawing/2014/main" val="10007"/>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8"/>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1 478</a:t>
                      </a:r>
                    </a:p>
                  </a:txBody>
                  <a:tcPr marL="64008" marR="64008" marT="22860" marB="22860" anchor="ctr">
                    <a:solidFill>
                      <a:srgbClr val="FFFFFF"/>
                    </a:solidFill>
                  </a:tcPr>
                </a:tc>
                <a:extLst>
                  <a:ext uri="{0D108BD9-81ED-4DB2-BD59-A6C34878D82A}">
                    <a16:rowId xmlns:a16="http://schemas.microsoft.com/office/drawing/2014/main" val="10009"/>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954</a:t>
                      </a:r>
                    </a:p>
                  </a:txBody>
                  <a:tcPr marL="64008" marR="64008" marT="22860" marB="22860" anchor="ctr">
                    <a:solidFill>
                      <a:srgbClr val="FFFFFF"/>
                    </a:solidFill>
                  </a:tcPr>
                </a:tc>
                <a:extLst>
                  <a:ext uri="{0D108BD9-81ED-4DB2-BD59-A6C34878D82A}">
                    <a16:rowId xmlns:a16="http://schemas.microsoft.com/office/drawing/2014/main" val="10010"/>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524</a:t>
                      </a:r>
                    </a:p>
                  </a:txBody>
                  <a:tcPr marL="64008" marR="64008" marT="22860" marB="22860" anchor="ctr">
                    <a:solidFill>
                      <a:srgbClr val="FFFFFF"/>
                    </a:solidFill>
                  </a:tcPr>
                </a:tc>
                <a:extLst>
                  <a:ext uri="{0D108BD9-81ED-4DB2-BD59-A6C34878D82A}">
                    <a16:rowId xmlns:a16="http://schemas.microsoft.com/office/drawing/2014/main" val="1001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523</a:t>
                      </a:r>
                    </a:p>
                  </a:txBody>
                  <a:tcPr marL="64008" marR="64008" marT="22860" marB="22860" anchor="ctr">
                    <a:solidFill>
                      <a:srgbClr val="FFFFFF"/>
                    </a:solidFill>
                  </a:tcPr>
                </a:tc>
                <a:extLst>
                  <a:ext uri="{0D108BD9-81ED-4DB2-BD59-A6C34878D82A}">
                    <a16:rowId xmlns:a16="http://schemas.microsoft.com/office/drawing/2014/main" val="1001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69,2 %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64,5 %</a:t>
                      </a:r>
                    </a:p>
                  </a:txBody>
                  <a:tcPr marL="64008" marR="64008" marT="22860" marB="22860" anchor="ctr">
                    <a:solidFill>
                      <a:srgbClr val="FFFFFF"/>
                    </a:solidFill>
                  </a:tcPr>
                </a:tc>
                <a:extLst>
                  <a:ext uri="{0D108BD9-81ED-4DB2-BD59-A6C34878D82A}">
                    <a16:rowId xmlns:a16="http://schemas.microsoft.com/office/drawing/2014/main" val="10013"/>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34,5 %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35,4 %</a:t>
                      </a:r>
                    </a:p>
                  </a:txBody>
                  <a:tcPr marL="64008" marR="64008" marT="22860" marB="22860" anchor="ctr">
                    <a:solidFill>
                      <a:srgbClr val="FFFFFF"/>
                    </a:solidFill>
                  </a:tcPr>
                </a:tc>
                <a:extLst>
                  <a:ext uri="{0D108BD9-81ED-4DB2-BD59-A6C34878D82A}">
                    <a16:rowId xmlns:a16="http://schemas.microsoft.com/office/drawing/2014/main" val="10014"/>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+10,0 %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des dépassements entre 2024 et 2025, en date de paiement</a:t>
            </a:r>
          </a:p>
        </p:txBody>
      </p:sp>
      <p:sp>
        <p:nvSpPr>
          <p:cNvPr id="9" name="TextBox 8"/>
          <p:cNvSpPr txBox="1"/>
          <p:nvPr/>
        </p:nvSpPr>
        <p:spPr>
          <a:xfrm>
            <a:off x="457200" y="4654296"/>
            <a:ext cx="8229600" cy="274320"/>
          </a:xfrm>
          <a:prstGeom prst="rect">
            <a:avLst/>
          </a:prstGeom>
          <a:noFill/>
        </p:spPr>
        <p:txBody>
          <a:bodyPr wrap="square" lIns="0" tIns="0" rIns="0" bIns="0">
            <a:noAutofit/>
          </a:bodyPr>
          <a:lstStyle/>
          <a:p>
            <a:pPr>
              <a:lnSpc>
                <a:spcPct val="100000"/>
              </a:lnSpc>
              <a:spcBef>
                <a:spcPts val="0"/>
              </a:spcBef>
              <a:spcAft>
                <a:spcPts val="0"/>
              </a:spcAft>
            </a:pPr>
            <a:r>
              <a:rPr lang="fr-FR" sz="1050" b="1" dirty="0">
                <a:solidFill>
                  <a:srgbClr val="5B0C02"/>
                </a:solidFill>
                <a:latin typeface="Avenir Next LT Pro Light"/>
              </a:rPr>
              <a:t>En 2024, le nombre d'actes n'augmente que de 1,1 %, mais les dépassements progressent de 9 à 13 % dans chaque tranche d'âge =&gt; ce sont les tarifs pratiqués qui montent, pas le nombre d'opérations..</a:t>
            </a:r>
          </a:p>
        </p:txBody>
      </p:sp>
      <p:sp>
        <p:nvSpPr>
          <p:cNvPr id="11" name="TextBox 10"/>
          <p:cNvSpPr txBox="1"/>
          <p:nvPr/>
        </p:nvSpPr>
        <p:spPr>
          <a:xfrm>
            <a:off x="457200" y="5056632"/>
            <a:ext cx="8229600" cy="283464"/>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808080"/>
                </a:solidFill>
                <a:latin typeface="Avenir Next LT Pro Light"/>
              </a:rPr>
              <a:t>Note : 2025 en année de soins observée, liquidée à environ 94 %. À maturité, reste après AMO de 532 M€ (+10,8 %). Les honoraires de chirurgie sont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Une hausse réelle sur deux postes, sans effet du ROC visible dans ces données</a:t>
            </a:r>
          </a:p>
        </p:txBody>
      </p:sp>
      <p:graphicFrame>
        <p:nvGraphicFramePr>
          <p:cNvPr id="4" name="Table 3"/>
          <p:cNvGraphicFramePr>
            <a:graphicFrameLocks noGrp="1"/>
          </p:cNvGraphicFramePr>
          <p:nvPr>
            <p:extLst>
              <p:ext uri="{D42A27DB-BD31-4B8C-83A1-F6EECF244321}">
                <p14:modId xmlns:p14="http://schemas.microsoft.com/office/powerpoint/2010/main" val="3699683725"/>
              </p:ext>
            </p:extLst>
          </p:nvPr>
        </p:nvGraphicFramePr>
        <p:xfrm>
          <a:off x="457200" y="1097280"/>
          <a:ext cx="8229600" cy="2029968"/>
        </p:xfrm>
        <a:graphic>
          <a:graphicData uri="http://schemas.openxmlformats.org/drawingml/2006/table">
            <a:tbl>
              <a:tblPr>
                <a:tableStyleId>{5C22544A-7EE6-4342-B048-85BDC9FD1C3A}</a:tableStyleId>
              </a:tblPr>
              <a:tblGrid>
                <a:gridCol w="1938528">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2770632">
                  <a:extLst>
                    <a:ext uri="{9D8B030D-6E8A-4147-A177-3AD203B41FA5}">
                      <a16:colId xmlns:a16="http://schemas.microsoft.com/office/drawing/2014/main" val="20002"/>
                    </a:ext>
                  </a:extLst>
                </a:gridCol>
              </a:tblGrid>
              <a:tr h="292608">
                <a:tc>
                  <a:txBody>
                    <a:bodyPr/>
                    <a:lstStyle/>
                    <a:p>
                      <a:pPr algn="l">
                        <a:lnSpc>
                          <a:spcPct val="100000"/>
                        </a:lnSpc>
                        <a:spcBef>
                          <a:spcPts val="0"/>
                        </a:spcBef>
                        <a:spcAft>
                          <a:spcPts val="0"/>
                        </a:spcAft>
                      </a:pPr>
                      <a:r>
                        <a:rPr lang="fr-FR" sz="1050" b="1">
                          <a:solidFill>
                            <a:srgbClr val="404040"/>
                          </a:solidFill>
                          <a:latin typeface="Avenir Next LT Pro Light"/>
                        </a:rPr>
                        <a:t>Poste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Constat 2022 à 2025</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Lecture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Séjours ordinaires en clinique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Reste après AMO +2 % en 2024, sans effet de calendrier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Pas de dérive</a:t>
                      </a:r>
                    </a:p>
                  </a:txBody>
                  <a:tcPr marL="64008" marR="64008" marT="22860" marB="22860" anchor="ctr">
                    <a:solidFill>
                      <a:srgbClr val="FFFFFF"/>
                    </a:solidFill>
                  </a:tcPr>
                </a:tc>
                <a:extLst>
                  <a:ext uri="{0D108BD9-81ED-4DB2-BD59-A6C34878D82A}">
                    <a16:rowId xmlns:a16="http://schemas.microsoft.com/office/drawing/2014/main" val="10001"/>
                  </a:ext>
                </a:extLst>
              </a:tr>
              <a:tr h="502920">
                <a:tc>
                  <a:txBody>
                    <a:bodyPr/>
                    <a:lstStyle/>
                    <a:p>
                      <a:pPr algn="l">
                        <a:lnSpc>
                          <a:spcPct val="100000"/>
                        </a:lnSpc>
                        <a:spcBef>
                          <a:spcPts val="0"/>
                        </a:spcBef>
                        <a:spcAft>
                          <a:spcPts val="0"/>
                        </a:spcAft>
                      </a:pPr>
                      <a:r>
                        <a:rPr lang="fr-FR" sz="1000" b="0">
                          <a:solidFill>
                            <a:srgbClr val="404040"/>
                          </a:solidFill>
                          <a:latin typeface="Avenir Next LT Pro Light"/>
                        </a:rPr>
                        <a:t>Rééducation</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Reste après AMO +8,5 % en 2024, environ +20 % en 2025, surtout chez les moins de 50 ans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Hausse réelle, liée à la réforme de 2024</a:t>
                      </a:r>
                    </a:p>
                  </a:txBody>
                  <a:tcPr marL="64008" marR="64008" marT="22860" marB="22860" anchor="ctr">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Honoraires d’anesthésie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dirty="0">
                          <a:solidFill>
                            <a:srgbClr val="404040"/>
                          </a:solidFill>
                          <a:latin typeface="Avenir Next LT Pro Light"/>
                        </a:rPr>
                        <a:t>Dépassements +10 % par an, en date de soins comme en date de paiement</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Hausse réelle et régulière</a:t>
                      </a:r>
                    </a:p>
                  </a:txBody>
                  <a:tcPr marL="64008" marR="64008" marT="22860" marB="22860"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ROC</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Déployé en 2025 dans les hôpitaux publics, dont les séjours sont hors de ces données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Effet non mesurable ici</a:t>
                      </a:r>
                    </a:p>
                  </a:txBody>
                  <a:tcPr marL="64008" marR="64008" marT="22860" marB="22860"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457200" y="3337560"/>
            <a:ext cx="8229600" cy="256032"/>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En résumé</a:t>
            </a:r>
          </a:p>
        </p:txBody>
      </p:sp>
      <p:sp>
        <p:nvSpPr>
          <p:cNvPr id="6" name="TextBox 5"/>
          <p:cNvSpPr txBox="1"/>
          <p:nvPr/>
        </p:nvSpPr>
        <p:spPr>
          <a:xfrm>
            <a:off x="457200" y="3611880"/>
            <a:ext cx="8229600" cy="1463040"/>
          </a:xfrm>
          <a:prstGeom prst="rect">
            <a:avLst/>
          </a:prstGeom>
          <a:noFill/>
        </p:spPr>
        <p:txBody>
          <a:bodyPr wrap="square" lIns="0" tIns="0" rIns="0" bIns="0">
            <a:noAutofit/>
          </a:bodyPr>
          <a:lstStyle/>
          <a:p>
            <a:pPr>
              <a:lnSpc>
                <a:spcPct val="112000"/>
              </a:lnSpc>
              <a:spcBef>
                <a:spcPts val="0"/>
              </a:spcBef>
              <a:spcAft>
                <a:spcPts val="600"/>
              </a:spcAft>
            </a:pPr>
            <a:r>
              <a:rPr sz="1050" b="0" lang="fr-FR" cap="none">
                <a:solidFill>
                  <a:srgbClr val="404040"/>
                </a:solidFill>
                <a:latin typeface="Avenir Next LT Pro Light"/>
              </a:rPr>
              <a:t>La hausse de ce qui reste à payer après l’Assurance Maladie est réelle, mais elle se concentre sur deux postes : les dépassements d’honoraires en anesthésie et le ticket modérateur en rééducation. Elle est visible depuis 2023 et ne dépend pas du ROC.</a:t>
            </a:r>
          </a:p>
          <a:p>
            <a:pPr>
              <a:lnSpc>
                <a:spcPct val="112000"/>
              </a:lnSpc>
              <a:spcBef>
                <a:spcPts val="0"/>
              </a:spcBef>
              <a:spcAft>
                <a:spcPts val="600"/>
              </a:spcAft>
            </a:pPr>
            <a:r>
              <a:rPr sz="1050" b="0" lang="fr-FR" cap="none">
                <a:solidFill>
                  <a:srgbClr val="404040"/>
                </a:solidFill>
                <a:latin typeface="Avenir Next LT Pro Light"/>
              </a:rPr>
              <a:t>Le ROC ne change pas les soins, il change le moment où les factures arrivent. En 2025, il concerne les hôpitaux publics, dont les séjours ne figurent pas dans ces données, et le rythme de remboursement de l’Assurance Maladie n’a pas varié. Son effet ne peut donc pas être mesuré ici. S’il existe, il s’ajoute à cette hausse sous la forme d’un décalage de facturation, à lire dans les comptes d’une complémentaire en comparant la date des soins et la date du paiement.</a:t>
            </a:r>
          </a:p>
        </p:txBody>
      </p:sp>
      <p:sp>
        <p:nvSpPr>
          <p:cNvPr id="7" name="TextBox 6"/>
          <p:cNvSpPr txBox="1"/>
          <p:nvPr/>
        </p:nvSpPr>
        <p:spPr>
          <a:xfrm>
            <a:off x="457200" y="5138928"/>
            <a:ext cx="8229600" cy="274320"/>
          </a:xfrm>
          <a:prstGeom prst="rect">
            <a:avLst/>
          </a:prstGeom>
          <a:noFill/>
        </p:spPr>
        <p:txBody>
          <a:bodyPr wrap="square" lIns="0" tIns="0" rIns="0" bIns="0">
            <a:noAutofit/>
          </a:bodyPr>
          <a:lstStyle/>
          <a:p>
            <a:pPr>
              <a:lnSpc>
                <a:spcPct val="112000"/>
              </a:lnSpc>
              <a:spcBef>
                <a:spcPts val="0"/>
              </a:spcBef>
              <a:spcAft>
                <a:spcPts val="0"/>
              </a:spcAft>
            </a:pPr>
            <a:r>
              <a:rPr sz="850" b="0" lang="fr-FR" cap="none">
                <a:solidFill>
                  <a:srgbClr val="808080"/>
                </a:solidFill>
                <a:latin typeface="Avenir Next LT Pro Light"/>
              </a:rPr>
              <a:t>Limites : ces données ne donnent ni la part du ROC en euros, ni les séjours de l’hôpital public, ni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0BA603A-71B9-440C-B1B9-F2383059DB44}">
  <ds:schemaRefs>
    <ds:schemaRef ds:uri="http://schemas.microsoft.com/sharepoint/v3/contenttype/forms"/>
  </ds:schemaRefs>
</ds:datastoreItem>
</file>

<file path=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3938</TotalTime>
  <Words>2166</Words>
  <Application>Microsoft Office PowerPoint</Application>
  <PresentationFormat>Affichage à l'écran (16:10)</PresentationFormat>
  <Paragraphs>353</Paragraphs>
  <Slides>10</Slides>
  <Notes>10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10</vt:i4>
      </vt:variant>
    </vt:vector>
  </HeadingPairs>
  <TitlesOfParts>
    <vt:vector size="18"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DAMIR : le périmètre de l’étude</vt:lpstr>
      <vt:lpstr>ROC : la facturation de la part complémentaire</vt:lpstr>
      <vt:lpstr>Trois postes, et les règles qui ont changé</vt:lpstr>
      <vt:lpstr>Séjours ordinaires : une hausse modérée</vt:lpstr>
      <vt:lpstr>Rééducation : hausse et rattrapage</vt:lpstr>
      <vt:lpstr>Rééducation : un déplacement vers les moins de 60 ans</vt:lpstr>
      <vt:lpstr>Anesthésie : les dépassements augmentent</vt:lpstr>
      <vt:lpstr>Conclusion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subject>Analyse par poste des remboursements AMO 2022–2025</dc:subject>
  <dc:creator>Forsides</dc:creator>
  <cp:keywords>Hospitalisation, Open DAMIR, ROC, SSR, SMR, anesthésie</cp:keywords>
  <cp:lastModifiedBy>Simon MALAURENT</cp:lastModifiedBy>
  <cp:revision>62</cp:revision>
  <dcterms:created xsi:type="dcterms:W3CDTF">2024-05-03T13:43:52Z</dcterms:created>
  <dcterms:modified xsi:type="dcterms:W3CDTF">2026-09-21T07:21:15Z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