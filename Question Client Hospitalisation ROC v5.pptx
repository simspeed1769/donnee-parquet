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66928">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473 établissements facturent via ROC, soit 58 % d’entre 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11480">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20040">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7" name="TextBox 6"/>
          <p:cNvSpPr txBox="1"/>
          <p:nvPr/>
        </p:nvSpPr>
        <p:spPr>
          <a:xfrm>
            <a:off x="457200" y="4443984"/>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882896"/>
            <a:ext cx="3977639" cy="27432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Rejets de factures rapportés par les complémentaires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dont les séjours ne sont pas dans DAMIR.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578608"/>
        </p:xfrm>
        <a:graphic>
          <a:graphicData uri="http://schemas.openxmlformats.org/drawingml/2006/table">
            <a:tbl>
              <a:tblPr>
                <a:tableStyleId>{5C22544A-7EE6-4342-B048-85BDC9FD1C3A}</a:tableStyleId>
              </a:tblPr>
              <a:tblGrid>
                <a:gridCol w="914400"/>
                <a:gridCol w="3822191"/>
              </a:tblGrid>
              <a:tr h="265176">
                <a:tc>
                  <a:txBody>
                    <a:bodyPr/>
                    <a:lstStyle/>
                    <a:p>
                      <a:pPr algn="l">
                        <a:lnSpc>
                          <a:spcPct val="100000"/>
                        </a:lnSpc>
                        <a:spcBef>
                          <a:spcPts val="0"/>
                        </a:spcBef>
                        <a:spcAft>
                          <a:spcPts val="0"/>
                        </a:spcAft>
                      </a:pPr>
                      <a:r>
                        <a:rPr sz="100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530352">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des SMR</a:t>
                      </a:r>
                    </a:p>
                    <a:p>
                      <a:pPr algn="l">
                        <a:lnSpc>
                          <a:spcPct val="100000"/>
                        </a:lnSpc>
                        <a:spcBef>
                          <a:spcPts val="0"/>
                        </a:spcBef>
                        <a:spcAft>
                          <a:spcPts val="0"/>
                        </a:spcAft>
                      </a:pPr>
                      <a:r>
                        <a:rPr sz="1000" b="0" lang="fr-FR">
                          <a:solidFill>
                            <a:srgbClr val="404040"/>
                          </a:solidFill>
                          <a:latin typeface="Avenir Next LT Pro Light"/>
                        </a:rPr>
                        <a:t>Nouveaux tarifs et codes, facturation retardée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a:t>
                      </a:r>
                    </a:p>
                    <a:p>
                      <a:pPr algn="l">
                        <a:lnSpc>
                          <a:spcPct val="100000"/>
                        </a:lnSpc>
                        <a:spcBef>
                          <a:spcPts val="0"/>
                        </a:spcBef>
                        <a:spcAft>
                          <a:spcPts val="0"/>
                        </a:spcAft>
                      </a:pPr>
                      <a:r>
                        <a:rPr sz="1000" b="0" lang="fr-FR">
                          <a:solidFill>
                            <a:srgbClr val="404040"/>
                          </a:solidFill>
                          <a:latin typeface="Avenir Next LT Pro Light"/>
                        </a:rPr>
                        <a:t>et participations forfaitaires</a:t>
                      </a:r>
                    </a:p>
                  </a:txBody>
                  <a:tcPr marL="64008" marR="64008" marT="22860" marB="22860" anchor="ctr">
                    <a:solidFill>
                      <a:srgbClr val="FFFFFF"/>
                    </a:solidFill>
                    <a:lnL w="0">
                      <a:noFill/>
                    </a:lnL>
                    <a:lnR w="0">
                      <a:noFill/>
                    </a:lnR>
                    <a:lnT w="0">
                      <a:noFill/>
                    </a:lnT>
                    <a:lnB w="0">
                      <a:noFill/>
                    </a:lnB>
                  </a:tcPr>
                </a:tc>
              </a:tr>
              <a:tr h="539496">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(2251) : dépense</a:t>
                      </a:r>
                    </a:p>
                    <a:p>
                      <a:pPr algn="l">
                        <a:lnSpc>
                          <a:spcPct val="100000"/>
                        </a:lnSpc>
                        <a:spcBef>
                          <a:spcPts val="0"/>
                        </a:spcBef>
                        <a:spcAft>
                          <a:spcPts val="0"/>
                        </a:spcAft>
                      </a:pPr>
                      <a:r>
                        <a:rPr sz="1000" b="0" lang="fr-FR">
                          <a:solidFill>
                            <a:srgbClr val="404040"/>
                          </a:solidFill>
                          <a:latin typeface="Avenir Next LT Pro Light"/>
                        </a:rPr>
                        <a:t>non enregistrée, cause non documentée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Codes 4243–4247 sans libellé local</a:t>
                      </a:r>
                    </a:p>
                    <a:p>
                      <a:pPr algn="l">
                        <a:lnSpc>
                          <a:spcPct val="100000"/>
                        </a:lnSpc>
                        <a:spcBef>
                          <a:spcPts val="0"/>
                        </a:spcBef>
                        <a:spcAft>
                          <a:spcPts val="0"/>
                        </a:spcAft>
                      </a:pPr>
                      <a:r>
                        <a:rPr sz="1000" b="0" lang="fr-FR">
                          <a:solidFill>
                            <a:srgbClr val="404040"/>
                          </a:solidFill>
                          <a:latin typeface="Avenir Next LT Pro Light"/>
                        </a:rPr>
                        <a:t>262 M€ de prestations nouvelles</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61872"/>
        </p:xfrm>
        <a:graphic>
          <a:graphicData uri="http://schemas.openxmlformats.org/drawingml/2006/table">
            <a:tbl>
              <a:tblPr>
                <a:tableStyleId>{5C22544A-7EE6-4342-B048-85BDC9FD1C3A}</a:tableStyleId>
              </a:tblPr>
              <a:tblGrid>
                <a:gridCol w="1728216"/>
                <a:gridCol w="740664"/>
                <a:gridCol w="740664"/>
              </a:tblGrid>
              <a:tr h="301752">
                <a:tc>
                  <a:txBody>
                    <a:bodyPr/>
                    <a:lstStyle/>
                    <a:p>
                      <a:pPr algn="l">
                        <a:lnSpc>
                          <a:spcPct val="100000"/>
                        </a:lnSpc>
                        <a:spcBef>
                          <a:spcPts val="0"/>
                        </a:spcBef>
                        <a:spcAft>
                          <a:spcPts val="0"/>
                        </a:spcAft>
                      </a:pPr>
                      <a:r>
                        <a:rPr sz="950" b="1" lang="fr-FR">
                          <a:solidFill>
                            <a:srgbClr val="404040"/>
                          </a:solidFill>
                          <a:latin typeface="Avenir Next LT Pro Light"/>
                        </a:rPr>
                        <a:t>Part réglée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52928"/>
            <a:ext cx="3209544" cy="13258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Lecture : sur 100 € de soins d’une année, part déjà remboursée par l’Assurance Maladie au 31 décembre de la même année. Stable pour les séjours et l’anesthésie. La rééducation ralentit en 2024, ses factures ayant été retardées par la réforme. Côté AMO, aucune accélération : celle qu’une complémentaire observe lui est propre.</a:t>
            </a:r>
          </a:p>
        </p:txBody>
      </p:sp>
      <p:sp>
        <p:nvSpPr>
          <p:cNvPr id="10" name="TextBox 9"/>
          <p:cNvSpPr txBox="1"/>
          <p:nvPr/>
        </p:nvSpPr>
        <p:spPr>
          <a:xfrm>
            <a:off x="457200" y="4297680"/>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l’agrégat « Hospitalisation » trompe</a:t>
            </a:r>
          </a:p>
        </p:txBody>
      </p:sp>
      <p:sp>
        <p:nvSpPr>
          <p:cNvPr id="11" name="TextBox 10"/>
          <p:cNvSpPr txBox="1"/>
          <p:nvPr/>
        </p:nvSpPr>
        <p:spPr>
          <a:xfrm>
            <a:off x="457200" y="4553712"/>
            <a:ext cx="8229600" cy="768096"/>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Lu en bloc, le grand poste affiche une part de l’Assurance Maladie qui monte (85,5 % en 2023, 87,6 % en 2024, 93,1 % en 2025). Ce n’est pas une meilleure prise en charge mais deux changements de comptabilisation. En 2024, la réforme SMR crée une dotation aux cliniques de rééducation, remboursée à 100 % (1,3 Md€). Depuis novembre 2024, le forfait journalier n’apparaît plus dans les dépenses du fichier alors que sa part remboursée y reste. Sans ces deux postes, la part AMO est stable (91,5 % puis 91,6 %), et la DREES la voit même baisser dans le privé (−0,6 point).</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r>
              <a:t>Cliniques, code 2111 : frais d’hébergement et environnement en GHS</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87368"/>
            <a:ext cx="1755648"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année de soins, 2024</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année de soins : observée, liquidée à ~90 %. Le reste après AMO approche ici le ticket modérateur.</a:t>
            </a:r>
          </a:p>
          <a:p>
            <a:pPr>
              <a:lnSpc>
                <a:spcPct val="112000"/>
              </a:lnSpc>
              <a:spcBef>
                <a:spcPts val="0"/>
              </a:spcBef>
              <a:spcAft>
                <a:spcPts val="0"/>
              </a:spcAft>
            </a:pPr>
            <a:r>
              <a:rPr sz="850" b="0" lang="fr-FR" cap="none">
                <a:solidFill>
                  <a:srgbClr val="404040"/>
                </a:solidFill>
                <a:latin typeface="Avenir Next LT Pro Light"/>
              </a:rPr>
              <a:t>Le code 2111 ne représente pas tous les séjours. Les montants arrondis peuvent créer un écart de 1 M€.</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Le reste après AMO augmente de 8,5 % en soins en 2024. Le règlement 2025 rattrape les retards.</a:t>
            </a:r>
          </a:p>
        </p:txBody>
      </p:sp>
      <p:sp>
        <p:nvSpPr>
          <p:cNvPr id="10" name="TextBox 9"/>
          <p:cNvSpPr txBox="1"/>
          <p:nvPr/>
        </p:nvSpPr>
        <p:spPr>
          <a:xfrm>
            <a:off x="457200" y="4846320"/>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56632"/>
            <a:ext cx="8229600" cy="310896"/>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Niveaux de dépense 2023/2024 non comparables (réforme). * 2025 observée, liquidée à ~90 %, non redressée.</a:t>
            </a:r>
          </a:p>
          <a:p>
            <a:pPr>
              <a:lnSpc>
                <a:spcPct val="112000"/>
              </a:lnSpc>
              <a:spcBef>
                <a:spcPts val="0"/>
              </a:spcBef>
              <a:spcAft>
                <a:spcPts val="0"/>
              </a:spcAft>
            </a:pPr>
            <a:r>
              <a:rPr sz="850" b="0" lang="fr-FR" cap="none">
                <a:solidFill>
                  <a:srgbClr val="404040"/>
                </a:solidFill>
                <a:latin typeface="Avenir Next LT Pro Light"/>
              </a:rPr>
              <a:t>À maturité : reste après AMO +20 à +27 % en 2025, sous hypothèse de liquidation de 84–89 %.</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r>
              <a:t>Poste « Hospitalisation Honoraires », dominé à ~95 % par l’anesthésie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Dépassements</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soins : observée, liquidée à ~94 %. À maturité : reste après AMO 532 M€ (+10,8 %), observé ÷ 93,9 %.</a:t>
            </a:r>
          </a:p>
          <a:p>
            <a:pPr>
              <a:lnSpc>
                <a:spcPct val="112000"/>
              </a:lnSpc>
              <a:spcBef>
                <a:spcPts val="0"/>
              </a:spcBef>
              <a:spcAft>
                <a:spcPts val="0"/>
              </a:spcAft>
            </a:pPr>
            <a:r>
              <a:rPr sz="850" b="0" lang="fr-FR" cap="none">
                <a:solidFill>
                  <a:srgbClr val="404040"/>
                </a:solidFill>
                <a:latin typeface="Avenir Next LT Pro Light"/>
              </a:rPr>
              <a:t>La chirurgie (code 1321) est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313432"/>
        </p:xfrm>
        <a:graphic>
          <a:graphicData uri="http://schemas.openxmlformats.org/drawingml/2006/table">
            <a:tbl>
              <a:tblPr>
                <a:tableStyleId>{5C22544A-7EE6-4342-B048-85BDC9FD1C3A}</a:tableStyleId>
              </a:tblPr>
              <a:tblGrid>
                <a:gridCol w="1938528"/>
                <a:gridCol w="3520440"/>
                <a:gridCol w="2770632"/>
              </a:tblGrid>
              <a:tr h="274320">
                <a:tc>
                  <a:txBody>
                    <a:bodyPr/>
                    <a:lstStyle/>
                    <a:p>
                      <a:pPr algn="l">
                        <a:lnSpc>
                          <a:spcPct val="100000"/>
                        </a:lnSpc>
                        <a:spcBef>
                          <a:spcPts val="0"/>
                        </a:spcBef>
                        <a:spcAft>
                          <a:spcPts val="0"/>
                        </a:spcAft>
                      </a:pPr>
                      <a:r>
                        <a:rPr sz="1000" b="1" lang="fr-FR">
                          <a:solidFill>
                            <a:srgbClr val="404040"/>
                          </a:solidFill>
                          <a:latin typeface="Avenir Next LT Pro Light"/>
                        </a:rPr>
                        <a:t>Poste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Lecture</a:t>
                      </a:r>
                    </a:p>
                  </a:txBody>
                  <a:tcPr marL="64008" marR="64008" marT="22860" marB="22860" anchor="ctr">
                    <a:solidFill>
                      <a:srgbClr val="BFBFBF">
                        <a:lumMod val="18000"/>
                        <a:lumOff val="82000"/>
                      </a:srgbClr>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 (code 2111)</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Honoraires d’anesthésie (code 1323)</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Dépassements +10 % par an, dans les deux datations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Dérive de sinistralité, indépendante du ROC</a:t>
                      </a:r>
                    </a:p>
                  </a:txBody>
                  <a:tcPr marL="64008" marR="64008" marT="22860" marB="22860" anchor="ctr">
                    <a:solidFill>
                      <a:srgbClr val="FFFFFF"/>
                    </a:solidFill>
                    <a:lnL w="0">
                      <a:noFill/>
                    </a:lnL>
                    <a:lnR w="0">
                      <a:noFill/>
                    </a:lnR>
                    <a:lnT w="0">
                      <a:noFill/>
                    </a:lnT>
                    <a:lnB w="0">
                      <a:noFill/>
                    </a:lnB>
                  </a:tcPr>
                </a:tc>
              </a:tr>
              <a:tr h="502920">
                <a:tc>
                  <a:txBody>
                    <a:bodyPr/>
                    <a:lstStyle/>
                    <a:p>
                      <a:pPr algn="l">
                        <a:lnSpc>
                          <a:spcPct val="100000"/>
                        </a:lnSpc>
                        <a:spcBef>
                          <a:spcPts val="0"/>
                        </a:spcBef>
                        <a:spcAft>
                          <a:spcPts val="0"/>
                        </a:spcAft>
                      </a:pPr>
                      <a:r>
                        <a:rPr sz="950" b="0" lang="fr-FR">
                          <a:solidFill>
                            <a:srgbClr val="404040"/>
                          </a:solidFill>
                          <a:latin typeface="Avenir Next LT Pro Light"/>
                        </a:rPr>
                        <a:t>Séjours de rééducation (SSR, SMR)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Rééducation, factures 2024 payées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+33 %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propre aux cliniques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Déployé dans le public en 2025,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possible, non mesurable dans DAMIR</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703320"/>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Réponse à la question posée</a:t>
            </a:r>
          </a:p>
        </p:txBody>
      </p:sp>
      <p:sp>
        <p:nvSpPr>
          <p:cNvPr id="6" name="TextBox 5"/>
          <p:cNvSpPr txBox="1"/>
          <p:nvPr/>
        </p:nvSpPr>
        <p:spPr>
          <a:xfrm>
            <a:off x="457200" y="3977639"/>
            <a:ext cx="8229600" cy="11430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Au vu de ces données, la dégradation d’une garantie hospitalisation s’explique d’abord par une dérive de la sinistralité, établie sur deux postes : les dépassements d’honoraires d’anesthésie et le reste après AMO des séjours de rééducation. Ces hausses précèdent le ROC et n’en dépendent pas. Aucun lien avec le ROC n’apparaît ici : en 2025 il concerne l’hôpital public, absent d’Open DAMIR, et la cadence de paiement de l’Assurance Maladie n’a pas varié. S’il produit un effet, c’est un décalage de calendrier qui s’ajoute à cette dérive, et qui ne se lit que sur les flux d’une complémentaire, en comparant date de soins et date de paiement.</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