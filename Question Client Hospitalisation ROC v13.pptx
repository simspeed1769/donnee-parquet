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64" autoAdjust="0"/>
  </p:normalViewPr>
  <p:slideViewPr>
    <p:cSldViewPr snapToGrid="0">
      <p:cViewPr varScale="1">
        <p:scale>
          <a:sx n="100" d="100"/>
          <a:sy n="100"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5B0C02"/>
                </a:solidFill>
                <a:latin typeface="Avenir Next LT Pro Light"/>
              </a:rPr>
              <a:t>En 2025, le ROC joue à l’hôpital public, dont les séjours ne sont pas dans </a:t>
            </a:r>
            <a:r>
              <a:rPr lang="fr-FR" sz="950" dirty="0">
                <a:solidFill>
                  <a:srgbClr val="5B0C02"/>
                </a:solidFill>
                <a:latin typeface="Avenir Next LT Pro Light"/>
              </a:rPr>
              <a:t>DAMIR (DAMIR ne contient que les séjours des cliniques privées). Son </a:t>
            </a:r>
            <a:r>
              <a:rPr lang="fr-FR" sz="950" b="0" cap="none" dirty="0">
                <a:solidFill>
                  <a:srgbClr val="5B0C02"/>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Trois postes, et les règles qui ont changé</a:t>
            </a:r>
          </a:p>
        </p:txBody>
      </p:sp>
      <p:sp>
        <p:nvSpPr>
          <p:cNvPr id="3" name="Text Placeholder 2"/>
          <p:cNvSpPr>
            <a:spLocks noGrp="1"/>
          </p:cNvSpPr>
          <p:nvPr>
            <p:ph type="body" sz="quarter" idx="13"/>
          </p:nvPr>
        </p:nvSpPr>
        <p:spPr>
          <a:xfrm>
            <a:off x="466344" y="612648"/>
            <a:ext cx="6766560" cy="292608"/>
          </a:xfrm>
        </p:spPr>
        <p:txBody>
          <a:bodyPr/>
          <a:lstStyle/>
          <a:p>
            <a:r>
              <a:t>Pourquoi ces trois postes, et ce qui déforme la lecture de 2024 et 2025</a:t>
            </a:r>
          </a:p>
        </p:txBody>
      </p:sp>
      <p:sp>
        <p:nvSpPr>
          <p:cNvPr id="4" name="TextBox 3"/>
          <p:cNvSpPr txBox="1"/>
          <p:nvPr/>
        </p:nvSpPr>
        <p:spPr>
          <a:xfrm>
            <a:off x="5486400" y="1097280"/>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Les règles qui ont changé</a:t>
            </a:r>
          </a:p>
        </p:txBody>
      </p:sp>
      <p:graphicFrame>
        <p:nvGraphicFramePr>
          <p:cNvPr id="5" name="Table 4"/>
          <p:cNvGraphicFramePr>
            <a:graphicFrameLocks noGrp="1"/>
          </p:cNvGraphicFramePr>
          <p:nvPr>
            <p:extLst>
              <p:ext uri="{D42A27DB-BD31-4B8C-83A1-F6EECF244321}">
                <p14:modId xmlns:p14="http://schemas.microsoft.com/office/powerpoint/2010/main" val="3283350094"/>
              </p:ext>
            </p:extLst>
          </p:nvPr>
        </p:nvGraphicFramePr>
        <p:xfrm>
          <a:off x="5486400" y="1417320"/>
          <a:ext cx="3200400" cy="1819656"/>
        </p:xfrm>
        <a:graphic>
          <a:graphicData uri="http://schemas.openxmlformats.org/drawingml/2006/table">
            <a:tbl>
              <a:tblPr>
                <a:tableStyleId>{5C22544A-7EE6-4342-B048-85BDC9FD1C3A}</a:tableStyleId>
              </a:tblPr>
              <a:tblGrid>
                <a:gridCol w="77724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274320">
                <a:tc>
                  <a:txBody>
                    <a:bodyPr/>
                    <a:lstStyle/>
                    <a:p>
                      <a:pPr algn="l">
                        <a:lnSpc>
                          <a:spcPct val="100000"/>
                        </a:lnSpc>
                        <a:spcBef>
                          <a:spcPts val="0"/>
                        </a:spcBef>
                        <a:spcAft>
                          <a:spcPts val="0"/>
                        </a:spcAft>
                      </a:pPr>
                      <a:r>
                        <a:rPr lang="fr-FR" sz="1050" b="1">
                          <a:solidFill>
                            <a:srgbClr val="404040"/>
                          </a:solidFill>
                          <a:latin typeface="Avenir Next LT Pro Light"/>
                        </a:rPr>
                        <a:t>Date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Ce qui change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01/2024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Réforme de la facturation des cliniques de rééducation : nouveaux tarifs, factures en retard</a:t>
                      </a:r>
                    </a:p>
                  </a:txBody>
                  <a:tcPr marL="64008" marR="64008" marT="22860" marB="22860" anchor="ctr">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Franchises et participations forfaitaires doublées (1 € par boîte, 2 € par consultation)</a:t>
                      </a:r>
                    </a:p>
                  </a:txBody>
                  <a:tcPr marL="64008" marR="64008" marT="22860" marB="22860" anchor="ctr">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11/2024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Le forfait journalier disparaît des dépenses de la base</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486400" y="3429000"/>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730752"/>
          <a:ext cx="3200400" cy="1024128"/>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782312"/>
            <a:ext cx="3200400" cy="566928"/>
          </a:xfrm>
          <a:prstGeom prst="rect">
            <a:avLst/>
          </a:prstGeom>
          <a:noFill/>
        </p:spPr>
        <p:txBody>
          <a:bodyPr wrap="square" lIns="0" tIns="0" rIns="0" bIns="0">
            <a:noAutofit/>
          </a:bodyPr>
          <a:lstStyle/>
          <a:p>
            <a:pPr>
              <a:lnSpc>
                <a:spcPct val="112000"/>
              </a:lnSpc>
              <a:spcBef>
                <a:spcPts val="0"/>
              </a:spcBef>
              <a:spcAft>
                <a:spcPts val="0"/>
              </a:spcAft>
            </a:pPr>
            <a:r>
              <a:rPr sz="900" b="0" lang="fr-FR" cap="none">
                <a:solidFill>
                  <a:srgbClr val="404040"/>
                </a:solidFill>
                <a:latin typeface="Avenir Next LT Pro Light"/>
              </a:rPr>
              <a:t>Part des soins d’une année remboursée au 31 décembre. Stable pour les séjours et l’anesthésie, ralentie en 2024 pour la rééducation (réforme). Aucune accélération côté Assurance Maladie.</a:t>
            </a:r>
          </a:p>
        </p:txBody>
      </p:sp>
      <p:sp>
        <p:nvSpPr>
          <p:cNvPr id="10" name="TextBox 9"/>
          <p:cNvSpPr txBox="1"/>
          <p:nvPr/>
        </p:nvSpPr>
        <p:spPr>
          <a:xfrm>
            <a:off x="457200" y="1097280"/>
            <a:ext cx="475488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Les trois postes suivis, et pourquoi</a:t>
            </a:r>
          </a:p>
        </p:txBody>
      </p:sp>
      <p:sp>
        <p:nvSpPr>
          <p:cNvPr id="11" name="TextBox 10"/>
          <p:cNvSpPr txBox="1"/>
          <p:nvPr/>
        </p:nvSpPr>
        <p:spPr>
          <a:xfrm>
            <a:off x="457200" y="1463040"/>
            <a:ext cx="4754880" cy="3840480"/>
          </a:xfrm>
          <a:prstGeom prst="rect">
            <a:avLst/>
          </a:prstGeom>
          <a:noFill/>
        </p:spPr>
        <p:txBody>
          <a:bodyPr wrap="square" lIns="0" tIns="0" rIns="0" bIns="0">
            <a:noAutofit/>
          </a:bodyPr>
          <a:lstStyle/>
          <a:p>
            <a:pPr>
              <a:lnSpc>
                <a:spcPct val="112000"/>
              </a:lnSpc>
              <a:spcBef>
                <a:spcPts val="0"/>
              </a:spcBef>
              <a:spcAft>
                <a:spcPts val="900"/>
              </a:spcAft>
            </a:pPr>
            <a:r>
              <a:rPr sz="1050" b="1" lang="fr-FR" cap="none">
                <a:solidFill>
                  <a:srgbClr val="5B0C02"/>
                </a:solidFill>
                <a:latin typeface="Avenir Next LT Pro Light"/>
              </a:rPr>
              <a:t>Séjours ordinaires en clinique. </a:t>
            </a:r>
            <a:r>
              <a:rPr sz="1050" b="0" lang="fr-FR" cap="none">
                <a:solidFill>
                  <a:srgbClr val="404040"/>
                </a:solidFill>
                <a:latin typeface="Avenir Next LT Pro Light"/>
              </a:rPr>
              <a:t>Ce que la clinique facture pour un séjour de médecine, de chirurgie ou de maternité : l’hébergement, le bloc, les soins, sans les honoraires des médecins. C’est le poste le plus lourd, 9 milliards d’euros par an. Ce que l’Assurance Maladie laisse à payer y bouge à peine (+2 % en 2024). Il sert de repère : c’est le comportement normal d’un poste hospitalier, et si une garantie se dégrade, ce n’est pas là.</a:t>
            </a:r>
          </a:p>
          <a:p>
            <a:pPr>
              <a:lnSpc>
                <a:spcPct val="112000"/>
              </a:lnSpc>
              <a:spcBef>
                <a:spcPts val="0"/>
              </a:spcBef>
              <a:spcAft>
                <a:spcPts val="900"/>
              </a:spcAft>
            </a:pPr>
            <a:r>
              <a:rPr sz="1050" b="1" lang="fr-FR" cap="none">
                <a:solidFill>
                  <a:srgbClr val="5B0C02"/>
                </a:solidFill>
                <a:latin typeface="Avenir Next LT Pro Light"/>
              </a:rPr>
              <a:t>Rééducation. </a:t>
            </a:r>
            <a:r>
              <a:rPr sz="1050" b="0" lang="fr-FR" cap="none">
                <a:solidFill>
                  <a:srgbClr val="404040"/>
                </a:solidFill>
                <a:latin typeface="Avenir Next LT Pro Light"/>
              </a:rPr>
              <a:t>Les séjours en clinique de rééducation ou de convalescence après une opération, un AVC ou un accident (les SSR, renommés SMR). Ce reste à payer y monte depuis 2024 (+8,5 %, puis environ +20 %) et change de patients. Ce poste a aussi sa propre réforme de facturation, qui brouille les chiffres de 2024 et de 2025.</a:t>
            </a:r>
          </a:p>
          <a:p>
            <a:pPr>
              <a:lnSpc>
                <a:spcPct val="112000"/>
              </a:lnSpc>
              <a:spcBef>
                <a:spcPts val="0"/>
              </a:spcBef>
              <a:spcAft>
                <a:spcPts val="900"/>
              </a:spcAft>
            </a:pPr>
            <a:r>
              <a:rPr sz="1050" b="1" lang="fr-FR" cap="none">
                <a:solidFill>
                  <a:srgbClr val="5B0C02"/>
                </a:solidFill>
                <a:latin typeface="Avenir Next LT Pro Light"/>
              </a:rPr>
              <a:t>Honoraires d’anesthésie. </a:t>
            </a:r>
            <a:r>
              <a:rPr sz="1050" b="0" lang="fr-FR" cap="none">
                <a:solidFill>
                  <a:srgbClr val="404040"/>
                </a:solidFill>
                <a:latin typeface="Avenir Next LT Pro Light"/>
              </a:rPr>
              <a:t>Ce que l’anesthésiste facture pour endormir et surveiller le patient pendant une opération en clinique. C’est le seul poste d’honoraires classé dans l’hospitalisation, et le seul où des dépassements apparaissent. Ils augmentent chaque année, à tous les âges.</a:t>
            </a:r>
          </a:p>
          <a:p>
            <a:pPr>
              <a:lnSpc>
                <a:spcPct val="112000"/>
              </a:lnSpc>
              <a:spcBef>
                <a:spcPts val="0"/>
              </a:spcBef>
              <a:spcAft>
                <a:spcPts val="900"/>
              </a:spcAft>
            </a:pPr>
            <a:r>
              <a:rPr sz="1050" b="1" lang="fr-FR" cap="none">
                <a:solidFill>
                  <a:srgbClr val="5B0C02"/>
                </a:solidFill>
                <a:latin typeface="Avenir Next LT Pro Light"/>
              </a:rPr>
              <a:t>Hors du champ de l’étude. </a:t>
            </a:r>
            <a:r>
              <a:rPr sz="1050" b="0" lang="fr-FR" cap="none">
                <a:solidFill>
                  <a:srgbClr val="404040"/>
                </a:solidFill>
                <a:latin typeface="Avenir Next LT Pro Light"/>
              </a:rPr>
              <a:t>Le forfait journalier (les 20 € par jour d’hôpital) et la chambre particulière ne sont pas lisibles dans ces données. La dialyse et l’hospitalisation à domicile sont stables et pèsent peu.</a:t>
            </a:r>
          </a:p>
        </p:txBody>
      </p:sp>
      <p:sp>
        <p:nvSpPr>
          <p:cNvPr id="12" name="TextBox 11"/>
          <p:cNvSpPr txBox="1"/>
          <p:nvPr/>
        </p:nvSpPr>
        <p:spPr>
          <a:xfrm>
            <a:off x="457200" y="5376672"/>
            <a:ext cx="813816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2297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5029200"/>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1 398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64,3 %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35,7 %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1 478</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954</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64,5 %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35,4 %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74320">
                <a:tc>
                  <a:txBody>
                    <a:bodyPr/>
                    <a:lstStyle/>
                    <a:p>
                      <a:pPr algn="l">
                        <a:lnSpc>
                          <a:spcPct val="100000"/>
                        </a:lnSpc>
                        <a:spcBef>
                          <a:spcPts val="0"/>
                        </a:spcBef>
                        <a:spcAft>
                          <a:spcPts val="0"/>
                        </a:spcAft>
                      </a:pPr>
                      <a:r>
                        <a:rPr lang="fr-FR" sz="100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Observation 2022–2025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Dérive de sinistralité, indépendante du ROC</a:t>
                      </a:r>
                    </a:p>
                  </a:txBody>
                  <a:tcPr marL="64008" marR="64008" marT="22860" marB="22860" anchor="ctr">
                    <a:solidFill>
                      <a:srgbClr val="FFFFFF"/>
                    </a:solidFill>
                  </a:tcPr>
                </a:tc>
                <a:extLst>
                  <a:ext uri="{0D108BD9-81ED-4DB2-BD59-A6C34878D82A}">
                    <a16:rowId xmlns:a16="http://schemas.microsoft.com/office/drawing/2014/main" val="10002"/>
                  </a:ext>
                </a:extLst>
              </a:tr>
              <a:tr h="502920">
                <a:tc>
                  <a:txBody>
                    <a:bodyPr/>
                    <a:lstStyle/>
                    <a:p>
                      <a:pPr algn="l">
                        <a:lnSpc>
                          <a:spcPct val="100000"/>
                        </a:lnSpc>
                        <a:spcBef>
                          <a:spcPts val="0"/>
                        </a:spcBef>
                        <a:spcAft>
                          <a:spcPts val="0"/>
                        </a:spcAft>
                      </a:pPr>
                      <a:r>
                        <a:rPr lang="fr-FR" sz="950" b="0">
                          <a:solidFill>
                            <a:srgbClr val="404040"/>
                          </a:solidFill>
                          <a:latin typeface="Avenir Next LT Pro Light"/>
                        </a:rPr>
                        <a:t>Séjours de rééducation (SSR, SMR)</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Hausse réelle, née de la réforme SMR de 2024</a:t>
                      </a:r>
                    </a:p>
                  </a:txBody>
                  <a:tcPr marL="64008" marR="64008" marT="22860" marB="22860"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Bef>
                          <a:spcPts val="0"/>
                        </a:spcBef>
                        <a:spcAft>
                          <a:spcPts val="0"/>
                        </a:spcAft>
                      </a:pPr>
                      <a:r>
                        <a:rPr lang="fr-FR" sz="950" b="0">
                          <a:solidFill>
                            <a:srgbClr val="404040"/>
                          </a:solidFill>
                          <a:latin typeface="Avenir Next LT Pro Light"/>
                        </a:rPr>
                        <a:t>Rééducation, factures 2024 payées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+33 % en date de paiement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tcPr>
                </a:tc>
                <a:extLst>
                  <a:ext uri="{0D108BD9-81ED-4DB2-BD59-A6C34878D82A}">
                    <a16:rowId xmlns:a16="http://schemas.microsoft.com/office/drawing/2014/main" val="10004"/>
                  </a:ext>
                </a:extLst>
              </a:tr>
              <a:tr h="411480">
                <a:tc>
                  <a:txBody>
                    <a:bodyPr/>
                    <a:lstStyle/>
                    <a:p>
                      <a:pPr algn="l">
                        <a:lnSpc>
                          <a:spcPct val="100000"/>
                        </a:lnSpc>
                        <a:spcBef>
                          <a:spcPts val="0"/>
                        </a:spcBef>
                        <a:spcAft>
                          <a:spcPts val="0"/>
                        </a:spcAft>
                      </a:pPr>
                      <a:r>
                        <a:rPr lang="fr-FR" sz="95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possible, non mesurable dans DAMIR</a:t>
                      </a:r>
                    </a:p>
                  </a:txBody>
                  <a:tcPr marL="64008" marR="64008"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376732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0BA603A-71B9-440C-B1B9-F2383059DB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3887</TotalTime>
  <Words>2051</Words>
  <Application>Microsoft Office PowerPoint</Application>
  <PresentationFormat>Affichage à l'écran (16:10)</PresentationFormat>
  <Paragraphs>341</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Les ruptures à prendre en compte</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60</cp:revision>
  <dcterms:created xsi:type="dcterms:W3CDTF">2024-05-03T13:43:52Z</dcterms:created>
  <dcterms:modified xsi:type="dcterms:W3CDTF">2026-09-21T05:50:32Z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