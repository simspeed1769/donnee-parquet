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ustomXml/itemProps1.xml" ContentType="application/vnd.openxmlformats-officedocument.customXmlProperties+xml"/>
  <Override PartName="/ppt/customXml/itemProps2.xml" ContentType="application/vnd.openxmlformats-officedocument.customXmlProperties+xml"/>
  <Override PartName="/ppt/customXml/itemProps3.xml" ContentType="application/vnd.openxmlformats-officedocument.customXml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
  </p:notesMasterIdLst>
  <p:sldIdLst>
    <p:sldId id="11533" r:id="rId5"/>
    <p:sldId id="11534" r:id="rId9"/>
    <p:sldId id="11535" r:id="rId8"/>
    <p:sldId id="11536" r:id="rId7"/>
    <p:sldId id="11537" r:id="rId6"/>
    <p:sldId id="11538" r:id="rId17"/>
    <p:sldId id="11539" r:id="rId18"/>
    <p:sldId id="11540" r:id="rId19"/>
    <p:sldId id="11541" r:id="rId20"/>
    <p:sldId id="11530" r:id="rId10"/>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64" autoAdjust="0"/>
  </p:normalViewPr>
  <p:slideViewPr>
    <p:cSldViewPr snapToGrid="0">
      <p:cViewPr varScale="1">
        <p:scale>
          <a:sx n="116" d="100"/>
          <a:sy n="116" d="100"/>
        </p:scale>
        <p:origin x="15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0.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4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1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8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2023</c:v>
                </c:pt>
              </c:strCache>
            </c:strRef>
          </c:tx>
          <c:spPr>
            <a:solidFill>
              <a:srgbClr val="A5B6C5"/>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8.2</c:v>
                </c:pt>
                <c:pt idx="1">
                  <c:v>13.7</c:v>
                </c:pt>
                <c:pt idx="2">
                  <c:v>15.9</c:v>
                </c:pt>
                <c:pt idx="3">
                  <c:v>29.6</c:v>
                </c:pt>
                <c:pt idx="4">
                  <c:v>59.4</c:v>
                </c:pt>
                <c:pt idx="5">
                  <c:v>92.1</c:v>
                </c:pt>
                <c:pt idx="6">
                  <c:v>141.0</c:v>
                </c:pt>
                <c:pt idx="7">
                  <c:v>186.2</c:v>
                </c:pt>
              </c:numCache>
            </c:numRef>
          </c:val>
        </c:ser>
        <c:ser>
          <c:idx val="1"/>
          <c:order val="1"/>
          <c:tx>
            <c:strRef>
              <c:f>Sheet1!$C$1</c:f>
              <c:strCache>
                <c:ptCount val="1"/>
                <c:pt idx="0">
                  <c:v>2024</c:v>
                </c:pt>
              </c:strCache>
            </c:strRef>
          </c:tx>
          <c:spPr>
            <a:solidFill>
              <a:srgbClr val="EF4647"/>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78.0</c:v>
                </c:pt>
                <c:pt idx="5">
                  <c:v>94.2</c:v>
                </c:pt>
                <c:pt idx="6">
                  <c:v>124.6</c:v>
                </c:pt>
                <c:pt idx="7">
                  <c:v>127.9</c:v>
                </c:pt>
              </c:numCache>
            </c:numRef>
          </c:val>
        </c:ser>
        <c:ser>
          <c:idx val="2"/>
          <c:order val="2"/>
          <c:tx>
            <c:strRef>
              <c:f>Sheet1!$D$1</c:f>
              <c:strCache>
                <c:ptCount val="1"/>
                <c:pt idx="0">
                  <c:v>2025*</c:v>
                </c:pt>
              </c:strCache>
            </c:strRef>
          </c:tx>
          <c:spPr>
            <a:solidFill>
              <a:srgbClr val="5B0C02"/>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88.0</c:v>
                </c:pt>
                <c:pt idx="5">
                  <c:v>102.0</c:v>
                </c:pt>
                <c:pt idx="6">
                  <c:v>128.3</c:v>
                </c:pt>
                <c:pt idx="7">
                  <c:v>114.6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2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5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6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ppt/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ppt/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ppt/customXml/item1.xml><?xml version="1.0" encoding="utf-8"?>
<?mso-contentType ?>
<FormTemplates xmlns="http://schemas.microsoft.com/sharepoint/v3/contenttype/forms">
  <Display>DocumentLibraryForm</Display>
  <Edit>DocumentLibraryForm</Edit>
  <New>DocumentLibraryForm</New>
</FormTemplates>
</file>

<file path=ppt/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ppt/customXml/item3.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ppt/customXml/itemProps1.xml><?xml version="1.0" encoding="utf-8"?>
<ds:datastoreItem xmlns:ds="http://schemas.openxmlformats.org/officeDocument/2006/customXml" ds:itemID="{00BA603A-71B9-440C-B1B9-F2383059DB44}">
  <ds:schemaRefs>
    <ds:schemaRef ds:uri="http://schemas.microsoft.com/sharepoint/v3/contenttype/forms"/>
  </ds:schemaRefs>
</ds:datastoreItem>
</file>

<file path=ppt/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ppt/customXml/itemProps3.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18/09/2026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idx="13" sz="quarter"/>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gridCol w="4114800"/>
              </a:tblGrid>
              <a:tr h="292608">
                <a:tc>
                  <a:txBody>
                    <a:bodyPr/>
                    <a:lstStyle/>
                    <a:p>
                      <a:pPr algn="l">
                        <a:lnSpc>
                          <a:spcPct val="100000"/>
                        </a:lnSpc>
                        <a:spcBef>
                          <a:spcPts val="0"/>
                        </a:spcBef>
                        <a:spcAft>
                          <a:spcPts val="0"/>
                        </a:spcAft>
                      </a:pPr>
                      <a:r>
                        <a:rPr sz="1100" b="1" lang="fr-FR">
                          <a:solidFill>
                            <a:srgbClr val="404040"/>
                          </a:solidFill>
                          <a:latin typeface="Avenir Next LT Pro Light"/>
                        </a:rPr>
                        <a:t>Ce que DAMIR contient</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100" b="1" lang="fr-FR">
                          <a:solidFill>
                            <a:srgbClr val="404040"/>
                          </a:solidFill>
                          <a:latin typeface="Avenir Next LT Pro Light"/>
                        </a:rPr>
                        <a:t>Ce que DAMIR ne contient pas</a:t>
                      </a:r>
                    </a:p>
                  </a:txBody>
                  <a:tcPr marL="64008" marR="64008" marT="22860" marB="22860" anchor="ctr">
                    <a:solidFill>
                      <a:srgbClr val="BFBFBF">
                        <a:lumMod val="18000"/>
                        <a:lumOff val="82000"/>
                      </a:srgbClr>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Soins de ville et séjours en clinique</a:t>
                      </a:r>
                    </a:p>
                    <a:p>
                      <a:pPr algn="l">
                        <a:lnSpc>
                          <a:spcPct val="100000"/>
                        </a:lnSpc>
                        <a:spcBef>
                          <a:spcPts val="0"/>
                        </a:spcBef>
                        <a:spcAft>
                          <a:spcPts val="0"/>
                        </a:spcAft>
                      </a:pPr>
                      <a:r>
                        <a:rPr sz="1100" b="0" lang="fr-FR">
                          <a:solidFill>
                            <a:srgbClr val="404040"/>
                          </a:solidFill>
                          <a:latin typeface="Avenir Next LT Pro Light"/>
                        </a:rPr>
                        <a:t>Dépense, remboursement AMO, dépassements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Séjours de l’hôpital public</a:t>
                      </a:r>
                    </a:p>
                    <a:p>
                      <a:pPr algn="l">
                        <a:lnSpc>
                          <a:spcPct val="100000"/>
                        </a:lnSpc>
                        <a:spcBef>
                          <a:spcPts val="0"/>
                        </a:spcBef>
                        <a:spcAft>
                          <a:spcPts val="0"/>
                        </a:spcAft>
                      </a:pPr>
                      <a:r>
                        <a:rPr sz="1100" b="0" lang="fr-FR">
                          <a:solidFill>
                            <a:srgbClr val="404040"/>
                          </a:solidFill>
                          <a:latin typeface="Avenir Next LT Pro Light"/>
                        </a:rPr>
                        <a:t>Chambre particulière, part payée par la complémentaire</a:t>
                      </a:r>
                    </a:p>
                  </a:txBody>
                  <a:tcPr marL="64008" marR="64008" marT="22860" marB="22860" anchor="ctr">
                    <a:solidFill>
                      <a:srgbClr val="FFFFFF"/>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Mois de soins, prestation, région, âge, sexe,</a:t>
                      </a:r>
                    </a:p>
                    <a:p>
                      <a:pPr algn="l">
                        <a:lnSpc>
                          <a:spcPct val="100000"/>
                        </a:lnSpc>
                        <a:spcBef>
                          <a:spcPts val="0"/>
                        </a:spcBef>
                        <a:spcAft>
                          <a:spcPts val="0"/>
                        </a:spcAft>
                      </a:pPr>
                      <a:r>
                        <a:rPr sz="1100" b="0" lang="fr-FR">
                          <a:solidFill>
                            <a:srgbClr val="404040"/>
                          </a:solidFill>
                          <a:latin typeface="Avenir Next LT Pro Light"/>
                        </a:rPr>
                        <a:t>nature d’assurance et ALD</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Établissement identifié</a:t>
                      </a:r>
                    </a:p>
                    <a:p>
                      <a:pPr algn="l">
                        <a:lnSpc>
                          <a:spcPct val="100000"/>
                        </a:lnSpc>
                        <a:spcBef>
                          <a:spcPts val="0"/>
                        </a:spcBef>
                        <a:spcAft>
                          <a:spcPts val="0"/>
                        </a:spcAft>
                      </a:pPr>
                      <a:r>
                        <a:rPr sz="1100" b="0" lang="fr-FR">
                          <a:solidFill>
                            <a:srgbClr val="404040"/>
                          </a:solidFill>
                          <a:latin typeface="Avenir Next LT Pro Light"/>
                        </a:rPr>
                        <a:t>Statut ROC ou non ROC</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457200" y="3639312"/>
            <a:ext cx="38404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sz="950" b="0" lang="fr-FR"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idx="13" sz="quarter"/>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rIns="0" tIns="0" bIns="0">
            <a:noAutofit/>
          </a:bodyPr>
          <a:lstStyle/>
          <a:p>
            <a:pPr>
              <a:lnSpc>
                <a:spcPct val="112000"/>
              </a:lnSpc>
              <a:spcBef>
                <a:spcPts val="0"/>
              </a:spcBef>
              <a:spcAft>
                <a:spcPts val="0"/>
              </a:spcAft>
            </a:pPr>
            <a:r>
              <a:rPr sz="1200" b="0" lang="fr-FR"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gridCol w="3611880"/>
                <a:gridCol w="3355848"/>
              </a:tblGrid>
              <a:tr h="292608">
                <a:tc>
                  <a:txBody>
                    <a:bodyPr/>
                    <a:lstStyle/>
                    <a:p>
                      <a:pPr algn="l">
                        <a:lnSpc>
                          <a:spcPct val="100000"/>
                        </a:lnSpc>
                        <a:spcBef>
                          <a:spcPts val="0"/>
                        </a:spcBef>
                        <a:spcAft>
                          <a:spcPts val="0"/>
                        </a:spcAft>
                      </a:pPr>
                      <a:r>
                        <a:rPr sz="1050" b="1" lang="fr-FR">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sz="1050" b="1" lang="fr-FR">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sz="1050" b="1" lang="fr-FR">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r>
              <a:tr h="384048">
                <a:tc>
                  <a:txBody>
                    <a:bodyPr/>
                    <a:lstStyle/>
                    <a:p>
                      <a:pPr algn="l">
                        <a:lnSpc>
                          <a:spcPct val="100000"/>
                        </a:lnSpc>
                        <a:spcBef>
                          <a:spcPts val="0"/>
                        </a:spcBef>
                        <a:spcAft>
                          <a:spcPts val="0"/>
                        </a:spcAft>
                      </a:pPr>
                      <a:r>
                        <a:rPr sz="1000" b="0" lang="fr-FR">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66928">
                <a:tc>
                  <a:txBody>
                    <a:bodyPr/>
                    <a:lstStyle/>
                    <a:p>
                      <a:pPr algn="l">
                        <a:lnSpc>
                          <a:spcPct val="100000"/>
                        </a:lnSpc>
                        <a:spcBef>
                          <a:spcPts val="0"/>
                        </a:spcBef>
                        <a:spcAft>
                          <a:spcPts val="0"/>
                        </a:spcAft>
                      </a:pPr>
                      <a:r>
                        <a:rPr sz="1000" b="0" lang="fr-FR">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473 hôpitaux et ESPIC facturent via ROC, un peu plus d’un sur deux.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411480">
                <a:tc>
                  <a:txBody>
                    <a:bodyPr/>
                    <a:lstStyle/>
                    <a:p>
                      <a:pPr algn="l">
                        <a:lnSpc>
                          <a:spcPct val="100000"/>
                        </a:lnSpc>
                        <a:spcBef>
                          <a:spcPts val="0"/>
                        </a:spcBef>
                        <a:spcAft>
                          <a:spcPts val="0"/>
                        </a:spcAft>
                      </a:pPr>
                      <a:r>
                        <a:rPr sz="1000" b="0" lang="fr-FR">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20040">
                <a:tc>
                  <a:txBody>
                    <a:bodyPr/>
                    <a:lstStyle/>
                    <a:p>
                      <a:pPr algn="l">
                        <a:lnSpc>
                          <a:spcPct val="100000"/>
                        </a:lnSpc>
                        <a:spcBef>
                          <a:spcPts val="0"/>
                        </a:spcBef>
                        <a:spcAft>
                          <a:spcPts val="0"/>
                        </a:spcAft>
                      </a:pPr>
                      <a:r>
                        <a:rPr sz="1000" b="0" lang="fr-FR">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bl>
          </a:graphicData>
        </a:graphic>
      </p:graphicFrame>
      <p:sp>
        <p:nvSpPr>
          <p:cNvPr id="7" name="TextBox 6"/>
          <p:cNvSpPr txBox="1"/>
          <p:nvPr/>
        </p:nvSpPr>
        <p:spPr>
          <a:xfrm>
            <a:off x="457200" y="4297680"/>
            <a:ext cx="3977639" cy="393192"/>
          </a:xfrm>
          <a:prstGeom prst="rect">
            <a:avLst/>
          </a:prstGeom>
          <a:noFill/>
        </p:spPr>
        <p:txBody>
          <a:bodyPr wrap="square" lIns="0" rIns="0" tIns="0" bIns="0">
            <a:noAutofit/>
          </a:bodyPr>
          <a:lstStyle/>
          <a:p>
            <a:pPr>
              <a:lnSpc>
                <a:spcPct val="112000"/>
              </a:lnSpc>
              <a:spcBef>
                <a:spcPts val="0"/>
              </a:spcBef>
              <a:spcAft>
                <a:spcPts val="0"/>
              </a:spcAft>
            </a:pPr>
            <a:r>
              <a:rPr sz="2100" b="0" lang="fr-FR" cap="none">
                <a:solidFill>
                  <a:srgbClr val="EF4647"/>
                </a:solidFill>
                <a:latin typeface="Montserrat"/>
              </a:rPr>
              <a:t>10–15 %   →   0,1–0,2 %</a:t>
            </a:r>
          </a:p>
        </p:txBody>
      </p:sp>
      <p:sp>
        <p:nvSpPr>
          <p:cNvPr id="8" name="TextBox 7"/>
          <p:cNvSpPr txBox="1"/>
          <p:nvPr/>
        </p:nvSpPr>
        <p:spPr>
          <a:xfrm>
            <a:off x="457200" y="4681728"/>
            <a:ext cx="3977639" cy="329184"/>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Factures hospitalières rejetées, avant et après le ROC (chiffres des complémentaires raccordées)</a:t>
            </a:r>
          </a:p>
        </p:txBody>
      </p:sp>
      <p:sp>
        <p:nvSpPr>
          <p:cNvPr id="9" name="TextBox 8"/>
          <p:cNvSpPr txBox="1"/>
          <p:nvPr/>
        </p:nvSpPr>
        <p:spPr>
          <a:xfrm>
            <a:off x="4736592" y="4315968"/>
            <a:ext cx="3931920" cy="777240"/>
          </a:xfrm>
          <a:prstGeom prst="rect">
            <a:avLst/>
          </a:prstGeom>
          <a:noFill/>
        </p:spPr>
        <p:txBody>
          <a:bodyPr wrap="square" lIns="0" rIns="0" tIns="0" bIns="0">
            <a:noAutofit/>
          </a:bodyPr>
          <a:lstStyle/>
          <a:p>
            <a:pPr>
              <a:lnSpc>
                <a:spcPct val="112000"/>
              </a:lnSpc>
              <a:spcBef>
                <a:spcPts val="0"/>
              </a:spcBef>
              <a:spcAft>
                <a:spcPts val="0"/>
              </a:spcAft>
            </a:pPr>
            <a:r>
              <a:rPr sz="1000" b="1" lang="fr-FR"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En 2025, le ROC joue à l’hôpital public, dont les séjours ne sont pas dans DAMIR. Son 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Les ruptures à prendre en compte</a:t>
            </a:r>
          </a:p>
        </p:txBody>
      </p:sp>
      <p:sp>
        <p:nvSpPr>
          <p:cNvPr id="3" name="Text Placeholder 2"/>
          <p:cNvSpPr>
            <a:spLocks noGrp="1"/>
          </p:cNvSpPr>
          <p:nvPr>
            <p:ph type="body" idx="13" sz="quarter"/>
          </p:nvPr>
        </p:nvSpPr>
        <p:spPr>
          <a:xfrm>
            <a:off x="466344" y="612648"/>
            <a:ext cx="6766560" cy="292608"/>
          </a:xfrm>
        </p:spPr>
        <p:txBody>
          <a:bodyPr/>
          <a:lstStyle/>
          <a:p>
            <a:r>
              <a:t>Trois blocs : séjours ordinaires, rééducation, anesthésie</a:t>
            </a:r>
          </a:p>
        </p:txBody>
      </p:sp>
      <p:sp>
        <p:nvSpPr>
          <p:cNvPr id="4" name="TextBox 3"/>
          <p:cNvSpPr txBox="1"/>
          <p:nvPr/>
        </p:nvSpPr>
        <p:spPr>
          <a:xfrm>
            <a:off x="457200" y="1088136"/>
            <a:ext cx="4800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Réformes et changements d’enregistrement</a:t>
            </a:r>
          </a:p>
        </p:txBody>
      </p:sp>
      <p:graphicFrame>
        <p:nvGraphicFramePr>
          <p:cNvPr id="5" name="Table 4"/>
          <p:cNvGraphicFramePr>
            <a:graphicFrameLocks noGrp="1"/>
          </p:cNvGraphicFramePr>
          <p:nvPr/>
        </p:nvGraphicFramePr>
        <p:xfrm>
          <a:off x="457200" y="1463040"/>
          <a:ext cx="4736591" cy="2340864"/>
        </p:xfrm>
        <a:graphic>
          <a:graphicData uri="http://schemas.openxmlformats.org/drawingml/2006/table">
            <a:tbl>
              <a:tblPr>
                <a:tableStyleId>{5C22544A-7EE6-4342-B048-85BDC9FD1C3A}</a:tableStyleId>
              </a:tblPr>
              <a:tblGrid>
                <a:gridCol w="914400"/>
                <a:gridCol w="3822191"/>
              </a:tblGrid>
              <a:tr h="274320">
                <a:tc>
                  <a:txBody>
                    <a:bodyPr/>
                    <a:lstStyle/>
                    <a:p>
                      <a:pPr algn="l">
                        <a:lnSpc>
                          <a:spcPct val="100000"/>
                        </a:lnSpc>
                        <a:spcBef>
                          <a:spcPts val="0"/>
                        </a:spcBef>
                        <a:spcAft>
                          <a:spcPts val="0"/>
                        </a:spcAft>
                      </a:pPr>
                      <a:r>
                        <a:rPr sz="1050" b="1" lang="fr-FR">
                          <a:solidFill>
                            <a:srgbClr val="404040"/>
                          </a:solidFill>
                          <a:latin typeface="Avenir Next LT Pro Light"/>
                        </a:rPr>
                        <a:t>Date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50" b="1" lang="fr-FR">
                          <a:solidFill>
                            <a:srgbClr val="404040"/>
                          </a:solidFill>
                          <a:latin typeface="Avenir Next LT Pro Light"/>
                        </a:rPr>
                        <a:t>Événement</a:t>
                      </a:r>
                    </a:p>
                  </a:txBody>
                  <a:tcPr marL="64008" marR="64008" marT="22860" marB="22860" anchor="ctr">
                    <a:solidFill>
                      <a:srgbClr val="BFBFBF">
                        <a:lumMod val="18000"/>
                        <a:lumOff val="82000"/>
                      </a:srgbClr>
                    </a:solidFill>
                    <a:lnL w="0">
                      <a:noFill/>
                    </a:lnL>
                    <a:lnR w="0">
                      <a:noFill/>
                    </a:lnR>
                    <a:lnT w="0">
                      <a:noFill/>
                    </a:lnT>
                    <a:lnB w="0">
                      <a:noFill/>
                    </a:lnB>
                  </a:tcPr>
                </a:tc>
              </a:tr>
              <a:tr h="457200">
                <a:tc>
                  <a:txBody>
                    <a:bodyPr/>
                    <a:lstStyle/>
                    <a:p>
                      <a:pPr algn="l">
                        <a:lnSpc>
                          <a:spcPct val="100000"/>
                        </a:lnSpc>
                        <a:spcBef>
                          <a:spcPts val="0"/>
                        </a:spcBef>
                        <a:spcAft>
                          <a:spcPts val="0"/>
                        </a:spcAft>
                      </a:pPr>
                      <a:r>
                        <a:rPr sz="1000" b="0" lang="fr-FR">
                          <a:solidFill>
                            <a:srgbClr val="404040"/>
                          </a:solidFill>
                          <a:latin typeface="Avenir Next LT Pro Light"/>
                        </a:rPr>
                        <a:t>01/2024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du financement de la rééducation (SMR) : nouveaux tarifs, factures retardées</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10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Doublement des franchises et participations forfaitaires</a:t>
                      </a:r>
                    </a:p>
                  </a:txBody>
                  <a:tcPr marL="64008" marR="64008" marT="22860" marB="22860" anchor="ctr">
                    <a:solidFill>
                      <a:srgbClr val="FFFFFF"/>
                    </a:solidFill>
                    <a:lnL w="0">
                      <a:noFill/>
                    </a:lnL>
                    <a:lnR w="0">
                      <a:noFill/>
                    </a:lnR>
                    <a:lnT w="0">
                      <a:noFill/>
                    </a:lnT>
                    <a:lnB w="0">
                      <a:noFill/>
                    </a:lnB>
                  </a:tcPr>
                </a:tc>
              </a:tr>
              <a:tr h="457200">
                <a:tc>
                  <a:txBody>
                    <a:bodyPr/>
                    <a:lstStyle/>
                    <a:p>
                      <a:pPr algn="l">
                        <a:lnSpc>
                          <a:spcPct val="100000"/>
                        </a:lnSpc>
                        <a:spcBef>
                          <a:spcPts val="0"/>
                        </a:spcBef>
                        <a:spcAft>
                          <a:spcPts val="0"/>
                        </a:spcAft>
                      </a:pPr>
                      <a:r>
                        <a:rPr sz="1000" b="0" lang="fr-FR">
                          <a:solidFill>
                            <a:srgbClr val="404040"/>
                          </a:solidFill>
                          <a:latin typeface="Avenir Next LT Pro Light"/>
                        </a:rPr>
                        <a:t>11/2024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Forfait journalier : dépense absente de la base à partir de novembre 2024</a:t>
                      </a:r>
                    </a:p>
                  </a:txBody>
                  <a:tcPr marL="64008" marR="64008" marT="22860" marB="22860" anchor="ctr">
                    <a:solidFill>
                      <a:srgbClr val="FFFFFF"/>
                    </a:solidFill>
                    <a:lnL w="0">
                      <a:noFill/>
                    </a:lnL>
                    <a:lnR w="0">
                      <a:noFill/>
                    </a:lnR>
                    <a:lnT w="0">
                      <a:noFill/>
                    </a:lnT>
                    <a:lnB w="0">
                      <a:noFill/>
                    </a:lnB>
                  </a:tcPr>
                </a:tc>
              </a:tr>
              <a:tr h="457200">
                <a:tc>
                  <a:txBody>
                    <a:bodyPr/>
                    <a:lstStyle/>
                    <a:p>
                      <a:pPr algn="l">
                        <a:lnSpc>
                          <a:spcPct val="100000"/>
                        </a:lnSpc>
                        <a:spcBef>
                          <a:spcPts val="0"/>
                        </a:spcBef>
                        <a:spcAft>
                          <a:spcPts val="0"/>
                        </a:spcAft>
                      </a:pPr>
                      <a:r>
                        <a:rPr sz="1000" b="0" lang="fr-FR">
                          <a:solidFill>
                            <a:srgbClr val="404040"/>
                          </a:solidFill>
                          <a:latin typeface="Avenir Next LT Pro Light"/>
                        </a:rPr>
                        <a:t>07/2025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Prestations hospitalières nouvelles (262 M€) sans libellé dans la base</a:t>
                      </a:r>
                    </a:p>
                  </a:txBody>
                  <a:tcPr marL="64008" marR="64008" marT="22860" marB="22860" anchor="ctr">
                    <a:solidFill>
                      <a:srgbClr val="FFFFFF"/>
                    </a:solidFill>
                    <a:lnL w="0">
                      <a:noFill/>
                    </a:lnL>
                    <a:lnR w="0">
                      <a:noFill/>
                    </a:lnR>
                    <a:lnT w="0">
                      <a:noFill/>
                    </a:lnT>
                    <a:lnB w="0">
                      <a:noFill/>
                    </a:lnB>
                  </a:tcPr>
                </a:tc>
              </a:tr>
              <a:tr h="310896">
                <a:tc>
                  <a:txBody>
                    <a:bodyPr/>
                    <a:lstStyle/>
                    <a:p>
                      <a:pPr algn="l">
                        <a:lnSpc>
                          <a:spcPct val="100000"/>
                        </a:lnSpc>
                        <a:spcBef>
                          <a:spcPts val="0"/>
                        </a:spcBef>
                        <a:spcAft>
                          <a:spcPts val="0"/>
                        </a:spcAft>
                      </a:pPr>
                      <a:r>
                        <a:rPr sz="1000" b="0" lang="fr-FR">
                          <a:solidFill>
                            <a:srgbClr val="404040"/>
                          </a:solidFill>
                          <a:latin typeface="Avenir Next LT Pro Light"/>
                        </a:rPr>
                        <a:t>2026</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à préciser</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5477256" y="1088136"/>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Cadence de paiement de l’Assurance Maladie</a:t>
            </a:r>
          </a:p>
        </p:txBody>
      </p:sp>
      <p:graphicFrame>
        <p:nvGraphicFramePr>
          <p:cNvPr id="7" name="Table 6"/>
          <p:cNvGraphicFramePr>
            <a:graphicFrameLocks noGrp="1"/>
          </p:cNvGraphicFramePr>
          <p:nvPr/>
        </p:nvGraphicFramePr>
        <p:xfrm>
          <a:off x="5477256" y="1463040"/>
          <a:ext cx="3209544" cy="1234439"/>
        </p:xfrm>
        <a:graphic>
          <a:graphicData uri="http://schemas.openxmlformats.org/drawingml/2006/table">
            <a:tbl>
              <a:tblPr>
                <a:tableStyleId>{5C22544A-7EE6-4342-B048-85BDC9FD1C3A}</a:tableStyleId>
              </a:tblPr>
              <a:tblGrid>
                <a:gridCol w="1728216"/>
                <a:gridCol w="740664"/>
                <a:gridCol w="740664"/>
              </a:tblGrid>
              <a:tr h="274320">
                <a:tc>
                  <a:txBody>
                    <a:bodyPr/>
                    <a:lstStyle/>
                    <a:p>
                      <a:pPr algn="l">
                        <a:lnSpc>
                          <a:spcPct val="100000"/>
                        </a:lnSpc>
                        <a:spcBef>
                          <a:spcPts val="0"/>
                        </a:spcBef>
                        <a:spcAft>
                          <a:spcPts val="0"/>
                        </a:spcAft>
                      </a:pPr>
                      <a:r>
                        <a:rPr sz="950" b="1" lang="fr-FR">
                          <a:solidFill>
                            <a:srgbClr val="404040"/>
                          </a:solidFill>
                          <a:latin typeface="Avenir Next LT Pro Light"/>
                        </a:rPr>
                        <a:t>Part réglée dans l’année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Séjours ordinaires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91,3 %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Anesthésie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93,9 %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Rééducation</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84,4 %</a:t>
                      </a:r>
                    </a:p>
                  </a:txBody>
                  <a:tcPr marL="64008" marR="64008" marT="22860" marB="22860" anchor="ctr">
                    <a:solidFill>
                      <a:srgbClr val="FFFFFF"/>
                    </a:solidFill>
                    <a:lnL w="0">
                      <a:noFill/>
                    </a:lnL>
                    <a:lnR w="0">
                      <a:noFill/>
                    </a:lnR>
                    <a:lnT w="0">
                      <a:noFill/>
                    </a:lnT>
                    <a:lnB w="0">
                      <a:noFill/>
                    </a:lnB>
                  </a:tcPr>
                </a:tc>
              </a:tr>
            </a:tbl>
          </a:graphicData>
        </a:graphic>
      </p:graphicFrame>
      <p:sp>
        <p:nvSpPr>
          <p:cNvPr id="8" name="TextBox 7"/>
          <p:cNvSpPr txBox="1"/>
          <p:nvPr/>
        </p:nvSpPr>
        <p:spPr>
          <a:xfrm>
            <a:off x="5477256" y="2834640"/>
            <a:ext cx="3209544" cy="109728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Sur 100 € de soins d’une année, part déjà remboursée par l’Assurance Maladie au 31 décembre. Stable pour les séjours et l’anesthésie. Ralentie en 2024 pour la rééducation, dont les factures ont été retardées par la réforme. Aucune accélération côté Assurance Maladie.</a:t>
            </a:r>
          </a:p>
        </p:txBody>
      </p:sp>
      <p:sp>
        <p:nvSpPr>
          <p:cNvPr id="10" name="TextBox 9"/>
          <p:cNvSpPr txBox="1"/>
          <p:nvPr/>
        </p:nvSpPr>
        <p:spPr>
          <a:xfrm>
            <a:off x="457200" y="4224528"/>
            <a:ext cx="8229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Pourquoi trois blocs</a:t>
            </a:r>
          </a:p>
        </p:txBody>
      </p:sp>
      <p:sp>
        <p:nvSpPr>
          <p:cNvPr id="11" name="TextBox 10"/>
          <p:cNvSpPr txBox="1"/>
          <p:nvPr/>
        </p:nvSpPr>
        <p:spPr>
          <a:xfrm>
            <a:off x="457200" y="4498848"/>
            <a:ext cx="8229600" cy="77724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Tous les postes de l’hospitalisation en clinique ont été parcourus. Ce qui reste à payer après l’Assurance Maladie n’augmente qu’à deux endroits : la rééducation et les honoraires d’anesthésie. Les séjours ordinaires, le poste le plus lourd, restent stables et servent de témoin. Le forfait journalier et la chambre particulière ne sont pas lisibles dans ces données.</a:t>
            </a:r>
          </a:p>
        </p:txBody>
      </p:sp>
      <p:sp>
        <p:nvSpPr>
          <p:cNvPr id="12" name="TextBox 11"/>
          <p:cNvSpPr txBox="1"/>
          <p:nvPr/>
        </p:nvSpPr>
        <p:spPr>
          <a:xfrm>
            <a:off x="457200" y="5340096"/>
            <a:ext cx="813816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486400"/>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p>
        </p:txBody>
      </p:sp>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Cliniques : frais de séjour de médecine, chirurgie et obstétrique</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8 155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8 833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7 823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8 488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8 463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330</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95,9 %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9 405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7 785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9 039</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329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366</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59552" y="4087368"/>
            <a:ext cx="1143000" cy="274320"/>
          </a:xfrm>
          <a:prstGeom prst="rect">
            <a:avLst/>
          </a:prstGeom>
          <a:noFill/>
        </p:spPr>
        <p:txBody>
          <a:bodyPr wrap="square" lIns="0" rIns="0" tIns="0" bIns="0">
            <a:noAutofit/>
          </a:bodyPr>
          <a:lstStyle/>
          <a:p>
            <a:pPr>
              <a:lnSpc>
                <a:spcPct val="112000"/>
              </a:lnSpc>
              <a:spcBef>
                <a:spcPts val="0"/>
              </a:spcBef>
              <a:spcAft>
                <a:spcPts val="0"/>
              </a:spcAft>
            </a:pPr>
            <a:r>
              <a:rPr sz="1600" b="0" lang="fr-FR" cap="none">
                <a:solidFill>
                  <a:srgbClr val="EF4647"/>
                </a:solidFill>
                <a:latin typeface="Montserrat"/>
              </a:rPr>
              <a:t>+2,4 %</a:t>
            </a:r>
          </a:p>
        </p:txBody>
      </p:sp>
      <p:sp>
        <p:nvSpPr>
          <p:cNvPr id="8" name="TextBox 7"/>
          <p:cNvSpPr txBox="1"/>
          <p:nvPr/>
        </p:nvSpPr>
        <p:spPr>
          <a:xfrm>
            <a:off x="6729984" y="4069080"/>
            <a:ext cx="1920240" cy="384048"/>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Hausse du reste après AMO entre 2023 et 2024, en année de soins</a:t>
            </a:r>
          </a:p>
        </p:txBody>
      </p:sp>
      <p:sp>
        <p:nvSpPr>
          <p:cNvPr id="9" name="TextBox 8"/>
          <p:cNvSpPr txBox="1"/>
          <p:nvPr/>
        </p:nvSpPr>
        <p:spPr>
          <a:xfrm>
            <a:off x="457200" y="4572000"/>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en année de soins : observée, liquidée à environ 90 %. Sur les séjours, le reste après AMO est le ticket modérateur. Ce poste ne couvre pas la rééducation, la dialyse ni l’hospitalisation à domicile.</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p>
        </p:txBody>
      </p:sp>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idx="13" sz="quarter"/>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3 665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4 144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4 315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3 682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633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3 893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4 953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3 351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4 232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721</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59552" y="4087368"/>
            <a:ext cx="1143000" cy="274320"/>
          </a:xfrm>
          <a:prstGeom prst="rect">
            <a:avLst/>
          </a:prstGeom>
          <a:noFill/>
        </p:spPr>
        <p:txBody>
          <a:bodyPr wrap="square" lIns="0" rIns="0" tIns="0" bIns="0">
            <a:noAutofit/>
          </a:bodyPr>
          <a:lstStyle/>
          <a:p>
            <a:pPr>
              <a:lnSpc>
                <a:spcPct val="112000"/>
              </a:lnSpc>
              <a:spcBef>
                <a:spcPts val="0"/>
              </a:spcBef>
              <a:spcAft>
                <a:spcPts val="0"/>
              </a:spcAft>
            </a:pPr>
            <a:r>
              <a:rPr sz="1600" b="0" lang="fr-FR" cap="none">
                <a:solidFill>
                  <a:srgbClr val="EF4647"/>
                </a:solidFill>
                <a:latin typeface="Montserrat"/>
              </a:rPr>
              <a:t>+33,2 %</a:t>
            </a:r>
          </a:p>
        </p:txBody>
      </p:sp>
      <p:sp>
        <p:nvSpPr>
          <p:cNvPr id="8" name="TextBox 7"/>
          <p:cNvSpPr txBox="1"/>
          <p:nvPr/>
        </p:nvSpPr>
        <p:spPr>
          <a:xfrm>
            <a:off x="6729984" y="4069080"/>
            <a:ext cx="1920240" cy="384048"/>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Hausse du reste après AMO entre 2024 et 2025, en date de paiement</a:t>
            </a:r>
          </a:p>
        </p:txBody>
      </p:sp>
      <p:sp>
        <p:nvSpPr>
          <p:cNvPr id="9" name="TextBox 8"/>
          <p:cNvSpPr txBox="1"/>
          <p:nvPr/>
        </p:nvSpPr>
        <p:spPr>
          <a:xfrm>
            <a:off x="457200" y="4553712"/>
            <a:ext cx="8229600" cy="384048"/>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année de soins, le reste après AMO augmente de 8,5 % en 2024. En date de paiement, 2025 fait +33 % parce que les factures 2024, retardées par la réforme, s’y ajoutent.</a:t>
            </a:r>
          </a:p>
        </p:txBody>
      </p:sp>
      <p:sp>
        <p:nvSpPr>
          <p:cNvPr id="10" name="TextBox 9"/>
          <p:cNvSpPr txBox="1"/>
          <p:nvPr/>
        </p:nvSpPr>
        <p:spPr>
          <a:xfrm>
            <a:off x="457200" y="4956048"/>
            <a:ext cx="8229600" cy="18288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166360"/>
            <a:ext cx="8229600" cy="27432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Niveaux de dépense 2023 et 2024 non comparables (réforme). * 2025 observée, liquidée à environ 90 %, non redressée. À maturité, reste après AMO de +20 à +27 % en 2025.</a:t>
            </a:r>
          </a:p>
        </p:txBody>
      </p:sp>
      <p:sp>
        <p:nvSpPr>
          <p:cNvPr id="12" name="TextBox 11"/>
          <p:cNvSpPr txBox="1"/>
          <p:nvPr/>
        </p:nvSpPr>
        <p:spPr>
          <a:xfrm>
            <a:off x="457200" y="5458968"/>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r:id="rId2"/>
          </a:graphicData>
        </a:graphic>
      </p:graphicFrame>
      <p:sp>
        <p:nvSpPr>
          <p:cNvPr id="6" name="TextBox 5"/>
          <p:cNvSpPr txBox="1"/>
          <p:nvPr/>
        </p:nvSpPr>
        <p:spPr>
          <a:xfrm>
            <a:off x="6455664" y="1764792"/>
            <a:ext cx="2231136" cy="448056"/>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0–49 ans</a:t>
            </a:r>
          </a:p>
          <a:p>
            <a:pPr>
              <a:lnSpc>
                <a:spcPct val="112000"/>
              </a:lnSpc>
              <a:spcBef>
                <a:spcPts val="0"/>
              </a:spcBef>
              <a:spcAft>
                <a:spcPts val="0"/>
              </a:spcAft>
            </a:pPr>
            <a:r>
              <a:rPr sz="1100" b="0" lang="fr-FR"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gridCol w="914400"/>
                <a:gridCol w="914400"/>
                <a:gridCol w="914400"/>
                <a:gridCol w="914400"/>
                <a:gridCol w="914400"/>
                <a:gridCol w="914400"/>
                <a:gridCol w="914400"/>
                <a:gridCol w="914400"/>
              </a:tblGrid>
              <a:tr h="237744">
                <a:tc>
                  <a:txBody>
                    <a:bodyPr/>
                    <a:lstStyle/>
                    <a:p>
                      <a:pPr algn="l">
                        <a:lnSpc>
                          <a:spcPct val="100000"/>
                        </a:lnSpc>
                        <a:spcBef>
                          <a:spcPts val="0"/>
                        </a:spcBef>
                        <a:spcAft>
                          <a:spcPts val="0"/>
                        </a:spcAft>
                      </a:pPr>
                      <a:r>
                        <a:rPr sz="900" b="1" lang="fr-FR">
                          <a:solidFill>
                            <a:srgbClr val="404040"/>
                          </a:solidFill>
                          <a:latin typeface="Avenir Next LT Pro Light"/>
                        </a:rPr>
                        <a:t>En M€</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0–19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20–29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30–39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40–49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50–59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60–69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70–79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80 +</a:t>
                      </a:r>
                    </a:p>
                  </a:txBody>
                  <a:tcPr marL="64008" marR="64008" marT="22860" marB="22860" anchor="ctr">
                    <a:solidFill>
                      <a:srgbClr val="BFBFBF">
                        <a:lumMod val="18000"/>
                        <a:lumOff val="82000"/>
                      </a:srgbClr>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13,7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15,9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29,6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92,1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141,0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186,2</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31,3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30,6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48,2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78,0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94,2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127,9</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67,8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102,0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128,3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114,6</a:t>
                      </a:r>
                    </a:p>
                  </a:txBody>
                  <a:tcPr marL="64008" marR="64008" marT="22860" marB="22860" anchor="ctr">
                    <a:solidFill>
                      <a:srgbClr val="FFFFFF"/>
                    </a:solidFill>
                    <a:lnL w="0">
                      <a:noFill/>
                    </a:lnL>
                    <a:lnR w="0">
                      <a:noFill/>
                    </a:lnR>
                    <a:lnT w="0">
                      <a:noFill/>
                    </a:lnT>
                    <a:lnB w="0">
                      <a:noFill/>
                    </a:lnB>
                  </a:tcPr>
                </a:tc>
              </a:tr>
            </a:tbl>
          </a:graphicData>
        </a:graphic>
      </p:graphicFrame>
      <p:sp>
        <p:nvSpPr>
          <p:cNvPr id="11" name="TextBox 10"/>
          <p:cNvSpPr txBox="1"/>
          <p:nvPr/>
        </p:nvSpPr>
        <p:spPr>
          <a:xfrm>
            <a:off x="457200" y="5029200"/>
            <a:ext cx="8229600" cy="18288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p>
        </p:txBody>
      </p:sp>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Cliniques : honoraires d’anesthésie (95 % du poste)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gridCol w="731520"/>
                <a:gridCol w="731520"/>
                <a:gridCol w="731520"/>
                <a:gridCol w="731520"/>
              </a:tblGrid>
              <a:tr h="227685">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1 322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65,3 %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64,3 %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35,7 %</a:t>
                      </a:r>
                    </a:p>
                  </a:txBody>
                  <a:tcPr marL="64008" marR="64008" marT="22860" marB="22860" anchor="ctr">
                    <a:solidFill>
                      <a:srgbClr val="FFFFFF"/>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1 478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69,2 %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64,5 %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34,5 %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r:id="rId2"/>
          </a:graphicData>
        </a:graphic>
      </p:graphicFrame>
      <p:sp>
        <p:nvSpPr>
          <p:cNvPr id="7" name="TextBox 6"/>
          <p:cNvSpPr txBox="1"/>
          <p:nvPr/>
        </p:nvSpPr>
        <p:spPr>
          <a:xfrm>
            <a:off x="5559552" y="4087368"/>
            <a:ext cx="1143000" cy="274320"/>
          </a:xfrm>
          <a:prstGeom prst="rect">
            <a:avLst/>
          </a:prstGeom>
          <a:noFill/>
        </p:spPr>
        <p:txBody>
          <a:bodyPr wrap="square" lIns="0" rIns="0" tIns="0" bIns="0">
            <a:noAutofit/>
          </a:bodyPr>
          <a:lstStyle/>
          <a:p>
            <a:pPr>
              <a:lnSpc>
                <a:spcPct val="112000"/>
              </a:lnSpc>
              <a:spcBef>
                <a:spcPts val="0"/>
              </a:spcBef>
              <a:spcAft>
                <a:spcPts val="0"/>
              </a:spcAft>
            </a:pPr>
            <a:r>
              <a:rPr sz="1600" b="0" lang="fr-FR" cap="none">
                <a:solidFill>
                  <a:srgbClr val="EF4647"/>
                </a:solidFill>
                <a:latin typeface="Montserrat"/>
              </a:rPr>
              <a:t>+10,0 %</a:t>
            </a:r>
          </a:p>
        </p:txBody>
      </p:sp>
      <p:sp>
        <p:nvSpPr>
          <p:cNvPr id="8" name="TextBox 7"/>
          <p:cNvSpPr txBox="1"/>
          <p:nvPr/>
        </p:nvSpPr>
        <p:spPr>
          <a:xfrm>
            <a:off x="6729984" y="4069080"/>
            <a:ext cx="1920240" cy="384048"/>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Hausse des dépassements entre 2024 et 2025, en date de paiement</a:t>
            </a:r>
          </a:p>
        </p:txBody>
      </p:sp>
      <p:sp>
        <p:nvSpPr>
          <p:cNvPr id="9" name="TextBox 8"/>
          <p:cNvSpPr txBox="1"/>
          <p:nvPr/>
        </p:nvSpPr>
        <p:spPr>
          <a:xfrm>
            <a:off x="457200" y="4654296"/>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en année de soins : observée, liquidée à environ 94 %. À maturité, reste après AMO de 532 M€ (+10,8 %). Les honoraires de chirurgie sont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Une dérive de sinistralité sur deux postes, sans lien visible avec le ROC</a:t>
            </a:r>
          </a:p>
        </p:txBody>
      </p:sp>
      <p:graphicFrame>
        <p:nvGraphicFramePr>
          <p:cNvPr id="4" name="Table 3"/>
          <p:cNvGraphicFramePr>
            <a:graphicFrameLocks noGrp="1"/>
          </p:cNvGraphicFramePr>
          <p:nvPr/>
        </p:nvGraphicFramePr>
        <p:xfrm>
          <a:off x="457200" y="1097280"/>
          <a:ext cx="8229600" cy="2414016"/>
        </p:xfrm>
        <a:graphic>
          <a:graphicData uri="http://schemas.openxmlformats.org/drawingml/2006/table">
            <a:tbl>
              <a:tblPr>
                <a:tableStyleId>{5C22544A-7EE6-4342-B048-85BDC9FD1C3A}</a:tableStyleId>
              </a:tblPr>
              <a:tblGrid>
                <a:gridCol w="1938528"/>
                <a:gridCol w="3520440"/>
                <a:gridCol w="2770632"/>
              </a:tblGrid>
              <a:tr h="274320">
                <a:tc>
                  <a:txBody>
                    <a:bodyPr/>
                    <a:lstStyle/>
                    <a:p>
                      <a:pPr algn="l">
                        <a:lnSpc>
                          <a:spcPct val="100000"/>
                        </a:lnSpc>
                        <a:spcBef>
                          <a:spcPts val="0"/>
                        </a:spcBef>
                        <a:spcAft>
                          <a:spcPts val="0"/>
                        </a:spcAft>
                      </a:pPr>
                      <a:r>
                        <a:rPr sz="1000" b="1" lang="fr-FR">
                          <a:solidFill>
                            <a:srgbClr val="404040"/>
                          </a:solidFill>
                          <a:latin typeface="Avenir Next LT Pro Light"/>
                        </a:rPr>
                        <a:t>Poste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Observation 2022–2025</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Lecture</a:t>
                      </a:r>
                    </a:p>
                  </a:txBody>
                  <a:tcPr marL="64008" marR="64008" marT="22860" marB="22860" anchor="ctr">
                    <a:solidFill>
                      <a:srgbClr val="BFBFBF">
                        <a:lumMod val="18000"/>
                        <a:lumOff val="82000"/>
                      </a:srgbClr>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Séjours ordinaires en clinique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+2 % en 2024, sans effet de calendrier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Pas de dérive</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Honoraires d’anesthésie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Dépassements +10 % par an, en date de soins comme en date de paiement</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Dérive de sinistralité, indépendante du ROC</a:t>
                      </a:r>
                    </a:p>
                  </a:txBody>
                  <a:tcPr marL="64008" marR="64008" marT="22860" marB="22860" anchor="ctr">
                    <a:solidFill>
                      <a:srgbClr val="FFFFFF"/>
                    </a:solidFill>
                    <a:lnL w="0">
                      <a:noFill/>
                    </a:lnL>
                    <a:lnR w="0">
                      <a:noFill/>
                    </a:lnR>
                    <a:lnT w="0">
                      <a:noFill/>
                    </a:lnT>
                    <a:lnB w="0">
                      <a:noFill/>
                    </a:lnB>
                  </a:tcPr>
                </a:tc>
              </a:tr>
              <a:tr h="502920">
                <a:tc>
                  <a:txBody>
                    <a:bodyPr/>
                    <a:lstStyle/>
                    <a:p>
                      <a:pPr algn="l">
                        <a:lnSpc>
                          <a:spcPct val="100000"/>
                        </a:lnSpc>
                        <a:spcBef>
                          <a:spcPts val="0"/>
                        </a:spcBef>
                        <a:spcAft>
                          <a:spcPts val="0"/>
                        </a:spcAft>
                      </a:pPr>
                      <a:r>
                        <a:rPr sz="950" b="0" lang="fr-FR">
                          <a:solidFill>
                            <a:srgbClr val="404040"/>
                          </a:solidFill>
                          <a:latin typeface="Avenir Next LT Pro Light"/>
                        </a:rPr>
                        <a:t>Séjours de rééducation (SSR, SMR)</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(ticket modérateur) +8,5 % en 2024, environ +20 % en 2025, doublé ou triplé avant 50 ans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Hausse réelle, née de la réforme SMR de 2024</a:t>
                      </a:r>
                    </a:p>
                  </a:txBody>
                  <a:tcPr marL="64008" marR="64008" marT="22860" marB="22860" anchor="ctr">
                    <a:solidFill>
                      <a:srgbClr val="FFFFFF"/>
                    </a:solidFill>
                    <a:lnL w="0">
                      <a:noFill/>
                    </a:lnL>
                    <a:lnR w="0">
                      <a:noFill/>
                    </a:lnR>
                    <a:lnT w="0">
                      <a:noFill/>
                    </a:lnT>
                    <a:lnB w="0">
                      <a:noFill/>
                    </a:lnB>
                  </a:tcPr>
                </a:tc>
              </a:tr>
              <a:tr h="457200">
                <a:tc>
                  <a:txBody>
                    <a:bodyPr/>
                    <a:lstStyle/>
                    <a:p>
                      <a:pPr algn="l">
                        <a:lnSpc>
                          <a:spcPct val="100000"/>
                        </a:lnSpc>
                        <a:spcBef>
                          <a:spcPts val="0"/>
                        </a:spcBef>
                        <a:spcAft>
                          <a:spcPts val="0"/>
                        </a:spcAft>
                      </a:pPr>
                      <a:r>
                        <a:rPr sz="950" b="0" lang="fr-FR">
                          <a:solidFill>
                            <a:srgbClr val="404040"/>
                          </a:solidFill>
                          <a:latin typeface="Avenir Next LT Pro Light"/>
                        </a:rPr>
                        <a:t>Rééducation, factures 2024 payées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+33 % en date de paiement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Décalage de facturation : des soins de 2024 payés en 2025, pas une hausse des soins</a:t>
                      </a:r>
                    </a:p>
                  </a:txBody>
                  <a:tcPr marL="64008" marR="64008" marT="22860" marB="22860" anchor="ctr">
                    <a:solidFill>
                      <a:srgbClr val="FFFFFF"/>
                    </a:solidFill>
                    <a:lnL w="0">
                      <a:noFill/>
                    </a:lnL>
                    <a:lnR w="0">
                      <a:noFill/>
                    </a:lnR>
                    <a:lnT w="0">
                      <a:noFill/>
                    </a:lnT>
                    <a:lnB w="0">
                      <a:noFill/>
                    </a:lnB>
                  </a:tcPr>
                </a:tc>
              </a:tr>
              <a:tr h="411480">
                <a:tc>
                  <a:txBody>
                    <a:bodyPr/>
                    <a:lstStyle/>
                    <a:p>
                      <a:pPr algn="l">
                        <a:lnSpc>
                          <a:spcPct val="100000"/>
                        </a:lnSpc>
                        <a:spcBef>
                          <a:spcPts val="0"/>
                        </a:spcBef>
                        <a:spcAft>
                          <a:spcPts val="0"/>
                        </a:spcAft>
                      </a:pPr>
                      <a:r>
                        <a:rPr sz="950" b="0" lang="fr-FR">
                          <a:solidFill>
                            <a:srgbClr val="404040"/>
                          </a:solidFill>
                          <a:latin typeface="Avenir Next LT Pro Light"/>
                        </a:rPr>
                        <a:t>ROC</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Déployé en 2025 dans les hôpitaux publics, dont les séjours sont hors DAMIR. Cadence AMO inchangée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Décalage de facturation possible, non mesurable dans DAMIR</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457200" y="3767328"/>
            <a:ext cx="8229600" cy="256032"/>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Ce que l’étude montre</a:t>
            </a:r>
          </a:p>
        </p:txBody>
      </p:sp>
      <p:sp>
        <p:nvSpPr>
          <p:cNvPr id="6" name="TextBox 5"/>
          <p:cNvSpPr txBox="1"/>
          <p:nvPr/>
        </p:nvSpPr>
        <p:spPr>
          <a:xfrm>
            <a:off x="457200" y="4041648"/>
            <a:ext cx="8229600" cy="114300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Les remboursements de l’Assurance Maladie montrent une hausse réelle de ce qui reste à payer après elle sur deux postes de l’hospitalisation en clinique : les honoraires d’anesthésie, où les dépassements augmentent de 10 % par an, et la rééducation, où le ticket modérateur augmente depuis la réforme de 2024. Cette hausse est une dérive de la sinistralité. Elle existe avant le ROC et ne lui doit rien. Le ROC, lui, change la vitesse à laquelle les factures des hôpitaux publics arrivent aux complémentaires. Ces factures ne sont pas dans les données utilisées, et le rythme de paiement de l’Assurance Maladie n’a pas changé : aucun effet du ROC n’apparaît ici. S’il en a un, c’est un décalage de facturation, des factures payées plus tôt qu’avant, qui s’ajoute à la dérive sans l’expliquer.</a:t>
            </a:r>
          </a:p>
        </p:txBody>
      </p:sp>
      <p:sp>
        <p:nvSpPr>
          <p:cNvPr id="7" name="TextBox 6"/>
          <p:cNvSpPr txBox="1"/>
          <p:nvPr/>
        </p:nvSpPr>
        <p:spPr>
          <a:xfrm>
            <a:off x="457200" y="5175504"/>
            <a:ext cx="8229600" cy="22860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Ce que DAMIR ne chiffre pas : la part du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3852</TotalTime>
  <Words>937</Words>
  <Application>Microsoft Office PowerPoint</Application>
  <PresentationFormat>Affichage à l'écran (16:10)</PresentationFormat>
  <Paragraphs>117</Paragraphs>
  <Slides>6</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vt:i4>
      </vt:variant>
    </vt:vector>
  </HeadingPairs>
  <TitlesOfParts>
    <vt:vector size="14"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Ce que l'on regarde, et comment</vt:lpstr>
      <vt:lpstr>Hospitalisation Honoraires, une vraie dérive</vt:lpstr>
      <vt:lpstr>Hospitalisation globale =&gt; une piste ROC</vt:lpstr>
      <vt:lpstr>Dérive observée et hypothèse ROC</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creator>Forsides</dc:creator>
  <cp:lastModifiedBy>Simon MALAURENT</cp:lastModifiedBy>
  <cp:revision>58</cp:revision>
  <dcterms:created xsi:type="dcterms:W3CDTF">2024-05-03T13:43:52Z</dcterms:created>
  <dcterms:modified xsi:type="dcterms:W3CDTF">2026-09-18T12:31:32Z</dcterms:modified>
  <dc:subject>Analyse par poste des remboursements AMO 2022–2025</dc:subject>
  <cp:keywords>Hospitalisation, Open DAMIR, ROC, SSR, SMR, anesthésie</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