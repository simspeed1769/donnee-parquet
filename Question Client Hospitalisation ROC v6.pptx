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ustomXml/itemProps1.xml" ContentType="application/vnd.openxmlformats-officedocument.customXmlProperties+xml"/>
  <Override PartName="/ppt/customXml/itemProps2.xml" ContentType="application/vnd.openxmlformats-officedocument.customXmlProperties+xml"/>
  <Override PartName="/ppt/customXml/itemProps3.xml" ContentType="application/vnd.openxmlformats-officedocument.customXml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1"/>
  </p:notesMasterIdLst>
  <p:sldIdLst>
    <p:sldId id="11533" r:id="rId5"/>
    <p:sldId id="11534" r:id="rId9"/>
    <p:sldId id="11535" r:id="rId8"/>
    <p:sldId id="11536" r:id="rId7"/>
    <p:sldId id="11537" r:id="rId6"/>
    <p:sldId id="11538" r:id="rId17"/>
    <p:sldId id="11539" r:id="rId18"/>
    <p:sldId id="11540" r:id="rId19"/>
    <p:sldId id="11541" r:id="rId20"/>
    <p:sldId id="11530" r:id="rId10"/>
  </p:sldIdLst>
  <p:sldSz cx="9144000" cy="5715000" type="screen16x1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9B5072-B8D0-1D3C-5BC1-D1FFCA4E368B}" name="Alexia BIDEL" initials="AB" userId="S::alexia.bidel@forsides.com::cfdb95dc-505d-469b-aeaf-c63558aa3e2b" providerId="AD"/>
  <p188:author id="{BD6010B3-DB18-7AD9-0975-A97DF1470138}" name="Léa SERRET" initials="LS" userId="S::lea.serret@forsides.com::2ccb72fa-5045-4b93-b65c-d471669e6c91"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2C55E"/>
    <a:srgbClr val="F5FFF9"/>
    <a:srgbClr val="4B5563"/>
    <a:srgbClr val="9CA3AF"/>
    <a:srgbClr val="475569"/>
    <a:srgbClr val="6B7280"/>
    <a:srgbClr val="E8770E"/>
    <a:srgbClr val="E3E8ED"/>
    <a:srgbClr val="C0392B"/>
    <a:srgbClr val="FEE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46F890A9-2807-4EBB-B81D-B2AA78EC7F39}" styleName="Style foncé 2 - Accentuation 5/Accentuation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Style foncé 2 - Accentuation 1/Accentuation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Style léger 2 - Accentuation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25E5076-3810-47DD-B79F-674D7AD40C01}" styleName="Style foncé 1 - Accentuation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38B1855-1B75-4FBE-930C-398BA8C253C6}" styleName="Style à thème 2 - Accentuation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012ECD-51FC-41F1-AA8D-1B2483CD663E}" styleName="Style léger 2 - Accentuation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864" autoAdjust="0"/>
  </p:normalViewPr>
  <p:slideViewPr>
    <p:cSldViewPr snapToGrid="0">
      <p:cViewPr varScale="1">
        <p:scale>
          <a:sx n="116" d="100"/>
          <a:sy n="116" d="100"/>
        </p:scale>
        <p:origin x="150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5.xml"/><Relationship Id="rId7" Type="http://schemas.openxmlformats.org/officeDocument/2006/relationships/slide" Target="slides/slide4.xml"/><Relationship Id="rId8" Type="http://schemas.openxmlformats.org/officeDocument/2006/relationships/slide" Target="slides/slide3.xml"/><Relationship Id="rId9" Type="http://schemas.openxmlformats.org/officeDocument/2006/relationships/slide" Target="slides/slide2.xml"/><Relationship Id="rId10" Type="http://schemas.openxmlformats.org/officeDocument/2006/relationships/slide" Target="slides/slide10.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8/10/relationships/authors" Target="authors.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333</c:v>
                </c:pt>
                <c:pt idx="1">
                  <c:v>345</c:v>
                </c:pt>
                <c:pt idx="2">
                  <c:v>353</c:v>
                </c:pt>
                <c:pt idx="3">
                  <c:v>330</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329</c:v>
                </c:pt>
                <c:pt idx="1">
                  <c:v>344</c:v>
                </c:pt>
                <c:pt idx="2">
                  <c:v>354</c:v>
                </c:pt>
                <c:pt idx="3">
                  <c:v>366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4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1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523</c:v>
                </c:pt>
                <c:pt idx="1">
                  <c:v>546</c:v>
                </c:pt>
                <c:pt idx="2">
                  <c:v>593</c:v>
                </c:pt>
                <c:pt idx="3">
                  <c:v>633</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525</c:v>
                </c:pt>
                <c:pt idx="1">
                  <c:v>552</c:v>
                </c:pt>
                <c:pt idx="2">
                  <c:v>541</c:v>
                </c:pt>
                <c:pt idx="3">
                  <c:v>721</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8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2023</c:v>
                </c:pt>
              </c:strCache>
            </c:strRef>
          </c:tx>
          <c:spPr>
            <a:solidFill>
              <a:srgbClr val="A5B6C5"/>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Sheet1!$B$2:$B$9</c:f>
              <c:numCache>
                <c:formatCode>General</c:formatCode>
                <c:ptCount val="8"/>
                <c:pt idx="0">
                  <c:v>8.2</c:v>
                </c:pt>
                <c:pt idx="1">
                  <c:v>13.7</c:v>
                </c:pt>
                <c:pt idx="2">
                  <c:v>15.9</c:v>
                </c:pt>
                <c:pt idx="3">
                  <c:v>29.6</c:v>
                </c:pt>
                <c:pt idx="4">
                  <c:v>59.4</c:v>
                </c:pt>
                <c:pt idx="5">
                  <c:v>92.1</c:v>
                </c:pt>
                <c:pt idx="6">
                  <c:v>141.0</c:v>
                </c:pt>
                <c:pt idx="7">
                  <c:v>186.2</c:v>
                </c:pt>
              </c:numCache>
            </c:numRef>
          </c:val>
        </c:ser>
        <c:ser>
          <c:idx val="1"/>
          <c:order val="1"/>
          <c:tx>
            <c:strRef>
              <c:f>Sheet1!$C$1</c:f>
              <c:strCache>
                <c:ptCount val="1"/>
                <c:pt idx="0">
                  <c:v>2024</c:v>
                </c:pt>
              </c:strCache>
            </c:strRef>
          </c:tx>
          <c:spPr>
            <a:solidFill>
              <a:srgbClr val="EF4647"/>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Sheet1!$C$2:$C$9</c:f>
              <c:numCache>
                <c:formatCode>General</c:formatCode>
                <c:ptCount val="8"/>
                <c:pt idx="0">
                  <c:v>31.3</c:v>
                </c:pt>
                <c:pt idx="1">
                  <c:v>30.6</c:v>
                </c:pt>
                <c:pt idx="2">
                  <c:v>48.2</c:v>
                </c:pt>
                <c:pt idx="3">
                  <c:v>58.1</c:v>
                </c:pt>
                <c:pt idx="4">
                  <c:v>78.0</c:v>
                </c:pt>
                <c:pt idx="5">
                  <c:v>94.2</c:v>
                </c:pt>
                <c:pt idx="6">
                  <c:v>124.6</c:v>
                </c:pt>
                <c:pt idx="7">
                  <c:v>127.9</c:v>
                </c:pt>
              </c:numCache>
            </c:numRef>
          </c:val>
        </c:ser>
        <c:ser>
          <c:idx val="2"/>
          <c:order val="2"/>
          <c:tx>
            <c:strRef>
              <c:f>Sheet1!$D$1</c:f>
              <c:strCache>
                <c:ptCount val="1"/>
                <c:pt idx="0">
                  <c:v>2025*</c:v>
                </c:pt>
              </c:strCache>
            </c:strRef>
          </c:tx>
          <c:spPr>
            <a:solidFill>
              <a:srgbClr val="5B0C02"/>
            </a:solidFill>
            <a:ln>
              <a:noFill/>
            </a:ln>
          </c:spPr>
          <c:cat>
            <c:strRef>
              <c:f>Sheet1!$A$2:$A$9</c:f>
              <c:strCache>
                <c:ptCount val="8"/>
                <c:pt idx="0">
                  <c:v>0–19</c:v>
                </c:pt>
                <c:pt idx="1">
                  <c:v>20–29</c:v>
                </c:pt>
                <c:pt idx="2">
                  <c:v>30–39</c:v>
                </c:pt>
                <c:pt idx="3">
                  <c:v>40–49</c:v>
                </c:pt>
                <c:pt idx="4">
                  <c:v>50–59</c:v>
                </c:pt>
                <c:pt idx="5">
                  <c:v>60–69</c:v>
                </c:pt>
                <c:pt idx="6">
                  <c:v>70–79</c:v>
                </c:pt>
                <c:pt idx="7">
                  <c:v>80 +</c:v>
                </c:pt>
              </c:strCache>
            </c:strRef>
          </c:cat>
          <c:val>
            <c:numRef>
              <c:f>Sheet1!$D$2:$D$9</c:f>
              <c:numCache>
                <c:formatCode>General</c:formatCode>
                <c:ptCount val="8"/>
                <c:pt idx="0">
                  <c:v>38.4</c:v>
                </c:pt>
                <c:pt idx="1">
                  <c:v>35.4</c:v>
                </c:pt>
                <c:pt idx="2">
                  <c:v>58.4</c:v>
                </c:pt>
                <c:pt idx="3">
                  <c:v>67.8</c:v>
                </c:pt>
                <c:pt idx="4">
                  <c:v>88.0</c:v>
                </c:pt>
                <c:pt idx="5">
                  <c:v>102.0</c:v>
                </c:pt>
                <c:pt idx="6">
                  <c:v>128.3</c:v>
                </c:pt>
                <c:pt idx="7">
                  <c:v>114.6</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2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5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col"/>
        <c:grouping val="clustered"/>
        <c:ser>
          <c:idx val="0"/>
          <c:order val="0"/>
          <c:tx>
            <c:strRef>
              <c:f>Sheet1!$B$1</c:f>
              <c:strCache>
                <c:ptCount val="1"/>
                <c:pt idx="0">
                  <c:v>Année de soins</c:v>
                </c:pt>
              </c:strCache>
            </c:strRef>
          </c:tx>
          <c:spPr>
            <a:solidFill>
              <a:srgbClr val="A5B6C5"/>
            </a:solidFill>
            <a:ln>
              <a:noFill/>
            </a:ln>
          </c:spPr>
          <c:cat>
            <c:strRef>
              <c:f>Sheet1!$A$2:$A$5</c:f>
              <c:strCache>
                <c:ptCount val="4"/>
                <c:pt idx="0">
                  <c:v>2022</c:v>
                </c:pt>
                <c:pt idx="1">
                  <c:v>2023</c:v>
                </c:pt>
                <c:pt idx="2">
                  <c:v>2024</c:v>
                </c:pt>
                <c:pt idx="3">
                  <c:v>2025*</c:v>
                </c:pt>
              </c:strCache>
            </c:strRef>
          </c:cat>
          <c:val>
            <c:numRef>
              <c:f>Sheet1!$B$2:$B$5</c:f>
              <c:numCache>
                <c:formatCode>General</c:formatCode>
                <c:ptCount val="4"/>
                <c:pt idx="0">
                  <c:v>374</c:v>
                </c:pt>
                <c:pt idx="1">
                  <c:v>434</c:v>
                </c:pt>
                <c:pt idx="2">
                  <c:v>478</c:v>
                </c:pt>
                <c:pt idx="3">
                  <c:v>498</c:v>
                </c:pt>
              </c:numCache>
            </c:numRef>
          </c:val>
        </c:ser>
        <c:ser>
          <c:idx val="1"/>
          <c:order val="1"/>
          <c:tx>
            <c:strRef>
              <c:f>Sheet1!$C$1</c:f>
              <c:strCache>
                <c:ptCount val="1"/>
                <c:pt idx="0">
                  <c:v>Année de règlement</c:v>
                </c:pt>
              </c:strCache>
            </c:strRef>
          </c:tx>
          <c:spPr>
            <a:solidFill>
              <a:srgbClr val="EF4647"/>
            </a:solidFill>
            <a:ln>
              <a:noFill/>
            </a:ln>
          </c:spPr>
          <c:cat>
            <c:strRef>
              <c:f>Sheet1!$A$2:$A$5</c:f>
              <c:strCache>
                <c:ptCount val="4"/>
                <c:pt idx="0">
                  <c:v>2022</c:v>
                </c:pt>
                <c:pt idx="1">
                  <c:v>2023</c:v>
                </c:pt>
                <c:pt idx="2">
                  <c:v>2024</c:v>
                </c:pt>
                <c:pt idx="3">
                  <c:v>2025*</c:v>
                </c:pt>
              </c:strCache>
            </c:strRef>
          </c:cat>
          <c:val>
            <c:numRef>
              <c:f>Sheet1!$C$2:$C$5</c:f>
              <c:numCache>
                <c:formatCode>General</c:formatCode>
                <c:ptCount val="4"/>
                <c:pt idx="0">
                  <c:v>370</c:v>
                </c:pt>
                <c:pt idx="1">
                  <c:v>431</c:v>
                </c:pt>
                <c:pt idx="2">
                  <c:v>476</c:v>
                </c:pt>
                <c:pt idx="3">
                  <c:v>523</c:v>
                </c:pt>
              </c:numCache>
            </c:numRef>
          </c:val>
        </c:ser>
        <c:gapWidth val="65"/>
        <c:axId val="100001"/>
        <c:axId val="100002"/>
      </c:barChart>
      <c:catAx>
        <c:axId val="100001"/>
        <c:scaling>
          <c:orientation val="minMax"/>
        </c:scaling>
        <c:delete val="0"/>
        <c:axPos val="b"/>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2"/>
        <c:crosses val="autoZero"/>
        <c:auto val="1"/>
        <c:lblAlgn val="ctr"/>
        <c:lblOffset val="100"/>
        <c:noMultiLvlLbl val="0"/>
      </c:catAx>
      <c:valAx>
        <c:axId val="100002"/>
        <c:scaling>
          <c:max val="600.0"/>
          <c:min val="0.0"/>
        </c:scaling>
        <c:delete val="0"/>
        <c:axPos val="l"/>
        <c:majorGridlines>
          <c:spPr>
            <a:ln w="3810">
              <a:solidFill>
                <a:srgbClr val="BFBFBF"/>
              </a:solidFill>
            </a:ln>
          </c:spPr>
        </c:majorGridlines>
        <c:numFmt formatCode="0" sourceLinked="0"/>
        <c:majorTickMark val="none"/>
        <c:minorTickMark val="none"/>
        <c:tickLblPos val="nextTo"/>
        <c:spPr>
          <a:ln>
            <a:solidFill>
              <a:srgbClr val="BFBFBF"/>
            </a:solidFill>
          </a:ln>
        </c:spPr>
        <c:txPr>
          <a:bodyPr/>
          <a:lstStyle/>
          <a:p>
            <a:pPr>
              <a:defRPr sz="900" b="0">
                <a:solidFill>
                  <a:srgbClr val="404040"/>
                </a:solidFill>
                <a:latin typeface="Avenir Next LT Pro Light"/>
              </a:defRPr>
            </a:pPr>
          </a:p>
        </c:txPr>
        <c:crossAx val="100001"/>
        <c:crosses val="autoZero"/>
        <c:majorUnit val="200.0"/>
      </c:valAx>
    </c:plotArea>
    <c:legend>
      <c:legendPos val="b"/>
      <c:overlay val="0"/>
      <c:txPr>
        <a:bodyPr/>
        <a:lstStyle/>
        <a:p>
          <a:pPr>
            <a:defRPr sz="900" b="0">
              <a:solidFill>
                <a:srgbClr val="404040"/>
              </a:solidFill>
              <a:latin typeface="Avenir Next LT Pro Light"/>
            </a:defRPr>
          </a:pPr>
        </a:p>
      </c:txPr>
    </c:legend>
    <c:dispBlanksAs val="gap"/>
  </c:chart>
  <c:txPr>
    <a:bodyPr/>
    <a:lstStyle/>
    <a:p>
      <a:pPr>
        <a:defRPr sz="900">
          <a:solidFill>
            <a:srgbClr val="404040"/>
          </a:solidFill>
          <a:latin typeface="Avenir Next LT Pro Light"/>
        </a:defRPr>
      </a:pPr>
      <a:endParaRPr lang="en-US"/>
    </a:p>
  </c:txPr>
  <c:externalData r:id="rId1">
    <c:autoUpdate val="0"/>
  </c:externalData>
</c:chartSpace>
</file>

<file path=ppt/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ppt/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ppt/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ppt/customXml/item1.xml><?xml version="1.0" encoding="utf-8"?>
<?mso-contentType ?>
<FormTemplates xmlns="http://schemas.microsoft.com/sharepoint/v3/contenttype/forms">
  <Display>DocumentLibraryForm</Display>
  <Edit>DocumentLibraryForm</Edit>
  <New>DocumentLibraryForm</New>
</FormTemplates>
</file>

<file path=ppt/customXml/item2.xml><?xml version="1.0" encoding="utf-8"?>
<p:properties xmlns:p="http://schemas.microsoft.com/office/2006/metadata/properties" xmlns:xsi="http://www.w3.org/2001/XMLSchema-instance" xmlns:pc="http://schemas.microsoft.com/office/infopath/2007/PartnerControls">
  <documentManagement>
    <_activity xmlns="3f5fdb73-2779-412e-8ab1-8f50f8c50903" xsi:nil="true"/>
  </documentManagement>
</p:properties>
</file>

<file path=ppt/customXml/item3.xml><?xml version="1.0" encoding="utf-8"?>
<ct:contentTypeSchema xmlns:ct="http://schemas.microsoft.com/office/2006/metadata/contentType" xmlns:ma="http://schemas.microsoft.com/office/2006/metadata/properties/metaAttributes" ct:_="" ma:_="" ma:contentTypeName="Document" ma:contentTypeID="0x0101004DC111B863CCFF45AFD913A1822A08C3" ma:contentTypeVersion="8" ma:contentTypeDescription="Crée un document." ma:contentTypeScope="" ma:versionID="11027c6d05f17e03099bf94fc14ee579">
  <xsd:schema xmlns:xsd="http://www.w3.org/2001/XMLSchema" xmlns:xs="http://www.w3.org/2001/XMLSchema" xmlns:p="http://schemas.microsoft.com/office/2006/metadata/properties" xmlns:ns3="3f5fdb73-2779-412e-8ab1-8f50f8c50903" targetNamespace="http://schemas.microsoft.com/office/2006/metadata/properties" ma:root="true" ma:fieldsID="624010545f0cea6cd533097d55d83335" ns3:_="">
    <xsd:import namespace="3f5fdb73-2779-412e-8ab1-8f50f8c5090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5fdb73-2779-412e-8ab1-8f50f8c5090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ppt/customXml/itemProps1.xml><?xml version="1.0" encoding="utf-8"?>
<ds:datastoreItem xmlns:ds="http://schemas.openxmlformats.org/officeDocument/2006/customXml" ds:itemID="{00BA603A-71B9-440C-B1B9-F2383059DB44}">
  <ds:schemaRefs>
    <ds:schemaRef ds:uri="http://schemas.microsoft.com/sharepoint/v3/contenttype/forms"/>
  </ds:schemaRefs>
</ds:datastoreItem>
</file>

<file path=ppt/customXml/itemProps2.xml><?xml version="1.0" encoding="utf-8"?>
<ds:datastoreItem xmlns:ds="http://schemas.openxmlformats.org/officeDocument/2006/customXml" ds:itemID="{146B4A1F-629B-4736-89B2-8C1C5B094FA0}">
  <ds:schemaRef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3f5fdb73-2779-412e-8ab1-8f50f8c50903"/>
    <ds:schemaRef ds:uri="http://purl.org/dc/terms/"/>
    <ds:schemaRef ds:uri="http://schemas.openxmlformats.org/package/2006/metadata/core-properties"/>
    <ds:schemaRef ds:uri="http://www.w3.org/XML/1998/namespace"/>
  </ds:schemaRefs>
</ds:datastoreItem>
</file>

<file path=ppt/customXml/itemProps3.xml><?xml version="1.0" encoding="utf-8"?>
<ds:datastoreItem xmlns:ds="http://schemas.openxmlformats.org/officeDocument/2006/customXml" ds:itemID="{BF15B7D6-D972-4047-BBB2-34012DDDA2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f5fdb73-2779-412e-8ab1-8f50f8c5090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C2931A-9B9C-416F-AED9-37313714829F}" type="datetimeFigureOut">
              <a:rPr lang="fr-FR" smtClean="0"/>
              <a:t>18/09/2026</a:t>
            </a:fld>
            <a:endParaRPr lang="fr-FR"/>
          </a:p>
        </p:txBody>
      </p:sp>
      <p:sp>
        <p:nvSpPr>
          <p:cNvPr id="4" name="Espace réservé de l'image des diapositives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4A845C-32FB-4A18-97E1-E276771F3835}" type="slidenum">
              <a:rPr lang="fr-FR" smtClean="0"/>
              <a:t>‹N°›</a:t>
            </a:fld>
            <a:endParaRPr lang="fr-FR"/>
          </a:p>
        </p:txBody>
      </p:sp>
    </p:spTree>
    <p:extLst>
      <p:ext uri="{BB962C8B-B14F-4D97-AF65-F5344CB8AC3E}">
        <p14:creationId xmlns:p14="http://schemas.microsoft.com/office/powerpoint/2010/main" val="3207376626"/>
      </p:ext>
    </p:extLst>
  </p:cSld>
  <p:clrMap bg1="lt1" tx1="dk1" bg2="lt2" tx2="dk2" accent1="accent1" accent2="accent2" accent3="accent3" accent4="accent4" accent5="accent5" accent6="accent6" hlink="hlink" folHlink="folHlink"/>
  <p:notesStyle>
    <a:lvl1pPr marL="0" algn="l" defTabSz="713232" rtl="0" eaLnBrk="1" latinLnBrk="0" hangingPunct="1">
      <a:defRPr sz="936" kern="1200">
        <a:solidFill>
          <a:schemeClr val="tx1"/>
        </a:solidFill>
        <a:latin typeface="+mn-lt"/>
        <a:ea typeface="+mn-ea"/>
        <a:cs typeface="+mn-cs"/>
      </a:defRPr>
    </a:lvl1pPr>
    <a:lvl2pPr marL="356616" algn="l" defTabSz="713232" rtl="0" eaLnBrk="1" latinLnBrk="0" hangingPunct="1">
      <a:defRPr sz="936" kern="1200">
        <a:solidFill>
          <a:schemeClr val="tx1"/>
        </a:solidFill>
        <a:latin typeface="+mn-lt"/>
        <a:ea typeface="+mn-ea"/>
        <a:cs typeface="+mn-cs"/>
      </a:defRPr>
    </a:lvl2pPr>
    <a:lvl3pPr marL="713232" algn="l" defTabSz="713232" rtl="0" eaLnBrk="1" latinLnBrk="0" hangingPunct="1">
      <a:defRPr sz="936" kern="1200">
        <a:solidFill>
          <a:schemeClr val="tx1"/>
        </a:solidFill>
        <a:latin typeface="+mn-lt"/>
        <a:ea typeface="+mn-ea"/>
        <a:cs typeface="+mn-cs"/>
      </a:defRPr>
    </a:lvl3pPr>
    <a:lvl4pPr marL="1069848" algn="l" defTabSz="713232" rtl="0" eaLnBrk="1" latinLnBrk="0" hangingPunct="1">
      <a:defRPr sz="936" kern="1200">
        <a:solidFill>
          <a:schemeClr val="tx1"/>
        </a:solidFill>
        <a:latin typeface="+mn-lt"/>
        <a:ea typeface="+mn-ea"/>
        <a:cs typeface="+mn-cs"/>
      </a:defRPr>
    </a:lvl4pPr>
    <a:lvl5pPr marL="1426464" algn="l" defTabSz="713232" rtl="0" eaLnBrk="1" latinLnBrk="0" hangingPunct="1">
      <a:defRPr sz="936" kern="1200">
        <a:solidFill>
          <a:schemeClr val="tx1"/>
        </a:solidFill>
        <a:latin typeface="+mn-lt"/>
        <a:ea typeface="+mn-ea"/>
        <a:cs typeface="+mn-cs"/>
      </a:defRPr>
    </a:lvl5pPr>
    <a:lvl6pPr marL="1783080" algn="l" defTabSz="713232" rtl="0" eaLnBrk="1" latinLnBrk="0" hangingPunct="1">
      <a:defRPr sz="936" kern="1200">
        <a:solidFill>
          <a:schemeClr val="tx1"/>
        </a:solidFill>
        <a:latin typeface="+mn-lt"/>
        <a:ea typeface="+mn-ea"/>
        <a:cs typeface="+mn-cs"/>
      </a:defRPr>
    </a:lvl6pPr>
    <a:lvl7pPr marL="2139696" algn="l" defTabSz="713232" rtl="0" eaLnBrk="1" latinLnBrk="0" hangingPunct="1">
      <a:defRPr sz="936" kern="1200">
        <a:solidFill>
          <a:schemeClr val="tx1"/>
        </a:solidFill>
        <a:latin typeface="+mn-lt"/>
        <a:ea typeface="+mn-ea"/>
        <a:cs typeface="+mn-cs"/>
      </a:defRPr>
    </a:lvl7pPr>
    <a:lvl8pPr marL="2496312" algn="l" defTabSz="713232" rtl="0" eaLnBrk="1" latinLnBrk="0" hangingPunct="1">
      <a:defRPr sz="936" kern="1200">
        <a:solidFill>
          <a:schemeClr val="tx1"/>
        </a:solidFill>
        <a:latin typeface="+mn-lt"/>
        <a:ea typeface="+mn-ea"/>
        <a:cs typeface="+mn-cs"/>
      </a:defRPr>
    </a:lvl8pPr>
    <a:lvl9pPr marL="2852928" algn="l" defTabSz="713232" rtl="0" eaLnBrk="1" latinLnBrk="0" hangingPunct="1">
      <a:defRPr sz="9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407988" y="739775"/>
            <a:ext cx="5919787" cy="3700463"/>
          </a:xfrm>
        </p:spPr>
        <p:txBody>
          <a:bodyPr/>
          <a:lstStyle/>
          <a:p>
            <a:endParaRPr lang="fr-FR"/>
          </a:p>
        </p:txBody>
      </p:sp>
      <p:sp>
        <p:nvSpPr>
          <p:cNvPr id="3" name="Espace réservé des commentaires 2"/>
          <p:cNvSpPr>
            <a:spLocks noGrp="1"/>
          </p:cNvSpPr>
          <p:nvPr>
            <p:ph type="body" idx="1"/>
          </p:nvPr>
        </p:nvSpPr>
        <p:spPr/>
        <p:txBody>
          <a:bodyPr/>
          <a:lstStyle/>
          <a:p/>
        </p:txBody>
      </p:sp>
      <p:sp>
        <p:nvSpPr>
          <p:cNvPr id="4" name="Espace réservé du numéro de diapositive 3"/>
          <p:cNvSpPr>
            <a:spLocks noGrp="1"/>
          </p:cNvSpPr>
          <p:nvPr>
            <p:ph type="sldNum" sz="quarter" idx="10"/>
          </p:nvPr>
        </p:nvSpPr>
        <p:spPr/>
        <p:txBody>
          <a:bodyPr/>
          <a:lstStyle/>
          <a:p>
            <a:fld id="{69E30AB8-B1E9-B340-9196-4A9B860F9FAC}" type="slidenum">
              <a:rPr lang="en-US" smtClean="0"/>
              <a:pPr/>
              <a:t>1</a:t>
            </a:fld>
            <a:endParaRPr lang="en-US"/>
          </a:p>
        </p:txBody>
      </p:sp>
    </p:spTree>
    <p:extLst>
      <p:ext uri="{BB962C8B-B14F-4D97-AF65-F5344CB8AC3E}">
        <p14:creationId xmlns:p14="http://schemas.microsoft.com/office/powerpoint/2010/main" val="1013169034"/>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3.png"/><Relationship Id="rId9" Type="http://schemas.openxmlformats.org/officeDocument/2006/relationships/image" Target="../media/image11.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age de gar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Title 1">
            <a:extLst>
              <a:ext uri="{FF2B5EF4-FFF2-40B4-BE49-F238E27FC236}">
                <a16:creationId xmlns:a16="http://schemas.microsoft.com/office/drawing/2014/main" id="{CFD46FB4-C0CA-EDE2-E921-77BDA1EB87F4}"/>
              </a:ext>
            </a:extLst>
          </p:cNvPr>
          <p:cNvSpPr>
            <a:spLocks noGrp="1"/>
          </p:cNvSpPr>
          <p:nvPr>
            <p:ph type="ctrTitle" hasCustomPrompt="1"/>
          </p:nvPr>
        </p:nvSpPr>
        <p:spPr>
          <a:xfrm>
            <a:off x="254298" y="2461496"/>
            <a:ext cx="3812404" cy="1051024"/>
          </a:xfrm>
        </p:spPr>
        <p:txBody>
          <a:bodyPr wrap="square" lIns="0" tIns="0" rIns="0" bIns="0" anchor="b" anchorCtr="0">
            <a:noAutofit/>
          </a:bodyPr>
          <a:lstStyle>
            <a:lvl1pPr algn="l">
              <a:defRPr sz="2000" b="0" cap="none">
                <a:solidFill>
                  <a:schemeClr val="tx2">
                    <a:lumMod val="75000"/>
                    <a:lumOff val="25000"/>
                  </a:schemeClr>
                </a:solidFill>
                <a:latin typeface="Montserrat" panose="00000500000000000000" pitchFamily="2" charset="0"/>
              </a:defRPr>
            </a:lvl1pPr>
          </a:lstStyle>
          <a:p>
            <a:r>
              <a:rPr lang="fr-FR"/>
              <a:t>Titre de la présentation</a:t>
            </a:r>
            <a:br>
              <a:rPr lang="fr-FR"/>
            </a:br>
            <a:endParaRPr lang="en-US"/>
          </a:p>
        </p:txBody>
      </p:sp>
      <p:sp>
        <p:nvSpPr>
          <p:cNvPr id="6" name="Espace réservé du texte 8">
            <a:extLst>
              <a:ext uri="{FF2B5EF4-FFF2-40B4-BE49-F238E27FC236}">
                <a16:creationId xmlns:a16="http://schemas.microsoft.com/office/drawing/2014/main" id="{51627032-873D-A117-0872-22E71C6A35B7}"/>
              </a:ext>
            </a:extLst>
          </p:cNvPr>
          <p:cNvSpPr>
            <a:spLocks noGrp="1"/>
          </p:cNvSpPr>
          <p:nvPr>
            <p:ph type="body" sz="quarter" idx="11" hasCustomPrompt="1"/>
          </p:nvPr>
        </p:nvSpPr>
        <p:spPr>
          <a:xfrm>
            <a:off x="254298" y="942453"/>
            <a:ext cx="3835264" cy="333602"/>
          </a:xfrm>
          <a:prstGeom prst="rect">
            <a:avLst/>
          </a:prstGeom>
        </p:spPr>
        <p:txBody>
          <a:bodyPr lIns="0" tIns="0" rIns="0" bIns="0">
            <a:noAutofit/>
          </a:bodyPr>
          <a:lstStyle>
            <a:lvl1pPr marL="0" indent="0" algn="l">
              <a:buNone/>
              <a:defRPr lang="fr-FR" sz="2000" b="0" kern="1200" cap="all" baseline="0" dirty="0" smtClean="0">
                <a:solidFill>
                  <a:schemeClr val="tx1"/>
                </a:solidFill>
                <a:latin typeface="Montserrat" panose="00000500000000000000" pitchFamily="2" charset="0"/>
                <a:ea typeface="+mj-ea"/>
                <a:cs typeface="+mj-cs"/>
              </a:defRPr>
            </a:lvl1pPr>
          </a:lstStyle>
          <a:p>
            <a:pPr lvl="0"/>
            <a:r>
              <a:rPr lang="fr-FR"/>
              <a:t>NOM OU LOGO DU CLIENT</a:t>
            </a:r>
          </a:p>
        </p:txBody>
      </p:sp>
      <p:sp>
        <p:nvSpPr>
          <p:cNvPr id="7" name="Text Placeholder 7">
            <a:extLst>
              <a:ext uri="{FF2B5EF4-FFF2-40B4-BE49-F238E27FC236}">
                <a16:creationId xmlns:a16="http://schemas.microsoft.com/office/drawing/2014/main" id="{F3EA966D-D86B-4318-68E8-FB70874607F6}"/>
              </a:ext>
            </a:extLst>
          </p:cNvPr>
          <p:cNvSpPr>
            <a:spLocks noGrp="1"/>
          </p:cNvSpPr>
          <p:nvPr>
            <p:ph type="body" sz="quarter" idx="13" hasCustomPrompt="1"/>
          </p:nvPr>
        </p:nvSpPr>
        <p:spPr>
          <a:xfrm>
            <a:off x="254298" y="3865627"/>
            <a:ext cx="2653486" cy="169277"/>
          </a:xfrm>
          <a:prstGeom prst="rect">
            <a:avLst/>
          </a:prstGeom>
          <a:noFill/>
          <a:effectLst/>
        </p:spPr>
        <p:txBody>
          <a:bodyPr wrap="square" lIns="0" tIns="0" rIns="0" bIns="0" anchor="ctr" anchorCtr="0">
            <a:spAutoFit/>
          </a:bodyPr>
          <a:lstStyle>
            <a:lvl1pPr marL="0" indent="0" algn="l">
              <a:buNone/>
              <a:defRPr sz="11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Date</a:t>
            </a:r>
            <a:endParaRPr lang="en-US"/>
          </a:p>
        </p:txBody>
      </p:sp>
      <p:sp>
        <p:nvSpPr>
          <p:cNvPr id="9" name="Text Placeholder 7">
            <a:extLst>
              <a:ext uri="{FF2B5EF4-FFF2-40B4-BE49-F238E27FC236}">
                <a16:creationId xmlns:a16="http://schemas.microsoft.com/office/drawing/2014/main" id="{A8B5F414-C7A0-5E0C-F4A9-36EDA944515C}"/>
              </a:ext>
            </a:extLst>
          </p:cNvPr>
          <p:cNvSpPr>
            <a:spLocks noGrp="1"/>
          </p:cNvSpPr>
          <p:nvPr>
            <p:ph type="body" sz="quarter" idx="14" hasCustomPrompt="1"/>
          </p:nvPr>
        </p:nvSpPr>
        <p:spPr>
          <a:xfrm>
            <a:off x="254298" y="3591234"/>
            <a:ext cx="2653486" cy="184666"/>
          </a:xfrm>
          <a:prstGeom prst="rect">
            <a:avLst/>
          </a:prstGeom>
          <a:noFill/>
          <a:effectLst/>
        </p:spPr>
        <p:txBody>
          <a:bodyPr wrap="square" lIns="0" tIns="0" rIns="0" bIns="0" anchor="ctr" anchorCtr="0">
            <a:spAutoFit/>
          </a:bodyPr>
          <a:lstStyle>
            <a:lvl1pPr marL="0" indent="0" algn="l">
              <a:buNone/>
              <a:defRPr sz="12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Proposition d’accompagnement</a:t>
            </a:r>
          </a:p>
        </p:txBody>
      </p:sp>
      <p:grpSp>
        <p:nvGrpSpPr>
          <p:cNvPr id="11" name="Groupe 10">
            <a:extLst>
              <a:ext uri="{FF2B5EF4-FFF2-40B4-BE49-F238E27FC236}">
                <a16:creationId xmlns:a16="http://schemas.microsoft.com/office/drawing/2014/main" id="{C846A676-5CF5-1CE5-ADA1-7C1913CF3291}"/>
              </a:ext>
            </a:extLst>
          </p:cNvPr>
          <p:cNvGrpSpPr>
            <a:grpSpLocks noChangeAspect="1"/>
          </p:cNvGrpSpPr>
          <p:nvPr/>
        </p:nvGrpSpPr>
        <p:grpSpPr>
          <a:xfrm>
            <a:off x="6267753" y="3760840"/>
            <a:ext cx="2764534" cy="828000"/>
            <a:chOff x="4608564" y="2308123"/>
            <a:chExt cx="1649613" cy="494072"/>
          </a:xfrm>
        </p:grpSpPr>
        <p:pic>
          <p:nvPicPr>
            <p:cNvPr id="12" name="Image 11" descr="Une image contenant texte, Police, Graphique, typographie  Description générée automatiquement">
              <a:extLst>
                <a:ext uri="{FF2B5EF4-FFF2-40B4-BE49-F238E27FC236}">
                  <a16:creationId xmlns:a16="http://schemas.microsoft.com/office/drawing/2014/main" id="{21E21DBE-0BBD-7172-85E8-48E7FF315C8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3" name="Image 12" descr="Une image contenant texte, Police, Graphique, typographie  Description générée automatiquement">
              <a:extLst>
                <a:ext uri="{FF2B5EF4-FFF2-40B4-BE49-F238E27FC236}">
                  <a16:creationId xmlns:a16="http://schemas.microsoft.com/office/drawing/2014/main" id="{6BAD7092-7117-DA69-E60A-B7BBC801CE9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2" name="Espace réservé du pied de page 1">
            <a:extLst>
              <a:ext uri="{FF2B5EF4-FFF2-40B4-BE49-F238E27FC236}">
                <a16:creationId xmlns:a16="http://schemas.microsoft.com/office/drawing/2014/main" id="{66EEEA6F-B229-E928-FF28-A19EE77C7B7B}"/>
              </a:ext>
            </a:extLst>
          </p:cNvPr>
          <p:cNvSpPr>
            <a:spLocks noGrp="1"/>
          </p:cNvSpPr>
          <p:nvPr>
            <p:ph type="ftr" sz="quarter" idx="15"/>
          </p:nvPr>
        </p:nvSpPr>
        <p:spPr>
          <a:xfrm>
            <a:off x="3028950" y="5405488"/>
            <a:ext cx="3086100" cy="303212"/>
          </a:xfrm>
          <a:prstGeom prst="rect">
            <a:avLst/>
          </a:prstGeom>
        </p:spPr>
        <p:txBody>
          <a:bodyPr/>
          <a:lstStyle/>
          <a:p>
            <a:endParaRPr lang="fr-FR"/>
          </a:p>
        </p:txBody>
      </p:sp>
    </p:spTree>
    <p:extLst>
      <p:ext uri="{BB962C8B-B14F-4D97-AF65-F5344CB8AC3E}">
        <p14:creationId xmlns:p14="http://schemas.microsoft.com/office/powerpoint/2010/main" val="162183943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ercalair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7FEB5F9-D1CF-A1BB-9A3D-15FEDB8A579B}"/>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9" name="Espace réservé du texte 8">
            <a:extLst>
              <a:ext uri="{FF2B5EF4-FFF2-40B4-BE49-F238E27FC236}">
                <a16:creationId xmlns:a16="http://schemas.microsoft.com/office/drawing/2014/main" id="{28D3956E-F1FF-3942-FC61-6244C52F5059}"/>
              </a:ext>
            </a:extLst>
          </p:cNvPr>
          <p:cNvSpPr>
            <a:spLocks noGrp="1"/>
          </p:cNvSpPr>
          <p:nvPr>
            <p:ph type="body" sz="quarter" idx="11" hasCustomPrompt="1"/>
          </p:nvPr>
        </p:nvSpPr>
        <p:spPr>
          <a:xfrm>
            <a:off x="228600" y="1574913"/>
            <a:ext cx="3825240" cy="1572148"/>
          </a:xfrm>
          <a:prstGeom prst="rect">
            <a:avLst/>
          </a:prstGeom>
        </p:spPr>
        <p:txBody>
          <a:bodyPr>
            <a:noAutofit/>
          </a:bodyPr>
          <a:lstStyle>
            <a:lvl1pPr marL="0" indent="0" algn="l">
              <a:buNone/>
              <a:defRPr lang="fr-FR" sz="12450" b="0" kern="1200" cap="all" baseline="0" dirty="0" smtClean="0">
                <a:solidFill>
                  <a:schemeClr val="tx1">
                    <a:alpha val="10000"/>
                  </a:schemeClr>
                </a:solidFill>
                <a:latin typeface="Montserrat" panose="00000500000000000000" pitchFamily="2" charset="0"/>
                <a:ea typeface="+mj-ea"/>
                <a:cs typeface="+mj-cs"/>
              </a:defRPr>
            </a:lvl1pPr>
          </a:lstStyle>
          <a:p>
            <a:pPr lvl="0"/>
            <a:r>
              <a:rPr lang="fr-FR"/>
              <a:t>01</a:t>
            </a:r>
          </a:p>
        </p:txBody>
      </p:sp>
      <p:sp>
        <p:nvSpPr>
          <p:cNvPr id="20" name="Title 1">
            <a:extLst>
              <a:ext uri="{FF2B5EF4-FFF2-40B4-BE49-F238E27FC236}">
                <a16:creationId xmlns:a16="http://schemas.microsoft.com/office/drawing/2014/main" id="{93EC054C-0A61-C5E2-E040-E68118427BDA}"/>
              </a:ext>
            </a:extLst>
          </p:cNvPr>
          <p:cNvSpPr>
            <a:spLocks noGrp="1"/>
          </p:cNvSpPr>
          <p:nvPr>
            <p:ph type="ctrTitle" hasCustomPrompt="1"/>
          </p:nvPr>
        </p:nvSpPr>
        <p:spPr>
          <a:xfrm>
            <a:off x="228600" y="3239036"/>
            <a:ext cx="4366260" cy="403324"/>
          </a:xfrm>
        </p:spPr>
        <p:txBody>
          <a:bodyPr wrap="square" lIns="108000" tIns="0" bIns="0" anchor="t" anchorCtr="0">
            <a:noAutofit/>
          </a:bodyPr>
          <a:lstStyle>
            <a:lvl1pPr algn="l">
              <a:defRPr sz="2400" b="0" cap="none">
                <a:solidFill>
                  <a:schemeClr val="tx2">
                    <a:lumMod val="75000"/>
                    <a:lumOff val="25000"/>
                  </a:schemeClr>
                </a:solidFill>
                <a:latin typeface="Montserrat" panose="00000500000000000000" pitchFamily="2" charset="0"/>
              </a:defRPr>
            </a:lvl1pPr>
          </a:lstStyle>
          <a:p>
            <a:r>
              <a:rPr lang="fr-FR"/>
              <a:t>Titre intercalaire</a:t>
            </a:r>
            <a:br>
              <a:rPr lang="fr-FR"/>
            </a:br>
            <a:br>
              <a:rPr lang="fr-FR"/>
            </a:br>
            <a:br>
              <a:rPr lang="fr-FR"/>
            </a:br>
            <a:endParaRPr lang="en-US"/>
          </a:p>
        </p:txBody>
      </p:sp>
      <p:sp>
        <p:nvSpPr>
          <p:cNvPr id="21" name="Espace réservé du texte 16">
            <a:extLst>
              <a:ext uri="{FF2B5EF4-FFF2-40B4-BE49-F238E27FC236}">
                <a16:creationId xmlns:a16="http://schemas.microsoft.com/office/drawing/2014/main" id="{F6D2FFEF-8060-31E4-4439-6CE81B8BF862}"/>
              </a:ext>
            </a:extLst>
          </p:cNvPr>
          <p:cNvSpPr>
            <a:spLocks noGrp="1"/>
          </p:cNvSpPr>
          <p:nvPr>
            <p:ph type="body" sz="quarter" idx="12" hasCustomPrompt="1"/>
          </p:nvPr>
        </p:nvSpPr>
        <p:spPr>
          <a:xfrm>
            <a:off x="228918" y="3657918"/>
            <a:ext cx="4365942" cy="631825"/>
          </a:xfrm>
          <a:prstGeom prst="rect">
            <a:avLst/>
          </a:prstGeom>
        </p:spPr>
        <p:txBody>
          <a:bodyPr>
            <a:noAutofit/>
          </a:bodyPr>
          <a:lstStyle>
            <a:lvl1pPr marL="540000">
              <a:buClr>
                <a:schemeClr val="tx1"/>
              </a:buClr>
              <a:buSzPct val="60000"/>
              <a:defRPr/>
            </a:lvl1pPr>
          </a:lstStyle>
          <a:p>
            <a:pPr lvl="0"/>
            <a:r>
              <a:rPr lang="fr-FR"/>
              <a:t>Sous-titres</a:t>
            </a:r>
          </a:p>
        </p:txBody>
      </p:sp>
      <p:sp>
        <p:nvSpPr>
          <p:cNvPr id="2" name="Espace réservé du pied de page 1">
            <a:extLst>
              <a:ext uri="{FF2B5EF4-FFF2-40B4-BE49-F238E27FC236}">
                <a16:creationId xmlns:a16="http://schemas.microsoft.com/office/drawing/2014/main" id="{B1A68E45-4541-607F-B467-5BEFDE131906}"/>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98655974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avec spirale">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tx2">
                  <a:lumMod val="75000"/>
                  <a:lumOff val="25000"/>
                </a:schemeClr>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6" name="Espace réservé du contenu 5">
            <a:extLst>
              <a:ext uri="{FF2B5EF4-FFF2-40B4-BE49-F238E27FC236}">
                <a16:creationId xmlns:a16="http://schemas.microsoft.com/office/drawing/2014/main" id="{B5BBE27A-16A9-4A48-8A0F-5D850CC61169}"/>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grpSp>
        <p:nvGrpSpPr>
          <p:cNvPr id="13" name="Groupe 12">
            <a:extLst>
              <a:ext uri="{FF2B5EF4-FFF2-40B4-BE49-F238E27FC236}">
                <a16:creationId xmlns:a16="http://schemas.microsoft.com/office/drawing/2014/main" id="{545FE815-CF02-9932-C2A7-2567392C6422}"/>
              </a:ext>
            </a:extLst>
          </p:cNvPr>
          <p:cNvGrpSpPr/>
          <p:nvPr/>
        </p:nvGrpSpPr>
        <p:grpSpPr>
          <a:xfrm>
            <a:off x="7322267" y="184355"/>
            <a:ext cx="1649613" cy="494072"/>
            <a:chOff x="4608564" y="2308123"/>
            <a:chExt cx="1649613" cy="494072"/>
          </a:xfrm>
        </p:grpSpPr>
        <p:pic>
          <p:nvPicPr>
            <p:cNvPr id="7" name="Image 6" descr="Une image contenant texte, Police, Graphique, typographie  Description générée automatiquement">
              <a:extLst>
                <a:ext uri="{FF2B5EF4-FFF2-40B4-BE49-F238E27FC236}">
                  <a16:creationId xmlns:a16="http://schemas.microsoft.com/office/drawing/2014/main" id="{B65ED365-A332-949C-DAE1-B0F3A1940B9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2" name="Image 11" descr="Une image contenant texte, Police, Graphique, typographie  Description générée automatiquement">
              <a:extLst>
                <a:ext uri="{FF2B5EF4-FFF2-40B4-BE49-F238E27FC236}">
                  <a16:creationId xmlns:a16="http://schemas.microsoft.com/office/drawing/2014/main" id="{C32823C7-EC42-1314-F44F-DB1D541EF9D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3" name="Espace réservé du pied de page 1">
            <a:extLst>
              <a:ext uri="{FF2B5EF4-FFF2-40B4-BE49-F238E27FC236}">
                <a16:creationId xmlns:a16="http://schemas.microsoft.com/office/drawing/2014/main" id="{9AD2453F-DCB3-C5FA-A6E5-422DD68599E0}"/>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21585984"/>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avec spirale sans logo">
    <p:spTree>
      <p:nvGrpSpPr>
        <p:cNvPr id="1" name=""/>
        <p:cNvGrpSpPr/>
        <p:nvPr/>
      </p:nvGrpSpPr>
      <p:grpSpPr>
        <a:xfrm>
          <a:off x="0" y="0"/>
          <a:ext cx="0" cy="0"/>
          <a:chOff x="0" y="0"/>
          <a:chExt cx="0" cy="0"/>
        </a:xfrm>
      </p:grpSpPr>
      <p:sp>
        <p:nvSpPr>
          <p:cNvPr id="15" name="Text Placeholder 7"/>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10" name="Title 1">
            <a:extLst>
              <a:ext uri="{FF2B5EF4-FFF2-40B4-BE49-F238E27FC236}">
                <a16:creationId xmlns:a16="http://schemas.microsoft.com/office/drawing/2014/main" id="{CF401E96-B494-4A20-BE56-5F1F0EBFEE43}"/>
              </a:ext>
            </a:extLst>
          </p:cNvPr>
          <p:cNvSpPr>
            <a:spLocks noGrp="1"/>
          </p:cNvSpPr>
          <p:nvPr>
            <p:ph type="title" hasCustomPrompt="1"/>
          </p:nvPr>
        </p:nvSpPr>
        <p:spPr>
          <a:xfrm>
            <a:off x="465209" y="283891"/>
            <a:ext cx="8552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 name="Rectangle : avec coins arrondis en haut 1">
            <a:extLst>
              <a:ext uri="{FF2B5EF4-FFF2-40B4-BE49-F238E27FC236}">
                <a16:creationId xmlns:a16="http://schemas.microsoft.com/office/drawing/2014/main" id="{7A35023F-312F-CB20-943A-2715D46345C0}"/>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Rectangle 3">
            <a:extLst>
              <a:ext uri="{FF2B5EF4-FFF2-40B4-BE49-F238E27FC236}">
                <a16:creationId xmlns:a16="http://schemas.microsoft.com/office/drawing/2014/main" id="{26FF2622-F047-B735-AD90-C024E279D208}"/>
              </a:ext>
            </a:extLst>
          </p:cNvPr>
          <p:cNvSpPr/>
          <p:nvPr/>
        </p:nvSpPr>
        <p:spPr>
          <a:xfrm>
            <a:off x="7493621" y="5122127"/>
            <a:ext cx="1650380" cy="59287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5" name="Slide Number Placeholder 5">
            <a:extLst>
              <a:ext uri="{FF2B5EF4-FFF2-40B4-BE49-F238E27FC236}">
                <a16:creationId xmlns:a16="http://schemas.microsoft.com/office/drawing/2014/main" id="{4D453981-9392-3D8B-86B3-97D164C0A4D3}"/>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87C702FD-75B5-67AC-15A2-9482A3FC6757}"/>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1">
            <a:extLst>
              <a:ext uri="{FF2B5EF4-FFF2-40B4-BE49-F238E27FC236}">
                <a16:creationId xmlns:a16="http://schemas.microsoft.com/office/drawing/2014/main" id="{3880DA7C-5C20-FD6D-43B8-C637C16B83AB}"/>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2197958729"/>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C5E984FB-1D01-5BFB-372D-2554912F1B7A}"/>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FBA45E2E-ACFA-E174-4C82-5FE876AB1BD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8" name="Image 7" descr="Une image contenant texte, Police, Graphique, typographie  Description générée automatiquement">
              <a:extLst>
                <a:ext uri="{FF2B5EF4-FFF2-40B4-BE49-F238E27FC236}">
                  <a16:creationId xmlns:a16="http://schemas.microsoft.com/office/drawing/2014/main" id="{FC00D8FC-0221-4F2E-37BB-7BAB308341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944BC296-B3F2-358C-D8CD-11085DDE5B8A}"/>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37FA246-7A32-53BB-F3A8-086881CC6B4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57824318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u sans spirale">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grpSp>
        <p:nvGrpSpPr>
          <p:cNvPr id="5" name="Groupe 4">
            <a:extLst>
              <a:ext uri="{FF2B5EF4-FFF2-40B4-BE49-F238E27FC236}">
                <a16:creationId xmlns:a16="http://schemas.microsoft.com/office/drawing/2014/main" id="{71FFDB42-8AD4-6D11-C9E0-33F0D1441F44}"/>
              </a:ext>
            </a:extLst>
          </p:cNvPr>
          <p:cNvGrpSpPr/>
          <p:nvPr/>
        </p:nvGrpSpPr>
        <p:grpSpPr>
          <a:xfrm>
            <a:off x="7322267" y="184355"/>
            <a:ext cx="1649613" cy="494072"/>
            <a:chOff x="4608564" y="2308123"/>
            <a:chExt cx="1649613" cy="494072"/>
          </a:xfrm>
        </p:grpSpPr>
        <p:pic>
          <p:nvPicPr>
            <p:cNvPr id="6" name="Image 5" descr="Une image contenant texte, Police, Graphique, typographie  Description générée automatiquement">
              <a:extLst>
                <a:ext uri="{FF2B5EF4-FFF2-40B4-BE49-F238E27FC236}">
                  <a16:creationId xmlns:a16="http://schemas.microsoft.com/office/drawing/2014/main" id="{ED7D41F5-D384-7B80-7AF6-6037FCFD8CD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7" name="Image 6" descr="Une image contenant texte, Police, Graphique, typographie  Description générée automatiquement">
              <a:extLst>
                <a:ext uri="{FF2B5EF4-FFF2-40B4-BE49-F238E27FC236}">
                  <a16:creationId xmlns:a16="http://schemas.microsoft.com/office/drawing/2014/main" id="{AE307396-59EC-B90F-C340-421A98BC539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
        <p:nvSpPr>
          <p:cNvPr id="9" name="Espace réservé du contenu 5">
            <a:extLst>
              <a:ext uri="{FF2B5EF4-FFF2-40B4-BE49-F238E27FC236}">
                <a16:creationId xmlns:a16="http://schemas.microsoft.com/office/drawing/2014/main" id="{6F8212AB-C114-A4AF-6897-CAD8B3D9BCCC}"/>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883194D1-66B5-7A48-D651-C12ED0399F83}"/>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1006049905"/>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u sans spirale sans logo">
    <p:bg>
      <p:bgPr>
        <a:solidFill>
          <a:schemeClr val="bg1"/>
        </a:solid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DE177B2-C1F9-464A-84D2-E6D46CFBFAFD}"/>
              </a:ext>
            </a:extLst>
          </p:cNvPr>
          <p:cNvSpPr>
            <a:spLocks noGrp="1"/>
          </p:cNvSpPr>
          <p:nvPr>
            <p:ph type="title" hasCustomPrompt="1"/>
          </p:nvPr>
        </p:nvSpPr>
        <p:spPr>
          <a:xfrm>
            <a:off x="465210" y="283891"/>
            <a:ext cx="8551790" cy="310806"/>
          </a:xfrm>
          <a:prstGeom prst="rect">
            <a:avLst/>
          </a:prstGeom>
          <a:noFill/>
          <a:effectLst/>
        </p:spPr>
        <p:txBody>
          <a:bodyPr lIns="144000" tIns="39600" bIns="39600"/>
          <a:lstStyle>
            <a:lvl1pPr>
              <a:defRPr sz="1500" baseline="0">
                <a:solidFill>
                  <a:schemeClr val="accent5"/>
                </a:solidFill>
              </a:defRPr>
            </a:lvl1pPr>
          </a:lstStyle>
          <a:p>
            <a:r>
              <a:rPr lang="fr-FR"/>
              <a:t>Cliquer pour modifier le style de titres</a:t>
            </a:r>
            <a:endParaRPr lang="en-US"/>
          </a:p>
        </p:txBody>
      </p:sp>
      <p:sp>
        <p:nvSpPr>
          <p:cNvPr id="23" name="Text Placeholder 7">
            <a:extLst>
              <a:ext uri="{FF2B5EF4-FFF2-40B4-BE49-F238E27FC236}">
                <a16:creationId xmlns:a16="http://schemas.microsoft.com/office/drawing/2014/main" id="{F6285301-09DD-4382-AE7C-ED001A6D44DA}"/>
              </a:ext>
            </a:extLst>
          </p:cNvPr>
          <p:cNvSpPr>
            <a:spLocks noGrp="1"/>
          </p:cNvSpPr>
          <p:nvPr>
            <p:ph type="body" sz="quarter" idx="13" hasCustomPrompt="1"/>
          </p:nvPr>
        </p:nvSpPr>
        <p:spPr>
          <a:xfrm>
            <a:off x="465209" y="614460"/>
            <a:ext cx="8552791" cy="288147"/>
          </a:xfrm>
          <a:prstGeom prst="rect">
            <a:avLst/>
          </a:prstGeom>
          <a:noFill/>
          <a:effectLst/>
        </p:spPr>
        <p:txBody>
          <a:bodyPr wrap="square" lIns="72000" tIns="36000" rIns="72000" bIns="36000" anchor="ctr" anchorCtr="0">
            <a:spAutoFit/>
          </a:bodyPr>
          <a:lstStyle>
            <a:lvl1pPr marL="90487" indent="0">
              <a:buNone/>
              <a:defRPr sz="1400" b="0" cap="none" baseline="0">
                <a:solidFill>
                  <a:schemeClr val="accent5"/>
                </a:solidFill>
                <a:latin typeface="Montserrat" panose="00000500000000000000" pitchFamily="2" charset="0"/>
              </a:defRPr>
            </a:lvl1pPr>
            <a:lvl2pPr>
              <a:buNone/>
              <a:defRPr/>
            </a:lvl2pPr>
            <a:lvl3pPr>
              <a:buNone/>
              <a:defRPr/>
            </a:lvl3pPr>
            <a:lvl4pPr>
              <a:buNone/>
              <a:defRPr/>
            </a:lvl4pPr>
            <a:lvl5pPr>
              <a:buNone/>
              <a:defRPr/>
            </a:lvl5pPr>
          </a:lstStyle>
          <a:p>
            <a:pPr lvl="0"/>
            <a:r>
              <a:rPr lang="fr-FR"/>
              <a:t>Cliquer pour modifier le sous-titre</a:t>
            </a:r>
            <a:endParaRPr lang="en-US"/>
          </a:p>
        </p:txBody>
      </p:sp>
      <p:sp>
        <p:nvSpPr>
          <p:cNvPr id="2" name="Rectangle : avec coins arrondis en haut 1">
            <a:extLst>
              <a:ext uri="{FF2B5EF4-FFF2-40B4-BE49-F238E27FC236}">
                <a16:creationId xmlns:a16="http://schemas.microsoft.com/office/drawing/2014/main" id="{0FE5E827-AE15-CEBC-8A5A-7E35AE017EBF}"/>
              </a:ext>
            </a:extLst>
          </p:cNvPr>
          <p:cNvSpPr/>
          <p:nvPr/>
        </p:nvSpPr>
        <p:spPr>
          <a:xfrm rot="5400000">
            <a:off x="17383" y="585031"/>
            <a:ext cx="648000" cy="45719"/>
          </a:xfrm>
          <a:prstGeom prst="round2SameRect">
            <a:avLst/>
          </a:prstGeom>
          <a:solidFill>
            <a:schemeClr val="tx2">
              <a:lumMod val="75000"/>
              <a:lumOff val="25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4" name="Slide Number Placeholder 5">
            <a:extLst>
              <a:ext uri="{FF2B5EF4-FFF2-40B4-BE49-F238E27FC236}">
                <a16:creationId xmlns:a16="http://schemas.microsoft.com/office/drawing/2014/main" id="{5AA11F56-3569-A1C0-1BE8-ABB23AC4D1E0}"/>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9" name="Espace réservé du contenu 5">
            <a:extLst>
              <a:ext uri="{FF2B5EF4-FFF2-40B4-BE49-F238E27FC236}">
                <a16:creationId xmlns:a16="http://schemas.microsoft.com/office/drawing/2014/main" id="{F3C49862-DC55-CED8-3803-56C01AF2C893}"/>
              </a:ext>
            </a:extLst>
          </p:cNvPr>
          <p:cNvSpPr>
            <a:spLocks noGrp="1"/>
          </p:cNvSpPr>
          <p:nvPr>
            <p:ph sz="quarter" idx="14"/>
          </p:nvPr>
        </p:nvSpPr>
        <p:spPr>
          <a:xfrm>
            <a:off x="363538" y="1193800"/>
            <a:ext cx="8524875" cy="3967163"/>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48037D0B-15D9-AB15-2F2D-EAD4B6D5376C}"/>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4032120923"/>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vide avec spira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A831F68-AE6C-BB4B-3A49-3D1B539D1422}"/>
              </a:ext>
            </a:extLst>
          </p:cNvPr>
          <p:cNvSpPr/>
          <p:nvPr/>
        </p:nvSpPr>
        <p:spPr>
          <a:xfrm>
            <a:off x="7429963" y="5134708"/>
            <a:ext cx="1708220" cy="5802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 name="Slide Number Placeholder 5">
            <a:extLst>
              <a:ext uri="{FF2B5EF4-FFF2-40B4-BE49-F238E27FC236}">
                <a16:creationId xmlns:a16="http://schemas.microsoft.com/office/drawing/2014/main" id="{046B3D01-12E7-4372-77B4-33DC4FBE7626}"/>
              </a:ext>
            </a:extLst>
          </p:cNvPr>
          <p:cNvSpPr txBox="1">
            <a:spLocks/>
          </p:cNvSpPr>
          <p:nvPr/>
        </p:nvSpPr>
        <p:spPr>
          <a:xfrm>
            <a:off x="8563365" y="5382405"/>
            <a:ext cx="668541" cy="215444"/>
          </a:xfrm>
          <a:prstGeom prst="rect">
            <a:avLst/>
          </a:prstGeom>
        </p:spPr>
        <p:txBody>
          <a:bodyPr vert="horz" wrap="square" lIns="91440" tIns="45720" rIns="91440" bIns="45720" rtlCol="0" anchor="ctr">
            <a:spAutoFit/>
          </a:bodyPr>
          <a:lstStyle>
            <a:defPPr>
              <a:defRPr lang="en-US"/>
            </a:defPPr>
            <a:lvl1pPr marL="0" algn="l" defTabSz="457200" rtl="0" eaLnBrk="1" latinLnBrk="0" hangingPunct="1">
              <a:defRPr sz="1400" b="1" kern="1200" cap="all">
                <a:solidFill>
                  <a:srgbClr val="FFFFFF"/>
                </a:solidFill>
                <a:effectLst/>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A4688226-E43C-7C4F-8B3E-CE1AE61FD662}" type="slidenum">
              <a:rPr lang="en-US" sz="800" smtClean="0">
                <a:solidFill>
                  <a:srgbClr val="64696E"/>
                </a:solidFill>
                <a:latin typeface="Montserrat" panose="00000500000000000000" pitchFamily="2" charset="0"/>
              </a:rPr>
              <a:pPr/>
              <a:t>‹N°›</a:t>
            </a:fld>
            <a:endParaRPr lang="en-US" sz="1050">
              <a:solidFill>
                <a:srgbClr val="64696E"/>
              </a:solidFill>
              <a:latin typeface="Montserrat" panose="00000500000000000000" pitchFamily="2" charset="0"/>
            </a:endParaRPr>
          </a:p>
        </p:txBody>
      </p:sp>
      <p:sp>
        <p:nvSpPr>
          <p:cNvPr id="3" name="Espace réservé du contenu 5">
            <a:extLst>
              <a:ext uri="{FF2B5EF4-FFF2-40B4-BE49-F238E27FC236}">
                <a16:creationId xmlns:a16="http://schemas.microsoft.com/office/drawing/2014/main" id="{E2AC66CF-8BC3-041B-AEB1-06A386F9B962}"/>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pied de page 1">
            <a:extLst>
              <a:ext uri="{FF2B5EF4-FFF2-40B4-BE49-F238E27FC236}">
                <a16:creationId xmlns:a16="http://schemas.microsoft.com/office/drawing/2014/main" id="{0BB5075D-3700-AF54-88A8-30C3ECFB4047}"/>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359750828"/>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vide sans spirale">
    <p:bg>
      <p:bgPr>
        <a:solidFill>
          <a:schemeClr val="bg1"/>
        </a:solidFill>
        <a:effectLst/>
      </p:bgPr>
    </p:bg>
    <p:spTree>
      <p:nvGrpSpPr>
        <p:cNvPr id="1" name=""/>
        <p:cNvGrpSpPr/>
        <p:nvPr/>
      </p:nvGrpSpPr>
      <p:grpSpPr>
        <a:xfrm>
          <a:off x="0" y="0"/>
          <a:ext cx="0" cy="0"/>
          <a:chOff x="0" y="0"/>
          <a:chExt cx="0" cy="0"/>
        </a:xfrm>
      </p:grpSpPr>
      <p:sp>
        <p:nvSpPr>
          <p:cNvPr id="2" name="Espace réservé du contenu 5">
            <a:extLst>
              <a:ext uri="{FF2B5EF4-FFF2-40B4-BE49-F238E27FC236}">
                <a16:creationId xmlns:a16="http://schemas.microsoft.com/office/drawing/2014/main" id="{2082BF5B-2EE5-EDB6-D3A7-6A1A7CE0353F}"/>
              </a:ext>
            </a:extLst>
          </p:cNvPr>
          <p:cNvSpPr>
            <a:spLocks noGrp="1"/>
          </p:cNvSpPr>
          <p:nvPr>
            <p:ph sz="quarter" idx="14"/>
          </p:nvPr>
        </p:nvSpPr>
        <p:spPr>
          <a:xfrm>
            <a:off x="309563" y="594109"/>
            <a:ext cx="8524875" cy="4526782"/>
          </a:xfrm>
          <a:prstGeom prst="rect">
            <a:avLst/>
          </a:prstGeom>
        </p:spPr>
        <p:txBody>
          <a:bodyPr/>
          <a:lstStyle>
            <a:lvl1pPr marL="252000" indent="-180000">
              <a:buClr>
                <a:schemeClr val="tx2">
                  <a:lumMod val="75000"/>
                  <a:lumOff val="25000"/>
                </a:schemeClr>
              </a:buClr>
              <a:defRPr sz="1200"/>
            </a:lvl1pPr>
            <a:lvl2pPr>
              <a:buClr>
                <a:schemeClr val="tx1"/>
              </a:buClr>
              <a:defRPr sz="1100"/>
            </a:lvl2pPr>
            <a:lvl3pPr marL="1142988" indent="-228597">
              <a:buFont typeface="Arial" panose="020B0604020202020204" pitchFamily="34" charset="0"/>
              <a:buChar char="•"/>
              <a:defRPr sz="1100"/>
            </a:lvl3pPr>
            <a:lvl4pPr marL="1600184" indent="-228597">
              <a:buClr>
                <a:schemeClr val="accent5"/>
              </a:buClr>
              <a:buFont typeface="Arial" panose="020B0604020202020204" pitchFamily="34" charset="0"/>
              <a:buChar char="•"/>
              <a:defRPr sz="1100"/>
            </a:lvl4pPr>
            <a:lvl5pPr>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3" name="Espace réservé du pied de page 1">
            <a:extLst>
              <a:ext uri="{FF2B5EF4-FFF2-40B4-BE49-F238E27FC236}">
                <a16:creationId xmlns:a16="http://schemas.microsoft.com/office/drawing/2014/main" id="{C234FE8D-8D99-C70E-2093-5530462AD0D2}"/>
              </a:ext>
            </a:extLst>
          </p:cNvPr>
          <p:cNvSpPr>
            <a:spLocks noGrp="1"/>
          </p:cNvSpPr>
          <p:nvPr>
            <p:ph type="ftr" sz="quarter" idx="15"/>
          </p:nvPr>
        </p:nvSpPr>
        <p:spPr>
          <a:xfrm>
            <a:off x="3028950" y="5405488"/>
            <a:ext cx="3086100" cy="303212"/>
          </a:xfrm>
        </p:spPr>
        <p:txBody>
          <a:bodyPr/>
          <a:lstStyle/>
          <a:p>
            <a:endParaRPr lang="fr-FR"/>
          </a:p>
        </p:txBody>
      </p:sp>
    </p:spTree>
    <p:extLst>
      <p:ext uri="{BB962C8B-B14F-4D97-AF65-F5344CB8AC3E}">
        <p14:creationId xmlns:p14="http://schemas.microsoft.com/office/powerpoint/2010/main" val="955670262"/>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V">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D18979-ECF8-47D2-7E44-AB88E7C4ADAE}"/>
              </a:ext>
            </a:extLst>
          </p:cNvPr>
          <p:cNvSpPr/>
          <p:nvPr userDrawn="1"/>
        </p:nvSpPr>
        <p:spPr>
          <a:xfrm>
            <a:off x="0" y="0"/>
            <a:ext cx="9144000" cy="1303020"/>
          </a:xfrm>
          <a:prstGeom prst="rect">
            <a:avLst/>
          </a:prstGeom>
          <a:solidFill>
            <a:schemeClr val="accent5">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aphicFrame>
        <p:nvGraphicFramePr>
          <p:cNvPr id="4" name="Tableau 3">
            <a:extLst>
              <a:ext uri="{FF2B5EF4-FFF2-40B4-BE49-F238E27FC236}">
                <a16:creationId xmlns:a16="http://schemas.microsoft.com/office/drawing/2014/main" id="{A7751F3F-A703-D076-F670-0F0E0030A969}"/>
              </a:ext>
            </a:extLst>
          </p:cNvPr>
          <p:cNvGraphicFramePr>
            <a:graphicFrameLocks noGrp="1"/>
          </p:cNvGraphicFramePr>
          <p:nvPr userDrawn="1">
            <p:extLst>
              <p:ext uri="{D42A27DB-BD31-4B8C-83A1-F6EECF244321}">
                <p14:modId xmlns:p14="http://schemas.microsoft.com/office/powerpoint/2010/main" val="1870080960"/>
              </p:ext>
            </p:extLst>
          </p:nvPr>
        </p:nvGraphicFramePr>
        <p:xfrm>
          <a:off x="3807372" y="52848"/>
          <a:ext cx="5336628" cy="1080000"/>
        </p:xfrm>
        <a:graphic>
          <a:graphicData uri="http://schemas.openxmlformats.org/drawingml/2006/table">
            <a:tbl>
              <a:tblPr firstRow="1" bandRow="1">
                <a:tableStyleId>{5C22544A-7EE6-4342-B048-85BDC9FD1C3A}</a:tableStyleId>
              </a:tblPr>
              <a:tblGrid>
                <a:gridCol w="179701">
                  <a:extLst>
                    <a:ext uri="{9D8B030D-6E8A-4147-A177-3AD203B41FA5}">
                      <a16:colId xmlns:a16="http://schemas.microsoft.com/office/drawing/2014/main" val="1542622483"/>
                    </a:ext>
                  </a:extLst>
                </a:gridCol>
                <a:gridCol w="4969392">
                  <a:extLst>
                    <a:ext uri="{9D8B030D-6E8A-4147-A177-3AD203B41FA5}">
                      <a16:colId xmlns:a16="http://schemas.microsoft.com/office/drawing/2014/main" val="2463262433"/>
                    </a:ext>
                  </a:extLst>
                </a:gridCol>
                <a:gridCol w="187535">
                  <a:extLst>
                    <a:ext uri="{9D8B030D-6E8A-4147-A177-3AD203B41FA5}">
                      <a16:colId xmlns:a16="http://schemas.microsoft.com/office/drawing/2014/main" val="3520011117"/>
                    </a:ext>
                  </a:extLst>
                </a:gridCol>
              </a:tblGrid>
              <a:tr h="327272">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rowSpan="2">
                  <a:txBody>
                    <a:bodyPr/>
                    <a:lstStyle/>
                    <a:p>
                      <a:pPr marL="252000" marR="0" lvl="0" indent="0" algn="l" defTabSz="457196" rtl="0" eaLnBrk="1" fontAlgn="auto" latinLnBrk="0" hangingPunct="1">
                        <a:lnSpc>
                          <a:spcPct val="100000"/>
                        </a:lnSpc>
                        <a:spcBef>
                          <a:spcPts val="0"/>
                        </a:spcBef>
                        <a:spcAft>
                          <a:spcPts val="600"/>
                        </a:spcAft>
                        <a:buClr>
                          <a:srgbClr val="FB4933"/>
                        </a:buClr>
                        <a:buSzPct val="120000"/>
                        <a:buFont typeface="Arial" panose="020B0604020202020204" pitchFamily="34" charset="0"/>
                        <a:buNone/>
                        <a:tabLst/>
                        <a:defRPr/>
                      </a:pPr>
                      <a:r>
                        <a:rPr lang="fr-FR" sz="1400" b="0" i="0" u="none" strike="noStrike" kern="1200" cap="none" spc="0" normalizeH="0" baseline="0" noProof="0">
                          <a:ln>
                            <a:noFill/>
                          </a:ln>
                          <a:solidFill>
                            <a:schemeClr val="tx2">
                              <a:lumMod val="75000"/>
                              <a:lumOff val="25000"/>
                            </a:schemeClr>
                          </a:solidFill>
                          <a:effectLst/>
                          <a:uLnTx/>
                          <a:uFillTx/>
                          <a:latin typeface="+mj-lt"/>
                        </a:rPr>
                        <a:t>Ses atouts</a:t>
                      </a:r>
                    </a:p>
                    <a:p>
                      <a:pPr marL="36000" marR="0" lvl="1" indent="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None/>
                        <a:tabLst/>
                        <a:defRPr/>
                      </a:pPr>
                      <a:endParaRPr lang="fr-FR" sz="900" b="0" i="0" u="none" strike="noStrike" kern="1200" cap="none" spc="0" normalizeH="0" baseline="0" noProof="0">
                        <a:ln>
                          <a:noFill/>
                        </a:ln>
                        <a:solidFill>
                          <a:schemeClr val="accent4">
                            <a:lumMod val="75000"/>
                          </a:schemeClr>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lvl="1" indent="0" algn="just" defTabSz="457196" rtl="0" eaLnBrk="1" fontAlgn="auto" latinLnBrk="0" hangingPunct="1">
                        <a:lnSpc>
                          <a:spcPct val="100000"/>
                        </a:lnSpc>
                        <a:spcBef>
                          <a:spcPts val="0"/>
                        </a:spcBef>
                        <a:spcAft>
                          <a:spcPts val="0"/>
                        </a:spcAft>
                        <a:buClr>
                          <a:srgbClr val="FB4933"/>
                        </a:buClr>
                        <a:buSzPct val="120000"/>
                        <a:buFont typeface="Arial" panose="020B0604020202020204" pitchFamily="34" charset="0"/>
                        <a:buNone/>
                        <a:tabLst/>
                        <a:defRPr/>
                      </a:pPr>
                      <a:endParaRPr lang="fr-FR" sz="1400" b="0" i="0" u="none" strike="noStrike" kern="1200" cap="none" spc="0" normalizeH="0" baseline="0" noProof="0">
                        <a:ln>
                          <a:noFill/>
                        </a:ln>
                        <a:solidFill>
                          <a:schemeClr val="tx1"/>
                        </a:solidFill>
                        <a:effectLst/>
                        <a:uLnTx/>
                        <a:uFillTx/>
                        <a:latin typeface="+mn-lt"/>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975704466"/>
                  </a:ext>
                </a:extLst>
              </a:tr>
              <a:tr h="752728">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vMerge="1">
                  <a:txBody>
                    <a:bodyPr/>
                    <a:lstStyle/>
                    <a:p>
                      <a:pPr marL="216000" marR="0" lvl="1" indent="-180000" algn="l" defTabSz="457196" rtl="0" eaLnBrk="1" fontAlgn="auto" latinLnBrk="0" hangingPunct="1">
                        <a:lnSpc>
                          <a:spcPct val="100000"/>
                        </a:lnSpc>
                        <a:spcBef>
                          <a:spcPts val="0"/>
                        </a:spcBef>
                        <a:spcAft>
                          <a:spcPts val="0"/>
                        </a:spcAft>
                        <a:buClr>
                          <a:schemeClr val="tx1"/>
                        </a:buClr>
                        <a:buSzPct val="100000"/>
                        <a:buFont typeface="Arial" panose="020B0604020202020204" pitchFamily="34" charset="0"/>
                        <a:buChar char="•"/>
                        <a:tabLst/>
                        <a:defRPr/>
                      </a:pPr>
                      <a:endParaRPr lang="fr-FR" sz="900" b="0" i="0" u="none" strike="noStrike" kern="1200" cap="none" spc="0" normalizeH="0" baseline="0" noProof="0">
                        <a:ln>
                          <a:noFill/>
                        </a:ln>
                        <a:solidFill>
                          <a:schemeClr val="accent4"/>
                        </a:solidFill>
                        <a:effectLst/>
                        <a:uLnTx/>
                        <a:uFillTx/>
                        <a:latin typeface="+mn-lt"/>
                        <a:ea typeface="+mn-ea"/>
                        <a:cs typeface="+mn-cs"/>
                      </a:endParaRPr>
                    </a:p>
                  </a:txBody>
                  <a:tcPr marL="45720" marR="4572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chemeClr val="accent5"/>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171450" marR="0" lvl="1" indent="-171450" algn="l" defTabSz="457196" rtl="0" eaLnBrk="1" fontAlgn="auto" latinLnBrk="0" hangingPunct="1">
                        <a:lnSpc>
                          <a:spcPct val="100000"/>
                        </a:lnSpc>
                        <a:spcBef>
                          <a:spcPts val="0"/>
                        </a:spcBef>
                        <a:spcAft>
                          <a:spcPts val="0"/>
                        </a:spcAft>
                        <a:buClr>
                          <a:schemeClr val="tx1"/>
                        </a:buClr>
                        <a:buSzPct val="120000"/>
                        <a:buFont typeface="Arial" panose="020B0604020202020204" pitchFamily="34" charset="0"/>
                        <a:buChar char="•"/>
                        <a:tabLst/>
                        <a:defRPr/>
                      </a:pPr>
                      <a:endParaRPr lang="fr-FR" sz="800" b="0" i="0" u="none" strike="noStrike" kern="1200" cap="none" spc="0" normalizeH="0" baseline="0" noProof="0">
                        <a:ln>
                          <a:noFill/>
                        </a:ln>
                        <a:solidFill>
                          <a:schemeClr val="tx1"/>
                        </a:solidFill>
                        <a:effectLst/>
                        <a:uLnTx/>
                        <a:uFillTx/>
                        <a:latin typeface="+mn-lt"/>
                        <a:ea typeface="+mn-ea"/>
                        <a:cs typeface="+mn-cs"/>
                      </a:endParaRPr>
                    </a:p>
                  </a:txBody>
                  <a:tcPr marL="0" marR="0" marT="0" marB="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52862833"/>
                  </a:ext>
                </a:extLst>
              </a:tr>
            </a:tbl>
          </a:graphicData>
        </a:graphic>
      </p:graphicFrame>
      <p:grpSp>
        <p:nvGrpSpPr>
          <p:cNvPr id="21" name="Groupe 20">
            <a:extLst>
              <a:ext uri="{FF2B5EF4-FFF2-40B4-BE49-F238E27FC236}">
                <a16:creationId xmlns:a16="http://schemas.microsoft.com/office/drawing/2014/main" id="{064DAD38-A797-C470-ECB9-EAC33707FC61}"/>
              </a:ext>
            </a:extLst>
          </p:cNvPr>
          <p:cNvGrpSpPr/>
          <p:nvPr userDrawn="1"/>
        </p:nvGrpSpPr>
        <p:grpSpPr>
          <a:xfrm>
            <a:off x="0" y="-1905"/>
            <a:ext cx="3901440" cy="1295400"/>
            <a:chOff x="0" y="0"/>
            <a:chExt cx="3901440" cy="1295400"/>
          </a:xfrm>
          <a:solidFill>
            <a:schemeClr val="accent3"/>
          </a:solidFill>
        </p:grpSpPr>
        <p:sp>
          <p:nvSpPr>
            <p:cNvPr id="22" name="Parallélogramme 21">
              <a:extLst>
                <a:ext uri="{FF2B5EF4-FFF2-40B4-BE49-F238E27FC236}">
                  <a16:creationId xmlns:a16="http://schemas.microsoft.com/office/drawing/2014/main" id="{6C8BCF4C-A76A-BB47-20D3-AB05B0637CA8}"/>
                </a:ext>
              </a:extLst>
            </p:cNvPr>
            <p:cNvSpPr/>
            <p:nvPr/>
          </p:nvSpPr>
          <p:spPr>
            <a:xfrm>
              <a:off x="0" y="0"/>
              <a:ext cx="3901440" cy="1295400"/>
            </a:xfrm>
            <a:prstGeom prst="parallelogram">
              <a:avLst>
                <a:gd name="adj" fmla="val 40882"/>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23" name="Rectangle 22">
              <a:extLst>
                <a:ext uri="{FF2B5EF4-FFF2-40B4-BE49-F238E27FC236}">
                  <a16:creationId xmlns:a16="http://schemas.microsoft.com/office/drawing/2014/main" id="{DAD679EF-C860-56FC-9087-144476A5FB15}"/>
                </a:ext>
              </a:extLst>
            </p:cNvPr>
            <p:cNvSpPr/>
            <p:nvPr/>
          </p:nvSpPr>
          <p:spPr>
            <a:xfrm>
              <a:off x="0" y="0"/>
              <a:ext cx="2263140" cy="1287780"/>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pic>
        <p:nvPicPr>
          <p:cNvPr id="26" name="Graphique 25" descr="Ruban avec un remplissage uni">
            <a:extLst>
              <a:ext uri="{FF2B5EF4-FFF2-40B4-BE49-F238E27FC236}">
                <a16:creationId xmlns:a16="http://schemas.microsoft.com/office/drawing/2014/main" id="{F5AAE304-CAAC-5DEC-7E73-D39862D2E98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967374" y="66040"/>
            <a:ext cx="281552" cy="281552"/>
          </a:xfrm>
          <a:prstGeom prst="rect">
            <a:avLst/>
          </a:prstGeom>
        </p:spPr>
      </p:pic>
      <p:sp>
        <p:nvSpPr>
          <p:cNvPr id="28" name="Espace réservé pour une image  27">
            <a:extLst>
              <a:ext uri="{FF2B5EF4-FFF2-40B4-BE49-F238E27FC236}">
                <a16:creationId xmlns:a16="http://schemas.microsoft.com/office/drawing/2014/main" id="{553725D4-A0BC-66E3-51B3-0D4E1C950372}"/>
              </a:ext>
            </a:extLst>
          </p:cNvPr>
          <p:cNvSpPr>
            <a:spLocks noGrp="1"/>
          </p:cNvSpPr>
          <p:nvPr>
            <p:ph type="pic" sz="quarter" idx="10"/>
          </p:nvPr>
        </p:nvSpPr>
        <p:spPr>
          <a:xfrm>
            <a:off x="115888" y="93190"/>
            <a:ext cx="1008062" cy="1092200"/>
          </a:xfrm>
          <a:prstGeom prst="rect">
            <a:avLst/>
          </a:prstGeom>
        </p:spPr>
        <p:txBody>
          <a:bodyPr/>
          <a:lstStyle>
            <a:lvl1pPr marL="0" indent="0">
              <a:buNone/>
              <a:defRPr/>
            </a:lvl1pPr>
          </a:lstStyle>
          <a:p>
            <a:endParaRPr lang="fr-FR"/>
          </a:p>
        </p:txBody>
      </p:sp>
      <p:sp>
        <p:nvSpPr>
          <p:cNvPr id="2" name="Espace réservé du texte 8">
            <a:extLst>
              <a:ext uri="{FF2B5EF4-FFF2-40B4-BE49-F238E27FC236}">
                <a16:creationId xmlns:a16="http://schemas.microsoft.com/office/drawing/2014/main" id="{DB0F2FFB-83AA-4D28-72E7-5145481AA8AB}"/>
              </a:ext>
            </a:extLst>
          </p:cNvPr>
          <p:cNvSpPr>
            <a:spLocks noGrp="1"/>
          </p:cNvSpPr>
          <p:nvPr>
            <p:ph type="body" sz="quarter" idx="12" hasCustomPrompt="1"/>
          </p:nvPr>
        </p:nvSpPr>
        <p:spPr>
          <a:xfrm>
            <a:off x="1219679" y="85241"/>
            <a:ext cx="2488903"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NOM</a:t>
            </a:r>
          </a:p>
        </p:txBody>
      </p:sp>
      <p:sp>
        <p:nvSpPr>
          <p:cNvPr id="6" name="Espace réservé du texte 8">
            <a:extLst>
              <a:ext uri="{FF2B5EF4-FFF2-40B4-BE49-F238E27FC236}">
                <a16:creationId xmlns:a16="http://schemas.microsoft.com/office/drawing/2014/main" id="{C148EA3B-A067-17D5-7F1F-2B1F1E040300}"/>
              </a:ext>
            </a:extLst>
          </p:cNvPr>
          <p:cNvSpPr>
            <a:spLocks noGrp="1"/>
          </p:cNvSpPr>
          <p:nvPr>
            <p:ph type="body" sz="quarter" idx="14" hasCustomPrompt="1"/>
          </p:nvPr>
        </p:nvSpPr>
        <p:spPr>
          <a:xfrm>
            <a:off x="1219679" y="376188"/>
            <a:ext cx="2359751" cy="288000"/>
          </a:xfrm>
          <a:prstGeom prst="rect">
            <a:avLst/>
          </a:prstGeom>
        </p:spPr>
        <p:txBody>
          <a:bodyPr lIns="0" tIns="0" rIns="0" bIns="0">
            <a:noAutofit/>
          </a:bodyPr>
          <a:lstStyle>
            <a:lvl1pPr marL="0" indent="0" algn="l">
              <a:buNone/>
              <a:defRPr lang="fr-FR" sz="20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srgbClr val="FFFFFF"/>
                </a:solidFill>
                <a:effectLst/>
                <a:uLnTx/>
                <a:uFillTx/>
                <a:latin typeface="Montserrat"/>
                <a:ea typeface="+mn-ea"/>
                <a:cs typeface="+mn-cs"/>
              </a:rPr>
              <a:t>Prénom</a:t>
            </a:r>
          </a:p>
        </p:txBody>
      </p:sp>
      <p:sp>
        <p:nvSpPr>
          <p:cNvPr id="7" name="Espace réservé du texte 8">
            <a:extLst>
              <a:ext uri="{FF2B5EF4-FFF2-40B4-BE49-F238E27FC236}">
                <a16:creationId xmlns:a16="http://schemas.microsoft.com/office/drawing/2014/main" id="{41DC3F8F-65C6-2D2D-DF2F-073A77CECDC6}"/>
              </a:ext>
            </a:extLst>
          </p:cNvPr>
          <p:cNvSpPr>
            <a:spLocks noGrp="1"/>
          </p:cNvSpPr>
          <p:nvPr>
            <p:ph type="body" sz="quarter" idx="15" hasCustomPrompt="1"/>
          </p:nvPr>
        </p:nvSpPr>
        <p:spPr>
          <a:xfrm>
            <a:off x="1219679" y="664621"/>
            <a:ext cx="2269345" cy="175647"/>
          </a:xfrm>
          <a:prstGeom prst="rect">
            <a:avLst/>
          </a:prstGeom>
        </p:spPr>
        <p:txBody>
          <a:bodyPr lIns="0" tIns="0" rIns="0" bIns="0">
            <a:noAutofit/>
          </a:bodyPr>
          <a:lstStyle>
            <a:lvl1pPr marL="0" indent="0" algn="l">
              <a:buNone/>
              <a:defRPr lang="fr-FR" sz="12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FFFFFF"/>
                </a:solidFill>
                <a:effectLst/>
                <a:uLnTx/>
                <a:uFillTx/>
                <a:latin typeface="Montserrat"/>
                <a:ea typeface="+mn-ea"/>
                <a:cs typeface="+mn-cs"/>
              </a:rPr>
              <a:t>Poste</a:t>
            </a:r>
          </a:p>
        </p:txBody>
      </p:sp>
      <p:sp>
        <p:nvSpPr>
          <p:cNvPr id="8" name="Espace réservé du texte 8">
            <a:extLst>
              <a:ext uri="{FF2B5EF4-FFF2-40B4-BE49-F238E27FC236}">
                <a16:creationId xmlns:a16="http://schemas.microsoft.com/office/drawing/2014/main" id="{822DF923-F307-1F85-D956-C518A1699C2D}"/>
              </a:ext>
            </a:extLst>
          </p:cNvPr>
          <p:cNvSpPr>
            <a:spLocks noGrp="1"/>
          </p:cNvSpPr>
          <p:nvPr>
            <p:ph type="body" sz="quarter" idx="16" hasCustomPrompt="1"/>
          </p:nvPr>
        </p:nvSpPr>
        <p:spPr>
          <a:xfrm>
            <a:off x="1219679" y="904398"/>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60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+33 (0)6 XX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r>
              <a:rPr kumimoji="0" lang="fr-FR" sz="900" b="0" i="1" u="none" strike="noStrike" kern="1200" cap="none" spc="0" normalizeH="0" baseline="0" noProof="0">
                <a:ln>
                  <a:noFill/>
                </a:ln>
                <a:solidFill>
                  <a:srgbClr val="FFFFFF"/>
                </a:solidFill>
                <a:effectLst/>
                <a:uLnTx/>
                <a:uFillTx/>
                <a:latin typeface="Avenir Next LT Pro"/>
                <a:ea typeface="+mn-ea"/>
                <a:cs typeface="+mn-cs"/>
              </a:rPr>
              <a:t> </a:t>
            </a:r>
            <a:r>
              <a:rPr kumimoji="0" lang="fr-FR" sz="900" b="0" i="1" u="none" strike="noStrike" kern="1200" cap="none" spc="0" normalizeH="0" baseline="0" noProof="0" err="1">
                <a:ln>
                  <a:noFill/>
                </a:ln>
                <a:solidFill>
                  <a:srgbClr val="FFFFFF"/>
                </a:solidFill>
                <a:effectLst/>
                <a:uLnTx/>
                <a:uFillTx/>
                <a:latin typeface="Avenir Next LT Pro"/>
                <a:ea typeface="+mn-ea"/>
                <a:cs typeface="+mn-cs"/>
              </a:rPr>
              <a:t>XX</a:t>
            </a:r>
            <a:endParaRPr kumimoji="0" lang="fr-FR" sz="900" b="0" i="1" u="none" strike="noStrike" kern="1200" cap="none" spc="0" normalizeH="0" baseline="0" noProof="0">
              <a:ln>
                <a:noFill/>
              </a:ln>
              <a:solidFill>
                <a:srgbClr val="FFFFFF"/>
              </a:solidFill>
              <a:effectLst/>
              <a:uLnTx/>
              <a:uFillTx/>
              <a:latin typeface="Avenir Next LT Pro"/>
              <a:ea typeface="+mn-ea"/>
              <a:cs typeface="+mn-cs"/>
            </a:endParaRPr>
          </a:p>
        </p:txBody>
      </p:sp>
      <p:sp>
        <p:nvSpPr>
          <p:cNvPr id="9" name="Espace réservé du texte 8">
            <a:extLst>
              <a:ext uri="{FF2B5EF4-FFF2-40B4-BE49-F238E27FC236}">
                <a16:creationId xmlns:a16="http://schemas.microsoft.com/office/drawing/2014/main" id="{345442A2-B0F5-C15D-DA6C-5E7CA4EE183A}"/>
              </a:ext>
            </a:extLst>
          </p:cNvPr>
          <p:cNvSpPr>
            <a:spLocks noGrp="1"/>
          </p:cNvSpPr>
          <p:nvPr>
            <p:ph type="body" sz="quarter" idx="17" hasCustomPrompt="1"/>
          </p:nvPr>
        </p:nvSpPr>
        <p:spPr>
          <a:xfrm>
            <a:off x="1219679" y="1050449"/>
            <a:ext cx="2178938" cy="144000"/>
          </a:xfrm>
          <a:prstGeom prst="rect">
            <a:avLst/>
          </a:prstGeom>
        </p:spPr>
        <p:txBody>
          <a:bodyPr lIns="0" tIns="0" rIns="0" bIns="0">
            <a:noAutofit/>
          </a:bodyPr>
          <a:lstStyle>
            <a:lvl1pPr marL="0" indent="0" algn="l">
              <a:buNone/>
              <a:defRPr lang="fr-FR" sz="900" b="0" kern="1200" cap="all" baseline="0" dirty="0" smtClean="0">
                <a:solidFill>
                  <a:schemeClr val="bg2"/>
                </a:solidFill>
                <a:latin typeface="Montserrat" panose="00000500000000000000" pitchFamily="2" charset="0"/>
                <a:ea typeface="+mj-ea"/>
                <a:cs typeface="+mj-cs"/>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1" u="none" strike="noStrike" kern="1200" cap="none" spc="0" normalizeH="0" baseline="0" noProof="0">
                <a:ln>
                  <a:noFill/>
                </a:ln>
                <a:solidFill>
                  <a:srgbClr val="FFFFFF"/>
                </a:solidFill>
                <a:effectLst/>
                <a:uLnTx/>
                <a:uFillTx/>
                <a:latin typeface="Avenir Next LT Pro"/>
                <a:ea typeface="+mn-ea"/>
                <a:cs typeface="+mn-cs"/>
              </a:rPr>
              <a:t>prenom.nom@forsides.com</a:t>
            </a:r>
            <a:endParaRPr kumimoji="0" lang="fr-FR" sz="1400" b="0" i="0" u="none" strike="noStrike" kern="1200" cap="none" spc="0" normalizeH="0" baseline="0" noProof="0">
              <a:ln>
                <a:noFill/>
              </a:ln>
              <a:solidFill>
                <a:srgbClr val="404040"/>
              </a:solidFill>
              <a:effectLst/>
              <a:uLnTx/>
              <a:uFillTx/>
              <a:latin typeface="Avenir Next LT Pro Light"/>
              <a:ea typeface="+mn-ea"/>
              <a:cs typeface="+mn-cs"/>
            </a:endParaRPr>
          </a:p>
        </p:txBody>
      </p:sp>
      <p:grpSp>
        <p:nvGrpSpPr>
          <p:cNvPr id="5" name="Groupe 4">
            <a:extLst>
              <a:ext uri="{FF2B5EF4-FFF2-40B4-BE49-F238E27FC236}">
                <a16:creationId xmlns:a16="http://schemas.microsoft.com/office/drawing/2014/main" id="{9101D5DD-06BF-C147-B6E6-1B8665008596}"/>
              </a:ext>
            </a:extLst>
          </p:cNvPr>
          <p:cNvGrpSpPr>
            <a:grpSpLocks noChangeAspect="1"/>
          </p:cNvGrpSpPr>
          <p:nvPr userDrawn="1"/>
        </p:nvGrpSpPr>
        <p:grpSpPr>
          <a:xfrm>
            <a:off x="7850412" y="70288"/>
            <a:ext cx="1223065" cy="366317"/>
            <a:chOff x="4608564" y="2308123"/>
            <a:chExt cx="1649613" cy="494072"/>
          </a:xfrm>
        </p:grpSpPr>
        <p:pic>
          <p:nvPicPr>
            <p:cNvPr id="10" name="Image 9" descr="Une image contenant texte, Police, Graphique, typographie  Description générée automatiquement">
              <a:extLst>
                <a:ext uri="{FF2B5EF4-FFF2-40B4-BE49-F238E27FC236}">
                  <a16:creationId xmlns:a16="http://schemas.microsoft.com/office/drawing/2014/main" id="{E7CB8CA2-1DDD-CDB2-5093-05342CE54E3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2845" t="13634" b="41843"/>
            <a:stretch/>
          </p:blipFill>
          <p:spPr>
            <a:xfrm>
              <a:off x="5161935" y="2425315"/>
              <a:ext cx="1096242" cy="259689"/>
            </a:xfrm>
            <a:prstGeom prst="rect">
              <a:avLst/>
            </a:prstGeom>
          </p:spPr>
        </p:pic>
        <p:pic>
          <p:nvPicPr>
            <p:cNvPr id="11" name="Image 10" descr="Une image contenant texte, Police, Graphique, typographie  Description générée automatiquement">
              <a:extLst>
                <a:ext uri="{FF2B5EF4-FFF2-40B4-BE49-F238E27FC236}">
                  <a16:creationId xmlns:a16="http://schemas.microsoft.com/office/drawing/2014/main" id="{687ADC69-5D48-458A-2E47-42487A7C786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8008" r="67456" b="7288"/>
            <a:stretch/>
          </p:blipFill>
          <p:spPr>
            <a:xfrm>
              <a:off x="4608564" y="2308123"/>
              <a:ext cx="531249" cy="494072"/>
            </a:xfrm>
            <a:prstGeom prst="rect">
              <a:avLst/>
            </a:prstGeom>
          </p:spPr>
        </p:pic>
      </p:grpSp>
    </p:spTree>
    <p:extLst>
      <p:ext uri="{BB962C8B-B14F-4D97-AF65-F5344CB8AC3E}">
        <p14:creationId xmlns:p14="http://schemas.microsoft.com/office/powerpoint/2010/main" val="2383830347"/>
      </p:ext>
    </p:extLst>
  </p:cSld>
  <p:clrMapOvr>
    <a:masterClrMapping/>
  </p:clrMapOvr>
  <p:extLst>
    <p:ext uri="{DCECCB84-F9BA-43D5-87BE-67443E8EF086}">
      <p15:sldGuideLst xmlns:p15="http://schemas.microsoft.com/office/powerpoint/2012/main">
        <p15:guide id="1" orient="horz" pos="1800">
          <p15:clr>
            <a:srgbClr val="FBAE40"/>
          </p15:clr>
        </p15:guide>
        <p15:guide id="2" pos="288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fin">
    <p:bg>
      <p:bgPr>
        <a:solidFill>
          <a:schemeClr val="bg1">
            <a:alpha val="1000"/>
          </a:schemeClr>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ABD1DBB-1ACA-FD9D-A676-47A938B285D4}"/>
              </a:ext>
            </a:extLst>
          </p:cNvPr>
          <p:cNvSpPr/>
          <p:nvPr/>
        </p:nvSpPr>
        <p:spPr>
          <a:xfrm rot="5400000">
            <a:off x="1714499" y="-1714499"/>
            <a:ext cx="5715002" cy="9144000"/>
          </a:xfrm>
          <a:prstGeom prst="rect">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grpSp>
        <p:nvGrpSpPr>
          <p:cNvPr id="12" name="Groupe 11">
            <a:extLst>
              <a:ext uri="{FF2B5EF4-FFF2-40B4-BE49-F238E27FC236}">
                <a16:creationId xmlns:a16="http://schemas.microsoft.com/office/drawing/2014/main" id="{084A7D52-A485-1865-7DDA-780EC8CDC093}"/>
              </a:ext>
            </a:extLst>
          </p:cNvPr>
          <p:cNvGrpSpPr/>
          <p:nvPr/>
        </p:nvGrpSpPr>
        <p:grpSpPr>
          <a:xfrm>
            <a:off x="47943" y="1308986"/>
            <a:ext cx="4148960" cy="1800000"/>
            <a:chOff x="47943" y="1308986"/>
            <a:chExt cx="4148960" cy="1800000"/>
          </a:xfrm>
        </p:grpSpPr>
        <p:pic>
          <p:nvPicPr>
            <p:cNvPr id="13" name="Image 12" descr="Une image contenant capture d’écran, obscurité  Description générée automatiquement">
              <a:extLst>
                <a:ext uri="{FF2B5EF4-FFF2-40B4-BE49-F238E27FC236}">
                  <a16:creationId xmlns:a16="http://schemas.microsoft.com/office/drawing/2014/main" id="{8D11FC98-EAD2-248A-02AA-1386AB19C643}"/>
                </a:ext>
              </a:extLst>
            </p:cNvPr>
            <p:cNvPicPr>
              <a:picLocks noChangeAspect="1"/>
            </p:cNvPicPr>
            <p:nvPr/>
          </p:nvPicPr>
          <p:blipFill rotWithShape="1">
            <a:blip r:embed="rId2">
              <a:extLst>
                <a:ext uri="{28A0092B-C50C-407E-A947-70E740481C1C}">
                  <a14:useLocalDpi xmlns:a14="http://schemas.microsoft.com/office/drawing/2010/main" val="0"/>
                </a:ext>
              </a:extLst>
            </a:blip>
            <a:srcRect l="35315" t="-23871" r="35346" b="-42726"/>
            <a:stretch/>
          </p:blipFill>
          <p:spPr>
            <a:xfrm>
              <a:off x="1747616" y="2236636"/>
              <a:ext cx="2449287" cy="670332"/>
            </a:xfrm>
            <a:prstGeom prst="rect">
              <a:avLst/>
            </a:prstGeom>
          </p:spPr>
        </p:pic>
        <p:grpSp>
          <p:nvGrpSpPr>
            <p:cNvPr id="14" name="Groupe 13">
              <a:extLst>
                <a:ext uri="{FF2B5EF4-FFF2-40B4-BE49-F238E27FC236}">
                  <a16:creationId xmlns:a16="http://schemas.microsoft.com/office/drawing/2014/main" id="{EE482E49-016A-1ABF-F0A6-757762D194EA}"/>
                </a:ext>
              </a:extLst>
            </p:cNvPr>
            <p:cNvGrpSpPr/>
            <p:nvPr userDrawn="1"/>
          </p:nvGrpSpPr>
          <p:grpSpPr>
            <a:xfrm>
              <a:off x="47943" y="1308986"/>
              <a:ext cx="3972334" cy="1800000"/>
              <a:chOff x="2606703" y="956198"/>
              <a:chExt cx="3428714" cy="1452922"/>
            </a:xfrm>
          </p:grpSpPr>
          <p:pic>
            <p:nvPicPr>
              <p:cNvPr id="15" name="Image 14" descr="Une image contenant texte, Police, Graphique, capture d’écran  Description générée automatiquement">
                <a:extLst>
                  <a:ext uri="{FF2B5EF4-FFF2-40B4-BE49-F238E27FC236}">
                    <a16:creationId xmlns:a16="http://schemas.microsoft.com/office/drawing/2014/main" id="{CDCA0478-D363-3A9E-696F-434D263EDD8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34952" t="23676" b="32974"/>
              <a:stretch/>
            </p:blipFill>
            <p:spPr>
              <a:xfrm>
                <a:off x="4076245" y="1264225"/>
                <a:ext cx="1959172" cy="480596"/>
              </a:xfrm>
              <a:prstGeom prst="rect">
                <a:avLst/>
              </a:prstGeom>
            </p:spPr>
          </p:pic>
          <p:pic>
            <p:nvPicPr>
              <p:cNvPr id="16" name="Image 15" descr="Une image contenant texte, Police, Graphique, capture d’écran  Description générée automatiquement">
                <a:extLst>
                  <a:ext uri="{FF2B5EF4-FFF2-40B4-BE49-F238E27FC236}">
                    <a16:creationId xmlns:a16="http://schemas.microsoft.com/office/drawing/2014/main" id="{1B025808-D017-F217-D915-AC182B1ED50F}"/>
                  </a:ext>
                </a:extLst>
              </p:cNvPr>
              <p:cNvPicPr>
                <a:picLocks/>
              </p:cNvPicPr>
              <p:nvPr userDrawn="1"/>
            </p:nvPicPr>
            <p:blipFill rotWithShape="1">
              <a:blip r:embed="rId3">
                <a:extLst>
                  <a:ext uri="{28A0092B-C50C-407E-A947-70E740481C1C}">
                    <a14:useLocalDpi xmlns:a14="http://schemas.microsoft.com/office/drawing/2010/main" val="0"/>
                  </a:ext>
                </a:extLst>
              </a:blip>
              <a:srcRect l="1" t="1738" r="62711" b="-1738"/>
              <a:stretch/>
            </p:blipFill>
            <p:spPr>
              <a:xfrm>
                <a:off x="2606703" y="956198"/>
                <a:ext cx="1553667" cy="1452922"/>
              </a:xfrm>
              <a:prstGeom prst="rect">
                <a:avLst/>
              </a:prstGeom>
            </p:spPr>
          </p:pic>
        </p:grpSp>
      </p:grpSp>
      <p:sp>
        <p:nvSpPr>
          <p:cNvPr id="17" name="Ellipse 16">
            <a:extLst>
              <a:ext uri="{FF2B5EF4-FFF2-40B4-BE49-F238E27FC236}">
                <a16:creationId xmlns:a16="http://schemas.microsoft.com/office/drawing/2014/main" id="{6A662C13-4424-5128-629C-A5804BDD0D9D}"/>
              </a:ext>
            </a:extLst>
          </p:cNvPr>
          <p:cNvSpPr/>
          <p:nvPr/>
        </p:nvSpPr>
        <p:spPr>
          <a:xfrm>
            <a:off x="4069080" y="2514599"/>
            <a:ext cx="114300" cy="116205"/>
          </a:xfrm>
          <a:prstGeom prst="ellipse">
            <a:avLst/>
          </a:prstGeom>
          <a:solidFill>
            <a:schemeClr val="accent6">
              <a:lumMod val="20000"/>
              <a:lumOff val="80000"/>
            </a:schemeClr>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sp>
        <p:nvSpPr>
          <p:cNvPr id="18" name="Forme libre : forme 17">
            <a:extLst>
              <a:ext uri="{FF2B5EF4-FFF2-40B4-BE49-F238E27FC236}">
                <a16:creationId xmlns:a16="http://schemas.microsoft.com/office/drawing/2014/main" id="{B60BCFF1-7E8C-29FB-9F2E-545E8017D661}"/>
              </a:ext>
            </a:extLst>
          </p:cNvPr>
          <p:cNvSpPr/>
          <p:nvPr/>
        </p:nvSpPr>
        <p:spPr>
          <a:xfrm rot="1229371">
            <a:off x="4345423" y="1083080"/>
            <a:ext cx="4513269" cy="2380209"/>
          </a:xfrm>
          <a:custGeom>
            <a:avLst/>
            <a:gdLst>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26871 w 2726871"/>
              <a:gd name="connsiteY0" fmla="*/ 0 h 2269671"/>
              <a:gd name="connsiteX1" fmla="*/ 1902278 w 2726871"/>
              <a:gd name="connsiteY1" fmla="*/ 1216478 h 2269671"/>
              <a:gd name="connsiteX2" fmla="*/ 1191985 w 2726871"/>
              <a:gd name="connsiteY2" fmla="*/ 342900 h 2269671"/>
              <a:gd name="connsiteX3" fmla="*/ 0 w 2726871"/>
              <a:gd name="connsiteY3" fmla="*/ 2269671 h 2269671"/>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 name="connsiteX0" fmla="*/ 2746187 w 2746187"/>
              <a:gd name="connsiteY0" fmla="*/ 0 h 2341354"/>
              <a:gd name="connsiteX1" fmla="*/ 1921594 w 2746187"/>
              <a:gd name="connsiteY1" fmla="*/ 1216478 h 2341354"/>
              <a:gd name="connsiteX2" fmla="*/ 1211301 w 2746187"/>
              <a:gd name="connsiteY2" fmla="*/ 342900 h 2341354"/>
              <a:gd name="connsiteX3" fmla="*/ 0 w 2746187"/>
              <a:gd name="connsiteY3" fmla="*/ 2341354 h 2341354"/>
            </a:gdLst>
            <a:ahLst/>
            <a:cxnLst>
              <a:cxn ang="0">
                <a:pos x="connsiteX0" y="connsiteY0"/>
              </a:cxn>
              <a:cxn ang="0">
                <a:pos x="connsiteX1" y="connsiteY1"/>
              </a:cxn>
              <a:cxn ang="0">
                <a:pos x="connsiteX2" y="connsiteY2"/>
              </a:cxn>
              <a:cxn ang="0">
                <a:pos x="connsiteX3" y="connsiteY3"/>
              </a:cxn>
            </a:cxnLst>
            <a:rect l="l" t="t" r="r" b="b"/>
            <a:pathLst>
              <a:path w="2746187" h="2341354">
                <a:moveTo>
                  <a:pt x="2746187" y="0"/>
                </a:moveTo>
                <a:cubicBezTo>
                  <a:pt x="2461797" y="579664"/>
                  <a:pt x="2177408" y="1159328"/>
                  <a:pt x="1921594" y="1216478"/>
                </a:cubicBezTo>
                <a:cubicBezTo>
                  <a:pt x="1665780" y="1273628"/>
                  <a:pt x="1528347" y="167368"/>
                  <a:pt x="1211301" y="342900"/>
                </a:cubicBezTo>
                <a:cubicBezTo>
                  <a:pt x="894255" y="518432"/>
                  <a:pt x="104874" y="2328807"/>
                  <a:pt x="0" y="2341354"/>
                </a:cubicBezTo>
              </a:path>
            </a:pathLst>
          </a:custGeom>
          <a:noFill/>
          <a:ln>
            <a:gradFill flip="none" rotWithShape="1">
              <a:gsLst>
                <a:gs pos="0">
                  <a:schemeClr val="accent2">
                    <a:lumMod val="67000"/>
                  </a:schemeClr>
                </a:gs>
                <a:gs pos="90000">
                  <a:schemeClr val="accent2">
                    <a:lumMod val="97000"/>
                    <a:lumOff val="3000"/>
                  </a:schemeClr>
                </a:gs>
                <a:gs pos="33000">
                  <a:schemeClr val="accent2">
                    <a:lumMod val="60000"/>
                    <a:lumOff val="40000"/>
                  </a:schemeClr>
                </a:gs>
              </a:gsLst>
              <a:lin ang="16200000" scaled="1"/>
              <a:tileRect/>
            </a:gra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grpSp>
        <p:nvGrpSpPr>
          <p:cNvPr id="2" name="Groupe 1">
            <a:extLst>
              <a:ext uri="{FF2B5EF4-FFF2-40B4-BE49-F238E27FC236}">
                <a16:creationId xmlns:a16="http://schemas.microsoft.com/office/drawing/2014/main" id="{473C7E8B-109F-4996-4A44-B2CD2E6ACE6A}"/>
              </a:ext>
            </a:extLst>
          </p:cNvPr>
          <p:cNvGrpSpPr/>
          <p:nvPr userDrawn="1"/>
        </p:nvGrpSpPr>
        <p:grpSpPr>
          <a:xfrm rot="16200000">
            <a:off x="3732837" y="303838"/>
            <a:ext cx="1678329" cy="9143998"/>
            <a:chOff x="7465670" y="-3428998"/>
            <a:chExt cx="1678329" cy="9143998"/>
          </a:xfrm>
        </p:grpSpPr>
        <p:sp>
          <p:nvSpPr>
            <p:cNvPr id="19" name="Rectangle 18">
              <a:extLst>
                <a:ext uri="{FF2B5EF4-FFF2-40B4-BE49-F238E27FC236}">
                  <a16:creationId xmlns:a16="http://schemas.microsoft.com/office/drawing/2014/main" id="{33FD6EB3-A395-F57E-6AC5-CD3D523726B9}"/>
                </a:ext>
              </a:extLst>
            </p:cNvPr>
            <p:cNvSpPr/>
            <p:nvPr/>
          </p:nvSpPr>
          <p:spPr>
            <a:xfrm rot="5400000">
              <a:off x="3732836" y="303836"/>
              <a:ext cx="9143998" cy="167832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endParaRPr lang="fr-FR" sz="800" cap="all">
                <a:solidFill>
                  <a:schemeClr val="bg1"/>
                </a:solidFill>
              </a:endParaRPr>
            </a:p>
          </p:txBody>
        </p:sp>
        <p:pic>
          <p:nvPicPr>
            <p:cNvPr id="20" name="Image 19">
              <a:extLst>
                <a:ext uri="{FF2B5EF4-FFF2-40B4-BE49-F238E27FC236}">
                  <a16:creationId xmlns:a16="http://schemas.microsoft.com/office/drawing/2014/main" id="{9F52A8FE-27C1-8937-3DB5-AB8C13B70EB2}"/>
                </a:ext>
              </a:extLst>
            </p:cNvPr>
            <p:cNvPicPr>
              <a:picLocks noChangeAspect="1"/>
            </p:cNvPicPr>
            <p:nvPr/>
          </p:nvPicPr>
          <p:blipFill>
            <a:blip r:embed="rId4"/>
            <a:stretch>
              <a:fillRect/>
            </a:stretch>
          </p:blipFill>
          <p:spPr>
            <a:xfrm rot="5400000">
              <a:off x="7518121" y="-2827240"/>
              <a:ext cx="1586194" cy="756000"/>
            </a:xfrm>
            <a:prstGeom prst="rect">
              <a:avLst/>
            </a:prstGeom>
          </p:spPr>
        </p:pic>
        <p:pic>
          <p:nvPicPr>
            <p:cNvPr id="21" name="Image 20">
              <a:extLst>
                <a:ext uri="{FF2B5EF4-FFF2-40B4-BE49-F238E27FC236}">
                  <a16:creationId xmlns:a16="http://schemas.microsoft.com/office/drawing/2014/main" id="{36F9FE4B-45F1-BF91-225A-A025BBC032C5}"/>
                </a:ext>
              </a:extLst>
            </p:cNvPr>
            <p:cNvPicPr>
              <a:picLocks noChangeAspect="1"/>
            </p:cNvPicPr>
            <p:nvPr/>
          </p:nvPicPr>
          <p:blipFill>
            <a:blip r:embed="rId5"/>
            <a:stretch>
              <a:fillRect/>
            </a:stretch>
          </p:blipFill>
          <p:spPr>
            <a:xfrm rot="5400000">
              <a:off x="7788048" y="4529811"/>
              <a:ext cx="1044000" cy="746074"/>
            </a:xfrm>
            <a:prstGeom prst="rect">
              <a:avLst/>
            </a:prstGeom>
          </p:spPr>
        </p:pic>
        <p:pic>
          <p:nvPicPr>
            <p:cNvPr id="22" name="Image 21" descr="Une image contenant texte, Graphique, affiche, Police  Description générée automatiquement">
              <a:extLst>
                <a:ext uri="{FF2B5EF4-FFF2-40B4-BE49-F238E27FC236}">
                  <a16:creationId xmlns:a16="http://schemas.microsoft.com/office/drawing/2014/main" id="{A8ADDECA-8C34-D481-6517-676FC76F5BB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rot="5400000">
              <a:off x="7757825" y="-1244111"/>
              <a:ext cx="1141287" cy="684000"/>
            </a:xfrm>
            <a:prstGeom prst="rect">
              <a:avLst/>
            </a:prstGeom>
          </p:spPr>
        </p:pic>
        <p:pic>
          <p:nvPicPr>
            <p:cNvPr id="23" name="BF2A55E3-C5FD-4F13-B300-A3898496703C">
              <a:extLst>
                <a:ext uri="{FF2B5EF4-FFF2-40B4-BE49-F238E27FC236}">
                  <a16:creationId xmlns:a16="http://schemas.microsoft.com/office/drawing/2014/main" id="{473F9172-A582-FA4F-7F10-2CAC7B2C688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5400000">
              <a:off x="7679826" y="1812028"/>
              <a:ext cx="1217618" cy="57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Image 23" descr="Une image contenant texte, Police, Graphique, typographie  Description générée automatiquement">
              <a:extLst>
                <a:ext uri="{FF2B5EF4-FFF2-40B4-BE49-F238E27FC236}">
                  <a16:creationId xmlns:a16="http://schemas.microsoft.com/office/drawing/2014/main" id="{5A0BE7B8-BC98-0999-611A-DA5CFF41960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5400000">
              <a:off x="7533256" y="325631"/>
              <a:ext cx="1410520" cy="504000"/>
            </a:xfrm>
            <a:prstGeom prst="rect">
              <a:avLst/>
            </a:prstGeom>
          </p:spPr>
        </p:pic>
      </p:grpSp>
      <p:pic>
        <p:nvPicPr>
          <p:cNvPr id="25" name="Image 24" descr="Une image contenant texte, Police, logo, Graphique  Description générée automatiquement">
            <a:extLst>
              <a:ext uri="{FF2B5EF4-FFF2-40B4-BE49-F238E27FC236}">
                <a16:creationId xmlns:a16="http://schemas.microsoft.com/office/drawing/2014/main" id="{857A256E-484A-7A7B-8CCD-17C1F670CFB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6240780" y="4747260"/>
            <a:ext cx="1496962" cy="487681"/>
          </a:xfrm>
          <a:prstGeom prst="rect">
            <a:avLst/>
          </a:prstGeom>
        </p:spPr>
      </p:pic>
    </p:spTree>
    <p:extLst>
      <p:ext uri="{BB962C8B-B14F-4D97-AF65-F5344CB8AC3E}">
        <p14:creationId xmlns:p14="http://schemas.microsoft.com/office/powerpoint/2010/main" val="24596078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1384" y="276620"/>
            <a:ext cx="8675615" cy="325346"/>
          </a:xfrm>
          <a:prstGeom prst="rect">
            <a:avLst/>
          </a:prstGeom>
        </p:spPr>
        <p:txBody>
          <a:bodyPr vert="horz" wrap="square" lIns="91440" tIns="46800" rIns="91440" bIns="46800" rtlCol="0" anchor="ctr" anchorCtr="0">
            <a:spAutoFit/>
          </a:bodyPr>
          <a:lstStyle/>
          <a:p>
            <a:r>
              <a:rPr lang="fr-FR"/>
              <a:t>Cliquer pour modifier le style du titre</a:t>
            </a:r>
            <a:endParaRPr lang="en-US"/>
          </a:p>
        </p:txBody>
      </p:sp>
      <p:sp>
        <p:nvSpPr>
          <p:cNvPr id="4" name="Espace réservé du pied de page 1">
            <a:extLst>
              <a:ext uri="{FF2B5EF4-FFF2-40B4-BE49-F238E27FC236}">
                <a16:creationId xmlns:a16="http://schemas.microsoft.com/office/drawing/2014/main" id="{CDD99D74-B279-103D-716D-60DF6ED06641}"/>
              </a:ext>
            </a:extLst>
          </p:cNvPr>
          <p:cNvSpPr>
            <a:spLocks noGrp="1"/>
          </p:cNvSpPr>
          <p:nvPr>
            <p:ph type="ftr" sz="quarter" idx="3"/>
          </p:nvPr>
        </p:nvSpPr>
        <p:spPr>
          <a:xfrm>
            <a:off x="3028950" y="5405488"/>
            <a:ext cx="3086100" cy="303212"/>
          </a:xfrm>
          <a:prstGeom prst="rect">
            <a:avLst/>
          </a:prstGeom>
        </p:spPr>
        <p:txBody>
          <a:bodyPr anchor="ctr"/>
          <a:lstStyle>
            <a:lvl1pPr algn="ctr">
              <a:defRPr sz="800"/>
            </a:lvl1pPr>
          </a:lstStyle>
          <a:p>
            <a:endParaRPr lang="fr-FR"/>
          </a:p>
        </p:txBody>
      </p:sp>
    </p:spTree>
    <p:extLst>
      <p:ext uri="{BB962C8B-B14F-4D97-AF65-F5344CB8AC3E}">
        <p14:creationId xmlns:p14="http://schemas.microsoft.com/office/powerpoint/2010/main" val="325628889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3" r:id="rId10"/>
    <p:sldLayoutId id="2147483682" r:id="rId11"/>
  </p:sldLayoutIdLst>
  <p:hf sldNum="0" hdr="0" dt="0"/>
  <p:txStyles>
    <p:titleStyle>
      <a:lvl1pPr algn="l" defTabSz="457196" rtl="0" eaLnBrk="1" latinLnBrk="0" hangingPunct="1">
        <a:spcBef>
          <a:spcPct val="0"/>
        </a:spcBef>
        <a:buNone/>
        <a:defRPr sz="1500" b="0" kern="1200" cap="all" baseline="0">
          <a:solidFill>
            <a:schemeClr val="accent5"/>
          </a:solidFill>
          <a:latin typeface="Montserrat" panose="00000500000000000000" pitchFamily="2" charset="0"/>
          <a:ea typeface="+mj-ea"/>
          <a:cs typeface="+mj-cs"/>
        </a:defRPr>
      </a:lvl1pPr>
    </p:titleStyle>
    <p:bodyStyle>
      <a:lvl1pPr marL="342896" indent="-342896" algn="l" defTabSz="457196" rtl="0" eaLnBrk="1" latinLnBrk="0" hangingPunct="1">
        <a:spcBef>
          <a:spcPct val="20000"/>
        </a:spcBef>
        <a:buClr>
          <a:schemeClr val="accent1"/>
        </a:buClr>
        <a:buSzPct val="80000"/>
        <a:buFont typeface="Arial" panose="020B0604020202020204" pitchFamily="34" charset="0"/>
        <a:buChar char="●"/>
        <a:defRPr sz="1400" kern="1200">
          <a:solidFill>
            <a:schemeClr val="accent3"/>
          </a:solidFill>
          <a:latin typeface="+mn-lt"/>
          <a:ea typeface="+mn-ea"/>
          <a:cs typeface="+mn-cs"/>
        </a:defRPr>
      </a:lvl1pPr>
      <a:lvl2pPr marL="742943" indent="-285747" algn="l" defTabSz="457196" rtl="0" eaLnBrk="1" latinLnBrk="0" hangingPunct="1">
        <a:spcBef>
          <a:spcPct val="20000"/>
        </a:spcBef>
        <a:buClr>
          <a:schemeClr val="tx2"/>
        </a:buClr>
        <a:buSzPct val="80000"/>
        <a:buFont typeface="Arial" panose="020B0604020202020204" pitchFamily="34" charset="0"/>
        <a:buChar char="●"/>
        <a:defRPr sz="1200" kern="1200">
          <a:solidFill>
            <a:schemeClr val="accent3"/>
          </a:solidFill>
          <a:latin typeface="+mn-lt"/>
          <a:ea typeface="+mn-ea"/>
          <a:cs typeface="+mn-cs"/>
        </a:defRPr>
      </a:lvl2pPr>
      <a:lvl3pPr marL="1142988" indent="-228597" algn="l" defTabSz="457196" rtl="0" eaLnBrk="1" latinLnBrk="0" hangingPunct="1">
        <a:spcBef>
          <a:spcPct val="20000"/>
        </a:spcBef>
        <a:buClr>
          <a:schemeClr val="accent4"/>
        </a:buClr>
        <a:buSzPct val="120000"/>
        <a:buFont typeface="Wingdings" panose="05000000000000000000" pitchFamily="2" charset="2"/>
        <a:buChar char="§"/>
        <a:defRPr sz="1100" kern="1200">
          <a:solidFill>
            <a:schemeClr val="accent3"/>
          </a:solidFill>
          <a:latin typeface="+mn-lt"/>
          <a:ea typeface="+mn-ea"/>
          <a:cs typeface="+mn-cs"/>
        </a:defRPr>
      </a:lvl3pPr>
      <a:lvl4pPr marL="1600184" indent="-228597" algn="l" defTabSz="457196" rtl="0" eaLnBrk="1" latinLnBrk="0" hangingPunct="1">
        <a:spcBef>
          <a:spcPct val="20000"/>
        </a:spcBef>
        <a:buClr>
          <a:schemeClr val="accent4"/>
        </a:buClr>
        <a:buSzPct val="80000"/>
        <a:buFont typeface="Arial" panose="020B0604020202020204" pitchFamily="34" charset="0"/>
        <a:buChar char="●"/>
        <a:defRPr sz="1100" kern="1200">
          <a:solidFill>
            <a:schemeClr val="accent3"/>
          </a:solidFill>
          <a:latin typeface="+mn-lt"/>
          <a:ea typeface="+mn-ea"/>
          <a:cs typeface="+mn-cs"/>
        </a:defRPr>
      </a:lvl4pPr>
      <a:lvl5pPr marL="2057379" indent="-228597" algn="l" defTabSz="457196" rtl="0" eaLnBrk="1" latinLnBrk="0" hangingPunct="1">
        <a:spcBef>
          <a:spcPct val="20000"/>
        </a:spcBef>
        <a:buClr>
          <a:schemeClr val="accent4"/>
        </a:buClr>
        <a:buSzPct val="100000"/>
        <a:buFont typeface="Courier New" panose="02070309020205020404" pitchFamily="49" charset="0"/>
        <a:buChar char="o"/>
        <a:defRPr sz="1100" kern="1200">
          <a:solidFill>
            <a:schemeClr val="accent3"/>
          </a:solidFill>
          <a:latin typeface="+mn-lt"/>
          <a:ea typeface="+mn-ea"/>
          <a:cs typeface="+mn-cs"/>
        </a:defRPr>
      </a:lvl5pPr>
      <a:lvl6pPr marL="2514575" indent="-228597" algn="l" defTabSz="457196" rtl="0" eaLnBrk="1" latinLnBrk="0" hangingPunct="1">
        <a:spcBef>
          <a:spcPct val="20000"/>
        </a:spcBef>
        <a:buFont typeface="Arial"/>
        <a:buChar char="•"/>
        <a:defRPr sz="2000" kern="1200">
          <a:solidFill>
            <a:schemeClr val="tx1"/>
          </a:solidFill>
          <a:latin typeface="+mn-lt"/>
          <a:ea typeface="+mn-ea"/>
          <a:cs typeface="+mn-cs"/>
        </a:defRPr>
      </a:lvl6pPr>
      <a:lvl7pPr marL="2971770" indent="-228597" algn="l" defTabSz="457196" rtl="0" eaLnBrk="1" latinLnBrk="0" hangingPunct="1">
        <a:spcBef>
          <a:spcPct val="20000"/>
        </a:spcBef>
        <a:buFont typeface="Arial"/>
        <a:buChar char="•"/>
        <a:defRPr sz="2000" kern="1200">
          <a:solidFill>
            <a:schemeClr val="tx1"/>
          </a:solidFill>
          <a:latin typeface="+mn-lt"/>
          <a:ea typeface="+mn-ea"/>
          <a:cs typeface="+mn-cs"/>
        </a:defRPr>
      </a:lvl7pPr>
      <a:lvl8pPr marL="3428966" indent="-228597" algn="l" defTabSz="457196" rtl="0" eaLnBrk="1" latinLnBrk="0" hangingPunct="1">
        <a:spcBef>
          <a:spcPct val="20000"/>
        </a:spcBef>
        <a:buFont typeface="Arial"/>
        <a:buChar char="•"/>
        <a:defRPr sz="2000" kern="1200">
          <a:solidFill>
            <a:schemeClr val="tx1"/>
          </a:solidFill>
          <a:latin typeface="+mn-lt"/>
          <a:ea typeface="+mn-ea"/>
          <a:cs typeface="+mn-cs"/>
        </a:defRPr>
      </a:lvl8pPr>
      <a:lvl9pPr marL="3886161" indent="-228597" algn="l" defTabSz="457196"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96" rtl="0" eaLnBrk="1" latinLnBrk="0" hangingPunct="1">
        <a:defRPr sz="1800" kern="1200">
          <a:solidFill>
            <a:schemeClr val="tx1"/>
          </a:solidFill>
          <a:latin typeface="+mn-lt"/>
          <a:ea typeface="+mn-ea"/>
          <a:cs typeface="+mn-cs"/>
        </a:defRPr>
      </a:lvl1pPr>
      <a:lvl2pPr marL="457196" algn="l" defTabSz="457196" rtl="0" eaLnBrk="1" latinLnBrk="0" hangingPunct="1">
        <a:defRPr sz="1800" kern="1200">
          <a:solidFill>
            <a:schemeClr val="tx1"/>
          </a:solidFill>
          <a:latin typeface="+mn-lt"/>
          <a:ea typeface="+mn-ea"/>
          <a:cs typeface="+mn-cs"/>
        </a:defRPr>
      </a:lvl2pPr>
      <a:lvl3pPr marL="914391" algn="l" defTabSz="457196" rtl="0" eaLnBrk="1" latinLnBrk="0" hangingPunct="1">
        <a:defRPr sz="1800" kern="1200">
          <a:solidFill>
            <a:schemeClr val="tx1"/>
          </a:solidFill>
          <a:latin typeface="+mn-lt"/>
          <a:ea typeface="+mn-ea"/>
          <a:cs typeface="+mn-cs"/>
        </a:defRPr>
      </a:lvl3pPr>
      <a:lvl4pPr marL="1371587" algn="l" defTabSz="457196" rtl="0" eaLnBrk="1" latinLnBrk="0" hangingPunct="1">
        <a:defRPr sz="1800" kern="1200">
          <a:solidFill>
            <a:schemeClr val="tx1"/>
          </a:solidFill>
          <a:latin typeface="+mn-lt"/>
          <a:ea typeface="+mn-ea"/>
          <a:cs typeface="+mn-cs"/>
        </a:defRPr>
      </a:lvl4pPr>
      <a:lvl5pPr marL="1828782" algn="l" defTabSz="457196" rtl="0" eaLnBrk="1" latinLnBrk="0" hangingPunct="1">
        <a:defRPr sz="1800" kern="1200">
          <a:solidFill>
            <a:schemeClr val="tx1"/>
          </a:solidFill>
          <a:latin typeface="+mn-lt"/>
          <a:ea typeface="+mn-ea"/>
          <a:cs typeface="+mn-cs"/>
        </a:defRPr>
      </a:lvl5pPr>
      <a:lvl6pPr marL="2285978" algn="l" defTabSz="457196" rtl="0" eaLnBrk="1" latinLnBrk="0" hangingPunct="1">
        <a:defRPr sz="1800" kern="1200">
          <a:solidFill>
            <a:schemeClr val="tx1"/>
          </a:solidFill>
          <a:latin typeface="+mn-lt"/>
          <a:ea typeface="+mn-ea"/>
          <a:cs typeface="+mn-cs"/>
        </a:defRPr>
      </a:lvl6pPr>
      <a:lvl7pPr marL="2743173" algn="l" defTabSz="457196" rtl="0" eaLnBrk="1" latinLnBrk="0" hangingPunct="1">
        <a:defRPr sz="1800" kern="1200">
          <a:solidFill>
            <a:schemeClr val="tx1"/>
          </a:solidFill>
          <a:latin typeface="+mn-lt"/>
          <a:ea typeface="+mn-ea"/>
          <a:cs typeface="+mn-cs"/>
        </a:defRPr>
      </a:lvl7pPr>
      <a:lvl8pPr marL="3200368" algn="l" defTabSz="457196" rtl="0" eaLnBrk="1" latinLnBrk="0" hangingPunct="1">
        <a:defRPr sz="1800" kern="1200">
          <a:solidFill>
            <a:schemeClr val="tx1"/>
          </a:solidFill>
          <a:latin typeface="+mn-lt"/>
          <a:ea typeface="+mn-ea"/>
          <a:cs typeface="+mn-cs"/>
        </a:defRPr>
      </a:lvl8pPr>
      <a:lvl9pPr marL="3657563" algn="l" defTabSz="45719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8DCF94C1-BF6F-B377-CC0F-D338E968D7AD}"/>
              </a:ext>
            </a:extLst>
          </p:cNvPr>
          <p:cNvSpPr>
            <a:spLocks noGrp="1"/>
          </p:cNvSpPr>
          <p:nvPr>
            <p:ph type="ctrTitle"/>
          </p:nvPr>
        </p:nvSpPr>
        <p:spPr>
          <a:xfrm>
            <a:off x="256032" y="2240280"/>
            <a:ext cx="4315968" cy="1143000"/>
          </a:xfrm>
        </p:spPr>
        <p:txBody>
          <a:bodyPr/>
          <a:lstStyle/>
          <a:p>
            <a:r>
              <a:t>Hospitalisation : dérive réelle ou effet ROC ?</a:t>
            </a:r>
          </a:p>
        </p:txBody>
      </p:sp>
      <p:sp>
        <p:nvSpPr>
          <p:cNvPr id="14" name="Espace réservé du texte 13">
            <a:extLst>
              <a:ext uri="{FF2B5EF4-FFF2-40B4-BE49-F238E27FC236}">
                <a16:creationId xmlns:a16="http://schemas.microsoft.com/office/drawing/2014/main" id="{1856A6A8-6228-CCEA-185F-D00119B7A97D}"/>
              </a:ext>
            </a:extLst>
          </p:cNvPr>
          <p:cNvSpPr>
            <a:spLocks noGrp="1"/>
          </p:cNvSpPr>
          <p:nvPr>
            <p:ph type="body" sz="quarter" idx="13"/>
          </p:nvPr>
        </p:nvSpPr>
        <p:spPr>
          <a:xfrm>
            <a:off x="256032" y="4169663"/>
            <a:ext cx="2651760" cy="173736"/>
          </a:xfrm>
        </p:spPr>
        <p:txBody>
          <a:bodyPr/>
          <a:lstStyle/>
          <a:p>
            <a:r>
              <a:t>Septembre 2026</a:t>
            </a:r>
          </a:p>
        </p:txBody>
      </p:sp>
      <p:sp>
        <p:nvSpPr>
          <p:cNvPr id="2" name="Espace réservé du texte 1">
            <a:extLst>
              <a:ext uri="{FF2B5EF4-FFF2-40B4-BE49-F238E27FC236}">
                <a16:creationId xmlns:a16="http://schemas.microsoft.com/office/drawing/2014/main" id="{E4FFD18E-F838-81E7-D5D2-F3DBB3537446}"/>
              </a:ext>
            </a:extLst>
          </p:cNvPr>
          <p:cNvSpPr>
            <a:spLocks noGrp="1"/>
          </p:cNvSpPr>
          <p:nvPr>
            <p:ph type="body" sz="quarter" idx="14"/>
          </p:nvPr>
        </p:nvSpPr>
        <p:spPr>
          <a:xfrm>
            <a:off x="256032" y="3611880"/>
            <a:ext cx="4416552" cy="420624"/>
          </a:xfrm>
        </p:spPr>
        <p:txBody>
          <a:bodyPr/>
          <a:lstStyle/>
          <a:p>
            <a:pPr>
              <a:lnSpc>
                <a:spcPct val="112000"/>
              </a:lnSpc>
              <a:spcBef>
                <a:spcPts val="0"/>
              </a:spcBef>
              <a:spcAft>
                <a:spcPts val="0"/>
              </a:spcAft>
            </a:pPr>
            <a:r>
              <a:rPr dirty="0" err="1"/>
              <a:t>Une garantie hospitalisation qui se dégrade depuis 2025 :</a:t>
            </a:r>
          </a:p>
          <a:p>
            <a:pPr>
              <a:lnSpc>
                <a:spcPct val="112000"/>
              </a:lnSpc>
              <a:spcBef>
                <a:spcPts val="0"/>
              </a:spcBef>
              <a:spcAft>
                <a:spcPts val="0"/>
              </a:spcAft>
            </a:pPr>
            <a:r>
              <a:rPr dirty="0" err="1"/>
              <a:t>ce que disent les remboursements de l’Assurance Maladie, 2022–2025</a:t>
            </a:r>
          </a:p>
        </p:txBody>
      </p:sp>
    </p:spTree>
    <p:extLst>
      <p:ext uri="{BB962C8B-B14F-4D97-AF65-F5344CB8AC3E}">
        <p14:creationId xmlns:p14="http://schemas.microsoft.com/office/powerpoint/2010/main" val="1846611922"/>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DAMIR : le périmètre de l’étude</a:t>
            </a:r>
          </a:p>
        </p:txBody>
      </p:sp>
      <p:sp>
        <p:nvSpPr>
          <p:cNvPr id="3" name="Text Placeholder 2"/>
          <p:cNvSpPr>
            <a:spLocks noGrp="1"/>
          </p:cNvSpPr>
          <p:nvPr>
            <p:ph type="body" idx="13" sz="quarter"/>
          </p:nvPr>
        </p:nvSpPr>
        <p:spPr>
          <a:xfrm>
            <a:off x="466344" y="612648"/>
            <a:ext cx="6766560" cy="292608"/>
          </a:xfrm>
        </p:spPr>
        <p:txBody>
          <a:bodyPr/>
          <a:lstStyle/>
          <a:p>
            <a:r>
              <a:t>Des remboursements AMO aux repères du privé</a:t>
            </a:r>
          </a:p>
        </p:txBody>
      </p:sp>
      <p:sp>
        <p:nvSpPr>
          <p:cNvPr id="4" name="TextBox 3"/>
          <p:cNvSpPr txBox="1"/>
          <p:nvPr/>
        </p:nvSpPr>
        <p:spPr>
          <a:xfrm>
            <a:off x="457200" y="1133856"/>
            <a:ext cx="8229600" cy="713232"/>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Open DAMIR est la base publique de la Cnam, tous régimes, publiée chaque mois. Elle donne les dépenses présentées et les remboursements de l’Assurance Maladie (AMO), par cellules agrégées (un mois de soins, une prestation, une région, un âge, un sexe), jamais par individu ni par établissement. Ici : soins 2022–2025, flux arrêtés au 31/12/2025.</a:t>
            </a:r>
          </a:p>
        </p:txBody>
      </p:sp>
      <p:graphicFrame>
        <p:nvGraphicFramePr>
          <p:cNvPr id="5" name="Table 4"/>
          <p:cNvGraphicFramePr>
            <a:graphicFrameLocks noGrp="1"/>
          </p:cNvGraphicFramePr>
          <p:nvPr/>
        </p:nvGraphicFramePr>
        <p:xfrm>
          <a:off x="457200" y="1856231"/>
          <a:ext cx="8229600" cy="1499616"/>
        </p:xfrm>
        <a:graphic>
          <a:graphicData uri="http://schemas.openxmlformats.org/drawingml/2006/table">
            <a:tbl>
              <a:tblPr>
                <a:tableStyleId>{5C22544A-7EE6-4342-B048-85BDC9FD1C3A}</a:tableStyleId>
              </a:tblPr>
              <a:tblGrid>
                <a:gridCol w="4114800"/>
                <a:gridCol w="4114800"/>
              </a:tblGrid>
              <a:tr h="292608">
                <a:tc>
                  <a:txBody>
                    <a:bodyPr/>
                    <a:lstStyle/>
                    <a:p>
                      <a:pPr algn="l">
                        <a:lnSpc>
                          <a:spcPct val="100000"/>
                        </a:lnSpc>
                        <a:spcBef>
                          <a:spcPts val="0"/>
                        </a:spcBef>
                        <a:spcAft>
                          <a:spcPts val="0"/>
                        </a:spcAft>
                      </a:pPr>
                      <a:r>
                        <a:rPr sz="1100" b="1" lang="fr-FR">
                          <a:solidFill>
                            <a:srgbClr val="404040"/>
                          </a:solidFill>
                          <a:latin typeface="Avenir Next LT Pro Light"/>
                        </a:rPr>
                        <a:t>Ce que DAMIR contient</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100" b="1" lang="fr-FR">
                          <a:solidFill>
                            <a:srgbClr val="404040"/>
                          </a:solidFill>
                          <a:latin typeface="Avenir Next LT Pro Light"/>
                        </a:rPr>
                        <a:t>Ce que DAMIR ne contient pas</a:t>
                      </a:r>
                    </a:p>
                  </a:txBody>
                  <a:tcPr marL="64008" marR="64008" marT="22860" marB="22860" anchor="ctr">
                    <a:solidFill>
                      <a:srgbClr val="BFBFBF">
                        <a:lumMod val="18000"/>
                        <a:lumOff val="82000"/>
                      </a:srgbClr>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Soins de ville et séjours en clinique</a:t>
                      </a:r>
                    </a:p>
                    <a:p>
                      <a:pPr algn="l">
                        <a:lnSpc>
                          <a:spcPct val="100000"/>
                        </a:lnSpc>
                        <a:spcBef>
                          <a:spcPts val="0"/>
                        </a:spcBef>
                        <a:spcAft>
                          <a:spcPts val="0"/>
                        </a:spcAft>
                      </a:pPr>
                      <a:r>
                        <a:rPr sz="1100" b="0" lang="fr-FR">
                          <a:solidFill>
                            <a:srgbClr val="404040"/>
                          </a:solidFill>
                          <a:latin typeface="Avenir Next LT Pro Light"/>
                        </a:rPr>
                        <a:t>Dépense, remboursement AMO, dépassements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Séjours de l’hôpital public</a:t>
                      </a:r>
                    </a:p>
                    <a:p>
                      <a:pPr algn="l">
                        <a:lnSpc>
                          <a:spcPct val="100000"/>
                        </a:lnSpc>
                        <a:spcBef>
                          <a:spcPts val="0"/>
                        </a:spcBef>
                        <a:spcAft>
                          <a:spcPts val="0"/>
                        </a:spcAft>
                      </a:pPr>
                      <a:r>
                        <a:rPr sz="1100" b="0" lang="fr-FR">
                          <a:solidFill>
                            <a:srgbClr val="404040"/>
                          </a:solidFill>
                          <a:latin typeface="Avenir Next LT Pro Light"/>
                        </a:rPr>
                        <a:t>Chambre particulière, part payée par la complémentaire</a:t>
                      </a:r>
                    </a:p>
                  </a:txBody>
                  <a:tcPr marL="64008" marR="64008" marT="22860" marB="22860" anchor="ctr">
                    <a:solidFill>
                      <a:srgbClr val="FFFFFF"/>
                    </a:solidFill>
                    <a:lnL w="0">
                      <a:noFill/>
                    </a:lnL>
                    <a:lnR w="0">
                      <a:noFill/>
                    </a:lnR>
                    <a:lnT w="0">
                      <a:noFill/>
                    </a:lnT>
                    <a:lnB w="0">
                      <a:noFill/>
                    </a:lnB>
                  </a:tcPr>
                </a:tc>
              </a:tr>
              <a:tr h="603504">
                <a:tc>
                  <a:txBody>
                    <a:bodyPr/>
                    <a:lstStyle/>
                    <a:p>
                      <a:pPr algn="l">
                        <a:lnSpc>
                          <a:spcPct val="100000"/>
                        </a:lnSpc>
                        <a:spcBef>
                          <a:spcPts val="0"/>
                        </a:spcBef>
                        <a:spcAft>
                          <a:spcPts val="0"/>
                        </a:spcAft>
                      </a:pPr>
                      <a:r>
                        <a:rPr sz="1100" b="0" lang="fr-FR">
                          <a:solidFill>
                            <a:srgbClr val="404040"/>
                          </a:solidFill>
                          <a:latin typeface="Avenir Next LT Pro Light"/>
                        </a:rPr>
                        <a:t>Mois de soins, prestation, région, âge, sexe,</a:t>
                      </a:r>
                    </a:p>
                    <a:p>
                      <a:pPr algn="l">
                        <a:lnSpc>
                          <a:spcPct val="100000"/>
                        </a:lnSpc>
                        <a:spcBef>
                          <a:spcPts val="0"/>
                        </a:spcBef>
                        <a:spcAft>
                          <a:spcPts val="0"/>
                        </a:spcAft>
                      </a:pPr>
                      <a:r>
                        <a:rPr sz="1100" b="0" lang="fr-FR">
                          <a:solidFill>
                            <a:srgbClr val="404040"/>
                          </a:solidFill>
                          <a:latin typeface="Avenir Next LT Pro Light"/>
                        </a:rPr>
                        <a:t>nature d’assurance et ALD</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100" b="0" lang="fr-FR">
                          <a:solidFill>
                            <a:srgbClr val="404040"/>
                          </a:solidFill>
                          <a:latin typeface="Avenir Next LT Pro Light"/>
                        </a:rPr>
                        <a:t>Établissement identifié</a:t>
                      </a:r>
                    </a:p>
                    <a:p>
                      <a:pPr algn="l">
                        <a:lnSpc>
                          <a:spcPct val="100000"/>
                        </a:lnSpc>
                        <a:spcBef>
                          <a:spcPts val="0"/>
                        </a:spcBef>
                        <a:spcAft>
                          <a:spcPts val="0"/>
                        </a:spcAft>
                      </a:pPr>
                      <a:r>
                        <a:rPr sz="1100" b="0" lang="fr-FR">
                          <a:solidFill>
                            <a:srgbClr val="404040"/>
                          </a:solidFill>
                          <a:latin typeface="Avenir Next LT Pro Light"/>
                        </a:rPr>
                        <a:t>Statut ROC ou non ROC</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457200" y="3639312"/>
            <a:ext cx="38404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soins (survenance)</a:t>
            </a:r>
          </a:p>
        </p:txBody>
      </p:sp>
      <p:sp>
        <p:nvSpPr>
          <p:cNvPr id="7" name="TextBox 6"/>
          <p:cNvSpPr txBox="1"/>
          <p:nvPr/>
        </p:nvSpPr>
        <p:spPr>
          <a:xfrm>
            <a:off x="457200" y="3968496"/>
            <a:ext cx="3822191"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soins de l’année, quelle que soit la date du paiement. Les années récentes restent incomplètes.</a:t>
            </a:r>
          </a:p>
        </p:txBody>
      </p:sp>
      <p:sp>
        <p:nvSpPr>
          <p:cNvPr id="8" name="TextBox 7"/>
          <p:cNvSpPr txBox="1"/>
          <p:nvPr/>
        </p:nvSpPr>
        <p:spPr>
          <a:xfrm>
            <a:off x="4709160" y="3639312"/>
            <a:ext cx="3977639"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Année de règlement AMO</a:t>
            </a:r>
          </a:p>
        </p:txBody>
      </p:sp>
      <p:sp>
        <p:nvSpPr>
          <p:cNvPr id="9" name="TextBox 8"/>
          <p:cNvSpPr txBox="1"/>
          <p:nvPr/>
        </p:nvSpPr>
        <p:spPr>
          <a:xfrm>
            <a:off x="4709160" y="3968496"/>
            <a:ext cx="3977639" cy="530352"/>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Les paiements de l’année, toutes années de soins confondues. Année complète, distincte des comptes de l’AMC.</a:t>
            </a:r>
          </a:p>
        </p:txBody>
      </p:sp>
      <p:sp>
        <p:nvSpPr>
          <p:cNvPr id="10" name="TextBox 9"/>
          <p:cNvSpPr txBox="1"/>
          <p:nvPr/>
        </p:nvSpPr>
        <p:spPr>
          <a:xfrm>
            <a:off x="457200" y="4754880"/>
            <a:ext cx="8229600" cy="274320"/>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Reste après AMO = dépense − remboursement AMO. Il inclut la part du patient.</a:t>
            </a:r>
          </a:p>
        </p:txBody>
      </p:sp>
      <p:sp>
        <p:nvSpPr>
          <p:cNvPr id="11" name="TextBox 10"/>
          <p:cNvSpPr txBox="1"/>
          <p:nvPr/>
        </p:nvSpPr>
        <p:spPr>
          <a:xfrm>
            <a:off x="457200" y="5047488"/>
            <a:ext cx="8229600" cy="32004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Part AMO = remboursement / dépense. Dépassements = montants facturés au-delà du tarif.</a:t>
            </a:r>
          </a:p>
          <a:p>
            <a:pPr>
              <a:lnSpc>
                <a:spcPct val="112000"/>
              </a:lnSpc>
              <a:spcBef>
                <a:spcPts val="0"/>
              </a:spcBef>
              <a:spcAft>
                <a:spcPts val="0"/>
              </a:spcAft>
            </a:pPr>
            <a:r>
              <a:rPr sz="950" b="0" lang="fr-FR" cap="none">
                <a:solidFill>
                  <a:srgbClr val="404040"/>
                </a:solidFill>
                <a:latin typeface="Avenir Next LT Pro Light"/>
              </a:rPr>
              <a:t>Séjour : AMO à 80 % du tarif, ticket modérateur à 20 %, sauf exonération (ALD, actes lourds, maternité).</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ROC : la facturation de la part complémentaire</a:t>
            </a:r>
          </a:p>
        </p:txBody>
      </p:sp>
      <p:sp>
        <p:nvSpPr>
          <p:cNvPr id="3" name="Text Placeholder 2"/>
          <p:cNvSpPr>
            <a:spLocks noGrp="1"/>
          </p:cNvSpPr>
          <p:nvPr>
            <p:ph type="body" idx="13" sz="quarter"/>
          </p:nvPr>
        </p:nvSpPr>
        <p:spPr>
          <a:xfrm>
            <a:off x="466344" y="612648"/>
            <a:ext cx="6766560" cy="292608"/>
          </a:xfrm>
        </p:spPr>
        <p:txBody>
          <a:bodyPr/>
          <a:lstStyle/>
          <a:p>
            <a:r>
              <a:t>Remboursement des Organismes Complémentaires</a:t>
            </a:r>
          </a:p>
        </p:txBody>
      </p:sp>
      <p:sp>
        <p:nvSpPr>
          <p:cNvPr id="4" name="TextBox 3"/>
          <p:cNvSpPr txBox="1"/>
          <p:nvPr/>
        </p:nvSpPr>
        <p:spPr>
          <a:xfrm>
            <a:off x="457200" y="1115568"/>
            <a:ext cx="8229600" cy="484632"/>
          </a:xfrm>
          <a:prstGeom prst="rect">
            <a:avLst/>
          </a:prstGeom>
          <a:noFill/>
        </p:spPr>
        <p:txBody>
          <a:bodyPr wrap="square" lIns="0" rIns="0" tIns="0" bIns="0">
            <a:noAutofit/>
          </a:bodyPr>
          <a:lstStyle/>
          <a:p>
            <a:pPr>
              <a:lnSpc>
                <a:spcPct val="112000"/>
              </a:lnSpc>
              <a:spcBef>
                <a:spcPts val="0"/>
              </a:spcBef>
              <a:spcAft>
                <a:spcPts val="0"/>
              </a:spcAft>
            </a:pPr>
            <a:r>
              <a:rPr sz="1200" b="0" lang="fr-FR" cap="none">
                <a:solidFill>
                  <a:srgbClr val="404040"/>
                </a:solidFill>
                <a:latin typeface="Avenir Next LT Pro Light"/>
              </a:rPr>
              <a:t>L’établissement vérifie les droits en temps réel, calcule la part complémentaire, obtient un engagement de paiement et facture directement l’AMC.</a:t>
            </a:r>
          </a:p>
        </p:txBody>
      </p:sp>
      <p:sp>
        <p:nvSpPr>
          <p:cNvPr id="5" name="TextBox 4"/>
          <p:cNvSpPr txBox="1"/>
          <p:nvPr/>
        </p:nvSpPr>
        <p:spPr>
          <a:xfrm>
            <a:off x="457200" y="1682496"/>
            <a:ext cx="8229600" cy="384048"/>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5B0C02"/>
                </a:solidFill>
                <a:latin typeface="Avenir Next LT Pro Light"/>
              </a:rPr>
              <a:t>Périmètre : la part payée par la complémentaire (ticket modérateur, forfait journalier, chambre particulière). Le ROC ne change pas ce qui est dû, seulement quand et comment c’est facturé.</a:t>
            </a:r>
          </a:p>
        </p:txBody>
      </p:sp>
      <p:graphicFrame>
        <p:nvGraphicFramePr>
          <p:cNvPr id="6" name="Table 5"/>
          <p:cNvGraphicFramePr>
            <a:graphicFrameLocks noGrp="1"/>
          </p:cNvGraphicFramePr>
          <p:nvPr/>
        </p:nvGraphicFramePr>
        <p:xfrm>
          <a:off x="457200" y="2148840"/>
          <a:ext cx="8229600" cy="1975104"/>
        </p:xfrm>
        <a:graphic>
          <a:graphicData uri="http://schemas.openxmlformats.org/drawingml/2006/table">
            <a:tbl>
              <a:tblPr>
                <a:tableStyleId>{5C22544A-7EE6-4342-B048-85BDC9FD1C3A}</a:tableStyleId>
              </a:tblPr>
              <a:tblGrid>
                <a:gridCol w="1261872"/>
                <a:gridCol w="3611880"/>
                <a:gridCol w="3355848"/>
              </a:tblGrid>
              <a:tr h="292608">
                <a:tc>
                  <a:txBody>
                    <a:bodyPr/>
                    <a:lstStyle/>
                    <a:p>
                      <a:pPr algn="l">
                        <a:lnSpc>
                          <a:spcPct val="100000"/>
                        </a:lnSpc>
                        <a:spcBef>
                          <a:spcPts val="0"/>
                        </a:spcBef>
                        <a:spcAft>
                          <a:spcPts val="0"/>
                        </a:spcAft>
                      </a:pPr>
                      <a:r>
                        <a:rPr sz="1050" b="1" lang="fr-FR">
                          <a:solidFill>
                            <a:srgbClr val="404040"/>
                          </a:solidFill>
                          <a:latin typeface="Avenir Next LT Pro Light"/>
                        </a:rPr>
                        <a:t>Calendrier</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Hôpitaux publics et ESPIC</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c>
                  <a:txBody>
                    <a:bodyPr/>
                    <a:lstStyle/>
                    <a:p>
                      <a:pPr algn="l">
                        <a:lnSpc>
                          <a:spcPct val="100000"/>
                        </a:lnSpc>
                        <a:spcBef>
                          <a:spcPts val="0"/>
                        </a:spcBef>
                        <a:spcAft>
                          <a:spcPts val="0"/>
                        </a:spcAft>
                      </a:pPr>
                      <a:r>
                        <a:rPr sz="1050" b="1" lang="fr-FR">
                          <a:solidFill>
                            <a:srgbClr val="404040"/>
                          </a:solidFill>
                          <a:latin typeface="Avenir Next LT Pro Light"/>
                        </a:rPr>
                        <a:t>Cliniques privées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BFBFBF">
                        <a:lumMod val="18000"/>
                        <a:lumOff val="82000"/>
                      </a:srgbClr>
                    </a:solidFill>
                  </a:tcPr>
                </a:tc>
              </a:tr>
              <a:tr h="384048">
                <a:tc>
                  <a:txBody>
                    <a:bodyPr/>
                    <a:lstStyle/>
                    <a:p>
                      <a:pPr algn="l">
                        <a:lnSpc>
                          <a:spcPct val="100000"/>
                        </a:lnSpc>
                        <a:spcBef>
                          <a:spcPts val="0"/>
                        </a:spcBef>
                        <a:spcAft>
                          <a:spcPts val="0"/>
                        </a:spcAft>
                      </a:pPr>
                      <a:r>
                        <a:rPr sz="1000" b="0" lang="fr-FR">
                          <a:solidFill>
                            <a:srgbClr val="404040"/>
                          </a:solidFill>
                          <a:latin typeface="Avenir Next LT Pro Light"/>
                        </a:rPr>
                        <a:t>2021</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Accord national entre l’État, les hôpitaux et les complémentaires (programme SIMPHONIE)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566928">
                <a:tc>
                  <a:txBody>
                    <a:bodyPr/>
                    <a:lstStyle/>
                    <a:p>
                      <a:pPr algn="l">
                        <a:lnSpc>
                          <a:spcPct val="100000"/>
                        </a:lnSpc>
                        <a:spcBef>
                          <a:spcPts val="0"/>
                        </a:spcBef>
                        <a:spcAft>
                          <a:spcPts val="0"/>
                        </a:spcAft>
                      </a:pPr>
                      <a:r>
                        <a:rPr sz="1000" b="0" lang="fr-FR">
                          <a:solidFill>
                            <a:srgbClr val="404040"/>
                          </a:solidFill>
                          <a:latin typeface="Avenir Next LT Pro Light"/>
                        </a:rPr>
                        <a:t>19/09/2024</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473 établissements facturent via ROC, soit 58 % d’entre eux. 88 complémentaires sont raccordées, couvrant 97 % des assurés.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Non concernées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411480">
                <a:tc>
                  <a:txBody>
                    <a:bodyPr/>
                    <a:lstStyle/>
                    <a:p>
                      <a:pPr algn="l">
                        <a:lnSpc>
                          <a:spcPct val="100000"/>
                        </a:lnSpc>
                        <a:spcBef>
                          <a:spcPts val="0"/>
                        </a:spcBef>
                        <a:spcAft>
                          <a:spcPts val="0"/>
                        </a:spcAft>
                      </a:pPr>
                      <a:r>
                        <a:rPr sz="1000" b="0" lang="fr-FR">
                          <a:solidFill>
                            <a:srgbClr val="404040"/>
                          </a:solidFill>
                          <a:latin typeface="Avenir Next LT Pro Light"/>
                        </a:rPr>
                        <a:t>2025–2026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Fin du déploiement</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Deux cliniques pilotes à la rentrée 2025, montée en charge en septembre 2026</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r h="320040">
                <a:tc>
                  <a:txBody>
                    <a:bodyPr/>
                    <a:lstStyle/>
                    <a:p>
                      <a:pPr algn="l">
                        <a:lnSpc>
                          <a:spcPct val="100000"/>
                        </a:lnSpc>
                        <a:spcBef>
                          <a:spcPts val="0"/>
                        </a:spcBef>
                        <a:spcAft>
                          <a:spcPts val="0"/>
                        </a:spcAft>
                      </a:pPr>
                      <a:r>
                        <a:rPr sz="1000" b="0" lang="fr-FR">
                          <a:solidFill>
                            <a:srgbClr val="404040"/>
                          </a:solidFill>
                          <a:latin typeface="Avenir Next LT Pro Light"/>
                        </a:rPr>
                        <a:t>2027</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Dispositif en régime de croisière</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c>
                  <a:txBody>
                    <a:bodyPr/>
                    <a:lstStyle/>
                    <a:p>
                      <a:pPr algn="l">
                        <a:lnSpc>
                          <a:spcPct val="100000"/>
                        </a:lnSpc>
                        <a:spcBef>
                          <a:spcPts val="0"/>
                        </a:spcBef>
                        <a:spcAft>
                          <a:spcPts val="0"/>
                        </a:spcAft>
                      </a:pPr>
                      <a:r>
                        <a:rPr sz="1000" b="0" lang="fr-FR">
                          <a:solidFill>
                            <a:srgbClr val="404040"/>
                          </a:solidFill>
                          <a:latin typeface="Avenir Next LT Pro Light"/>
                        </a:rPr>
                        <a:t>Généralisation à toutes les cliniques</a:t>
                      </a:r>
                    </a:p>
                  </a:txBody>
                  <a:tcPr marL="64008" marR="64008" marT="22860" marB="22860" anchor="ctr">
                    <a:lnL w="9525" cap="flat" cmpd="sng" algn="ctr">
                      <a:solidFill>
                        <a:srgbClr val="D9D9D9"/>
                      </a:solidFill>
                      <a:prstDash val="solid"/>
                    </a:lnL>
                    <a:lnR w="9525" cap="flat" cmpd="sng" algn="ctr">
                      <a:solidFill>
                        <a:srgbClr val="D9D9D9"/>
                      </a:solidFill>
                      <a:prstDash val="solid"/>
                    </a:lnR>
                    <a:lnT w="9525" cap="flat" cmpd="sng" algn="ctr">
                      <a:solidFill>
                        <a:srgbClr val="D9D9D9"/>
                      </a:solidFill>
                      <a:prstDash val="solid"/>
                    </a:lnT>
                    <a:lnB w="9525" cap="flat" cmpd="sng" algn="ctr">
                      <a:solidFill>
                        <a:srgbClr val="D9D9D9"/>
                      </a:solidFill>
                      <a:prstDash val="solid"/>
                    </a:lnB>
                    <a:solidFill>
                      <a:srgbClr val="FFFFFF"/>
                    </a:solidFill>
                  </a:tcPr>
                </a:tc>
              </a:tr>
            </a:tbl>
          </a:graphicData>
        </a:graphic>
      </p:graphicFrame>
      <p:sp>
        <p:nvSpPr>
          <p:cNvPr id="7" name="TextBox 6"/>
          <p:cNvSpPr txBox="1"/>
          <p:nvPr/>
        </p:nvSpPr>
        <p:spPr>
          <a:xfrm>
            <a:off x="457200" y="4443984"/>
            <a:ext cx="3977639" cy="393192"/>
          </a:xfrm>
          <a:prstGeom prst="rect">
            <a:avLst/>
          </a:prstGeom>
          <a:noFill/>
        </p:spPr>
        <p:txBody>
          <a:bodyPr wrap="square" lIns="0" rIns="0" tIns="0" bIns="0">
            <a:noAutofit/>
          </a:bodyPr>
          <a:lstStyle/>
          <a:p>
            <a:pPr>
              <a:lnSpc>
                <a:spcPct val="112000"/>
              </a:lnSpc>
              <a:spcBef>
                <a:spcPts val="0"/>
              </a:spcBef>
              <a:spcAft>
                <a:spcPts val="0"/>
              </a:spcAft>
            </a:pPr>
            <a:r>
              <a:rPr sz="2100" b="0" lang="fr-FR" cap="none">
                <a:solidFill>
                  <a:srgbClr val="EF4647"/>
                </a:solidFill>
                <a:latin typeface="Montserrat"/>
              </a:rPr>
              <a:t>10–15 %   →   0,1–0,2 %</a:t>
            </a:r>
          </a:p>
        </p:txBody>
      </p:sp>
      <p:sp>
        <p:nvSpPr>
          <p:cNvPr id="8" name="TextBox 7"/>
          <p:cNvSpPr txBox="1"/>
          <p:nvPr/>
        </p:nvSpPr>
        <p:spPr>
          <a:xfrm>
            <a:off x="457200" y="4882896"/>
            <a:ext cx="3977639" cy="27432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Rejets de factures rapportés par les complémentaires</a:t>
            </a:r>
          </a:p>
        </p:txBody>
      </p:sp>
      <p:sp>
        <p:nvSpPr>
          <p:cNvPr id="9" name="TextBox 8"/>
          <p:cNvSpPr txBox="1"/>
          <p:nvPr/>
        </p:nvSpPr>
        <p:spPr>
          <a:xfrm>
            <a:off x="4736592" y="4315968"/>
            <a:ext cx="3931920" cy="777240"/>
          </a:xfrm>
          <a:prstGeom prst="rect">
            <a:avLst/>
          </a:prstGeom>
          <a:noFill/>
        </p:spPr>
        <p:txBody>
          <a:bodyPr wrap="square" lIns="0" rIns="0" tIns="0" bIns="0">
            <a:noAutofit/>
          </a:bodyPr>
          <a:lstStyle/>
          <a:p>
            <a:pPr>
              <a:lnSpc>
                <a:spcPct val="112000"/>
              </a:lnSpc>
              <a:spcBef>
                <a:spcPts val="0"/>
              </a:spcBef>
              <a:spcAft>
                <a:spcPts val="0"/>
              </a:spcAft>
            </a:pPr>
            <a:r>
              <a:rPr sz="1000" b="1" lang="fr-FR" cap="none">
                <a:solidFill>
                  <a:srgbClr val="5B0C02"/>
                </a:solidFill>
                <a:latin typeface="Avenir Next LT Pro Light"/>
              </a:rPr>
              <a:t>Pour une complémentaire, le ROC fait arriver plus de factures, et plus vite. L’année où il se met en place paie donc l’année en cours et une partie de l’année précédente, sans que les soins aient augmenté.</a:t>
            </a:r>
          </a:p>
        </p:txBody>
      </p:sp>
      <p:sp>
        <p:nvSpPr>
          <p:cNvPr id="10" name="TextBox 9"/>
          <p:cNvSpPr txBox="1"/>
          <p:nvPr/>
        </p:nvSpPr>
        <p:spPr>
          <a:xfrm>
            <a:off x="457200" y="5138928"/>
            <a:ext cx="8229600" cy="292608"/>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En 2025, le ROC joue à l’hôpital public, dont les séjours ne sont pas dans DAMIR. Son effet se lit sur les factures publiques d’une complémentaire, en date de paiement.</a:t>
            </a:r>
          </a:p>
        </p:txBody>
      </p:sp>
      <p:sp>
        <p:nvSpPr>
          <p:cNvPr id="11" name="TextBox 10"/>
          <p:cNvSpPr txBox="1"/>
          <p:nvPr/>
        </p:nvSpPr>
        <p:spPr>
          <a:xfrm>
            <a:off x="457200" y="5468112"/>
            <a:ext cx="82296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 GIE SESAM-Vitale, Groupe VYV (19/09/2024), FHP-MCO (21/07/2025). Calendrier annoncé.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Les ruptures à prendre en compte</a:t>
            </a:r>
          </a:p>
        </p:txBody>
      </p:sp>
      <p:sp>
        <p:nvSpPr>
          <p:cNvPr id="3" name="Text Placeholder 2"/>
          <p:cNvSpPr>
            <a:spLocks noGrp="1"/>
          </p:cNvSpPr>
          <p:nvPr>
            <p:ph type="body" idx="13" sz="quarter"/>
          </p:nvPr>
        </p:nvSpPr>
        <p:spPr>
          <a:xfrm>
            <a:off x="466344" y="612648"/>
            <a:ext cx="6766560" cy="292608"/>
          </a:xfrm>
        </p:spPr>
        <p:txBody>
          <a:bodyPr/>
          <a:lstStyle/>
          <a:p>
            <a:r>
              <a:t>Trois blocs : séjours ordinaires, rééducation, anesthésie</a:t>
            </a:r>
          </a:p>
        </p:txBody>
      </p:sp>
      <p:sp>
        <p:nvSpPr>
          <p:cNvPr id="4" name="TextBox 3"/>
          <p:cNvSpPr txBox="1"/>
          <p:nvPr/>
        </p:nvSpPr>
        <p:spPr>
          <a:xfrm>
            <a:off x="457200" y="1088136"/>
            <a:ext cx="4800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Réformes et changements d’enregistrement</a:t>
            </a:r>
          </a:p>
        </p:txBody>
      </p:sp>
      <p:graphicFrame>
        <p:nvGraphicFramePr>
          <p:cNvPr id="5" name="Table 4"/>
          <p:cNvGraphicFramePr>
            <a:graphicFrameLocks noGrp="1"/>
          </p:cNvGraphicFramePr>
          <p:nvPr/>
        </p:nvGraphicFramePr>
        <p:xfrm>
          <a:off x="457200" y="1463040"/>
          <a:ext cx="4736591" cy="2578608"/>
        </p:xfrm>
        <a:graphic>
          <a:graphicData uri="http://schemas.openxmlformats.org/drawingml/2006/table">
            <a:tbl>
              <a:tblPr>
                <a:tableStyleId>{5C22544A-7EE6-4342-B048-85BDC9FD1C3A}</a:tableStyleId>
              </a:tblPr>
              <a:tblGrid>
                <a:gridCol w="914400"/>
                <a:gridCol w="3822191"/>
              </a:tblGrid>
              <a:tr h="265176">
                <a:tc>
                  <a:txBody>
                    <a:bodyPr/>
                    <a:lstStyle/>
                    <a:p>
                      <a:pPr algn="l">
                        <a:lnSpc>
                          <a:spcPct val="100000"/>
                        </a:lnSpc>
                        <a:spcBef>
                          <a:spcPts val="0"/>
                        </a:spcBef>
                        <a:spcAft>
                          <a:spcPts val="0"/>
                        </a:spcAft>
                      </a:pPr>
                      <a:r>
                        <a:rPr sz="1000" b="1" lang="fr-FR">
                          <a:solidFill>
                            <a:srgbClr val="404040"/>
                          </a:solidFill>
                          <a:latin typeface="Avenir Next LT Pro Light"/>
                        </a:rPr>
                        <a:t>Date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Événement</a:t>
                      </a:r>
                    </a:p>
                  </a:txBody>
                  <a:tcPr marL="64008" marR="64008" marT="22860" marB="22860" anchor="ctr">
                    <a:solidFill>
                      <a:srgbClr val="BFBFBF">
                        <a:lumMod val="18000"/>
                        <a:lumOff val="82000"/>
                      </a:srgbClr>
                    </a:solidFill>
                    <a:lnL w="0">
                      <a:noFill/>
                    </a:lnL>
                    <a:lnR w="0">
                      <a:noFill/>
                    </a:lnR>
                    <a:lnT w="0">
                      <a:noFill/>
                    </a:lnT>
                    <a:lnB w="0">
                      <a:noFill/>
                    </a:lnB>
                  </a:tcPr>
                </a:tc>
              </a:tr>
              <a:tr h="530352">
                <a:tc>
                  <a:txBody>
                    <a:bodyPr/>
                    <a:lstStyle/>
                    <a:p>
                      <a:pPr algn="l">
                        <a:lnSpc>
                          <a:spcPct val="100000"/>
                        </a:lnSpc>
                        <a:spcBef>
                          <a:spcPts val="0"/>
                        </a:spcBef>
                        <a:spcAft>
                          <a:spcPts val="0"/>
                        </a:spcAft>
                      </a:pPr>
                      <a:r>
                        <a:rPr sz="1000" b="0" lang="fr-FR">
                          <a:solidFill>
                            <a:srgbClr val="404040"/>
                          </a:solidFill>
                          <a:latin typeface="Avenir Next LT Pro Light"/>
                        </a:rPr>
                        <a:t>01/2024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du financement des SMR</a:t>
                      </a:r>
                    </a:p>
                    <a:p>
                      <a:pPr algn="l">
                        <a:lnSpc>
                          <a:spcPct val="100000"/>
                        </a:lnSpc>
                        <a:spcBef>
                          <a:spcPts val="0"/>
                        </a:spcBef>
                        <a:spcAft>
                          <a:spcPts val="0"/>
                        </a:spcAft>
                      </a:pPr>
                      <a:r>
                        <a:rPr sz="1000" b="0" lang="fr-FR">
                          <a:solidFill>
                            <a:srgbClr val="404040"/>
                          </a:solidFill>
                          <a:latin typeface="Avenir Next LT Pro Light"/>
                        </a:rPr>
                        <a:t>Nouveaux tarifs et codes, facturation retardée</a:t>
                      </a:r>
                    </a:p>
                  </a:txBody>
                  <a:tcPr marL="64008" marR="64008" marT="22860" marB="22860" anchor="ctr">
                    <a:solidFill>
                      <a:srgbClr val="FFFFFF"/>
                    </a:solidFill>
                    <a:lnL w="0">
                      <a:noFill/>
                    </a:lnL>
                    <a:lnR w="0">
                      <a:noFill/>
                    </a:lnR>
                    <a:lnT w="0">
                      <a:noFill/>
                    </a:lnT>
                    <a:lnB w="0">
                      <a:noFill/>
                    </a:lnB>
                  </a:tcPr>
                </a:tc>
              </a:tr>
              <a:tr h="466344">
                <a:tc>
                  <a:txBody>
                    <a:bodyPr/>
                    <a:lstStyle/>
                    <a:p>
                      <a:pPr algn="l">
                        <a:lnSpc>
                          <a:spcPct val="100000"/>
                        </a:lnSpc>
                        <a:spcBef>
                          <a:spcPts val="0"/>
                        </a:spcBef>
                        <a:spcAft>
                          <a:spcPts val="0"/>
                        </a:spcAft>
                      </a:pPr>
                      <a:r>
                        <a:rPr sz="10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Doublement des franchises</a:t>
                      </a:r>
                    </a:p>
                    <a:p>
                      <a:pPr algn="l">
                        <a:lnSpc>
                          <a:spcPct val="100000"/>
                        </a:lnSpc>
                        <a:spcBef>
                          <a:spcPts val="0"/>
                        </a:spcBef>
                        <a:spcAft>
                          <a:spcPts val="0"/>
                        </a:spcAft>
                      </a:pPr>
                      <a:r>
                        <a:rPr sz="1000" b="0" lang="fr-FR">
                          <a:solidFill>
                            <a:srgbClr val="404040"/>
                          </a:solidFill>
                          <a:latin typeface="Avenir Next LT Pro Light"/>
                        </a:rPr>
                        <a:t>et participations forfaitaires</a:t>
                      </a:r>
                    </a:p>
                  </a:txBody>
                  <a:tcPr marL="64008" marR="64008" marT="22860" marB="22860" anchor="ctr">
                    <a:solidFill>
                      <a:srgbClr val="FFFFFF"/>
                    </a:solidFill>
                    <a:lnL w="0">
                      <a:noFill/>
                    </a:lnL>
                    <a:lnR w="0">
                      <a:noFill/>
                    </a:lnR>
                    <a:lnT w="0">
                      <a:noFill/>
                    </a:lnT>
                    <a:lnB w="0">
                      <a:noFill/>
                    </a:lnB>
                  </a:tcPr>
                </a:tc>
              </a:tr>
              <a:tr h="539496">
                <a:tc>
                  <a:txBody>
                    <a:bodyPr/>
                    <a:lstStyle/>
                    <a:p>
                      <a:pPr algn="l">
                        <a:lnSpc>
                          <a:spcPct val="100000"/>
                        </a:lnSpc>
                        <a:spcBef>
                          <a:spcPts val="0"/>
                        </a:spcBef>
                        <a:spcAft>
                          <a:spcPts val="0"/>
                        </a:spcAft>
                      </a:pPr>
                      <a:r>
                        <a:rPr sz="1000" b="0" lang="fr-FR">
                          <a:solidFill>
                            <a:srgbClr val="404040"/>
                          </a:solidFill>
                          <a:latin typeface="Avenir Next LT Pro Light"/>
                        </a:rPr>
                        <a:t>11/2024</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Forfait journalier (2251) : dépense</a:t>
                      </a:r>
                    </a:p>
                    <a:p>
                      <a:pPr algn="l">
                        <a:lnSpc>
                          <a:spcPct val="100000"/>
                        </a:lnSpc>
                        <a:spcBef>
                          <a:spcPts val="0"/>
                        </a:spcBef>
                        <a:spcAft>
                          <a:spcPts val="0"/>
                        </a:spcAft>
                      </a:pPr>
                      <a:r>
                        <a:rPr sz="1000" b="0" lang="fr-FR">
                          <a:solidFill>
                            <a:srgbClr val="404040"/>
                          </a:solidFill>
                          <a:latin typeface="Avenir Next LT Pro Light"/>
                        </a:rPr>
                        <a:t>non enregistrée, cause non documentée</a:t>
                      </a:r>
                    </a:p>
                  </a:txBody>
                  <a:tcPr marL="64008" marR="64008" marT="22860" marB="22860" anchor="ctr">
                    <a:solidFill>
                      <a:srgbClr val="FFFFFF"/>
                    </a:solidFill>
                    <a:lnL w="0">
                      <a:noFill/>
                    </a:lnL>
                    <a:lnR w="0">
                      <a:noFill/>
                    </a:lnR>
                    <a:lnT w="0">
                      <a:noFill/>
                    </a:lnT>
                    <a:lnB w="0">
                      <a:noFill/>
                    </a:lnB>
                  </a:tcPr>
                </a:tc>
              </a:tr>
              <a:tr h="466344">
                <a:tc>
                  <a:txBody>
                    <a:bodyPr/>
                    <a:lstStyle/>
                    <a:p>
                      <a:pPr algn="l">
                        <a:lnSpc>
                          <a:spcPct val="100000"/>
                        </a:lnSpc>
                        <a:spcBef>
                          <a:spcPts val="0"/>
                        </a:spcBef>
                        <a:spcAft>
                          <a:spcPts val="0"/>
                        </a:spcAft>
                      </a:pPr>
                      <a:r>
                        <a:rPr sz="1000" b="0" lang="fr-FR">
                          <a:solidFill>
                            <a:srgbClr val="404040"/>
                          </a:solidFill>
                          <a:latin typeface="Avenir Next LT Pro Light"/>
                        </a:rPr>
                        <a:t>07/2025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Codes 4243–4247 sans libellé local</a:t>
                      </a:r>
                    </a:p>
                    <a:p>
                      <a:pPr algn="l">
                        <a:lnSpc>
                          <a:spcPct val="100000"/>
                        </a:lnSpc>
                        <a:spcBef>
                          <a:spcPts val="0"/>
                        </a:spcBef>
                        <a:spcAft>
                          <a:spcPts val="0"/>
                        </a:spcAft>
                      </a:pPr>
                      <a:r>
                        <a:rPr sz="1000" b="0" lang="fr-FR">
                          <a:solidFill>
                            <a:srgbClr val="404040"/>
                          </a:solidFill>
                          <a:latin typeface="Avenir Next LT Pro Light"/>
                        </a:rPr>
                        <a:t>262 M€ de prestations nouvelles</a:t>
                      </a:r>
                    </a:p>
                  </a:txBody>
                  <a:tcPr marL="64008" marR="64008" marT="22860" marB="22860" anchor="ctr">
                    <a:solidFill>
                      <a:srgbClr val="FFFFFF"/>
                    </a:solidFill>
                    <a:lnL w="0">
                      <a:noFill/>
                    </a:lnL>
                    <a:lnR w="0">
                      <a:noFill/>
                    </a:lnR>
                    <a:lnT w="0">
                      <a:noFill/>
                    </a:lnT>
                    <a:lnB w="0">
                      <a:noFill/>
                    </a:lnB>
                  </a:tcPr>
                </a:tc>
              </a:tr>
              <a:tr h="310896">
                <a:tc>
                  <a:txBody>
                    <a:bodyPr/>
                    <a:lstStyle/>
                    <a:p>
                      <a:pPr algn="l">
                        <a:lnSpc>
                          <a:spcPct val="100000"/>
                        </a:lnSpc>
                        <a:spcBef>
                          <a:spcPts val="0"/>
                        </a:spcBef>
                        <a:spcAft>
                          <a:spcPts val="0"/>
                        </a:spcAft>
                      </a:pPr>
                      <a:r>
                        <a:rPr sz="1000" b="0" lang="fr-FR">
                          <a:solidFill>
                            <a:srgbClr val="404040"/>
                          </a:solidFill>
                          <a:latin typeface="Avenir Next LT Pro Light"/>
                        </a:rPr>
                        <a:t>2026</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1000" b="0" lang="fr-FR">
                          <a:solidFill>
                            <a:srgbClr val="404040"/>
                          </a:solidFill>
                          <a:latin typeface="Avenir Next LT Pro Light"/>
                        </a:rPr>
                        <a:t>Réforme à préciser</a:t>
                      </a:r>
                    </a:p>
                  </a:txBody>
                  <a:tcPr marL="64008" marR="64008" marT="22860" marB="22860" anchor="ctr">
                    <a:solidFill>
                      <a:srgbClr val="FFFFFF"/>
                    </a:solidFill>
                    <a:lnL w="0">
                      <a:noFill/>
                    </a:lnL>
                    <a:lnR w="0">
                      <a:noFill/>
                    </a:lnR>
                    <a:lnT w="0">
                      <a:noFill/>
                    </a:lnT>
                    <a:lnB w="0">
                      <a:noFill/>
                    </a:lnB>
                  </a:tcPr>
                </a:tc>
              </a:tr>
            </a:tbl>
          </a:graphicData>
        </a:graphic>
      </p:graphicFrame>
      <p:sp>
        <p:nvSpPr>
          <p:cNvPr id="6" name="TextBox 5"/>
          <p:cNvSpPr txBox="1"/>
          <p:nvPr/>
        </p:nvSpPr>
        <p:spPr>
          <a:xfrm>
            <a:off x="5477256" y="1088136"/>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Cadence de paiement de l’Assurance Maladie</a:t>
            </a:r>
          </a:p>
        </p:txBody>
      </p:sp>
      <p:graphicFrame>
        <p:nvGraphicFramePr>
          <p:cNvPr id="7" name="Table 6"/>
          <p:cNvGraphicFramePr>
            <a:graphicFrameLocks noGrp="1"/>
          </p:cNvGraphicFramePr>
          <p:nvPr/>
        </p:nvGraphicFramePr>
        <p:xfrm>
          <a:off x="5477256" y="1463040"/>
          <a:ext cx="3209544" cy="1261872"/>
        </p:xfrm>
        <a:graphic>
          <a:graphicData uri="http://schemas.openxmlformats.org/drawingml/2006/table">
            <a:tbl>
              <a:tblPr>
                <a:tableStyleId>{5C22544A-7EE6-4342-B048-85BDC9FD1C3A}</a:tableStyleId>
              </a:tblPr>
              <a:tblGrid>
                <a:gridCol w="1728216"/>
                <a:gridCol w="740664"/>
                <a:gridCol w="740664"/>
              </a:tblGrid>
              <a:tr h="301752">
                <a:tc>
                  <a:txBody>
                    <a:bodyPr/>
                    <a:lstStyle/>
                    <a:p>
                      <a:pPr algn="l">
                        <a:lnSpc>
                          <a:spcPct val="100000"/>
                        </a:lnSpc>
                        <a:spcBef>
                          <a:spcPts val="0"/>
                        </a:spcBef>
                        <a:spcAft>
                          <a:spcPts val="0"/>
                        </a:spcAft>
                      </a:pPr>
                      <a:r>
                        <a:rPr sz="950" b="1" lang="fr-FR">
                          <a:solidFill>
                            <a:srgbClr val="404040"/>
                          </a:solidFill>
                          <a:latin typeface="Avenir Next LT Pro Light"/>
                        </a:rPr>
                        <a:t>Part réglée dans l’année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Séjours ordinaires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91,3 %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Anesthésie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93,9 %</a:t>
                      </a:r>
                    </a:p>
                  </a:txBody>
                  <a:tcPr marL="64008" marR="64008" marT="22860" marB="22860" anchor="ctr">
                    <a:solidFill>
                      <a:srgbClr val="FFFFFF"/>
                    </a:solidFill>
                    <a:lnL w="0">
                      <a:noFill/>
                    </a:lnL>
                    <a:lnR w="0">
                      <a:noFill/>
                    </a:lnR>
                    <a:lnT w="0">
                      <a:noFill/>
                    </a:lnT>
                    <a:lnB w="0">
                      <a:noFill/>
                    </a:lnB>
                  </a:tcPr>
                </a:tc>
              </a:tr>
              <a:tr h="320040">
                <a:tc>
                  <a:txBody>
                    <a:bodyPr/>
                    <a:lstStyle/>
                    <a:p>
                      <a:pPr algn="l">
                        <a:lnSpc>
                          <a:spcPct val="100000"/>
                        </a:lnSpc>
                        <a:spcBef>
                          <a:spcPts val="0"/>
                        </a:spcBef>
                        <a:spcAft>
                          <a:spcPts val="0"/>
                        </a:spcAft>
                      </a:pPr>
                      <a:r>
                        <a:rPr sz="950" b="0" lang="fr-FR">
                          <a:solidFill>
                            <a:srgbClr val="404040"/>
                          </a:solidFill>
                          <a:latin typeface="Avenir Next LT Pro Light"/>
                        </a:rPr>
                        <a:t>Rééducation</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84,4 %</a:t>
                      </a:r>
                    </a:p>
                  </a:txBody>
                  <a:tcPr marL="64008" marR="64008" marT="22860" marB="22860" anchor="ctr">
                    <a:solidFill>
                      <a:srgbClr val="FFFFFF"/>
                    </a:solidFill>
                    <a:lnL w="0">
                      <a:noFill/>
                    </a:lnL>
                    <a:lnR w="0">
                      <a:noFill/>
                    </a:lnR>
                    <a:lnT w="0">
                      <a:noFill/>
                    </a:lnT>
                    <a:lnB w="0">
                      <a:noFill/>
                    </a:lnB>
                  </a:tcPr>
                </a:tc>
              </a:tr>
            </a:tbl>
          </a:graphicData>
        </a:graphic>
      </p:graphicFrame>
      <p:sp>
        <p:nvSpPr>
          <p:cNvPr id="8" name="TextBox 7"/>
          <p:cNvSpPr txBox="1"/>
          <p:nvPr/>
        </p:nvSpPr>
        <p:spPr>
          <a:xfrm>
            <a:off x="5477256" y="2852928"/>
            <a:ext cx="3209544" cy="132588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Lecture : sur 100 € de soins d’une année, part déjà remboursée par l’Assurance Maladie au 31 décembre de la même année. Stable pour les séjours et l’anesthésie. La rééducation ralentit en 2024, ses factures ayant été retardées par la réforme. Côté AMO, aucune accélération : celle qu’une complémentaire observe lui est propre.</a:t>
            </a:r>
          </a:p>
        </p:txBody>
      </p:sp>
      <p:sp>
        <p:nvSpPr>
          <p:cNvPr id="10" name="TextBox 9"/>
          <p:cNvSpPr txBox="1"/>
          <p:nvPr/>
        </p:nvSpPr>
        <p:spPr>
          <a:xfrm>
            <a:off x="457200" y="4297680"/>
            <a:ext cx="822960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Pourquoi l’agrégat « Hospitalisation » trompe</a:t>
            </a:r>
          </a:p>
        </p:txBody>
      </p:sp>
      <p:sp>
        <p:nvSpPr>
          <p:cNvPr id="11" name="TextBox 10"/>
          <p:cNvSpPr txBox="1"/>
          <p:nvPr/>
        </p:nvSpPr>
        <p:spPr>
          <a:xfrm>
            <a:off x="457200" y="4553712"/>
            <a:ext cx="8229600" cy="768096"/>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404040"/>
                </a:solidFill>
                <a:latin typeface="Avenir Next LT Pro Light"/>
              </a:rPr>
              <a:t>Lu en bloc, le grand poste affiche une part de l’Assurance Maladie qui monte (85,5 % en 2023, 87,6 % en 2024, 93,1 % en 2025). Ce n’est pas une meilleure prise en charge mais deux changements de comptabilisation. En 2024, la réforme SMR crée une dotation aux cliniques de rééducation, remboursée à 100 % (1,3 Md€). Depuis novembre 2024, le forfait journalier n’apparaît plus dans les dépenses du fichier alors que sa part remboursée y reste. Sans ces deux postes, la part AMO est stable (91,5 % puis 91,6 %), et la DREES la voit même baisser dans le privé (−0,6 point).</a:t>
            </a:r>
          </a:p>
        </p:txBody>
      </p:sp>
      <p:sp>
        <p:nvSpPr>
          <p:cNvPr id="12" name="TextBox 11"/>
          <p:cNvSpPr txBox="1"/>
          <p:nvPr/>
        </p:nvSpPr>
        <p:spPr>
          <a:xfrm>
            <a:off x="457200" y="5340096"/>
            <a:ext cx="813816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Sources complémentaires : Sénat, qSEQ241000269, DREES, Comptes de la santé 2024, fiche 02, Groupe VYV.</a:t>
            </a:r>
          </a:p>
        </p:txBody>
      </p:sp>
      <p:sp>
        <p:nvSpPr>
          <p:cNvPr id="13" name="TextBox 12"/>
          <p:cNvSpPr txBox="1"/>
          <p:nvPr/>
        </p:nvSpPr>
        <p:spPr>
          <a:xfrm>
            <a:off x="457200" y="5486400"/>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Séjours ordinaires : une hausse modérée</a:t>
            </a:r>
          </a:p>
        </p:txBody>
      </p:sp>
      <p:sp>
        <p:nvSpPr>
          <p:cNvPr id="3" name="Text Placeholder 2"/>
          <p:cNvSpPr>
            <a:spLocks noGrp="1"/>
          </p:cNvSpPr>
          <p:nvPr>
            <p:ph type="body" idx="13" sz="quarter"/>
          </p:nvPr>
        </p:nvSpPr>
        <p:spPr>
          <a:xfrm>
            <a:off x="466344" y="612648"/>
            <a:ext cx="6766560" cy="292608"/>
          </a:xfrm>
        </p:spPr>
        <p:txBody>
          <a:bodyPr/>
          <a:lstStyle/>
          <a:p>
            <a:r>
              <a:t>Cliniques, code 2111 : frais d’hébergement et environnement en GHS</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8 155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8 833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7 823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8 488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8 463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330</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95,9 %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8 114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8 795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9 063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9 405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7 785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8 452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8 709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9 039</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329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366</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96,1 %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545336"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+2,4 %</a:t>
            </a:r>
          </a:p>
        </p:txBody>
      </p:sp>
      <p:sp>
        <p:nvSpPr>
          <p:cNvPr id="8" name="TextBox 7"/>
          <p:cNvSpPr txBox="1"/>
          <p:nvPr/>
        </p:nvSpPr>
        <p:spPr>
          <a:xfrm>
            <a:off x="6922008" y="4087368"/>
            <a:ext cx="1755648"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Reste après AMO</a:t>
            </a:r>
          </a:p>
          <a:p>
            <a:pPr>
              <a:lnSpc>
                <a:spcPct val="112000"/>
              </a:lnSpc>
              <a:spcBef>
                <a:spcPts val="0"/>
              </a:spcBef>
              <a:spcAft>
                <a:spcPts val="0"/>
              </a:spcAft>
            </a:pPr>
            <a:r>
              <a:rPr sz="1000" b="0" lang="fr-FR" cap="none">
                <a:solidFill>
                  <a:srgbClr val="404040"/>
                </a:solidFill>
                <a:latin typeface="Avenir Next LT Pro Light"/>
              </a:rPr>
              <a:t>en année de soins, 2024</a:t>
            </a:r>
          </a:p>
        </p:txBody>
      </p:sp>
      <p:sp>
        <p:nvSpPr>
          <p:cNvPr id="9" name="TextBox 8"/>
          <p:cNvSpPr txBox="1"/>
          <p:nvPr/>
        </p:nvSpPr>
        <p:spPr>
          <a:xfrm>
            <a:off x="457200" y="4544568"/>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volume +2,0 %, dépense moyenne +0,6 %. Pas de bosse de règlement en 2025.</a:t>
            </a:r>
          </a:p>
        </p:txBody>
      </p:sp>
      <p:sp>
        <p:nvSpPr>
          <p:cNvPr id="10" name="TextBox 9"/>
          <p:cNvSpPr txBox="1"/>
          <p:nvPr/>
        </p:nvSpPr>
        <p:spPr>
          <a:xfrm>
            <a:off x="457200" y="4864608"/>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74920"/>
            <a:ext cx="8229600" cy="301752"/>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 2025 en année de soins : observée, liquidée à ~90 %. Le reste après AMO approche ici le ticket modérateur.</a:t>
            </a:r>
          </a:p>
          <a:p>
            <a:pPr>
              <a:lnSpc>
                <a:spcPct val="112000"/>
              </a:lnSpc>
              <a:spcBef>
                <a:spcPts val="0"/>
              </a:spcBef>
              <a:spcAft>
                <a:spcPts val="0"/>
              </a:spcAft>
            </a:pPr>
            <a:r>
              <a:rPr sz="850" b="0" lang="fr-FR" cap="none">
                <a:solidFill>
                  <a:srgbClr val="404040"/>
                </a:solidFill>
                <a:latin typeface="Avenir Next LT Pro Light"/>
              </a:rPr>
              <a:t>Le code 2111 ne représente pas tous les séjours. Les montants arrondis peuvent créer un écart de 1 M€.</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hausse et rattrapage</a:t>
            </a:r>
          </a:p>
        </p:txBody>
      </p:sp>
      <p:sp>
        <p:nvSpPr>
          <p:cNvPr id="3" name="Text Placeholder 2"/>
          <p:cNvSpPr>
            <a:spLocks noGrp="1"/>
          </p:cNvSpPr>
          <p:nvPr>
            <p:ph type="body" idx="13" sz="quarter"/>
          </p:nvPr>
        </p:nvSpPr>
        <p:spPr>
          <a:xfrm>
            <a:off x="466344" y="612648"/>
            <a:ext cx="6766560" cy="292608"/>
          </a:xfrm>
        </p:spPr>
        <p:txBody>
          <a:bodyPr/>
          <a:lstStyle/>
          <a:p>
            <a:r>
              <a:t>SSR/SMR : changement de financement au 1er janvier 2024</a:t>
            </a:r>
          </a:p>
        </p:txBody>
      </p:sp>
      <p:graphicFrame>
        <p:nvGraphicFramePr>
          <p:cNvPr id="4" name="Table 3"/>
          <p:cNvGraphicFramePr>
            <a:graphicFrameLocks noGrp="1"/>
          </p:cNvGraphicFramePr>
          <p:nvPr/>
        </p:nvGraphicFramePr>
        <p:xfrm>
          <a:off x="457200" y="1152144"/>
          <a:ext cx="4736592" cy="2866633"/>
        </p:xfrm>
        <a:graphic>
          <a:graphicData uri="http://schemas.openxmlformats.org/drawingml/2006/table">
            <a:tbl>
              <a:tblPr>
                <a:tableStyleId>{5C22544A-7EE6-4342-B048-85BDC9FD1C3A}</a:tableStyleId>
              </a:tblPr>
              <a:tblGrid>
                <a:gridCol w="1810512"/>
                <a:gridCol w="731520"/>
                <a:gridCol w="731520"/>
                <a:gridCol w="731520"/>
                <a:gridCol w="731520"/>
              </a:tblGrid>
              <a:tr h="260603">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3 665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4 144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4 315</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3 682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633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85,3 %</a:t>
                      </a:r>
                    </a:p>
                  </a:txBody>
                  <a:tcPr marL="64008" marR="64008" marT="22860" marB="22860" anchor="ctr">
                    <a:solidFill>
                      <a:srgbClr val="FFFFFF"/>
                    </a:solidFill>
                    <a:lnL w="0">
                      <a:noFill/>
                    </a:lnL>
                    <a:lnR w="0">
                      <a:noFill/>
                    </a:lnR>
                    <a:lnT w="0">
                      <a:noFill/>
                    </a:lnT>
                    <a:lnB w="0">
                      <a:noFill/>
                    </a:lnB>
                  </a:tcPr>
                </a:tc>
              </a:tr>
              <a:tr h="260603">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3 516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3 676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3 893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4 953</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2 991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3 124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3 351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4 232</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552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541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721</a:t>
                      </a:r>
                    </a:p>
                  </a:txBody>
                  <a:tcPr marL="64008" marR="64008" marT="22860" marB="22860" anchor="ctr">
                    <a:solidFill>
                      <a:srgbClr val="FFFFFF"/>
                    </a:solidFill>
                    <a:lnL w="0">
                      <a:noFill/>
                    </a:lnL>
                    <a:lnR w="0">
                      <a:noFill/>
                    </a:lnR>
                    <a:lnT w="0">
                      <a:noFill/>
                    </a:lnT>
                    <a:lnB w="0">
                      <a:noFill/>
                    </a:lnB>
                  </a:tcPr>
                </a:tc>
              </a:tr>
              <a:tr h="260603">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86,1 %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6" name="Chart 5"/>
          <p:cNvGraphicFramePr>
            <a:graphicFrameLocks noGrp="1"/>
          </p:cNvGraphicFramePr>
          <p:nvPr/>
        </p:nvGraphicFramePr>
        <p:xfrm>
          <a:off x="5394960" y="1545336"/>
          <a:ext cx="3310128" cy="2432304"/>
        </p:xfrm>
        <a:graphic>
          <a:graphicData uri="http://schemas.openxmlformats.org/drawingml/2006/chart">
            <c:chart xmlns:c="http://schemas.openxmlformats.org/drawingml/2006/chart" r:id="rId2"/>
          </a:graphicData>
        </a:graphic>
      </p:graphicFrame>
      <p:sp>
        <p:nvSpPr>
          <p:cNvPr id="7" name="TextBox 6"/>
          <p:cNvSpPr txBox="1"/>
          <p:nvPr/>
        </p:nvSpPr>
        <p:spPr>
          <a:xfrm>
            <a:off x="5541264" y="4059936"/>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+33,2 %</a:t>
            </a:r>
          </a:p>
        </p:txBody>
      </p:sp>
      <p:sp>
        <p:nvSpPr>
          <p:cNvPr id="8" name="TextBox 7"/>
          <p:cNvSpPr txBox="1"/>
          <p:nvPr/>
        </p:nvSpPr>
        <p:spPr>
          <a:xfrm>
            <a:off x="7141464" y="4087368"/>
            <a:ext cx="1545336"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Reste après AMO</a:t>
            </a:r>
          </a:p>
          <a:p>
            <a:pPr>
              <a:lnSpc>
                <a:spcPct val="112000"/>
              </a:lnSpc>
              <a:spcBef>
                <a:spcPts val="0"/>
              </a:spcBef>
              <a:spcAft>
                <a:spcPts val="0"/>
              </a:spcAft>
            </a:pPr>
            <a:r>
              <a:rPr sz="1000" b="0" lang="fr-FR" cap="none">
                <a:solidFill>
                  <a:srgbClr val="404040"/>
                </a:solidFill>
                <a:latin typeface="Avenir Next LT Pro Light"/>
              </a:rPr>
              <a:t>en règlement, 2025</a:t>
            </a:r>
          </a:p>
        </p:txBody>
      </p:sp>
      <p:sp>
        <p:nvSpPr>
          <p:cNvPr id="9" name="TextBox 8"/>
          <p:cNvSpPr txBox="1"/>
          <p:nvPr/>
        </p:nvSpPr>
        <p:spPr>
          <a:xfrm>
            <a:off x="457200" y="4544568"/>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Le reste après AMO augmente de 8,5 % en soins en 2024. Le règlement 2025 rattrape les retards.</a:t>
            </a:r>
          </a:p>
        </p:txBody>
      </p:sp>
      <p:sp>
        <p:nvSpPr>
          <p:cNvPr id="10" name="TextBox 9"/>
          <p:cNvSpPr txBox="1"/>
          <p:nvPr/>
        </p:nvSpPr>
        <p:spPr>
          <a:xfrm>
            <a:off x="457200" y="4846320"/>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056632"/>
            <a:ext cx="8229600" cy="310896"/>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Niveaux de dépense 2023/2024 non comparables (réforme). * 2025 observée, liquidée à ~90 %, non redressée.</a:t>
            </a:r>
          </a:p>
          <a:p>
            <a:pPr>
              <a:lnSpc>
                <a:spcPct val="112000"/>
              </a:lnSpc>
              <a:spcBef>
                <a:spcPts val="0"/>
              </a:spcBef>
              <a:spcAft>
                <a:spcPts val="0"/>
              </a:spcAft>
            </a:pPr>
            <a:r>
              <a:rPr sz="850" b="0" lang="fr-FR" cap="none">
                <a:solidFill>
                  <a:srgbClr val="404040"/>
                </a:solidFill>
                <a:latin typeface="Avenir Next LT Pro Light"/>
              </a:rPr>
              <a:t>À maturité : reste après AMO +20 à +27 % en 2025, sous hypothèse de liquidation de 84–89 %.</a:t>
            </a:r>
          </a:p>
        </p:txBody>
      </p:sp>
      <p:sp>
        <p:nvSpPr>
          <p:cNvPr id="12" name="TextBox 11"/>
          <p:cNvSpPr txBox="1"/>
          <p:nvPr/>
        </p:nvSpPr>
        <p:spPr>
          <a:xfrm>
            <a:off x="457200" y="5431536"/>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Rééducation : un déplacement vers les moins de 60 ans</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Reste après AMO par tranche d’âge, en année de soins (2025 observée, non liquidée)</a:t>
            </a:r>
          </a:p>
        </p:txBody>
      </p:sp>
      <p:sp>
        <p:nvSpPr>
          <p:cNvPr id="4" name="TextBox 3"/>
          <p:cNvSpPr txBox="1"/>
          <p:nvPr/>
        </p:nvSpPr>
        <p:spPr>
          <a:xfrm>
            <a:off x="457200" y="1106424"/>
            <a:ext cx="5669280"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Reste après AMO, en M€</a:t>
            </a:r>
          </a:p>
        </p:txBody>
      </p:sp>
      <p:graphicFrame>
        <p:nvGraphicFramePr>
          <p:cNvPr id="5" name="Chart 4"/>
          <p:cNvGraphicFramePr>
            <a:graphicFrameLocks noGrp="1"/>
          </p:cNvGraphicFramePr>
          <p:nvPr/>
        </p:nvGraphicFramePr>
        <p:xfrm>
          <a:off x="384048" y="1517904"/>
          <a:ext cx="5806440" cy="2377440"/>
        </p:xfrm>
        <a:graphic>
          <a:graphicData uri="http://schemas.openxmlformats.org/drawingml/2006/chart">
            <c:chart xmlns:c="http://schemas.openxmlformats.org/drawingml/2006/chart" r:id="rId2"/>
          </a:graphicData>
        </a:graphic>
      </p:graphicFrame>
      <p:sp>
        <p:nvSpPr>
          <p:cNvPr id="6" name="TextBox 5"/>
          <p:cNvSpPr txBox="1"/>
          <p:nvPr/>
        </p:nvSpPr>
        <p:spPr>
          <a:xfrm>
            <a:off x="6455664" y="1764792"/>
            <a:ext cx="2231136" cy="448056"/>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EF4647"/>
                </a:solidFill>
                <a:latin typeface="Montserrat"/>
              </a:rPr>
              <a:t>×2,0 à ×3,8</a:t>
            </a:r>
          </a:p>
        </p:txBody>
      </p:sp>
      <p:sp>
        <p:nvSpPr>
          <p:cNvPr id="7" name="TextBox 6"/>
          <p:cNvSpPr txBox="1"/>
          <p:nvPr/>
        </p:nvSpPr>
        <p:spPr>
          <a:xfrm>
            <a:off x="6455664" y="2276856"/>
            <a:ext cx="2231136" cy="493776"/>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0–49 ans</a:t>
            </a:r>
          </a:p>
          <a:p>
            <a:pPr>
              <a:lnSpc>
                <a:spcPct val="112000"/>
              </a:lnSpc>
              <a:spcBef>
                <a:spcPts val="0"/>
              </a:spcBef>
              <a:spcAft>
                <a:spcPts val="0"/>
              </a:spcAft>
            </a:pPr>
            <a:r>
              <a:rPr sz="1100" b="0" lang="fr-FR" cap="none">
                <a:solidFill>
                  <a:srgbClr val="404040"/>
                </a:solidFill>
                <a:latin typeface="Avenir Next LT Pro Light"/>
              </a:rPr>
              <a:t>entre 2023 et 2024</a:t>
            </a:r>
          </a:p>
        </p:txBody>
      </p:sp>
      <p:sp>
        <p:nvSpPr>
          <p:cNvPr id="8" name="TextBox 7"/>
          <p:cNvSpPr txBox="1"/>
          <p:nvPr/>
        </p:nvSpPr>
        <p:spPr>
          <a:xfrm>
            <a:off x="6455664" y="2916936"/>
            <a:ext cx="2231136" cy="420624"/>
          </a:xfrm>
          <a:prstGeom prst="rect">
            <a:avLst/>
          </a:prstGeom>
          <a:noFill/>
        </p:spPr>
        <p:txBody>
          <a:bodyPr wrap="square" lIns="0" rIns="0" tIns="0" bIns="0">
            <a:noAutofit/>
          </a:bodyPr>
          <a:lstStyle/>
          <a:p>
            <a:pPr>
              <a:lnSpc>
                <a:spcPct val="112000"/>
              </a:lnSpc>
              <a:spcBef>
                <a:spcPts val="0"/>
              </a:spcBef>
              <a:spcAft>
                <a:spcPts val="0"/>
              </a:spcAft>
            </a:pPr>
            <a:r>
              <a:rPr sz="2200" b="0" lang="fr-FR" cap="none">
                <a:solidFill>
                  <a:srgbClr val="5B0C02"/>
                </a:solidFill>
                <a:latin typeface="Montserrat"/>
              </a:rPr>
              <a:t>−31 %</a:t>
            </a:r>
          </a:p>
        </p:txBody>
      </p:sp>
      <p:sp>
        <p:nvSpPr>
          <p:cNvPr id="9" name="TextBox 8"/>
          <p:cNvSpPr txBox="1"/>
          <p:nvPr/>
        </p:nvSpPr>
        <p:spPr>
          <a:xfrm>
            <a:off x="6455664" y="3401568"/>
            <a:ext cx="2231136" cy="384048"/>
          </a:xfrm>
          <a:prstGeom prst="rect">
            <a:avLst/>
          </a:prstGeom>
          <a:noFill/>
        </p:spPr>
        <p:txBody>
          <a:bodyPr wrap="square" lIns="0" rIns="0" tIns="0" bIns="0">
            <a:noAutofit/>
          </a:bodyPr>
          <a:lstStyle/>
          <a:p>
            <a:pPr>
              <a:lnSpc>
                <a:spcPct val="112000"/>
              </a:lnSpc>
              <a:spcBef>
                <a:spcPts val="0"/>
              </a:spcBef>
              <a:spcAft>
                <a:spcPts val="0"/>
              </a:spcAft>
            </a:pPr>
            <a:r>
              <a:rPr sz="1100" b="0" lang="fr-FR" cap="none">
                <a:solidFill>
                  <a:srgbClr val="404040"/>
                </a:solidFill>
                <a:latin typeface="Avenir Next LT Pro Light"/>
              </a:rPr>
              <a:t>chez les 80 ans et plus</a:t>
            </a:r>
          </a:p>
        </p:txBody>
      </p:sp>
      <p:graphicFrame>
        <p:nvGraphicFramePr>
          <p:cNvPr id="10" name="Table 9"/>
          <p:cNvGraphicFramePr>
            <a:graphicFrameLocks noGrp="1"/>
          </p:cNvGraphicFramePr>
          <p:nvPr/>
        </p:nvGraphicFramePr>
        <p:xfrm>
          <a:off x="457200" y="4005072"/>
          <a:ext cx="8229600" cy="950976"/>
        </p:xfrm>
        <a:graphic>
          <a:graphicData uri="http://schemas.openxmlformats.org/drawingml/2006/table">
            <a:tbl>
              <a:tblPr>
                <a:tableStyleId>{5C22544A-7EE6-4342-B048-85BDC9FD1C3A}</a:tableStyleId>
              </a:tblPr>
              <a:tblGrid>
                <a:gridCol w="914400"/>
                <a:gridCol w="914400"/>
                <a:gridCol w="914400"/>
                <a:gridCol w="914400"/>
                <a:gridCol w="914400"/>
                <a:gridCol w="914400"/>
                <a:gridCol w="914400"/>
                <a:gridCol w="914400"/>
                <a:gridCol w="914400"/>
              </a:tblGrid>
              <a:tr h="237744">
                <a:tc>
                  <a:txBody>
                    <a:bodyPr/>
                    <a:lstStyle/>
                    <a:p>
                      <a:pPr algn="l">
                        <a:lnSpc>
                          <a:spcPct val="100000"/>
                        </a:lnSpc>
                        <a:spcBef>
                          <a:spcPts val="0"/>
                        </a:spcBef>
                        <a:spcAft>
                          <a:spcPts val="0"/>
                        </a:spcAft>
                      </a:pPr>
                      <a:r>
                        <a:rPr sz="900" b="1" lang="fr-FR">
                          <a:solidFill>
                            <a:srgbClr val="404040"/>
                          </a:solidFill>
                          <a:latin typeface="Avenir Next LT Pro Light"/>
                        </a:rPr>
                        <a:t>En M€</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0–19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20–29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30–39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40–49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50–59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60–69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70–79</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00" b="1" lang="fr-FR">
                          <a:solidFill>
                            <a:srgbClr val="404040"/>
                          </a:solidFill>
                          <a:latin typeface="Avenir Next LT Pro Light"/>
                        </a:rPr>
                        <a:t>80 +</a:t>
                      </a:r>
                    </a:p>
                  </a:txBody>
                  <a:tcPr marL="64008" marR="64008" marT="22860" marB="22860" anchor="ctr">
                    <a:solidFill>
                      <a:srgbClr val="BFBFBF">
                        <a:lumMod val="18000"/>
                        <a:lumOff val="82000"/>
                      </a:srgbClr>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13,7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15,9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29,6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59,4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92,1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141,0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186,2</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31,3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30,6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48,2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78,0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94,2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124,6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127,9</a:t>
                      </a:r>
                    </a:p>
                  </a:txBody>
                  <a:tcPr marL="64008" marR="64008" marT="22860" marB="22860" anchor="ctr">
                    <a:solidFill>
                      <a:srgbClr val="FFFFFF"/>
                    </a:solidFill>
                    <a:lnL w="0">
                      <a:noFill/>
                    </a:lnL>
                    <a:lnR w="0">
                      <a:noFill/>
                    </a:lnR>
                    <a:lnT w="0">
                      <a:noFill/>
                    </a:lnT>
                    <a:lnB w="0">
                      <a:noFill/>
                    </a:lnB>
                  </a:tcPr>
                </a:tc>
              </a:tr>
              <a:tr h="237744">
                <a:tc>
                  <a:txBody>
                    <a:bodyPr/>
                    <a:lstStyle/>
                    <a:p>
                      <a:pPr algn="l">
                        <a:lnSpc>
                          <a:spcPct val="100000"/>
                        </a:lnSpc>
                        <a:spcBef>
                          <a:spcPts val="0"/>
                        </a:spcBef>
                        <a:spcAft>
                          <a:spcPts val="0"/>
                        </a:spcAft>
                      </a:pPr>
                      <a:r>
                        <a:rPr sz="900" b="0" lang="fr-FR">
                          <a:solidFill>
                            <a:srgbClr val="404040"/>
                          </a:solidFill>
                          <a:latin typeface="Avenir Next LT Pro Light"/>
                        </a:rPr>
                        <a:t>2025*</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35,4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58,4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67,8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88,0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102,0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128,3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00" b="0" lang="fr-FR">
                          <a:solidFill>
                            <a:srgbClr val="404040"/>
                          </a:solidFill>
                          <a:latin typeface="Avenir Next LT Pro Light"/>
                        </a:rPr>
                        <a:t>114,6</a:t>
                      </a:r>
                    </a:p>
                  </a:txBody>
                  <a:tcPr marL="64008" marR="64008" marT="22860" marB="22860" anchor="ctr">
                    <a:solidFill>
                      <a:srgbClr val="FFFFFF"/>
                    </a:solidFill>
                    <a:lnL w="0">
                      <a:noFill/>
                    </a:lnL>
                    <a:lnR w="0">
                      <a:noFill/>
                    </a:lnR>
                    <a:lnT w="0">
                      <a:noFill/>
                    </a:lnT>
                    <a:lnB w="0">
                      <a:noFill/>
                    </a:lnB>
                  </a:tcPr>
                </a:tc>
              </a:tr>
            </a:tbl>
          </a:graphicData>
        </a:graphic>
      </p:graphicFrame>
      <p:sp>
        <p:nvSpPr>
          <p:cNvPr id="11" name="TextBox 10"/>
          <p:cNvSpPr txBox="1"/>
          <p:nvPr/>
        </p:nvSpPr>
        <p:spPr>
          <a:xfrm>
            <a:off x="457200" y="5029200"/>
            <a:ext cx="8229600" cy="182880"/>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2" name="TextBox 11"/>
          <p:cNvSpPr txBox="1"/>
          <p:nvPr/>
        </p:nvSpPr>
        <p:spPr>
          <a:xfrm>
            <a:off x="457200" y="5230368"/>
            <a:ext cx="8229600" cy="292608"/>
          </a:xfrm>
          <a:prstGeom prst="rect">
            <a:avLst/>
          </a:prstGeom>
          <a:noFill/>
        </p:spPr>
        <p:txBody>
          <a:bodyPr wrap="square" lIns="0" rIns="0" tIns="0" bIns="0">
            <a:noAutofit/>
          </a:bodyPr>
          <a:lstStyle/>
          <a:p>
            <a:pPr>
              <a:lnSpc>
                <a:spcPct val="112000"/>
              </a:lnSpc>
              <a:spcBef>
                <a:spcPts val="0"/>
              </a:spcBef>
              <a:spcAft>
                <a:spcPts val="0"/>
              </a:spcAft>
            </a:pPr>
            <a:r>
              <a:rPr sz="900" b="0" lang="fr-FR" cap="none">
                <a:solidFill>
                  <a:srgbClr val="404040"/>
                </a:solidFill>
                <a:latin typeface="Avenir Next LT Pro Light"/>
              </a:rPr>
              <a:t>* 2025 observée au 31/12/2025, liquidée à environ 85 %, à lire comme un minimum. Montants agrégés, pas un risque individuel. L’effet des tarifs et des exonérations reste une hypothèse. DAMIR ne chiffre pas la charge d’un portefeuille.</a:t>
            </a:r>
          </a:p>
        </p:txBody>
      </p:sp>
      <p:sp>
        <p:nvSpPr>
          <p:cNvPr id="13" name="TextBox 12"/>
          <p:cNvSpPr txBox="1"/>
          <p:nvPr/>
        </p:nvSpPr>
        <p:spPr>
          <a:xfrm>
            <a:off x="457200" y="5541264"/>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r>
              <a:rPr>
                <a:solidFill>
                  <a:srgbClr val="EF4647"/>
                </a:solidFill>
              </a:rPr>
              <a:t>Anesthésie : les dépassements augmentent</a:t>
            </a:r>
          </a:p>
        </p:txBody>
      </p:sp>
      <p:sp>
        <p:nvSpPr>
          <p:cNvPr id="3" name="Text Placeholder 2"/>
          <p:cNvSpPr>
            <a:spLocks noGrp="1"/>
          </p:cNvSpPr>
          <p:nvPr>
            <p:ph type="body" idx="13" sz="quarter"/>
          </p:nvPr>
        </p:nvSpPr>
        <p:spPr>
          <a:xfrm>
            <a:off x="466344" y="612648"/>
            <a:ext cx="6766560" cy="292608"/>
          </a:xfrm>
        </p:spPr>
        <p:txBody>
          <a:bodyPr/>
          <a:lstStyle/>
          <a:p>
            <a:r>
              <a:t>Poste « Hospitalisation Honoraires », dominé à ~95 % par l’anesthésie</a:t>
            </a:r>
          </a:p>
        </p:txBody>
      </p:sp>
      <p:graphicFrame>
        <p:nvGraphicFramePr>
          <p:cNvPr id="4" name="Table 3"/>
          <p:cNvGraphicFramePr>
            <a:graphicFrameLocks noGrp="1"/>
          </p:cNvGraphicFramePr>
          <p:nvPr/>
        </p:nvGraphicFramePr>
        <p:xfrm>
          <a:off x="457200" y="1152144"/>
          <a:ext cx="4736592" cy="3415275"/>
        </p:xfrm>
        <a:graphic>
          <a:graphicData uri="http://schemas.openxmlformats.org/drawingml/2006/table">
            <a:tbl>
              <a:tblPr>
                <a:tableStyleId>{5C22544A-7EE6-4342-B048-85BDC9FD1C3A}</a:tableStyleId>
              </a:tblPr>
              <a:tblGrid>
                <a:gridCol w="1810512"/>
                <a:gridCol w="731520"/>
                <a:gridCol w="731520"/>
                <a:gridCol w="731520"/>
                <a:gridCol w="731520"/>
              </a:tblGrid>
              <a:tr h="227685">
                <a:tc>
                  <a:txBody>
                    <a:bodyPr/>
                    <a:lstStyle/>
                    <a:p>
                      <a:pPr algn="l">
                        <a:lnSpc>
                          <a:spcPct val="100000"/>
                        </a:lnSpc>
                        <a:spcBef>
                          <a:spcPts val="0"/>
                        </a:spcBef>
                        <a:spcAft>
                          <a:spcPts val="0"/>
                        </a:spcAft>
                      </a:pPr>
                      <a:r>
                        <a:rPr sz="950" b="1" lang="fr-FR">
                          <a:solidFill>
                            <a:srgbClr val="404040"/>
                          </a:solidFill>
                          <a:latin typeface="Avenir Next LT Pro Light"/>
                        </a:rPr>
                        <a:t>En M€ sauf parts</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2022</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2023</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2024</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2025*</a:t>
                      </a:r>
                    </a:p>
                  </a:txBody>
                  <a:tcPr marL="64008" marR="64008" marT="22860" marB="22860" anchor="ctr">
                    <a:solidFill>
                      <a:srgbClr val="BFBFBF">
                        <a:lumMod val="18000"/>
                        <a:lumOff val="82000"/>
                      </a:srgbClr>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soins*</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1 217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1 322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1 382</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840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499</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498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67,0 %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65,3 %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64,3 %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32,8 %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35,7 %</a:t>
                      </a:r>
                    </a:p>
                  </a:txBody>
                  <a:tcPr marL="64008" marR="64008" marT="22860" marB="22860" anchor="ctr">
                    <a:solidFill>
                      <a:srgbClr val="FFFFFF"/>
                    </a:solidFill>
                    <a:lnL w="0">
                      <a:noFill/>
                    </a:lnL>
                    <a:lnR w="0">
                      <a:noFill/>
                    </a:lnR>
                    <a:lnT w="0">
                      <a:noFill/>
                    </a:lnT>
                    <a:lnB w="0">
                      <a:noFill/>
                    </a:lnB>
                  </a:tcPr>
                </a:tc>
              </a:tr>
              <a:tr h="227685">
                <a:tc gridSpan="5">
                  <a:txBody>
                    <a:bodyPr/>
                    <a:lstStyle/>
                    <a:p>
                      <a:pPr algn="l">
                        <a:lnSpc>
                          <a:spcPct val="100000"/>
                        </a:lnSpc>
                        <a:spcBef>
                          <a:spcPts val="0"/>
                        </a:spcBef>
                        <a:spcAft>
                          <a:spcPts val="0"/>
                        </a:spcAft>
                      </a:pPr>
                      <a:r>
                        <a:rPr sz="950" b="1" lang="fr-FR">
                          <a:solidFill>
                            <a:srgbClr val="5B0C02"/>
                          </a:solidFill>
                          <a:latin typeface="Avenir Next LT Pro Light"/>
                        </a:rPr>
                        <a:t>Année de règlement AMO (complète)</a:t>
                      </a:r>
                    </a:p>
                  </a:txBody>
                  <a:tcPr marL="64008" marR="64008" marT="22860" marB="22860" anchor="ctr">
                    <a:solidFill>
                      <a:srgbClr val="A5B6C5">
                        <a:lumMod val="20000"/>
                        <a:lumOff val="80000"/>
                      </a:srgbClr>
                    </a:solidFill>
                    <a:lnL w="0">
                      <a:noFill/>
                    </a:lnL>
                    <a:lnR w="0">
                      <a:noFill/>
                    </a:lnR>
                    <a:lnT w="0">
                      <a:noFill/>
                    </a:lnT>
                    <a:lnB w="0">
                      <a:noFill/>
                    </a:lnB>
                  </a:tcPr>
                </a:tc>
                <a:tc hMerge="1">
                  <a:txBody>
                    <a:bodyPr/>
                    <a:lstStyle/>
                    <a:p/>
                  </a:txBody>
                  <a:tcPr/>
                </a:tc>
                <a:tc hMerge="1">
                  <a:txBody>
                    <a:bodyPr/>
                    <a:lstStyle/>
                    <a:p/>
                  </a:txBody>
                  <a:tcPr/>
                </a:tc>
                <a:tc hMerge="1">
                  <a:txBody>
                    <a:bodyPr/>
                    <a:lstStyle/>
                    <a:p/>
                  </a:txBody>
                  <a:tcPr/>
                </a:tc>
                <a:tc hMerge="1">
                  <a:txBody>
                    <a:bodyPr/>
                    <a:lstStyle/>
                    <a:p/>
                  </a:txBody>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Dépense présentée</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1 209</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1 318</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1 380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1 478</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Remboursement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836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884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903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954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1" lang="fr-FR">
                          <a:solidFill>
                            <a:srgbClr val="404040"/>
                          </a:solidFill>
                          <a:latin typeface="Avenir Next LT Pro Light"/>
                        </a:rPr>
                        <a:t>Reste après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373</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434</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477</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1" lang="fr-FR">
                          <a:solidFill>
                            <a:srgbClr val="404040"/>
                          </a:solidFill>
                          <a:latin typeface="Avenir Next LT Pro Light"/>
                        </a:rPr>
                        <a:t>524</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dont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370</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431</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476</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523</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AMO</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69,2 %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67,1 %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65,4 %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64,5 %</a:t>
                      </a:r>
                    </a:p>
                  </a:txBody>
                  <a:tcPr marL="64008" marR="64008" marT="22860" marB="22860" anchor="ctr">
                    <a:solidFill>
                      <a:srgbClr val="FFFFFF"/>
                    </a:solidFill>
                    <a:lnL w="0">
                      <a:noFill/>
                    </a:lnL>
                    <a:lnR w="0">
                      <a:noFill/>
                    </a:lnR>
                    <a:lnT w="0">
                      <a:noFill/>
                    </a:lnT>
                    <a:lnB w="0">
                      <a:noFill/>
                    </a:lnB>
                  </a:tcPr>
                </a:tc>
              </a:tr>
              <a:tr h="227685">
                <a:tc>
                  <a:txBody>
                    <a:bodyPr/>
                    <a:lstStyle/>
                    <a:p>
                      <a:pPr algn="l">
                        <a:lnSpc>
                          <a:spcPct val="100000"/>
                        </a:lnSpc>
                        <a:spcBef>
                          <a:spcPts val="0"/>
                        </a:spcBef>
                        <a:spcAft>
                          <a:spcPts val="0"/>
                        </a:spcAft>
                      </a:pPr>
                      <a:r>
                        <a:rPr sz="950" b="0" lang="fr-FR">
                          <a:solidFill>
                            <a:srgbClr val="404040"/>
                          </a:solidFill>
                          <a:latin typeface="Avenir Next LT Pro Light"/>
                        </a:rPr>
                        <a:t>Part des dépassements</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30,6 %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32,7 %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34,5 %</a:t>
                      </a:r>
                    </a:p>
                  </a:txBody>
                  <a:tcPr marL="64008" marR="64008" marT="22860" marB="22860" anchor="ctr">
                    <a:solidFill>
                      <a:srgbClr val="FFFFFF"/>
                    </a:solidFill>
                    <a:lnL w="0">
                      <a:noFill/>
                    </a:lnL>
                    <a:lnR w="0">
                      <a:noFill/>
                    </a:lnR>
                    <a:lnT w="0">
                      <a:noFill/>
                    </a:lnT>
                    <a:lnB w="0">
                      <a:noFill/>
                    </a:lnB>
                  </a:tcPr>
                </a:tc>
                <a:tc>
                  <a:txBody>
                    <a:bodyPr/>
                    <a:lstStyle/>
                    <a:p>
                      <a:pPr algn="r">
                        <a:lnSpc>
                          <a:spcPct val="100000"/>
                        </a:lnSpc>
                        <a:spcBef>
                          <a:spcPts val="0"/>
                        </a:spcBef>
                        <a:spcAft>
                          <a:spcPts val="0"/>
                        </a:spcAft>
                      </a:pPr>
                      <a:r>
                        <a:rPr sz="950" b="0" lang="fr-FR">
                          <a:solidFill>
                            <a:srgbClr val="404040"/>
                          </a:solidFill>
                          <a:latin typeface="Avenir Next LT Pro Light"/>
                        </a:rPr>
                        <a:t>35,4 %</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5468112" y="1124712"/>
            <a:ext cx="3218688" cy="256032"/>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Dépassements, en M€</a:t>
            </a:r>
          </a:p>
        </p:txBody>
      </p:sp>
      <p:graphicFrame>
        <p:nvGraphicFramePr>
          <p:cNvPr id="6" name="Chart 5"/>
          <p:cNvGraphicFramePr>
            <a:graphicFrameLocks noGrp="1"/>
          </p:cNvGraphicFramePr>
          <p:nvPr/>
        </p:nvGraphicFramePr>
        <p:xfrm>
          <a:off x="5394960" y="1545336"/>
          <a:ext cx="3310128" cy="2423160"/>
        </p:xfrm>
        <a:graphic>
          <a:graphicData uri="http://schemas.openxmlformats.org/drawingml/2006/chart">
            <c:chart xmlns:c="http://schemas.openxmlformats.org/drawingml/2006/chart" r:id="rId2"/>
          </a:graphicData>
        </a:graphic>
      </p:graphicFrame>
      <p:sp>
        <p:nvSpPr>
          <p:cNvPr id="7" name="TextBox 6"/>
          <p:cNvSpPr txBox="1"/>
          <p:nvPr/>
        </p:nvSpPr>
        <p:spPr>
          <a:xfrm>
            <a:off x="5541264" y="4069080"/>
            <a:ext cx="1600200" cy="429768"/>
          </a:xfrm>
          <a:prstGeom prst="rect">
            <a:avLst/>
          </a:prstGeom>
          <a:noFill/>
        </p:spPr>
        <p:txBody>
          <a:bodyPr wrap="square" lIns="0" rIns="0" tIns="0" bIns="0">
            <a:noAutofit/>
          </a:bodyPr>
          <a:lstStyle/>
          <a:p>
            <a:pPr>
              <a:lnSpc>
                <a:spcPct val="112000"/>
              </a:lnSpc>
              <a:spcBef>
                <a:spcPts val="0"/>
              </a:spcBef>
              <a:spcAft>
                <a:spcPts val="0"/>
              </a:spcAft>
            </a:pPr>
            <a:r>
              <a:rPr sz="2300" b="0" lang="fr-FR" cap="none">
                <a:solidFill>
                  <a:srgbClr val="EF4647"/>
                </a:solidFill>
                <a:latin typeface="Montserrat"/>
              </a:rPr>
              <a:t>+10,0 %</a:t>
            </a:r>
          </a:p>
        </p:txBody>
      </p:sp>
      <p:sp>
        <p:nvSpPr>
          <p:cNvPr id="8" name="TextBox 7"/>
          <p:cNvSpPr txBox="1"/>
          <p:nvPr/>
        </p:nvSpPr>
        <p:spPr>
          <a:xfrm>
            <a:off x="7141464" y="4087368"/>
            <a:ext cx="1545336" cy="502920"/>
          </a:xfrm>
          <a:prstGeom prst="rect">
            <a:avLst/>
          </a:prstGeom>
          <a:noFill/>
        </p:spPr>
        <p:txBody>
          <a:bodyPr wrap="square" lIns="0" rIns="0" tIns="0" bIns="0">
            <a:noAutofit/>
          </a:bodyPr>
          <a:lstStyle/>
          <a:p>
            <a:pPr>
              <a:lnSpc>
                <a:spcPct val="112000"/>
              </a:lnSpc>
              <a:spcBef>
                <a:spcPts val="0"/>
              </a:spcBef>
              <a:spcAft>
                <a:spcPts val="0"/>
              </a:spcAft>
            </a:pPr>
            <a:r>
              <a:rPr sz="1000" b="0" lang="fr-FR" cap="none">
                <a:solidFill>
                  <a:srgbClr val="404040"/>
                </a:solidFill>
                <a:latin typeface="Avenir Next LT Pro Light"/>
              </a:rPr>
              <a:t>Dépassements</a:t>
            </a:r>
          </a:p>
          <a:p>
            <a:pPr>
              <a:lnSpc>
                <a:spcPct val="112000"/>
              </a:lnSpc>
              <a:spcBef>
                <a:spcPts val="0"/>
              </a:spcBef>
              <a:spcAft>
                <a:spcPts val="0"/>
              </a:spcAft>
            </a:pPr>
            <a:r>
              <a:rPr sz="1000" b="0" lang="fr-FR" cap="none">
                <a:solidFill>
                  <a:srgbClr val="404040"/>
                </a:solidFill>
                <a:latin typeface="Avenir Next LT Pro Light"/>
              </a:rPr>
              <a:t>en règlement, 2025</a:t>
            </a:r>
          </a:p>
        </p:txBody>
      </p:sp>
      <p:sp>
        <p:nvSpPr>
          <p:cNvPr id="9" name="TextBox 8"/>
          <p:cNvSpPr txBox="1"/>
          <p:nvPr/>
        </p:nvSpPr>
        <p:spPr>
          <a:xfrm>
            <a:off x="457200" y="4654296"/>
            <a:ext cx="8229600" cy="274320"/>
          </a:xfrm>
          <a:prstGeom prst="rect">
            <a:avLst/>
          </a:prstGeom>
          <a:noFill/>
        </p:spPr>
        <p:txBody>
          <a:bodyPr wrap="square" lIns="0" rIns="0" tIns="0" bIns="0">
            <a:noAutofit/>
          </a:bodyPr>
          <a:lstStyle/>
          <a:p>
            <a:pPr>
              <a:lnSpc>
                <a:spcPct val="112000"/>
              </a:lnSpc>
              <a:spcBef>
                <a:spcPts val="0"/>
              </a:spcBef>
              <a:spcAft>
                <a:spcPts val="0"/>
              </a:spcAft>
            </a:pPr>
            <a:r>
              <a:rPr sz="1100" b="1" lang="fr-FR" cap="none">
                <a:solidFill>
                  <a:srgbClr val="5B0C02"/>
                </a:solidFill>
                <a:latin typeface="Avenir Next LT Pro Light"/>
              </a:rPr>
              <a:t>En 2024 : actes +1,1 %, dépassements +9 à +13 % selon l’âge. La hausse porte surtout sur les prix.</a:t>
            </a:r>
          </a:p>
        </p:txBody>
      </p:sp>
      <p:sp>
        <p:nvSpPr>
          <p:cNvPr id="10" name="TextBox 9"/>
          <p:cNvSpPr txBox="1"/>
          <p:nvPr/>
        </p:nvSpPr>
        <p:spPr>
          <a:xfrm>
            <a:off x="457200" y="5020056"/>
            <a:ext cx="8229600" cy="256032"/>
          </a:xfrm>
          <a:prstGeom prst="rect">
            <a:avLst/>
          </a:prstGeom>
          <a:noFill/>
        </p:spPr>
        <p:txBody>
          <a:bodyPr wrap="square" lIns="0" rIns="0" tIns="0" bIns="0">
            <a:noAutofit/>
          </a:bodyPr>
          <a:lstStyle/>
          <a:p>
            <a:pPr>
              <a:lnSpc>
                <a:spcPct val="112000"/>
              </a:lnSpc>
              <a:spcBef>
                <a:spcPts val="0"/>
              </a:spcBef>
              <a:spcAft>
                <a:spcPts val="0"/>
              </a:spcAft>
            </a:pPr>
            <a:r>
              <a:rPr sz="950" b="1" lang="fr-FR" cap="none">
                <a:solidFill>
                  <a:srgbClr val="5B0C02"/>
                </a:solidFill>
                <a:latin typeface="Avenir Next LT Pro Light"/>
              </a:rPr>
              <a:t>Ce que ce graphique ne montre pas</a:t>
            </a:r>
          </a:p>
        </p:txBody>
      </p:sp>
      <p:sp>
        <p:nvSpPr>
          <p:cNvPr id="11" name="TextBox 10"/>
          <p:cNvSpPr txBox="1"/>
          <p:nvPr/>
        </p:nvSpPr>
        <p:spPr>
          <a:xfrm>
            <a:off x="457200" y="5221224"/>
            <a:ext cx="8229600" cy="283464"/>
          </a:xfrm>
          <a:prstGeom prst="rect">
            <a:avLst/>
          </a:prstGeom>
          <a:noFill/>
        </p:spPr>
        <p:txBody>
          <a:bodyPr wrap="square" lIns="0" rIns="0" tIns="0" bIns="0">
            <a:noAutofit/>
          </a:bodyPr>
          <a:lstStyle/>
          <a:p>
            <a:pPr>
              <a:lnSpc>
                <a:spcPct val="112000"/>
              </a:lnSpc>
              <a:spcBef>
                <a:spcPts val="0"/>
              </a:spcBef>
              <a:spcAft>
                <a:spcPts val="0"/>
              </a:spcAft>
            </a:pPr>
            <a:r>
              <a:rPr sz="850" b="0" lang="fr-FR" cap="none">
                <a:solidFill>
                  <a:srgbClr val="404040"/>
                </a:solidFill>
                <a:latin typeface="Avenir Next LT Pro Light"/>
              </a:rPr>
              <a:t>* 2025 en soins : observée, liquidée à ~94 %. À maturité : reste après AMO 532 M€ (+10,8 %), observé ÷ 93,9 %.</a:t>
            </a:r>
          </a:p>
          <a:p>
            <a:pPr>
              <a:lnSpc>
                <a:spcPct val="112000"/>
              </a:lnSpc>
              <a:spcBef>
                <a:spcPts val="0"/>
              </a:spcBef>
              <a:spcAft>
                <a:spcPts val="0"/>
              </a:spcAft>
            </a:pPr>
            <a:r>
              <a:rPr sz="850" b="0" lang="fr-FR" cap="none">
                <a:solidFill>
                  <a:srgbClr val="404040"/>
                </a:solidFill>
                <a:latin typeface="Avenir Next LT Pro Light"/>
              </a:rPr>
              <a:t>La chirurgie (code 1321) est hors de ce poste. Les chiffres ne couvrent pas tous les honoraires en clinique.</a:t>
            </a:r>
          </a:p>
        </p:txBody>
      </p:sp>
      <p:sp>
        <p:nvSpPr>
          <p:cNvPr id="12" name="TextBox 11"/>
          <p:cNvSpPr txBox="1"/>
          <p:nvPr/>
        </p:nvSpPr>
        <p:spPr>
          <a:xfrm>
            <a:off x="457200" y="5550408"/>
            <a:ext cx="8001000" cy="128016"/>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6344" y="283464"/>
            <a:ext cx="6766560" cy="310896"/>
          </a:xfrm>
        </p:spPr>
        <p:txBody>
          <a:bodyPr/>
          <a:lstStyle/>
          <a:p>
            <a:pPr>
              <a:lnSpc>
                <a:spcPct val="112000"/>
              </a:lnSpc>
              <a:spcBef>
                <a:spcPts val="0"/>
              </a:spcBef>
              <a:spcAft>
                <a:spcPts val="0"/>
              </a:spcAft>
            </a:pPr>
            <a:r>
              <a:rPr>
                <a:solidFill>
                  <a:srgbClr val="EF4647"/>
                </a:solidFill>
              </a:rPr>
              <a:t>Conclusion</a:t>
            </a:r>
          </a:p>
        </p:txBody>
      </p:sp>
      <p:sp>
        <p:nvSpPr>
          <p:cNvPr id="3" name="Text Placeholder 2"/>
          <p:cNvSpPr>
            <a:spLocks noGrp="1"/>
          </p:cNvSpPr>
          <p:nvPr>
            <p:ph type="body" idx="13" sz="quarter"/>
          </p:nvPr>
        </p:nvSpPr>
        <p:spPr>
          <a:xfrm>
            <a:off x="466344" y="612648"/>
            <a:ext cx="6766560" cy="292608"/>
          </a:xfrm>
        </p:spPr>
        <p:txBody>
          <a:bodyPr/>
          <a:lstStyle/>
          <a:p>
            <a:pPr>
              <a:lnSpc>
                <a:spcPct val="112000"/>
              </a:lnSpc>
              <a:spcBef>
                <a:spcPts val="0"/>
              </a:spcBef>
              <a:spcAft>
                <a:spcPts val="0"/>
              </a:spcAft>
            </a:pPr>
            <a:r>
              <a:rPr sz="1100" b="0" lang="fr-FR" cap="none">
                <a:solidFill>
                  <a:srgbClr val="404040"/>
                </a:solidFill>
                <a:latin typeface="Avenir Next LT Pro Light"/>
              </a:rPr>
              <a:t>Une dérive de sinistralité sur deux postes, sans lien visible avec le ROC</a:t>
            </a:r>
          </a:p>
        </p:txBody>
      </p:sp>
      <p:graphicFrame>
        <p:nvGraphicFramePr>
          <p:cNvPr id="4" name="Table 3"/>
          <p:cNvGraphicFramePr>
            <a:graphicFrameLocks noGrp="1"/>
          </p:cNvGraphicFramePr>
          <p:nvPr/>
        </p:nvGraphicFramePr>
        <p:xfrm>
          <a:off x="457200" y="1097280"/>
          <a:ext cx="8229600" cy="2313432"/>
        </p:xfrm>
        <a:graphic>
          <a:graphicData uri="http://schemas.openxmlformats.org/drawingml/2006/table">
            <a:tbl>
              <a:tblPr>
                <a:tableStyleId>{5C22544A-7EE6-4342-B048-85BDC9FD1C3A}</a:tableStyleId>
              </a:tblPr>
              <a:tblGrid>
                <a:gridCol w="1938528"/>
                <a:gridCol w="3520440"/>
                <a:gridCol w="2770632"/>
              </a:tblGrid>
              <a:tr h="274320">
                <a:tc>
                  <a:txBody>
                    <a:bodyPr/>
                    <a:lstStyle/>
                    <a:p>
                      <a:pPr algn="l">
                        <a:lnSpc>
                          <a:spcPct val="100000"/>
                        </a:lnSpc>
                        <a:spcBef>
                          <a:spcPts val="0"/>
                        </a:spcBef>
                        <a:spcAft>
                          <a:spcPts val="0"/>
                        </a:spcAft>
                      </a:pPr>
                      <a:r>
                        <a:rPr sz="1000" b="1" lang="fr-FR">
                          <a:solidFill>
                            <a:srgbClr val="404040"/>
                          </a:solidFill>
                          <a:latin typeface="Avenir Next LT Pro Light"/>
                        </a:rPr>
                        <a:t>Poste</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Observation 2022–2025</a:t>
                      </a:r>
                    </a:p>
                  </a:txBody>
                  <a:tcPr marL="64008" marR="64008" marT="22860" marB="22860" anchor="ctr">
                    <a:solidFill>
                      <a:srgbClr val="BFBFBF">
                        <a:lumMod val="18000"/>
                        <a:lumOff val="82000"/>
                      </a:srgbClr>
                    </a:solidFill>
                    <a:lnL w="0">
                      <a:noFill/>
                    </a:lnL>
                    <a:lnR w="0">
                      <a:noFill/>
                    </a:lnR>
                    <a:lnT w="0">
                      <a:noFill/>
                    </a:lnT>
                    <a:lnB w="0">
                      <a:noFill/>
                    </a:lnB>
                  </a:tcPr>
                </a:tc>
                <a:tc>
                  <a:txBody>
                    <a:bodyPr/>
                    <a:lstStyle/>
                    <a:p>
                      <a:pPr algn="l">
                        <a:lnSpc>
                          <a:spcPct val="100000"/>
                        </a:lnSpc>
                        <a:spcBef>
                          <a:spcPts val="0"/>
                        </a:spcBef>
                        <a:spcAft>
                          <a:spcPts val="0"/>
                        </a:spcAft>
                      </a:pPr>
                      <a:r>
                        <a:rPr sz="1000" b="1" lang="fr-FR">
                          <a:solidFill>
                            <a:srgbClr val="404040"/>
                          </a:solidFill>
                          <a:latin typeface="Avenir Next LT Pro Light"/>
                        </a:rPr>
                        <a:t>Lecture</a:t>
                      </a:r>
                    </a:p>
                  </a:txBody>
                  <a:tcPr marL="64008" marR="64008" marT="22860" marB="22860" anchor="ctr">
                    <a:solidFill>
                      <a:srgbClr val="BFBFBF">
                        <a:lumMod val="18000"/>
                        <a:lumOff val="82000"/>
                      </a:srgbClr>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Séjours ordinaires en clinique (code 2111)</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+2 % en 2024, sans effet de calendrier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Pas de dérive</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Honoraires d’anesthésie (code 1323)</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Dépassements +10 % par an, dans les deux datations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Dérive de sinistralité, indépendante du ROC</a:t>
                      </a:r>
                    </a:p>
                  </a:txBody>
                  <a:tcPr marL="64008" marR="64008" marT="22860" marB="22860" anchor="ctr">
                    <a:solidFill>
                      <a:srgbClr val="FFFFFF"/>
                    </a:solidFill>
                    <a:lnL w="0">
                      <a:noFill/>
                    </a:lnL>
                    <a:lnR w="0">
                      <a:noFill/>
                    </a:lnR>
                    <a:lnT w="0">
                      <a:noFill/>
                    </a:lnT>
                    <a:lnB w="0">
                      <a:noFill/>
                    </a:lnB>
                  </a:tcPr>
                </a:tc>
              </a:tr>
              <a:tr h="502920">
                <a:tc>
                  <a:txBody>
                    <a:bodyPr/>
                    <a:lstStyle/>
                    <a:p>
                      <a:pPr algn="l">
                        <a:lnSpc>
                          <a:spcPct val="100000"/>
                        </a:lnSpc>
                        <a:spcBef>
                          <a:spcPts val="0"/>
                        </a:spcBef>
                        <a:spcAft>
                          <a:spcPts val="0"/>
                        </a:spcAft>
                      </a:pPr>
                      <a:r>
                        <a:rPr sz="950" b="0" lang="fr-FR">
                          <a:solidFill>
                            <a:srgbClr val="404040"/>
                          </a:solidFill>
                          <a:latin typeface="Avenir Next LT Pro Light"/>
                        </a:rPr>
                        <a:t>Séjours de rééducation (SSR, SMR)</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(ticket modérateur) +8,5 % en 2024, environ +20 % en 2025, doublé ou triplé avant 50 ans</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Hausse réelle, née de la réforme SMR de 2024</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Rééducation, factures 2024 payées en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Reste après AMO +33 % en date de paiement 2025</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Effet de calendrier, propre aux cliniques</a:t>
                      </a:r>
                    </a:p>
                  </a:txBody>
                  <a:tcPr marL="64008" marR="64008" marT="22860" marB="22860" anchor="ctr">
                    <a:solidFill>
                      <a:srgbClr val="FFFFFF"/>
                    </a:solidFill>
                    <a:lnL w="0">
                      <a:noFill/>
                    </a:lnL>
                    <a:lnR w="0">
                      <a:noFill/>
                    </a:lnR>
                    <a:lnT w="0">
                      <a:noFill/>
                    </a:lnT>
                    <a:lnB w="0">
                      <a:noFill/>
                    </a:lnB>
                  </a:tcPr>
                </a:tc>
              </a:tr>
              <a:tr h="384048">
                <a:tc>
                  <a:txBody>
                    <a:bodyPr/>
                    <a:lstStyle/>
                    <a:p>
                      <a:pPr algn="l">
                        <a:lnSpc>
                          <a:spcPct val="100000"/>
                        </a:lnSpc>
                        <a:spcBef>
                          <a:spcPts val="0"/>
                        </a:spcBef>
                        <a:spcAft>
                          <a:spcPts val="0"/>
                        </a:spcAft>
                      </a:pPr>
                      <a:r>
                        <a:rPr sz="950" b="0" lang="fr-FR">
                          <a:solidFill>
                            <a:srgbClr val="404040"/>
                          </a:solidFill>
                          <a:latin typeface="Avenir Next LT Pro Light"/>
                        </a:rPr>
                        <a:t>ROC</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Déployé en 2025 dans les hôpitaux publics, dont les séjours sont hors DAMIR. Cadence AMO inchangée</a:t>
                      </a:r>
                    </a:p>
                  </a:txBody>
                  <a:tcPr marL="64008" marR="64008" marT="22860" marB="22860" anchor="ctr">
                    <a:solidFill>
                      <a:srgbClr val="FFFFFF"/>
                    </a:solidFill>
                    <a:lnL w="0">
                      <a:noFill/>
                    </a:lnL>
                    <a:lnR w="0">
                      <a:noFill/>
                    </a:lnR>
                    <a:lnT w="0">
                      <a:noFill/>
                    </a:lnT>
                    <a:lnB w="0">
                      <a:noFill/>
                    </a:lnB>
                  </a:tcPr>
                </a:tc>
                <a:tc>
                  <a:txBody>
                    <a:bodyPr/>
                    <a:lstStyle/>
                    <a:p>
                      <a:pPr algn="l">
                        <a:lnSpc>
                          <a:spcPct val="100000"/>
                        </a:lnSpc>
                        <a:spcBef>
                          <a:spcPts val="0"/>
                        </a:spcBef>
                        <a:spcAft>
                          <a:spcPts val="0"/>
                        </a:spcAft>
                      </a:pPr>
                      <a:r>
                        <a:rPr sz="950" b="0" lang="fr-FR">
                          <a:solidFill>
                            <a:srgbClr val="404040"/>
                          </a:solidFill>
                          <a:latin typeface="Avenir Next LT Pro Light"/>
                        </a:rPr>
                        <a:t>Effet de calendrier possible, non mesurable ici</a:t>
                      </a:r>
                    </a:p>
                  </a:txBody>
                  <a:tcPr marL="64008" marR="64008" marT="22860" marB="22860" anchor="ctr">
                    <a:solidFill>
                      <a:srgbClr val="FFFFFF"/>
                    </a:solidFill>
                    <a:lnL w="0">
                      <a:noFill/>
                    </a:lnL>
                    <a:lnR w="0">
                      <a:noFill/>
                    </a:lnR>
                    <a:lnT w="0">
                      <a:noFill/>
                    </a:lnT>
                    <a:lnB w="0">
                      <a:noFill/>
                    </a:lnB>
                  </a:tcPr>
                </a:tc>
              </a:tr>
            </a:tbl>
          </a:graphicData>
        </a:graphic>
      </p:graphicFrame>
      <p:sp>
        <p:nvSpPr>
          <p:cNvPr id="5" name="TextBox 4"/>
          <p:cNvSpPr txBox="1"/>
          <p:nvPr/>
        </p:nvSpPr>
        <p:spPr>
          <a:xfrm>
            <a:off x="457200" y="3703320"/>
            <a:ext cx="8229600" cy="256032"/>
          </a:xfrm>
          <a:prstGeom prst="rect">
            <a:avLst/>
          </a:prstGeom>
          <a:noFill/>
        </p:spPr>
        <p:txBody>
          <a:bodyPr wrap="square" lIns="0" rIns="0" tIns="0" bIns="0">
            <a:noAutofit/>
          </a:bodyPr>
          <a:lstStyle/>
          <a:p>
            <a:pPr>
              <a:lnSpc>
                <a:spcPct val="112000"/>
              </a:lnSpc>
              <a:spcBef>
                <a:spcPts val="0"/>
              </a:spcBef>
              <a:spcAft>
                <a:spcPts val="0"/>
              </a:spcAft>
            </a:pPr>
            <a:r>
              <a:rPr sz="1200" b="1" lang="fr-FR" cap="none">
                <a:solidFill>
                  <a:srgbClr val="5B0C02"/>
                </a:solidFill>
                <a:latin typeface="Avenir Next LT Pro Light"/>
              </a:rPr>
              <a:t>Réponse à la question posée</a:t>
            </a:r>
          </a:p>
        </p:txBody>
      </p:sp>
      <p:sp>
        <p:nvSpPr>
          <p:cNvPr id="6" name="TextBox 5"/>
          <p:cNvSpPr txBox="1"/>
          <p:nvPr/>
        </p:nvSpPr>
        <p:spPr>
          <a:xfrm>
            <a:off x="457200" y="3977639"/>
            <a:ext cx="8229600" cy="1143000"/>
          </a:xfrm>
          <a:prstGeom prst="rect">
            <a:avLst/>
          </a:prstGeom>
          <a:noFill/>
        </p:spPr>
        <p:txBody>
          <a:bodyPr wrap="square" lIns="0" rIns="0" tIns="0" bIns="0">
            <a:noAutofit/>
          </a:bodyPr>
          <a:lstStyle/>
          <a:p>
            <a:pPr>
              <a:lnSpc>
                <a:spcPct val="112000"/>
              </a:lnSpc>
              <a:spcBef>
                <a:spcPts val="0"/>
              </a:spcBef>
              <a:spcAft>
                <a:spcPts val="0"/>
              </a:spcAft>
            </a:pPr>
            <a:r>
              <a:rPr sz="1050" b="0" lang="fr-FR" cap="none">
                <a:solidFill>
                  <a:srgbClr val="404040"/>
                </a:solidFill>
                <a:latin typeface="Avenir Next LT Pro Light"/>
              </a:rPr>
              <a:t>Au vu de ces données, la dégradation d’une garantie hospitalisation s’explique d’abord par une dérive de la sinistralité, établie sur deux postes : les dépassements d’honoraires d’anesthésie et le reste après AMO des séjours de rééducation. Ces hausses précèdent le ROC et n’en dépendent pas. Aucun lien avec le ROC n’apparaît ici : en 2025 il concerne les séjours de l’hôpital public, qui ne sont pas dans Open DAMIR, et la cadence de paiement de l’Assurance Maladie n’a pas varié. S’il produit un effet, c’est un décalage de calendrier qui s’ajoute à cette dérive, et qui ne se lit que sur les flux d’une complémentaire, en comparant date de soins et date de paiement.</a:t>
            </a:r>
          </a:p>
        </p:txBody>
      </p:sp>
      <p:sp>
        <p:nvSpPr>
          <p:cNvPr id="7" name="TextBox 6"/>
          <p:cNvSpPr txBox="1"/>
          <p:nvPr/>
        </p:nvSpPr>
        <p:spPr>
          <a:xfrm>
            <a:off x="457200" y="5175504"/>
            <a:ext cx="8229600" cy="228600"/>
          </a:xfrm>
          <a:prstGeom prst="rect">
            <a:avLst/>
          </a:prstGeom>
          <a:noFill/>
        </p:spPr>
        <p:txBody>
          <a:bodyPr wrap="square" lIns="0" rIns="0" tIns="0" bIns="0">
            <a:noAutofit/>
          </a:bodyPr>
          <a:lstStyle/>
          <a:p>
            <a:pPr>
              <a:lnSpc>
                <a:spcPct val="112000"/>
              </a:lnSpc>
              <a:spcBef>
                <a:spcPts val="0"/>
              </a:spcBef>
              <a:spcAft>
                <a:spcPts val="0"/>
              </a:spcAft>
            </a:pPr>
            <a:r>
              <a:rPr sz="950" b="0" lang="fr-FR" cap="none">
                <a:solidFill>
                  <a:srgbClr val="5B0C02"/>
                </a:solidFill>
                <a:latin typeface="Avenir Next LT Pro Light"/>
              </a:rPr>
              <a:t>Ce que DAMIR ne chiffre pas : la part du ROC en euros, les séjours de l’hôpital public, le partage entre le patient et la complémentaire.</a:t>
            </a:r>
          </a:p>
        </p:txBody>
      </p:sp>
      <p:sp>
        <p:nvSpPr>
          <p:cNvPr id="8" name="TextBox 7"/>
          <p:cNvSpPr txBox="1"/>
          <p:nvPr/>
        </p:nvSpPr>
        <p:spPr>
          <a:xfrm>
            <a:off x="457200" y="5468112"/>
            <a:ext cx="8001000" cy="146304"/>
          </a:xfrm>
          <a:prstGeom prst="rect">
            <a:avLst/>
          </a:prstGeom>
          <a:noFill/>
        </p:spPr>
        <p:txBody>
          <a:bodyPr wrap="square" lIns="0" rIns="0" tIns="0" bIns="0">
            <a:noAutofit/>
          </a:bodyPr>
          <a:lstStyle/>
          <a:p>
            <a:pPr>
              <a:lnSpc>
                <a:spcPct val="112000"/>
              </a:lnSpc>
              <a:spcBef>
                <a:spcPts val="0"/>
              </a:spcBef>
              <a:spcAft>
                <a:spcPts val="0"/>
              </a:spcAft>
            </a:pPr>
            <a:r>
              <a:rPr sz="750" b="0" lang="fr-FR" cap="none">
                <a:solidFill>
                  <a:srgbClr val="808080"/>
                </a:solidFill>
                <a:latin typeface="Avenir Next LT Pro Light"/>
              </a:rPr>
              <a:t>Source : Open DAMIR, Assurance Maladie · flux arrêtés au 31/12/2025 · traitement Forsides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E57CE92-AD3E-4068-1BE4-94DEC0381060}"/>
              </a:ext>
            </a:extLst>
          </p:cNvPr>
          <p:cNvSpPr txBox="1"/>
          <p:nvPr/>
        </p:nvSpPr>
        <p:spPr>
          <a:xfrm>
            <a:off x="7162800" y="5468779"/>
            <a:ext cx="1981200" cy="246221"/>
          </a:xfrm>
          <a:prstGeom prst="rect">
            <a:avLst/>
          </a:prstGeom>
          <a:noFill/>
        </p:spPr>
        <p:txBody>
          <a:bodyPr wrap="square" rtlCol="0">
            <a:spAutoFit/>
          </a:bodyPr>
          <a:lstStyle/>
          <a:p>
            <a:pPr algn="l"/>
            <a:r>
              <a:rPr lang="fr-FR" sz="1000" noProof="0">
                <a:solidFill>
                  <a:schemeClr val="accent5"/>
                </a:solidFill>
              </a:rPr>
              <a:t>communication@forsides.com</a:t>
            </a:r>
          </a:p>
        </p:txBody>
      </p:sp>
    </p:spTree>
    <p:extLst>
      <p:ext uri="{BB962C8B-B14F-4D97-AF65-F5344CB8AC3E}">
        <p14:creationId xmlns:p14="http://schemas.microsoft.com/office/powerpoint/2010/main" val="2431778703"/>
      </p:ext>
    </p:extLst>
  </p:cSld>
  <p:clrMapOvr>
    <a:masterClrMapping/>
  </p:clrMapOvr>
</p:sld>
</file>

<file path=ppt/theme/theme1.xml><?xml version="1.0" encoding="utf-8"?>
<a:theme xmlns:a="http://schemas.openxmlformats.org/drawingml/2006/main" name="18 07 18 Thème FORSIDES">
  <a:themeElements>
    <a:clrScheme name="FORSIDES">
      <a:dk1>
        <a:srgbClr val="404040"/>
      </a:dk1>
      <a:lt1>
        <a:srgbClr val="FFFFFF"/>
      </a:lt1>
      <a:dk2>
        <a:srgbClr val="5B0C02"/>
      </a:dk2>
      <a:lt2>
        <a:srgbClr val="FFFFFF"/>
      </a:lt2>
      <a:accent1>
        <a:srgbClr val="EF4647"/>
      </a:accent1>
      <a:accent2>
        <a:srgbClr val="5B0C02"/>
      </a:accent2>
      <a:accent3>
        <a:srgbClr val="404040"/>
      </a:accent3>
      <a:accent4>
        <a:srgbClr val="808080"/>
      </a:accent4>
      <a:accent5>
        <a:srgbClr val="BFBFBF"/>
      </a:accent5>
      <a:accent6>
        <a:srgbClr val="A5B6C5"/>
      </a:accent6>
      <a:hlink>
        <a:srgbClr val="5B0C02"/>
      </a:hlink>
      <a:folHlink>
        <a:srgbClr val="EF4647"/>
      </a:folHlink>
    </a:clrScheme>
    <a:fontScheme name="Personnalisé 2">
      <a:majorFont>
        <a:latin typeface="Montserrat"/>
        <a:ea typeface=""/>
        <a:cs typeface=""/>
      </a:majorFont>
      <a:minorFont>
        <a:latin typeface="Avenir Next LT Pro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lIns="0" rIns="0" rtlCol="0" anchor="ctr"/>
      <a:lstStyle>
        <a:defPPr algn="ctr">
          <a:defRPr sz="800" cap="all"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lnDef>
      <a:spPr>
        <a:ln w="12700" cap="flat" cmpd="sng" algn="ctr">
          <a:solidFill>
            <a:schemeClr val="tx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a:spAutoFit/>
      </a:bodyPr>
      <a:lstStyle>
        <a:defPPr algn="l">
          <a:defRPr sz="6600" dirty="0">
            <a:solidFill>
              <a:schemeClr val="accent1"/>
            </a:solidFill>
          </a:defRPr>
        </a:defPPr>
      </a:lstStyle>
    </a:tx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3852</TotalTime>
  <Words>937</Words>
  <Application>Microsoft Office PowerPoint</Application>
  <PresentationFormat>Affichage à l'écran (16:10)</PresentationFormat>
  <Paragraphs>117</Paragraphs>
  <Slides>6</Slides>
  <Notes>2</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6</vt:i4>
      </vt:variant>
    </vt:vector>
  </HeadingPairs>
  <TitlesOfParts>
    <vt:vector size="14" baseType="lpstr">
      <vt:lpstr>Arial</vt:lpstr>
      <vt:lpstr>Avenir Next LT Pro</vt:lpstr>
      <vt:lpstr>Avenir Next LT Pro Light</vt:lpstr>
      <vt:lpstr>Calibri</vt:lpstr>
      <vt:lpstr>Courier New</vt:lpstr>
      <vt:lpstr>Montserrat</vt:lpstr>
      <vt:lpstr>Wingdings</vt:lpstr>
      <vt:lpstr>18 07 18 Thème FORSIDES</vt:lpstr>
      <vt:lpstr>Hospitalisation : dérive réelle ou effet ROC ?</vt:lpstr>
      <vt:lpstr>Ce que l'on regarde, et comment</vt:lpstr>
      <vt:lpstr>Hospitalisation Honoraires, une vraie dérive</vt:lpstr>
      <vt:lpstr>Hospitalisation globale =&gt; une piste ROC</vt:lpstr>
      <vt:lpstr>Dérive observée et hypothèse ROC</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Hospitalisation : dérive réelle ou effet ROC ?</dc:title>
  <dc:creator>Forsides</dc:creator>
  <cp:lastModifiedBy>Simon MALAURENT</cp:lastModifiedBy>
  <cp:revision>58</cp:revision>
  <dcterms:created xsi:type="dcterms:W3CDTF">2024-05-03T13:43:52Z</dcterms:created>
  <dcterms:modified xsi:type="dcterms:W3CDTF">2026-09-18T12:31:32Z</dcterms:modified>
  <dc:subject>Analyse par poste des remboursements AMO 2022–2025</dc:subject>
  <cp:keywords>Hospitalisation, Open DAMIR, ROC, SSR, SMR, anesthésie</cp:keyword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0x0101004DC111B863CCFF45AFD913A1822A08C3</vt:lpwstr>
  </property>
</Properties>
</file>