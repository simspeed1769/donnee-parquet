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5"/>
  </p:notesMasterIdLst>
  <p:sldIdLst>
    <p:sldId id="11533" r:id="rId5"/>
    <p:sldId id="11534" r:id="rId6"/>
    <p:sldId id="11535" r:id="rId7"/>
    <p:sldId id="11536" r:id="rId8"/>
    <p:sldId id="11537" r:id="rId9"/>
    <p:sldId id="11538" r:id="rId10"/>
    <p:sldId id="11539" r:id="rId11"/>
    <p:sldId id="11540" r:id="rId12"/>
    <p:sldId id="11541" r:id="rId13"/>
    <p:sldId id="11530" r:id="rId14"/>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864" autoAdjust="0"/>
  </p:normalViewPr>
  <p:slideViewPr>
    <p:cSldViewPr snapToGrid="0">
      <p:cViewPr varScale="1">
        <p:scale>
          <a:sx n="100" d="100"/>
          <a:sy n="100" d="100"/>
        </p:scale>
        <p:origin x="9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8E8-4745-8C34-467979802B17}"/>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8E8-4745-8C34-467979802B17}"/>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4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1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5B1D-4421-91B5-42F2C972261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5B1D-4421-91B5-42F2C972261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8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2023</c:v>
                </c:pt>
              </c:strCache>
            </c:strRef>
          </c:tx>
          <c:spPr>
            <a:solidFill>
              <a:srgbClr val="A5B6C5"/>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8.1999999999999993</c:v>
                </c:pt>
                <c:pt idx="1">
                  <c:v>13.7</c:v>
                </c:pt>
                <c:pt idx="2">
                  <c:v>15.9</c:v>
                </c:pt>
                <c:pt idx="3">
                  <c:v>29.6</c:v>
                </c:pt>
                <c:pt idx="4">
                  <c:v>59.4</c:v>
                </c:pt>
                <c:pt idx="5">
                  <c:v>92.1</c:v>
                </c:pt>
                <c:pt idx="6">
                  <c:v>141</c:v>
                </c:pt>
                <c:pt idx="7">
                  <c:v>186.2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93E-49FA-88C0-7D4EB88542E8}"/>
            </c:ext>
          </c:extLst>
        </c:ser>
        <c:ser>
          <c:idx val="1"/>
          <c:order val="1"/>
          <c:tx>
            <c:strRef>
              <c:f>Sheet1!$C$1</c:f>
              <c:strCache>
                <c:ptCount val="1"/>
                <c:pt idx="0">
                  <c:v>2024</c:v>
                </c:pt>
              </c:strCache>
            </c:strRef>
          </c:tx>
          <c:spPr>
            <a:solidFill>
              <a:srgbClr val="EF4647"/>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c:v>
                </c:pt>
                <c:pt idx="5">
                  <c:v>94.2</c:v>
                </c:pt>
                <c:pt idx="6">
                  <c:v>124.6</c:v>
                </c:pt>
                <c:pt idx="7">
                  <c:v>127.9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93E-49FA-88C0-7D4EB88542E8}"/>
            </c:ext>
          </c:extLst>
        </c:ser>
        <c:ser>
          <c:idx val="2"/>
          <c:order val="2"/>
          <c:tx>
            <c:strRef>
              <c:f>Sheet1!$D$1</c:f>
              <c:strCache>
                <c:ptCount val="1"/>
                <c:pt idx="0">
                  <c:v>2025*</c:v>
                </c:pt>
              </c:strCache>
            </c:strRef>
          </c:tx>
          <c:spPr>
            <a:solidFill>
              <a:srgbClr val="5B0C02"/>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c:v>
                </c:pt>
                <c:pt idx="5">
                  <c:v>102</c:v>
                </c:pt>
                <c:pt idx="6">
                  <c:v>128.30000000000001</c:v>
                </c:pt>
                <c:pt idx="7">
                  <c:v>114.6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93E-49FA-88C0-7D4EB88542E8}"/>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2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5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5A6-4E6B-B33D-4DDA173F7E8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5A6-4E6B-B33D-4DDA173F7E8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6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21/09/2026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endParaRPr/>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sz="quarter" idx="13"/>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92608">
                <a:tc>
                  <a:txBody>
                    <a:bodyPr/>
                    <a:lstStyle/>
                    <a:p>
                      <a:pPr algn="l">
                        <a:lnSpc>
                          <a:spcPct val="100000"/>
                        </a:lnSpc>
                        <a:spcBef>
                          <a:spcPts val="0"/>
                        </a:spcBef>
                        <a:spcAft>
                          <a:spcPts val="0"/>
                        </a:spcAft>
                      </a:pPr>
                      <a:r>
                        <a:rPr lang="fr-FR" sz="1100" b="1" dirty="0">
                          <a:solidFill>
                            <a:srgbClr val="404040"/>
                          </a:solidFill>
                          <a:latin typeface="Avenir Next LT Pro Light"/>
                        </a:rPr>
                        <a:t>Ce que DAMIR contient</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100" b="1">
                          <a:solidFill>
                            <a:srgbClr val="404040"/>
                          </a:solidFill>
                          <a:latin typeface="Avenir Next LT Pro Light"/>
                        </a:rPr>
                        <a:t>Ce que DAMIR ne contient pas</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Soins de ville et séjours en clinique</a:t>
                      </a:r>
                    </a:p>
                    <a:p>
                      <a:pPr algn="l">
                        <a:lnSpc>
                          <a:spcPct val="100000"/>
                        </a:lnSpc>
                        <a:spcBef>
                          <a:spcPts val="0"/>
                        </a:spcBef>
                        <a:spcAft>
                          <a:spcPts val="0"/>
                        </a:spcAft>
                      </a:pPr>
                      <a:r>
                        <a:rPr lang="fr-FR" sz="1100" b="0">
                          <a:solidFill>
                            <a:srgbClr val="404040"/>
                          </a:solidFill>
                          <a:latin typeface="Avenir Next LT Pro Light"/>
                        </a:rPr>
                        <a:t>Dépense, remboursement AMO, dépassements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a:solidFill>
                            <a:srgbClr val="404040"/>
                          </a:solidFill>
                          <a:latin typeface="Avenir Next LT Pro Light"/>
                        </a:rPr>
                        <a:t>Séjours de l’hôpital public</a:t>
                      </a:r>
                    </a:p>
                    <a:p>
                      <a:pPr algn="l">
                        <a:lnSpc>
                          <a:spcPct val="100000"/>
                        </a:lnSpc>
                        <a:spcBef>
                          <a:spcPts val="0"/>
                        </a:spcBef>
                        <a:spcAft>
                          <a:spcPts val="0"/>
                        </a:spcAft>
                      </a:pPr>
                      <a:r>
                        <a:rPr lang="fr-FR" sz="1100" b="0">
                          <a:solidFill>
                            <a:srgbClr val="404040"/>
                          </a:solidFill>
                          <a:latin typeface="Avenir Next LT Pro Light"/>
                        </a:rPr>
                        <a:t>Chambre particulière, part payée par la complémentaire</a:t>
                      </a:r>
                    </a:p>
                  </a:txBody>
                  <a:tcPr marL="64008" marR="64008" marT="22860" marB="22860" anchor="ctr">
                    <a:solidFill>
                      <a:srgbClr val="FFFFFF"/>
                    </a:solidFill>
                  </a:tcPr>
                </a:tc>
                <a:extLst>
                  <a:ext uri="{0D108BD9-81ED-4DB2-BD59-A6C34878D82A}">
                    <a16:rowId xmlns:a16="http://schemas.microsoft.com/office/drawing/2014/main" val="10001"/>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Mois de soins, prestation, région, âge, sexe,</a:t>
                      </a:r>
                    </a:p>
                    <a:p>
                      <a:pPr algn="l">
                        <a:lnSpc>
                          <a:spcPct val="100000"/>
                        </a:lnSpc>
                        <a:spcBef>
                          <a:spcPts val="0"/>
                        </a:spcBef>
                        <a:spcAft>
                          <a:spcPts val="0"/>
                        </a:spcAft>
                      </a:pPr>
                      <a:r>
                        <a:rPr lang="fr-FR" sz="1100" b="0">
                          <a:solidFill>
                            <a:srgbClr val="404040"/>
                          </a:solidFill>
                          <a:latin typeface="Avenir Next LT Pro Light"/>
                        </a:rPr>
                        <a:t>nature d’assurance et ALD</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dirty="0">
                          <a:solidFill>
                            <a:srgbClr val="404040"/>
                          </a:solidFill>
                          <a:latin typeface="Avenir Next LT Pro Light"/>
                        </a:rPr>
                        <a:t>Établissement identifié</a:t>
                      </a:r>
                    </a:p>
                    <a:p>
                      <a:pPr algn="l">
                        <a:lnSpc>
                          <a:spcPct val="100000"/>
                        </a:lnSpc>
                        <a:spcBef>
                          <a:spcPts val="0"/>
                        </a:spcBef>
                        <a:spcAft>
                          <a:spcPts val="0"/>
                        </a:spcAft>
                      </a:pPr>
                      <a:r>
                        <a:rPr lang="fr-FR" sz="1100" b="0" dirty="0">
                          <a:solidFill>
                            <a:srgbClr val="404040"/>
                          </a:solidFill>
                          <a:latin typeface="Avenir Next LT Pro Light"/>
                        </a:rPr>
                        <a:t>Statut ROC ou non ROC</a:t>
                      </a:r>
                    </a:p>
                  </a:txBody>
                  <a:tcPr marL="64008" marR="64008" marT="22860" marB="22860" anchor="ctr">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3639312"/>
            <a:ext cx="38404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lang="fr-FR" sz="950" b="0"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sz="quarter" idx="13"/>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tIns="0" rIns="0" bIns="0">
            <a:noAutofit/>
          </a:bodyPr>
          <a:lstStyle/>
          <a:p>
            <a:pPr>
              <a:lnSpc>
                <a:spcPct val="112000"/>
              </a:lnSpc>
              <a:spcBef>
                <a:spcPts val="0"/>
              </a:spcBef>
              <a:spcAft>
                <a:spcPts val="0"/>
              </a:spcAft>
            </a:pPr>
            <a:r>
              <a:rPr lang="fr-FR" sz="1200" b="0"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3355848">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fr-FR" sz="1050" b="1">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1000" b="0">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lnSpc>
                          <a:spcPct val="100000"/>
                        </a:lnSpc>
                        <a:spcBef>
                          <a:spcPts val="0"/>
                        </a:spcBef>
                        <a:spcAft>
                          <a:spcPts val="0"/>
                        </a:spcAft>
                      </a:pPr>
                      <a:r>
                        <a:rPr lang="fr-FR" sz="1000" b="0">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4297680"/>
            <a:ext cx="3977639" cy="393192"/>
          </a:xfrm>
          <a:prstGeom prst="rect">
            <a:avLst/>
          </a:prstGeom>
          <a:noFill/>
        </p:spPr>
        <p:txBody>
          <a:bodyPr wrap="square" lIns="0" tIns="0" rIns="0" bIns="0">
            <a:noAutofit/>
          </a:bodyPr>
          <a:lstStyle/>
          <a:p>
            <a:pPr>
              <a:lnSpc>
                <a:spcPct val="112000"/>
              </a:lnSpc>
              <a:spcBef>
                <a:spcPts val="0"/>
              </a:spcBef>
              <a:spcAft>
                <a:spcPts val="0"/>
              </a:spcAft>
            </a:pPr>
            <a:r>
              <a:rPr lang="fr-FR" sz="2100" b="0"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tIns="0" rIns="0" bIns="0">
            <a:noAutofit/>
          </a:bodyPr>
          <a:lstStyle/>
          <a:p>
            <a:pPr>
              <a:lnSpc>
                <a:spcPct val="112000"/>
              </a:lnSpc>
              <a:spcBef>
                <a:spcPts val="0"/>
              </a:spcBef>
              <a:spcAft>
                <a:spcPts val="0"/>
              </a:spcAft>
            </a:pPr>
            <a:r>
              <a:rPr lang="fr-FR" sz="1000" b="1"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tIns="0" rIns="0" bIns="0">
            <a:noAutofit/>
          </a:bodyPr>
          <a:lstStyle/>
          <a:p>
            <a:pPr>
              <a:lnSpc>
                <a:spcPct val="100000"/>
              </a:lnSpc>
              <a:spcBef>
                <a:spcPts val="0"/>
              </a:spcBef>
              <a:spcAft>
                <a:spcPts val="0"/>
              </a:spcAft>
            </a:pPr>
            <a:r>
              <a:rPr lang="fr-FR" sz="950" b="0" cap="none" dirty="0">
                <a:solidFill>
                  <a:srgbClr val="5B0C02"/>
                </a:solidFill>
                <a:latin typeface="Avenir Next LT Pro Light"/>
              </a:rPr>
              <a:t>En 2025, le ROC joue à l’hôpital public, dont les séjours ne sont pas dans </a:t>
            </a:r>
            <a:r>
              <a:rPr lang="fr-FR" sz="950" dirty="0">
                <a:solidFill>
                  <a:srgbClr val="5B0C02"/>
                </a:solidFill>
                <a:latin typeface="Avenir Next LT Pro Light"/>
              </a:rPr>
              <a:t>DAMIR (DAMIR ne contient que les séjours des cliniques privées). Son </a:t>
            </a:r>
            <a:r>
              <a:rPr lang="fr-FR" sz="950" b="0" cap="none" dirty="0">
                <a:solidFill>
                  <a:srgbClr val="5B0C02"/>
                </a:solidFill>
                <a:latin typeface="Avenir Next LT Pro Light"/>
              </a:rPr>
              <a:t>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Trois postes, et les règles qui ont changé</a:t>
            </a:r>
          </a:p>
        </p:txBody>
      </p:sp>
      <p:sp>
        <p:nvSpPr>
          <p:cNvPr id="3" name="Text Placeholder 2"/>
          <p:cNvSpPr>
            <a:spLocks noGrp="1"/>
          </p:cNvSpPr>
          <p:nvPr>
            <p:ph type="body" sz="quarter" idx="13"/>
          </p:nvPr>
        </p:nvSpPr>
        <p:spPr>
          <a:xfrm>
            <a:off x="466344" y="612648"/>
            <a:ext cx="6766560" cy="292608"/>
          </a:xfrm>
        </p:spPr>
        <p:txBody>
          <a:bodyPr/>
          <a:lstStyle/>
          <a:p>
            <a:r>
              <a:t>Pourquoi ces trois postes, et ce qui déforme la lecture de 2024 et 2025</a:t>
            </a:r>
          </a:p>
        </p:txBody>
      </p:sp>
      <p:sp>
        <p:nvSpPr>
          <p:cNvPr id="4" name="TextBox 3"/>
          <p:cNvSpPr txBox="1"/>
          <p:nvPr/>
        </p:nvSpPr>
        <p:spPr>
          <a:xfrm>
            <a:off x="5486400" y="1097280"/>
            <a:ext cx="320040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Les règles qui ont changé</a:t>
            </a:r>
          </a:p>
        </p:txBody>
      </p:sp>
      <p:graphicFrame>
        <p:nvGraphicFramePr>
          <p:cNvPr id="5" name="Table 4"/>
          <p:cNvGraphicFramePr>
            <a:graphicFrameLocks noGrp="1"/>
          </p:cNvGraphicFramePr>
          <p:nvPr>
            <p:extLst>
              <p:ext uri="{D42A27DB-BD31-4B8C-83A1-F6EECF244321}">
                <p14:modId xmlns:p14="http://schemas.microsoft.com/office/powerpoint/2010/main" val="3283350094"/>
              </p:ext>
            </p:extLst>
          </p:nvPr>
        </p:nvGraphicFramePr>
        <p:xfrm>
          <a:off x="5486400" y="1417320"/>
          <a:ext cx="3200400" cy="1819656"/>
        </p:xfrm>
        <a:graphic>
          <a:graphicData uri="http://schemas.openxmlformats.org/drawingml/2006/table">
            <a:tbl>
              <a:tblPr>
                <a:tableStyleId>{5C22544A-7EE6-4342-B048-85BDC9FD1C3A}</a:tableStyleId>
              </a:tblPr>
              <a:tblGrid>
                <a:gridCol w="77724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tblGrid>
              <a:tr h="274320">
                <a:tc>
                  <a:txBody>
                    <a:bodyPr/>
                    <a:lstStyle/>
                    <a:p>
                      <a:pPr algn="l">
                        <a:lnSpc>
                          <a:spcPct val="100000"/>
                        </a:lnSpc>
                        <a:spcBef>
                          <a:spcPts val="0"/>
                        </a:spcBef>
                        <a:spcAft>
                          <a:spcPts val="0"/>
                        </a:spcAft>
                      </a:pPr>
                      <a:r>
                        <a:rPr lang="fr-FR" sz="1050" b="1">
                          <a:solidFill>
                            <a:srgbClr val="404040"/>
                          </a:solidFill>
                          <a:latin typeface="Avenir Next LT Pro Light"/>
                        </a:rPr>
                        <a:t>Date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Ce qui change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01/2024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Réforme de la facturation des cliniques de rééducation : nouveaux tarifs, factures en retard</a:t>
                      </a:r>
                    </a:p>
                  </a:txBody>
                  <a:tcPr marL="64008" marR="64008" marT="22860" marB="22860" anchor="ctr">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dirty="0">
                          <a:solidFill>
                            <a:srgbClr val="404040"/>
                          </a:solidFill>
                          <a:latin typeface="Avenir Next LT Pro Light"/>
                        </a:rPr>
                        <a:t>Franchises et participations forfaitaires doublées (1 € par boîte, 2 € par consultation)</a:t>
                      </a:r>
                    </a:p>
                  </a:txBody>
                  <a:tcPr marL="64008" marR="64008" marT="22860" marB="22860" anchor="ctr">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11/2024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Le forfait journalier disparaît des dépenses de la base</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5486400" y="3429000"/>
            <a:ext cx="320040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Cadence de l’Assurance Maladie</a:t>
            </a:r>
          </a:p>
        </p:txBody>
      </p:sp>
      <p:graphicFrame>
        <p:nvGraphicFramePr>
          <p:cNvPr id="7" name="Table 6"/>
          <p:cNvGraphicFramePr>
            <a:graphicFrameLocks noGrp="1"/>
          </p:cNvGraphicFramePr>
          <p:nvPr/>
        </p:nvGraphicFramePr>
        <p:xfrm>
          <a:off x="5486400" y="3730752"/>
          <a:ext cx="3200400" cy="1024128"/>
        </p:xfrm>
        <a:graphic>
          <a:graphicData uri="http://schemas.openxmlformats.org/drawingml/2006/table">
            <a:tbl>
              <a:tblPr>
                <a:tableStyleId>{5C22544A-7EE6-4342-B048-85BDC9FD1C3A}</a:tableStyleId>
              </a:tblPr>
              <a:tblGrid>
                <a:gridCol w="1728216">
                  <a:extLst>
                    <a:ext uri="{9D8B030D-6E8A-4147-A177-3AD203B41FA5}">
                      <a16:colId xmlns:a16="http://schemas.microsoft.com/office/drawing/2014/main" val="20000"/>
                    </a:ext>
                  </a:extLst>
                </a:gridCol>
                <a:gridCol w="740664">
                  <a:extLst>
                    <a:ext uri="{9D8B030D-6E8A-4147-A177-3AD203B41FA5}">
                      <a16:colId xmlns:a16="http://schemas.microsoft.com/office/drawing/2014/main" val="20001"/>
                    </a:ext>
                  </a:extLst>
                </a:gridCol>
                <a:gridCol w="740664">
                  <a:extLst>
                    <a:ext uri="{9D8B030D-6E8A-4147-A177-3AD203B41FA5}">
                      <a16:colId xmlns:a16="http://schemas.microsoft.com/office/drawing/2014/main" val="20002"/>
                    </a:ext>
                  </a:extLst>
                </a:gridCol>
              </a:tblGrid>
              <a:tr h="256032">
                <a:tc>
                  <a:txBody>
                    <a:bodyPr/>
                    <a:lstStyle/>
                    <a:p>
                      <a:pPr algn="l">
                        <a:lnSpc>
                          <a:spcPct val="100000"/>
                        </a:lnSpc>
                        <a:spcBef>
                          <a:spcPts val="0"/>
                        </a:spcBef>
                        <a:spcAft>
                          <a:spcPts val="0"/>
                        </a:spcAft>
                      </a:pPr>
                      <a:r>
                        <a:rPr lang="fr-FR" sz="950" b="1">
                          <a:solidFill>
                            <a:srgbClr val="404040"/>
                          </a:solidFill>
                          <a:latin typeface="Avenir Next LT Pro Light"/>
                        </a:rPr>
                        <a:t>Part réglée dans l’année</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Séjours ordinaires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91,3 %</a:t>
                      </a:r>
                    </a:p>
                  </a:txBody>
                  <a:tcPr marL="64008" marR="64008" marT="22860" marB="22860" anchor="ctr">
                    <a:solidFill>
                      <a:srgbClr val="FFFFFF"/>
                    </a:solidFill>
                  </a:tcPr>
                </a:tc>
                <a:extLst>
                  <a:ext uri="{0D108BD9-81ED-4DB2-BD59-A6C34878D82A}">
                    <a16:rowId xmlns:a16="http://schemas.microsoft.com/office/drawing/2014/main" val="10001"/>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Anesthésie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93,9 %</a:t>
                      </a:r>
                    </a:p>
                  </a:txBody>
                  <a:tcPr marL="64008" marR="64008" marT="22860" marB="22860" anchor="ctr">
                    <a:solidFill>
                      <a:srgbClr val="FFFFFF"/>
                    </a:solidFill>
                  </a:tcPr>
                </a:tc>
                <a:extLst>
                  <a:ext uri="{0D108BD9-81ED-4DB2-BD59-A6C34878D82A}">
                    <a16:rowId xmlns:a16="http://schemas.microsoft.com/office/drawing/2014/main" val="10002"/>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Rééducation</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84,4 %</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0" y="4782312"/>
            <a:ext cx="3200400" cy="566928"/>
          </a:xfrm>
          <a:prstGeom prst="rect">
            <a:avLst/>
          </a:prstGeom>
          <a:noFill/>
        </p:spPr>
        <p:txBody>
          <a:bodyPr wrap="square" lIns="0" tIns="0" rIns="0" bIns="0">
            <a:noAutofit/>
          </a:bodyPr>
          <a:lstStyle/>
          <a:p>
            <a:pPr>
              <a:lnSpc>
                <a:spcPct val="112000"/>
              </a:lnSpc>
              <a:spcBef>
                <a:spcPts val="0"/>
              </a:spcBef>
              <a:spcAft>
                <a:spcPts val="0"/>
              </a:spcAft>
            </a:pPr>
            <a:r>
              <a:rPr sz="900" b="0" lang="fr-FR" cap="none">
                <a:solidFill>
                  <a:srgbClr val="404040"/>
                </a:solidFill>
                <a:latin typeface="Avenir Next LT Pro Light"/>
              </a:rPr>
              <a:t>Part des soins d’une année remboursée au 31 décembre. Stable pour les séjours et l’anesthésie, ralentie en 2024 pour la rééducation (réforme). Aucune accélération côté Assurance Maladie.</a:t>
            </a:r>
          </a:p>
        </p:txBody>
      </p:sp>
      <p:sp>
        <p:nvSpPr>
          <p:cNvPr id="10" name="TextBox 9"/>
          <p:cNvSpPr txBox="1"/>
          <p:nvPr/>
        </p:nvSpPr>
        <p:spPr>
          <a:xfrm>
            <a:off x="457200" y="1097280"/>
            <a:ext cx="4754880" cy="274320"/>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Les trois postes suivis, et pourquoi</a:t>
            </a:r>
          </a:p>
        </p:txBody>
      </p:sp>
      <p:sp>
        <p:nvSpPr>
          <p:cNvPr id="11" name="TextBox 10"/>
          <p:cNvSpPr txBox="1"/>
          <p:nvPr/>
        </p:nvSpPr>
        <p:spPr>
          <a:xfrm>
            <a:off x="457200" y="1463040"/>
            <a:ext cx="4754880" cy="3840480"/>
          </a:xfrm>
          <a:prstGeom prst="rect">
            <a:avLst/>
          </a:prstGeom>
          <a:noFill/>
        </p:spPr>
        <p:txBody>
          <a:bodyPr wrap="square" lIns="0" tIns="0" rIns="0" bIns="0">
            <a:noAutofit/>
          </a:bodyPr>
          <a:lstStyle/>
          <a:p>
            <a:pPr>
              <a:lnSpc>
                <a:spcPct val="112000"/>
              </a:lnSpc>
              <a:spcBef>
                <a:spcPts val="0"/>
              </a:spcBef>
              <a:spcAft>
                <a:spcPts val="1200"/>
              </a:spcAft>
            </a:pPr>
            <a:r>
              <a:rPr sz="1150" b="1" lang="fr-FR" cap="none">
                <a:solidFill>
                  <a:srgbClr val="5B0C02"/>
                </a:solidFill>
                <a:latin typeface="Avenir Next LT Pro Light"/>
              </a:rPr>
              <a:t>Séjours ordinaires en clinique. </a:t>
            </a:r>
            <a:r>
              <a:rPr sz="1150" b="0" lang="fr-FR" cap="none">
                <a:solidFill>
                  <a:srgbClr val="404040"/>
                </a:solidFill>
                <a:latin typeface="Avenir Next LT Pro Light"/>
              </a:rPr>
              <a:t>C’est le poste le plus lourd, 9 milliards d’euros par an. Ce que l’Assurance Maladie laisse à payer y bouge à peine (+2 % en 2024). Il sert de point de comparaison : si une garantie se dégrade, ce n’est pas là.</a:t>
            </a:r>
          </a:p>
          <a:p>
            <a:pPr>
              <a:lnSpc>
                <a:spcPct val="112000"/>
              </a:lnSpc>
              <a:spcBef>
                <a:spcPts val="0"/>
              </a:spcBef>
              <a:spcAft>
                <a:spcPts val="1200"/>
              </a:spcAft>
            </a:pPr>
            <a:r>
              <a:rPr sz="1150" b="1" lang="fr-FR" cap="none">
                <a:solidFill>
                  <a:srgbClr val="5B0C02"/>
                </a:solidFill>
                <a:latin typeface="Avenir Next LT Pro Light"/>
              </a:rPr>
              <a:t>Rééducation. </a:t>
            </a:r>
            <a:r>
              <a:rPr sz="1150" b="0" lang="fr-FR" cap="none">
                <a:solidFill>
                  <a:srgbClr val="404040"/>
                </a:solidFill>
                <a:latin typeface="Avenir Next LT Pro Light"/>
              </a:rPr>
              <a:t>C’est le poste où ce reste à payer monte depuis 2024 (+8,5 %, puis environ +20 %), et où il change de patients. Il a aussi sa propre réforme de facturation, qui brouille les chiffres de 2024 et de 2025.</a:t>
            </a:r>
          </a:p>
          <a:p>
            <a:pPr>
              <a:lnSpc>
                <a:spcPct val="112000"/>
              </a:lnSpc>
              <a:spcBef>
                <a:spcPts val="0"/>
              </a:spcBef>
              <a:spcAft>
                <a:spcPts val="1200"/>
              </a:spcAft>
            </a:pPr>
            <a:r>
              <a:rPr sz="1150" b="1" lang="fr-FR" cap="none">
                <a:solidFill>
                  <a:srgbClr val="5B0C02"/>
                </a:solidFill>
                <a:latin typeface="Avenir Next LT Pro Light"/>
              </a:rPr>
              <a:t>Honoraires d’anesthésie. </a:t>
            </a:r>
            <a:r>
              <a:rPr sz="1150" b="0" lang="fr-FR" cap="none">
                <a:solidFill>
                  <a:srgbClr val="404040"/>
                </a:solidFill>
                <a:latin typeface="Avenir Next LT Pro Light"/>
              </a:rPr>
              <a:t>C’est le seul poste d’honoraires classé dans l’hospitalisation, et le seul où des dépassements apparaissent. Ils augmentent chaque année, à tous les âges.</a:t>
            </a:r>
          </a:p>
          <a:p>
            <a:pPr>
              <a:lnSpc>
                <a:spcPct val="112000"/>
              </a:lnSpc>
              <a:spcBef>
                <a:spcPts val="0"/>
              </a:spcBef>
              <a:spcAft>
                <a:spcPts val="1200"/>
              </a:spcAft>
            </a:pPr>
            <a:r>
              <a:rPr sz="1150" b="1" lang="fr-FR" cap="none">
                <a:solidFill>
                  <a:srgbClr val="5B0C02"/>
                </a:solidFill>
                <a:latin typeface="Avenir Next LT Pro Light"/>
              </a:rPr>
              <a:t>Hors du champ de l’étude. </a:t>
            </a:r>
            <a:r>
              <a:rPr sz="1150" b="0" lang="fr-FR" cap="none">
                <a:solidFill>
                  <a:srgbClr val="404040"/>
                </a:solidFill>
                <a:latin typeface="Avenir Next LT Pro Light"/>
              </a:rPr>
              <a:t>Le forfait journalier et la chambre particulière ne sont pas lisibles dans ces données. La dialyse et l’hospitalisation à domicile sont stables et pèsent peu.</a:t>
            </a:r>
          </a:p>
        </p:txBody>
      </p:sp>
      <p:sp>
        <p:nvSpPr>
          <p:cNvPr id="12" name="TextBox 11"/>
          <p:cNvSpPr txBox="1"/>
          <p:nvPr/>
        </p:nvSpPr>
        <p:spPr>
          <a:xfrm>
            <a:off x="457200" y="5376672"/>
            <a:ext cx="813816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52297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8 155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8 833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8 792</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7 823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8 488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8 463</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330</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95,9 %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9 405</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7 785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9 039</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329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366</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extLst>
              <p:ext uri="{D42A27DB-BD31-4B8C-83A1-F6EECF244321}">
                <p14:modId xmlns:p14="http://schemas.microsoft.com/office/powerpoint/2010/main" val="2974560922"/>
              </p:ext>
            </p:extLst>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+2,4 %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sz="quarter" idx="13"/>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3 665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4 144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4 315</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3 682</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633</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3 893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4 953</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3 351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4 232</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721</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85,4 %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+33,2 %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2024 et 2025, en date de paiement</a:t>
            </a:r>
          </a:p>
        </p:txBody>
      </p:sp>
      <p:sp>
        <p:nvSpPr>
          <p:cNvPr id="9" name="TextBox 8"/>
          <p:cNvSpPr txBox="1"/>
          <p:nvPr/>
        </p:nvSpPr>
        <p:spPr>
          <a:xfrm>
            <a:off x="457200" y="4553712"/>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0" name="TextBox 9"/>
          <p:cNvSpPr txBox="1"/>
          <p:nvPr/>
        </p:nvSpPr>
        <p:spPr>
          <a:xfrm>
            <a:off x="457200" y="4956048"/>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16636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Niveaux de dépense 2023 et 2024 non comparables (réforme). * 2025 observée, liquidée à environ 90 %, non redressée. À maturité, reste après AMO de +20 à +27 % en 2025.</a:t>
            </a:r>
          </a:p>
        </p:txBody>
      </p:sp>
      <p:sp>
        <p:nvSpPr>
          <p:cNvPr id="12" name="TextBox 11"/>
          <p:cNvSpPr txBox="1"/>
          <p:nvPr/>
        </p:nvSpPr>
        <p:spPr>
          <a:xfrm>
            <a:off x="457200" y="5458968"/>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55664" y="1764792"/>
            <a:ext cx="2231136" cy="448056"/>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0–49 ans</a:t>
            </a:r>
          </a:p>
          <a:p>
            <a:pPr>
              <a:lnSpc>
                <a:spcPct val="112000"/>
              </a:lnSpc>
              <a:spcBef>
                <a:spcPts val="0"/>
              </a:spcBef>
              <a:spcAft>
                <a:spcPts val="0"/>
              </a:spcAft>
            </a:pPr>
            <a:r>
              <a:rPr lang="fr-FR" sz="1100" b="0"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237744">
                <a:tc>
                  <a:txBody>
                    <a:bodyPr/>
                    <a:lstStyle/>
                    <a:p>
                      <a:pPr algn="l">
                        <a:lnSpc>
                          <a:spcPct val="100000"/>
                        </a:lnSpc>
                        <a:spcBef>
                          <a:spcPts val="0"/>
                        </a:spcBef>
                        <a:spcAft>
                          <a:spcPts val="0"/>
                        </a:spcAft>
                      </a:pPr>
                      <a:r>
                        <a:rPr lang="fr-FR" sz="900" b="1">
                          <a:solidFill>
                            <a:srgbClr val="404040"/>
                          </a:solidFill>
                          <a:latin typeface="Avenir Next LT Pro Light"/>
                        </a:rPr>
                        <a:t>En M€</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0–19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20–29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30–39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40–49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50–59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60–69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70–79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80 +</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13,7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15,9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29,6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92,1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141,0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186,2</a:t>
                      </a:r>
                    </a:p>
                  </a:txBody>
                  <a:tcPr marL="64008" marR="64008" marT="22860" marB="22860" anchor="ctr">
                    <a:solidFill>
                      <a:srgbClr val="FFFFFF"/>
                    </a:solid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31,3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30,6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48,2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78,0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94,2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127,9</a:t>
                      </a:r>
                    </a:p>
                  </a:txBody>
                  <a:tcPr marL="64008" marR="64008" marT="22860" marB="22860" anchor="ctr">
                    <a:solidFill>
                      <a:srgbClr val="FFFFFF"/>
                    </a:solid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67,8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102,0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128,3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114,6</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457200" y="5029200"/>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honoraires d’anesthésie (95 % du poste)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27685">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1 322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1 398</a:t>
                      </a:r>
                    </a:p>
                  </a:txBody>
                  <a:tcPr marL="64008" marR="64008" marT="22860" marB="22860" anchor="ctr">
                    <a:solidFill>
                      <a:srgbClr val="FFFFFF"/>
                    </a:solidFill>
                  </a:tcPr>
                </a:tc>
                <a:extLst>
                  <a:ext uri="{0D108BD9-81ED-4DB2-BD59-A6C34878D82A}">
                    <a16:rowId xmlns:a16="http://schemas.microsoft.com/office/drawing/2014/main" val="1000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899</a:t>
                      </a:r>
                    </a:p>
                  </a:txBody>
                  <a:tcPr marL="64008" marR="64008" marT="22860" marB="22860" anchor="ctr">
                    <a:solidFill>
                      <a:srgbClr val="FFFFFF"/>
                    </a:solidFill>
                  </a:tcPr>
                </a:tc>
                <a:extLst>
                  <a:ext uri="{0D108BD9-81ED-4DB2-BD59-A6C34878D82A}">
                    <a16:rowId xmlns:a16="http://schemas.microsoft.com/office/drawing/2014/main" val="10003"/>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499</a:t>
                      </a:r>
                    </a:p>
                  </a:txBody>
                  <a:tcPr marL="64008" marR="64008" marT="22860" marB="22860" anchor="ctr">
                    <a:solidFill>
                      <a:srgbClr val="FFFFFF"/>
                    </a:solidFill>
                  </a:tcPr>
                </a:tc>
                <a:extLst>
                  <a:ext uri="{0D108BD9-81ED-4DB2-BD59-A6C34878D82A}">
                    <a16:rowId xmlns:a16="http://schemas.microsoft.com/office/drawing/2014/main" val="10004"/>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498</a:t>
                      </a:r>
                    </a:p>
                  </a:txBody>
                  <a:tcPr marL="64008" marR="64008" marT="22860" marB="22860" anchor="ctr">
                    <a:solidFill>
                      <a:srgbClr val="FFFFFF"/>
                    </a:solidFill>
                  </a:tcPr>
                </a:tc>
                <a:extLst>
                  <a:ext uri="{0D108BD9-81ED-4DB2-BD59-A6C34878D82A}">
                    <a16:rowId xmlns:a16="http://schemas.microsoft.com/office/drawing/2014/main" val="10005"/>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65,3 %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64,3 %</a:t>
                      </a:r>
                    </a:p>
                  </a:txBody>
                  <a:tcPr marL="64008" marR="64008" marT="22860" marB="22860" anchor="ctr">
                    <a:solidFill>
                      <a:srgbClr val="FFFFFF"/>
                    </a:solidFill>
                  </a:tcPr>
                </a:tc>
                <a:extLst>
                  <a:ext uri="{0D108BD9-81ED-4DB2-BD59-A6C34878D82A}">
                    <a16:rowId xmlns:a16="http://schemas.microsoft.com/office/drawing/2014/main" val="10006"/>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35,7 %</a:t>
                      </a:r>
                    </a:p>
                  </a:txBody>
                  <a:tcPr marL="64008" marR="64008" marT="22860" marB="22860" anchor="ctr">
                    <a:solidFill>
                      <a:srgbClr val="FFFFFF"/>
                    </a:solidFill>
                  </a:tcPr>
                </a:tc>
                <a:extLst>
                  <a:ext uri="{0D108BD9-81ED-4DB2-BD59-A6C34878D82A}">
                    <a16:rowId xmlns:a16="http://schemas.microsoft.com/office/drawing/2014/main" val="10007"/>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8"/>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1 478</a:t>
                      </a:r>
                    </a:p>
                  </a:txBody>
                  <a:tcPr marL="64008" marR="64008" marT="22860" marB="22860" anchor="ctr">
                    <a:solidFill>
                      <a:srgbClr val="FFFFFF"/>
                    </a:solidFill>
                  </a:tcPr>
                </a:tc>
                <a:extLst>
                  <a:ext uri="{0D108BD9-81ED-4DB2-BD59-A6C34878D82A}">
                    <a16:rowId xmlns:a16="http://schemas.microsoft.com/office/drawing/2014/main" val="10009"/>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954</a:t>
                      </a:r>
                    </a:p>
                  </a:txBody>
                  <a:tcPr marL="64008" marR="64008" marT="22860" marB="22860" anchor="ctr">
                    <a:solidFill>
                      <a:srgbClr val="FFFFFF"/>
                    </a:solidFill>
                  </a:tcPr>
                </a:tc>
                <a:extLst>
                  <a:ext uri="{0D108BD9-81ED-4DB2-BD59-A6C34878D82A}">
                    <a16:rowId xmlns:a16="http://schemas.microsoft.com/office/drawing/2014/main" val="10010"/>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524</a:t>
                      </a:r>
                    </a:p>
                  </a:txBody>
                  <a:tcPr marL="64008" marR="64008" marT="22860" marB="22860" anchor="ctr">
                    <a:solidFill>
                      <a:srgbClr val="FFFFFF"/>
                    </a:solidFill>
                  </a:tcPr>
                </a:tc>
                <a:extLst>
                  <a:ext uri="{0D108BD9-81ED-4DB2-BD59-A6C34878D82A}">
                    <a16:rowId xmlns:a16="http://schemas.microsoft.com/office/drawing/2014/main" val="1001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523</a:t>
                      </a:r>
                    </a:p>
                  </a:txBody>
                  <a:tcPr marL="64008" marR="64008" marT="22860" marB="22860" anchor="ctr">
                    <a:solidFill>
                      <a:srgbClr val="FFFFFF"/>
                    </a:solidFill>
                  </a:tcPr>
                </a:tc>
                <a:extLst>
                  <a:ext uri="{0D108BD9-81ED-4DB2-BD59-A6C34878D82A}">
                    <a16:rowId xmlns:a16="http://schemas.microsoft.com/office/drawing/2014/main" val="1001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69,2 %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64,5 %</a:t>
                      </a:r>
                    </a:p>
                  </a:txBody>
                  <a:tcPr marL="64008" marR="64008" marT="22860" marB="22860" anchor="ctr">
                    <a:solidFill>
                      <a:srgbClr val="FFFFFF"/>
                    </a:solidFill>
                  </a:tcPr>
                </a:tc>
                <a:extLst>
                  <a:ext uri="{0D108BD9-81ED-4DB2-BD59-A6C34878D82A}">
                    <a16:rowId xmlns:a16="http://schemas.microsoft.com/office/drawing/2014/main" val="10013"/>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34,5 %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35,4 %</a:t>
                      </a:r>
                    </a:p>
                  </a:txBody>
                  <a:tcPr marL="64008" marR="64008" marT="22860" marB="22860" anchor="ctr">
                    <a:solidFill>
                      <a:srgbClr val="FFFFFF"/>
                    </a:solidFill>
                  </a:tcPr>
                </a:tc>
                <a:extLst>
                  <a:ext uri="{0D108BD9-81ED-4DB2-BD59-A6C34878D82A}">
                    <a16:rowId xmlns:a16="http://schemas.microsoft.com/office/drawing/2014/main" val="10014"/>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+10,0 %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94 %. À maturité, reste après AMO de 532 M€ (+10,8 %).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Une dérive de sinistralité sur deux postes, sans lien visible avec le ROC</a:t>
            </a:r>
          </a:p>
        </p:txBody>
      </p:sp>
      <p:graphicFrame>
        <p:nvGraphicFramePr>
          <p:cNvPr id="4" name="Table 3"/>
          <p:cNvGraphicFramePr>
            <a:graphicFrameLocks noGrp="1"/>
          </p:cNvGraphicFramePr>
          <p:nvPr/>
        </p:nvGraphicFramePr>
        <p:xfrm>
          <a:off x="457200" y="1097280"/>
          <a:ext cx="8229600" cy="2414016"/>
        </p:xfrm>
        <a:graphic>
          <a:graphicData uri="http://schemas.openxmlformats.org/drawingml/2006/table">
            <a:tbl>
              <a:tblPr>
                <a:tableStyleId>{5C22544A-7EE6-4342-B048-85BDC9FD1C3A}</a:tableStyleId>
              </a:tblPr>
              <a:tblGrid>
                <a:gridCol w="1938528">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770632">
                  <a:extLst>
                    <a:ext uri="{9D8B030D-6E8A-4147-A177-3AD203B41FA5}">
                      <a16:colId xmlns:a16="http://schemas.microsoft.com/office/drawing/2014/main" val="20002"/>
                    </a:ext>
                  </a:extLst>
                </a:gridCol>
              </a:tblGrid>
              <a:tr h="274320">
                <a:tc>
                  <a:txBody>
                    <a:bodyPr/>
                    <a:lstStyle/>
                    <a:p>
                      <a:pPr algn="l">
                        <a:lnSpc>
                          <a:spcPct val="100000"/>
                        </a:lnSpc>
                        <a:spcBef>
                          <a:spcPts val="0"/>
                        </a:spcBef>
                        <a:spcAft>
                          <a:spcPts val="0"/>
                        </a:spcAft>
                      </a:pPr>
                      <a:r>
                        <a:rPr lang="fr-FR" sz="1000" b="1">
                          <a:solidFill>
                            <a:srgbClr val="404040"/>
                          </a:solidFill>
                          <a:latin typeface="Avenir Next LT Pro Light"/>
                        </a:rPr>
                        <a:t>Poste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00" b="1">
                          <a:solidFill>
                            <a:srgbClr val="404040"/>
                          </a:solidFill>
                          <a:latin typeface="Avenir Next LT Pro Light"/>
                        </a:rPr>
                        <a:t>Observation 2022–2025</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00" b="1">
                          <a:solidFill>
                            <a:srgbClr val="404040"/>
                          </a:solidFill>
                          <a:latin typeface="Avenir Next LT Pro Light"/>
                        </a:rPr>
                        <a:t>Lecture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Séjours ordinaires en clinique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+2 % en 2024, sans effet de calendrier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Pas de dérive</a:t>
                      </a:r>
                    </a:p>
                  </a:txBody>
                  <a:tcPr marL="64008" marR="64008" marT="22860" marB="22860"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Honoraires d’anesthésie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Dépassements +10 % par an, en date de soins comme en date de paiement</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Dérive de sinistralité, indépendante du ROC</a:t>
                      </a:r>
                    </a:p>
                  </a:txBody>
                  <a:tcPr marL="64008" marR="64008" marT="22860" marB="22860" anchor="ctr">
                    <a:solidFill>
                      <a:srgbClr val="FFFFFF"/>
                    </a:solidFill>
                  </a:tcPr>
                </a:tc>
                <a:extLst>
                  <a:ext uri="{0D108BD9-81ED-4DB2-BD59-A6C34878D82A}">
                    <a16:rowId xmlns:a16="http://schemas.microsoft.com/office/drawing/2014/main" val="10002"/>
                  </a:ext>
                </a:extLst>
              </a:tr>
              <a:tr h="502920">
                <a:tc>
                  <a:txBody>
                    <a:bodyPr/>
                    <a:lstStyle/>
                    <a:p>
                      <a:pPr algn="l">
                        <a:lnSpc>
                          <a:spcPct val="100000"/>
                        </a:lnSpc>
                        <a:spcBef>
                          <a:spcPts val="0"/>
                        </a:spcBef>
                        <a:spcAft>
                          <a:spcPts val="0"/>
                        </a:spcAft>
                      </a:pPr>
                      <a:r>
                        <a:rPr lang="fr-FR" sz="950" b="0">
                          <a:solidFill>
                            <a:srgbClr val="404040"/>
                          </a:solidFill>
                          <a:latin typeface="Avenir Next LT Pro Light"/>
                        </a:rPr>
                        <a:t>Séjours de rééducation (SSR, SMR)</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(ticket modérateur) +8,5 % en 2024, environ +20 % en 2025, doublé ou triplé avant 50 ans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Hausse réelle, née de la réforme SMR de 2024</a:t>
                      </a:r>
                    </a:p>
                  </a:txBody>
                  <a:tcPr marL="64008" marR="64008" marT="22860" marB="22860" anchor="ctr">
                    <a:solidFill>
                      <a:srgbClr val="FFFFFF"/>
                    </a:solidFill>
                  </a:tcPr>
                </a:tc>
                <a:extLst>
                  <a:ext uri="{0D108BD9-81ED-4DB2-BD59-A6C34878D82A}">
                    <a16:rowId xmlns:a16="http://schemas.microsoft.com/office/drawing/2014/main" val="10003"/>
                  </a:ext>
                </a:extLst>
              </a:tr>
              <a:tr h="457200">
                <a:tc>
                  <a:txBody>
                    <a:bodyPr/>
                    <a:lstStyle/>
                    <a:p>
                      <a:pPr algn="l">
                        <a:lnSpc>
                          <a:spcPct val="100000"/>
                        </a:lnSpc>
                        <a:spcBef>
                          <a:spcPts val="0"/>
                        </a:spcBef>
                        <a:spcAft>
                          <a:spcPts val="0"/>
                        </a:spcAft>
                      </a:pPr>
                      <a:r>
                        <a:rPr lang="fr-FR" sz="950" b="0">
                          <a:solidFill>
                            <a:srgbClr val="404040"/>
                          </a:solidFill>
                          <a:latin typeface="Avenir Next LT Pro Light"/>
                        </a:rPr>
                        <a:t>Rééducation, factures 2024 payées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Reste après AMO +33 % en date de paiement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Décalage de facturation : des soins de 2024 payés en 2025, pas une hausse des soins</a:t>
                      </a:r>
                    </a:p>
                  </a:txBody>
                  <a:tcPr marL="64008" marR="64008" marT="22860" marB="22860" anchor="ctr">
                    <a:solidFill>
                      <a:srgbClr val="FFFFFF"/>
                    </a:solidFill>
                  </a:tcPr>
                </a:tc>
                <a:extLst>
                  <a:ext uri="{0D108BD9-81ED-4DB2-BD59-A6C34878D82A}">
                    <a16:rowId xmlns:a16="http://schemas.microsoft.com/office/drawing/2014/main" val="10004"/>
                  </a:ext>
                </a:extLst>
              </a:tr>
              <a:tr h="411480">
                <a:tc>
                  <a:txBody>
                    <a:bodyPr/>
                    <a:lstStyle/>
                    <a:p>
                      <a:pPr algn="l">
                        <a:lnSpc>
                          <a:spcPct val="100000"/>
                        </a:lnSpc>
                        <a:spcBef>
                          <a:spcPts val="0"/>
                        </a:spcBef>
                        <a:spcAft>
                          <a:spcPts val="0"/>
                        </a:spcAft>
                      </a:pPr>
                      <a:r>
                        <a:rPr lang="fr-FR" sz="950" b="0">
                          <a:solidFill>
                            <a:srgbClr val="404040"/>
                          </a:solidFill>
                          <a:latin typeface="Avenir Next LT Pro Light"/>
                        </a:rPr>
                        <a:t>ROC</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Déployé en 2025 dans les hôpitaux publics, dont les séjours sont hors DAMIR. Cadence AMO inchangée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Décalage de facturation possible, non mesurable dans DAMIR</a:t>
                      </a:r>
                    </a:p>
                  </a:txBody>
                  <a:tcPr marL="64008" marR="64008" marT="22860" marB="22860"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457200" y="376732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Ce que l’étude montre</a:t>
            </a:r>
          </a:p>
        </p:txBody>
      </p:sp>
      <p:sp>
        <p:nvSpPr>
          <p:cNvPr id="6" name="TextBox 5"/>
          <p:cNvSpPr txBox="1"/>
          <p:nvPr/>
        </p:nvSpPr>
        <p:spPr>
          <a:xfrm>
            <a:off x="457200" y="4041648"/>
            <a:ext cx="8229600" cy="1143000"/>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Les remboursements de l’Assurance Maladie montrent une hausse réelle de ce qui reste à payer après elle sur deux postes de l’hospitalisation en clinique : les honoraires d’anesthésie, où les dépassements augmentent de 10 % par an, et la rééducation, où le ticket modérateur augmente depuis la réforme de 2024. Cette hausse est une dérive de la sinistralité. Elle existe avant le ROC et ne lui doit rien. Le ROC, lui, change la vitesse à laquelle les factures des hôpitaux publics arrivent aux complémentaires. Ces factures ne sont pas dans les données utilisées, et le rythme de paiement de l’Assurance Maladie n’a pas changé : aucun effet du ROC n’apparaît ici. S’il en a un, c’est un décalage de facturation, des factures payées plus tôt qu’avant, qui s’ajoute à la dérive sans l’expliquer.</a:t>
            </a:r>
          </a:p>
        </p:txBody>
      </p:sp>
      <p:sp>
        <p:nvSpPr>
          <p:cNvPr id="7" name="TextBox 6"/>
          <p:cNvSpPr txBox="1"/>
          <p:nvPr/>
        </p:nvSpPr>
        <p:spPr>
          <a:xfrm>
            <a:off x="457200" y="5175504"/>
            <a:ext cx="8229600" cy="22860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0BA603A-71B9-440C-B1B9-F2383059DB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3887</TotalTime>
  <Words>2051</Words>
  <Application>Microsoft Office PowerPoint</Application>
  <PresentationFormat>Affichage à l'écran (16:10)</PresentationFormat>
  <Paragraphs>341</Paragraphs>
  <Slides>10</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10</vt:i4>
      </vt:variant>
    </vt:vector>
  </HeadingPairs>
  <TitlesOfParts>
    <vt:vector size="18"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DAMIR : le périmètre de l’étude</vt:lpstr>
      <vt:lpstr>ROC : la facturation de la part complémentaire</vt:lpstr>
      <vt:lpstr>Les ruptures à prendre en compte</vt:lpstr>
      <vt:lpstr>Séjours ordinaires : une hausse modérée</vt:lpstr>
      <vt:lpstr>Rééducation : hausse et rattrapage</vt:lpstr>
      <vt:lpstr>Rééducation : un déplacement vers les moins de 60 ans</vt:lpstr>
      <vt:lpstr>Anesthésie : les dépassements augmentent</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subject>Analyse par poste des remboursements AMO 2022–2025</dc:subject>
  <dc:creator>Forsides</dc:creator>
  <cp:keywords>Hospitalisation, Open DAMIR, ROC, SSR, SMR, anesthésie</cp:keywords>
  <cp:lastModifiedBy>Simon MALAURENT</cp:lastModifiedBy>
  <cp:revision>60</cp:revision>
  <dcterms:created xsi:type="dcterms:W3CDTF">2024-05-03T13:43:52Z</dcterms:created>
  <dcterms:modified xsi:type="dcterms:W3CDTF">2026-09-21T05:50:32Z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