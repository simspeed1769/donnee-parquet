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Trois postes,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Pourquoi ces trois postes, et ce qui déforme la lecture de 2024 et 2025</a:t>
            </a:r>
          </a:p>
        </p:txBody>
      </p:sp>
      <p:sp>
        <p:nvSpPr>
          <p:cNvPr id="4" name="TextBox 3"/>
          <p:cNvSpPr txBox="1"/>
          <p:nvPr/>
        </p:nvSpPr>
        <p:spPr>
          <a:xfrm>
            <a:off x="5486400" y="109728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règles qui ont changé</a:t>
            </a:r>
          </a:p>
        </p:txBody>
      </p:sp>
      <p:graphicFrame>
        <p:nvGraphicFramePr>
          <p:cNvPr id="5" name="Table 4"/>
          <p:cNvGraphicFramePr>
            <a:graphicFrameLocks noGrp="1"/>
          </p:cNvGraphicFramePr>
          <p:nvPr>
            <p:extLst>
              <p:ext uri="{D42A27DB-BD31-4B8C-83A1-F6EECF244321}">
                <p14:modId xmlns:p14="http://schemas.microsoft.com/office/powerpoint/2010/main" val="3283350094"/>
              </p:ext>
            </p:extLst>
          </p:nvPr>
        </p:nvGraphicFramePr>
        <p:xfrm>
          <a:off x="5486400" y="1417320"/>
          <a:ext cx="3200400" cy="1819656"/>
        </p:xfrm>
        <a:graphic>
          <a:graphicData uri="http://schemas.openxmlformats.org/drawingml/2006/table">
            <a:tbl>
              <a:tblPr>
                <a:tableStyleId>{5C22544A-7EE6-4342-B048-85BDC9FD1C3A}</a:tableStyleId>
              </a:tblPr>
              <a:tblGrid>
                <a:gridCol w="7772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274320">
                <a:tc>
                  <a:txBody>
                    <a:bodyPr/>
                    <a:lstStyle/>
                    <a:p>
                      <a:pPr algn="l">
                        <a:lnSpc>
                          <a:spcPct val="100000"/>
                        </a:lnSpc>
                        <a:spcBef>
                          <a:spcPts val="0"/>
                        </a:spcBef>
                        <a:spcAft>
                          <a:spcPts val="0"/>
                        </a:spcAft>
                      </a:pPr>
                      <a:r>
                        <a:rPr lang="fr-FR" sz="10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01/2024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Réforme de la facturation des cliniques de rééducation : nouveaux tarifs,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Franchises et participations forfaitaires doublées (1 € par boîte, 2 € par consultation)</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11/2024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Le forfait journalier disparaît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30752"/>
          <a:ext cx="3200400"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782312"/>
            <a:ext cx="3200400" cy="566928"/>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d’une année remboursée au 31 décembre. Stable pour les séjours et l’anesthésie, ralentie en 2024 pour la rééducation (réforme). Aucune accélération côté Assurance Maladie.</a:t>
            </a:r>
          </a:p>
        </p:txBody>
      </p:sp>
      <p:sp>
        <p:nvSpPr>
          <p:cNvPr id="10" name="TextBox 9"/>
          <p:cNvSpPr txBox="1"/>
          <p:nvPr/>
        </p:nvSpPr>
        <p:spPr>
          <a:xfrm>
            <a:off x="457200" y="1097280"/>
            <a:ext cx="475488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trois postes suivis, et pourquoi</a:t>
            </a:r>
          </a:p>
        </p:txBody>
      </p:sp>
      <p:sp>
        <p:nvSpPr>
          <p:cNvPr id="11" name="TextBox 10"/>
          <p:cNvSpPr txBox="1"/>
          <p:nvPr/>
        </p:nvSpPr>
        <p:spPr>
          <a:xfrm>
            <a:off x="457200" y="1463040"/>
            <a:ext cx="4754880" cy="3840480"/>
          </a:xfrm>
          <a:prstGeom prst="rect">
            <a:avLst/>
          </a:prstGeom>
          <a:noFill/>
        </p:spPr>
        <p:txBody>
          <a:bodyPr wrap="square" lIns="0" tIns="0" rIns="0" bIns="0">
            <a:noAutofit/>
          </a:bodyPr>
          <a:lstStyle/>
          <a:p>
            <a:pPr>
              <a:lnSpc>
                <a:spcPct val="112000"/>
              </a:lnSpc>
              <a:spcBef>
                <a:spcPts val="0"/>
              </a:spcBef>
              <a:spcAft>
                <a:spcPts val="1000"/>
              </a:spcAft>
            </a:pPr>
            <a:r>
              <a:rPr sz="1100" b="1" lang="fr-FR" cap="none">
                <a:solidFill>
                  <a:srgbClr val="5B0C02"/>
                </a:solidFill>
                <a:latin typeface="Avenir Next LT Pro Light"/>
              </a:rPr>
              <a:t>Séjours ordinaires en clinique. </a:t>
            </a:r>
            <a:r>
              <a:rPr sz="1100" b="0" lang="fr-FR" cap="none">
                <a:solidFill>
                  <a:srgbClr val="404040"/>
                </a:solidFill>
                <a:latin typeface="Avenir Next LT Pro Light"/>
              </a:rPr>
              <a:t>Un séjour de médecine, de chirurgie ou de maternité, tel que la clinique le facture (hébergement, bloc, soins), sans les honoraires des médecins. C’est le poste le plus lourd, 9 milliards d’euros par an, et ce que l’Assurance Maladie laisse à payer y bouge à peine (+2 % en 2024). Il sert de repère : si une garantie se dégrade, ce n’est pas là.</a:t>
            </a:r>
          </a:p>
          <a:p>
            <a:pPr>
              <a:lnSpc>
                <a:spcPct val="112000"/>
              </a:lnSpc>
              <a:spcBef>
                <a:spcPts val="0"/>
              </a:spcBef>
              <a:spcAft>
                <a:spcPts val="1000"/>
              </a:spcAft>
            </a:pPr>
            <a:r>
              <a:rPr sz="1100" b="1" lang="fr-FR" cap="none">
                <a:solidFill>
                  <a:srgbClr val="5B0C02"/>
                </a:solidFill>
                <a:latin typeface="Avenir Next LT Pro Light"/>
              </a:rPr>
              <a:t>Rééducation. </a:t>
            </a:r>
            <a:r>
              <a:rPr sz="1100" b="0" lang="fr-FR" cap="none">
                <a:solidFill>
                  <a:srgbClr val="404040"/>
                </a:solidFill>
                <a:latin typeface="Avenir Next LT Pro Light"/>
              </a:rPr>
              <a:t>Les séjours en clinique de rééducation ou de convalescence, après une opération, un AVC ou un accident (ce que l’Assurance Maladie appelle SSR, puis SMR). C’est là que ce reste à payer monte depuis 2024 (+8,5 %, puis environ +20 %), et qu’il change de patients, vers les plus jeunes. Ce poste a aussi changé de règles de facturation en 2024, ce qui brouille ses chiffres.</a:t>
            </a:r>
          </a:p>
          <a:p>
            <a:pPr>
              <a:lnSpc>
                <a:spcPct val="112000"/>
              </a:lnSpc>
              <a:spcBef>
                <a:spcPts val="0"/>
              </a:spcBef>
              <a:spcAft>
                <a:spcPts val="1000"/>
              </a:spcAft>
            </a:pPr>
            <a:r>
              <a:rPr sz="1100" b="1" lang="fr-FR" cap="none">
                <a:solidFill>
                  <a:srgbClr val="5B0C02"/>
                </a:solidFill>
                <a:latin typeface="Avenir Next LT Pro Light"/>
              </a:rPr>
              <a:t>Honoraires d’anesthésie. </a:t>
            </a:r>
            <a:r>
              <a:rPr sz="1100" b="0" lang="fr-FR" cap="none">
                <a:solidFill>
                  <a:srgbClr val="404040"/>
                </a:solidFill>
                <a:latin typeface="Avenir Next LT Pro Light"/>
              </a:rPr>
              <a:t>Ce que l’anesthésiste facture pour une opération en clinique. C’est le poste où les dépassements d’honoraires sont visibles, et ils augmentent de 10 % par an.</a:t>
            </a:r>
          </a:p>
          <a:p>
            <a:pPr>
              <a:lnSpc>
                <a:spcPct val="112000"/>
              </a:lnSpc>
              <a:spcBef>
                <a:spcPts val="0"/>
              </a:spcBef>
              <a:spcAft>
                <a:spcPts val="1000"/>
              </a:spcAft>
            </a:pPr>
            <a:r>
              <a:rPr sz="1100" b="1" lang="fr-FR" cap="none">
                <a:solidFill>
                  <a:srgbClr val="5B0C02"/>
                </a:solidFill>
                <a:latin typeface="Avenir Next LT Pro Light"/>
              </a:rPr>
              <a:t>Pourquoi eux et pas les autres. </a:t>
            </a:r>
            <a:r>
              <a:rPr sz="1100" b="0" lang="fr-FR" cap="none">
                <a:solidFill>
                  <a:srgbClr val="404040"/>
                </a:solidFill>
                <a:latin typeface="Avenir Next LT Pro Light"/>
              </a:rPr>
              <a:t>Tous les postes de l’hospitalisation ont été passés en revue. Les autres sont stables et pèsent peu (dialyse, hospitalisation à domicile), ou ne se lisent pas dans ces données (forfait journalier, chambre particulière).</a:t>
            </a:r>
          </a:p>
        </p:txBody>
      </p:sp>
      <p:sp>
        <p:nvSpPr>
          <p:cNvPr id="12" name="TextBox 11"/>
          <p:cNvSpPr txBox="1"/>
          <p:nvPr/>
        </p:nvSpPr>
        <p:spPr>
          <a:xfrm>
            <a:off x="457200" y="5376672"/>
            <a:ext cx="813816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2297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lang="fr-FR" sz="100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Observation 2022–2025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Dérive de sinistralité, indépendante du ROC</a:t>
                      </a:r>
                    </a:p>
                  </a:txBody>
                  <a:tcPr marL="64008" marR="64008" marT="22860" marB="22860" anchor="ctr">
                    <a:solidFill>
                      <a:srgbClr val="FFFFFF"/>
                    </a:solidFill>
                  </a:tcPr>
                </a:tc>
                <a:extLst>
                  <a:ext uri="{0D108BD9-81ED-4DB2-BD59-A6C34878D82A}">
                    <a16:rowId xmlns:a16="http://schemas.microsoft.com/office/drawing/2014/main" val="10002"/>
                  </a:ext>
                </a:extLst>
              </a:tr>
              <a:tr h="502920">
                <a:tc>
                  <a:txBody>
                    <a:bodyPr/>
                    <a:lstStyle/>
                    <a:p>
                      <a:pPr algn="l">
                        <a:lnSpc>
                          <a:spcPct val="100000"/>
                        </a:lnSpc>
                        <a:spcBef>
                          <a:spcPts val="0"/>
                        </a:spcBef>
                        <a:spcAft>
                          <a:spcPts val="0"/>
                        </a:spcAft>
                      </a:pPr>
                      <a:r>
                        <a:rPr lang="fr-FR" sz="950" b="0">
                          <a:solidFill>
                            <a:srgbClr val="404040"/>
                          </a:solidFill>
                          <a:latin typeface="Avenir Next LT Pro Light"/>
                        </a:rPr>
                        <a:t>Séjours de rééducation (SSR, SMR)</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Hausse réelle, née de la réforme SMR de 2024</a:t>
                      </a:r>
                    </a:p>
                  </a:txBody>
                  <a:tcPr marL="64008" marR="64008" marT="22860" marB="22860"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Bef>
                          <a:spcPts val="0"/>
                        </a:spcBef>
                        <a:spcAft>
                          <a:spcPts val="0"/>
                        </a:spcAft>
                      </a:pPr>
                      <a:r>
                        <a:rPr lang="fr-FR" sz="950" b="0">
                          <a:solidFill>
                            <a:srgbClr val="404040"/>
                          </a:solidFill>
                          <a:latin typeface="Avenir Next LT Pro Light"/>
                        </a:rPr>
                        <a:t>Rééducation, factures 2024 payées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+33 % en date de paiement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tcPr>
                </a:tc>
                <a:extLst>
                  <a:ext uri="{0D108BD9-81ED-4DB2-BD59-A6C34878D82A}">
                    <a16:rowId xmlns:a16="http://schemas.microsoft.com/office/drawing/2014/main" val="10004"/>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possible, non mesurable dans DAMIR</a:t>
                      </a:r>
                    </a:p>
                  </a:txBody>
                  <a:tcPr marL="64008" marR="64008"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6732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3887</TotalTime>
  <Words>2051</Words>
  <Application>Microsoft Office PowerPoint</Application>
  <PresentationFormat>Affichage à l'écran (16:10)</PresentationFormat>
  <Paragraphs>341</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Les ruptures à prendre en compte</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60</cp:revision>
  <dcterms:created xsi:type="dcterms:W3CDTF">2024-05-03T13:43:52Z</dcterms:created>
  <dcterms:modified xsi:type="dcterms:W3CDTF">2026-09-21T05:50:32Z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