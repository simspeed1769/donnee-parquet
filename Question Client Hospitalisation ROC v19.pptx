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37962"/>
            <a:ext cx="6766560" cy="241980"/>
          </a:xfrm>
        </p:spPr>
        <p:txBody>
          <a:bodyPr/>
          <a:lstStyle/>
          <a:p>
            <a:r>
              <a:rPr sz="1100" dirty="0">
                <a:solidFill>
                  <a:srgbClr val="404040"/>
                </a:solidFill>
                <a:latin typeface="Avenir Next LT Pro Light"/>
              </a:rPr>
              <a:t>Des </a:t>
            </a:r>
            <a:r>
              <a:rPr sz="1100" dirty="0" err="1">
                <a:solidFill>
                  <a:srgbClr val="404040"/>
                </a:solidFill>
                <a:latin typeface="Avenir Next LT Pro Light"/>
              </a:rPr>
              <a:t>remboursements</a:t>
            </a:r>
            <a:r>
              <a:rPr sz="1100" dirty="0">
                <a:solidFill>
                  <a:srgbClr val="404040"/>
                </a:solidFill>
                <a:latin typeface="Avenir Next LT Pro Light"/>
              </a:rPr>
              <a:t> AMO aux </a:t>
            </a:r>
            <a:r>
              <a:rPr sz="1100" dirty="0" err="1">
                <a:solidFill>
                  <a:srgbClr val="404040"/>
                </a:solidFill>
                <a:latin typeface="Avenir Next LT Pro Light"/>
              </a:rPr>
              <a:t>repères</a:t>
            </a:r>
            <a:r>
              <a:rPr sz="1100" dirty="0">
                <a:solidFill>
                  <a:srgbClr val="404040"/>
                </a:solidFill>
                <a:latin typeface="Avenir Next LT Pro Light"/>
              </a:rPr>
              <a:t> du </a:t>
            </a:r>
            <a:r>
              <a:rPr sz="1100" dirty="0" err="1">
                <a:solidFill>
                  <a:srgbClr val="404040"/>
                </a:solidFill>
                <a:latin typeface="Avenir Next LT Pro Light"/>
              </a:rPr>
              <a:t>privé</a:t>
            </a:r>
            <a:endParaRPr sz="1100" dirty="0">
              <a:solidFill>
                <a:srgbClr val="404040"/>
              </a:solidFill>
              <a:latin typeface="Avenir Next LT Pro Light"/>
            </a:endParaRP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05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37962"/>
            <a:ext cx="6766560" cy="241980"/>
          </a:xfrm>
        </p:spPr>
        <p:txBody>
          <a:bodyPr/>
          <a:lstStyle/>
          <a:p>
            <a:r>
              <a:rPr sz="1100" dirty="0" err="1">
                <a:solidFill>
                  <a:srgbClr val="404040"/>
                </a:solidFill>
                <a:latin typeface="Avenir Next LT Pro Light"/>
              </a:rPr>
              <a:t>Remboursement</a:t>
            </a:r>
            <a:r>
              <a:rPr sz="1100" dirty="0">
                <a:solidFill>
                  <a:srgbClr val="404040"/>
                </a:solidFill>
                <a:latin typeface="Avenir Next LT Pro Light"/>
              </a:rPr>
              <a:t> des </a:t>
            </a:r>
            <a:r>
              <a:rPr sz="1100" dirty="0" err="1">
                <a:solidFill>
                  <a:srgbClr val="404040"/>
                </a:solidFill>
                <a:latin typeface="Avenir Next LT Pro Light"/>
              </a:rPr>
              <a:t>Organismes</a:t>
            </a:r>
            <a:r>
              <a:rPr sz="1100" dirty="0">
                <a:solidFill>
                  <a:srgbClr val="404040"/>
                </a:solidFill>
                <a:latin typeface="Avenir Next LT Pro Light"/>
              </a:rPr>
              <a:t> </a:t>
            </a:r>
            <a:r>
              <a:rPr sz="1100" dirty="0" err="1">
                <a:solidFill>
                  <a:srgbClr val="404040"/>
                </a:solidFill>
                <a:latin typeface="Avenir Next LT Pro Light"/>
              </a:rPr>
              <a:t>Complémentaires</a:t>
            </a:r>
            <a:endParaRPr sz="1100" dirty="0">
              <a:solidFill>
                <a:srgbClr val="404040"/>
              </a:solidFill>
              <a:latin typeface="Avenir Next LT Pro Light"/>
            </a:endParaRP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404040"/>
                </a:solidFill>
                <a:latin typeface="Avenir Next LT Pro Light"/>
              </a:rPr>
              <a:t>En 2025, le ROC joue à l’hôpital public, dont les séjours ne sont pas dans </a:t>
            </a:r>
            <a:r>
              <a:rPr lang="fr-FR" sz="950" b="0" dirty="0">
                <a:solidFill>
                  <a:srgbClr val="404040"/>
                </a:solidFill>
                <a:latin typeface="Avenir Next LT Pro Light"/>
              </a:rPr>
              <a:t>DAMIR (DAMIR ne contient que les séjours des cliniques privées). Son </a:t>
            </a:r>
            <a:r>
              <a:rPr lang="fr-FR" sz="950" b="0" cap="none" dirty="0">
                <a:solidFill>
                  <a:srgbClr val="404040"/>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arte 3"/>
          <p:cNvSpPr/>
          <p:nvPr/>
        </p:nvSpPr>
        <p:spPr>
          <a:xfrm>
            <a:off x="6035040" y="1143000"/>
            <a:ext cx="2651760" cy="2011680"/>
          </a:xfrm>
          <a:prstGeom prst="roundRect">
            <a:avLst>
              <a:gd name="adj" fmla="val 5000"/>
            </a:avLst>
          </a:prstGeom>
          <a:solidFill>
            <a:srgbClr val="F4F2EF"/>
          </a:solidFill>
          <a:ln>
            <a:noFill/>
          </a:ln>
        </p:spPr>
        <p:txBody>
          <a:bodyPr rtlCol="0" anchor="ctr"/>
          <a:lstStyle/>
          <a:p>
            <a:pPr algn="ctr"/>
            <a:endParaRPr/>
          </a:p>
        </p:txBody>
      </p:sp>
      <p:sp>
        <p:nvSpPr>
          <p:cNvPr id="21" name="Carte 2"/>
          <p:cNvSpPr/>
          <p:nvPr/>
        </p:nvSpPr>
        <p:spPr>
          <a:xfrm>
            <a:off x="3246120" y="1143000"/>
            <a:ext cx="2651760" cy="2011680"/>
          </a:xfrm>
          <a:prstGeom prst="roundRect">
            <a:avLst>
              <a:gd name="adj" fmla="val 5000"/>
            </a:avLst>
          </a:prstGeom>
          <a:solidFill>
            <a:srgbClr val="F4F2EF"/>
          </a:solidFill>
          <a:ln>
            <a:noFill/>
          </a:ln>
        </p:spPr>
        <p:txBody>
          <a:bodyPr rtlCol="0" anchor="ctr"/>
          <a:lstStyle/>
          <a:p>
            <a:pPr algn="ctr"/>
            <a:endParaRPr/>
          </a:p>
        </p:txBody>
      </p:sp>
      <p:sp>
        <p:nvSpPr>
          <p:cNvPr id="14" name="Carte 1"/>
          <p:cNvSpPr/>
          <p:nvPr/>
        </p:nvSpPr>
        <p:spPr>
          <a:xfrm>
            <a:off x="457200" y="1143000"/>
            <a:ext cx="2651760" cy="2011680"/>
          </a:xfrm>
          <a:prstGeom prst="roundRect">
            <a:avLst>
              <a:gd name="adj" fmla="val 5000"/>
            </a:avLst>
          </a:prstGeom>
          <a:solidFill>
            <a:srgbClr val="F4F2EF"/>
          </a:solidFill>
          <a:ln>
            <a:no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Trois postes suivis, et les règles qui ont changé</a:t>
            </a:r>
          </a:p>
        </p:txBody>
      </p:sp>
      <p:sp>
        <p:nvSpPr>
          <p:cNvPr id="3" name="Text Placeholder 2"/>
          <p:cNvSpPr>
            <a:spLocks noGrp="1"/>
          </p:cNvSpPr>
          <p:nvPr>
            <p:ph type="body" sz="quarter" idx="13"/>
          </p:nvPr>
        </p:nvSpPr>
        <p:spPr>
          <a:xfrm>
            <a:off x="466344" y="637962"/>
            <a:ext cx="6766560" cy="241980"/>
          </a:xfrm>
        </p:spPr>
        <p:txBody>
          <a:bodyPr/>
          <a:lstStyle/>
          <a:p>
            <a:r>
              <a:rPr sz="1100" dirty="0">
                <a:solidFill>
                  <a:srgbClr val="404040"/>
                </a:solidFill>
                <a:latin typeface="Avenir Next LT Pro Light"/>
              </a:rPr>
              <a:t>Ce </a:t>
            </a:r>
            <a:r>
              <a:rPr sz="1100" dirty="0" err="1">
                <a:solidFill>
                  <a:srgbClr val="404040"/>
                </a:solidFill>
                <a:latin typeface="Avenir Next LT Pro Light"/>
              </a:rPr>
              <a:t>que</a:t>
            </a:r>
            <a:r>
              <a:rPr sz="1100" dirty="0">
                <a:solidFill>
                  <a:srgbClr val="404040"/>
                </a:solidFill>
                <a:latin typeface="Avenir Next LT Pro Light"/>
              </a:rPr>
              <a:t> </a:t>
            </a:r>
            <a:r>
              <a:rPr sz="1100" dirty="0" err="1">
                <a:solidFill>
                  <a:srgbClr val="404040"/>
                </a:solidFill>
                <a:latin typeface="Avenir Next LT Pro Light"/>
              </a:rPr>
              <a:t>chaque</a:t>
            </a:r>
            <a:r>
              <a:rPr sz="1100" dirty="0">
                <a:solidFill>
                  <a:srgbClr val="404040"/>
                </a:solidFill>
                <a:latin typeface="Avenir Next LT Pro Light"/>
              </a:rPr>
              <a:t> poste </a:t>
            </a:r>
            <a:r>
              <a:rPr sz="1100" dirty="0" err="1">
                <a:solidFill>
                  <a:srgbClr val="404040"/>
                </a:solidFill>
                <a:latin typeface="Avenir Next LT Pro Light"/>
              </a:rPr>
              <a:t>recouvre</a:t>
            </a:r>
            <a:endParaRPr sz="1100" dirty="0">
              <a:solidFill>
                <a:srgbClr val="404040"/>
              </a:solidFill>
              <a:latin typeface="Avenir Next LT Pro Light"/>
            </a:endParaRPr>
          </a:p>
        </p:txBody>
      </p:sp>
      <p:sp>
        <p:nvSpPr>
          <p:cNvPr id="6" name="TextBox 5"/>
          <p:cNvSpPr txBox="1"/>
          <p:nvPr/>
        </p:nvSpPr>
        <p:spPr>
          <a:xfrm>
            <a:off x="5486400" y="3429000"/>
            <a:ext cx="3200400" cy="274320"/>
          </a:xfrm>
          <a:prstGeom prst="rect">
            <a:avLst/>
          </a:prstGeom>
          <a:noFill/>
        </p:spPr>
        <p:txBody>
          <a:bodyPr wrap="square" lIns="0" tIns="0" rIns="0" bIns="0">
            <a:noAutofit/>
          </a:bodyPr>
          <a:lstStyle/>
          <a:p>
            <a:pPr>
              <a:lnSpc>
                <a:spcPct val="112000"/>
              </a:lnSpc>
              <a:spcBef>
                <a:spcPts val="0"/>
              </a:spcBef>
              <a:spcAft>
                <a:spcPts val="0"/>
              </a:spcAft>
            </a:pPr>
            <a:r>
              <a:rPr lang="fr-FR" sz="1150" b="1" cap="none" dirty="0">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749039"/>
          <a:ext cx="3209544" cy="1024128"/>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94,1 %</a:t>
                      </a:r>
                    </a:p>
                  </a:txBody>
                  <a:tcPr marL="64008" marR="64008" marT="22860" marB="22860" anchor="ctr">
                    <a:solidFill>
                      <a:srgbClr val="FFFFFF"/>
                    </a:solid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962" name="Table règles"/>
          <p:cNvGraphicFramePr>
            <a:graphicFrameLocks noGrp="1"/>
          </p:cNvGraphicFramePr>
          <p:nvPr/>
        </p:nvGraphicFramePr>
        <p:xfrm>
          <a:off x="457200" y="3749039"/>
          <a:ext cx="4754880" cy="1188720"/>
        </p:xfrm>
        <a:graphic>
          <a:graphicData uri="http://schemas.openxmlformats.org/drawingml/2006/table">
            <a:tbl>
              <a:tblPr>
                <a:tableStyleId>{5C22544A-7EE6-4342-B048-85BDC9FD1C3A}</a:tableStyleId>
              </a:tblPr>
              <a:tblGrid>
                <a:gridCol w="11887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Date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950" b="1">
                          <a:solidFill>
                            <a:srgbClr val="404040"/>
                          </a:solidFill>
                          <a:latin typeface="Avenir Next LT Pro Light"/>
                        </a:rPr>
                        <a:t>Ce qui change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Janvier 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dirty="0">
                          <a:solidFill>
                            <a:srgbClr val="404040"/>
                          </a:solidFill>
                          <a:latin typeface="Avenir Next LT Pro Light"/>
                        </a:rPr>
                        <a:t>Nouvelle facturation des cliniques de rééducation, factures en retard</a:t>
                      </a:r>
                    </a:p>
                  </a:txBody>
                  <a:tcPr marL="64008" marR="64008" marT="22860" marB="22860" anchor="ctr">
                    <a:solidFill>
                      <a:srgbClr val="FFFFFF"/>
                    </a:solidFill>
                  </a:tcPr>
                </a:tc>
                <a:extLst>
                  <a:ext uri="{0D108BD9-81ED-4DB2-BD59-A6C34878D82A}">
                    <a16:rowId xmlns:a16="http://schemas.microsoft.com/office/drawing/2014/main" val="10001"/>
                  </a:ext>
                </a:extLst>
              </a:tr>
              <a:tr h="274320">
                <a:tc>
                  <a:txBody>
                    <a:bodyPr/>
                    <a:lstStyle/>
                    <a:p>
                      <a:pPr algn="l">
                        <a:lnSpc>
                          <a:spcPct val="100000"/>
                        </a:lnSpc>
                        <a:spcBef>
                          <a:spcPts val="0"/>
                        </a:spcBef>
                        <a:spcAft>
                          <a:spcPts val="0"/>
                        </a:spcAft>
                      </a:pPr>
                      <a:r>
                        <a:rPr lang="fr-FR" sz="950" b="0">
                          <a:solidFill>
                            <a:srgbClr val="404040"/>
                          </a:solidFill>
                          <a:latin typeface="Avenir Next LT Pro Light"/>
                        </a:rPr>
                        <a:t>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Franchises et participations forfaitaires doublées</a:t>
                      </a:r>
                    </a:p>
                  </a:txBody>
                  <a:tcPr marL="64008" marR="64008" marT="22860" marB="22860" anchor="ctr">
                    <a:solidFill>
                      <a:srgbClr val="FFFFFF"/>
                    </a:solid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fr-FR" sz="950" b="0">
                          <a:solidFill>
                            <a:srgbClr val="404040"/>
                          </a:solidFill>
                          <a:latin typeface="Avenir Next LT Pro Light"/>
                        </a:rPr>
                        <a:t>Novembre 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dirty="0">
                          <a:solidFill>
                            <a:srgbClr val="404040"/>
                          </a:solidFill>
                          <a:latin typeface="Avenir Next LT Pro Light"/>
                        </a:rPr>
                        <a:t>Forfait journalier absent des dépenses de la base</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828032"/>
            <a:ext cx="3200400" cy="41148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Part des soins de l’année remboursée au 31 décembre. Stable, sauf la rééducation en 2024. Aucune accélération côté Assurance Maladie.</a:t>
            </a:r>
          </a:p>
        </p:txBody>
      </p:sp>
      <p:sp>
        <p:nvSpPr>
          <p:cNvPr id="12" name="TextBox 11"/>
          <p:cNvSpPr txBox="1"/>
          <p:nvPr/>
        </p:nvSpPr>
        <p:spPr>
          <a:xfrm>
            <a:off x="457200" y="5413248"/>
            <a:ext cx="813816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41264"/>
            <a:ext cx="800100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pic>
        <p:nvPicPr>
          <p:cNvPr id="15" name="Icône 1" descr="icon_hopital.png"/>
          <p:cNvPicPr>
            <a:picLocks noChangeAspect="1"/>
          </p:cNvPicPr>
          <p:nvPr/>
        </p:nvPicPr>
        <p:blipFill>
          <a:blip r:embed="rId3"/>
          <a:stretch>
            <a:fillRect/>
          </a:stretch>
        </p:blipFill>
        <p:spPr>
          <a:xfrm>
            <a:off x="640080" y="1325880"/>
            <a:ext cx="384048" cy="384048"/>
          </a:xfrm>
          <a:prstGeom prst="rect">
            <a:avLst/>
          </a:prstGeom>
        </p:spPr>
      </p:pic>
      <p:sp>
        <p:nvSpPr>
          <p:cNvPr id="16" name="Carte titre 1"/>
          <p:cNvSpPr txBox="1"/>
          <p:nvPr/>
        </p:nvSpPr>
        <p:spPr>
          <a:xfrm>
            <a:off x="1115568" y="1325880"/>
            <a:ext cx="1810512" cy="384048"/>
          </a:xfrm>
          <a:prstGeom prst="rect">
            <a:avLst/>
          </a:prstGeom>
          <a:noFill/>
        </p:spPr>
        <p:txBody>
          <a:bodyPr wrap="square" lIns="0" tIns="0" rIns="0" bIns="0" anchor="ctr">
            <a:noAutofit/>
          </a:bodyPr>
          <a:lstStyle/>
          <a:p>
            <a:pPr>
              <a:lnSpc>
                <a:spcPct val="112000"/>
              </a:lnSpc>
              <a:spcBef>
                <a:spcPts val="0"/>
              </a:spcBef>
              <a:spcAft>
                <a:spcPts val="0"/>
              </a:spcAft>
            </a:pPr>
            <a:r>
              <a:rPr lang="fr-FR" sz="1100" b="1" cap="none">
                <a:solidFill>
                  <a:srgbClr val="5B0C02"/>
                </a:solidFill>
                <a:latin typeface="Avenir Next LT Pro Light"/>
              </a:rPr>
              <a:t>Séjours ordinaires en clinique</a:t>
            </a:r>
          </a:p>
        </p:txBody>
      </p:sp>
      <p:sp>
        <p:nvSpPr>
          <p:cNvPr id="17" name="Carte quoi 1"/>
          <p:cNvSpPr txBox="1"/>
          <p:nvPr/>
        </p:nvSpPr>
        <p:spPr>
          <a:xfrm>
            <a:off x="640080" y="1828800"/>
            <a:ext cx="2286000" cy="45720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Médecine, chirurgie, maternité : la facture de la clinique, hors honoraires des médecins.</a:t>
            </a:r>
          </a:p>
        </p:txBody>
      </p:sp>
      <p:sp>
        <p:nvSpPr>
          <p:cNvPr id="18" name="Carte chiffre 1"/>
          <p:cNvSpPr txBox="1"/>
          <p:nvPr/>
        </p:nvSpPr>
        <p:spPr>
          <a:xfrm>
            <a:off x="640080" y="2331720"/>
            <a:ext cx="2286000" cy="329184"/>
          </a:xfrm>
          <a:prstGeom prst="rect">
            <a:avLst/>
          </a:prstGeom>
          <a:noFill/>
        </p:spPr>
        <p:txBody>
          <a:bodyPr wrap="square" lIns="0" tIns="0" rIns="0" bIns="0">
            <a:noAutofit/>
          </a:bodyPr>
          <a:lstStyle/>
          <a:p>
            <a:pPr>
              <a:lnSpc>
                <a:spcPct val="112000"/>
              </a:lnSpc>
              <a:spcBef>
                <a:spcPts val="0"/>
              </a:spcBef>
              <a:spcAft>
                <a:spcPts val="0"/>
              </a:spcAft>
            </a:pPr>
            <a:r>
              <a:rPr lang="fr-FR" sz="1800" b="1" cap="none">
                <a:solidFill>
                  <a:srgbClr val="EF4647"/>
                </a:solidFill>
                <a:latin typeface="Avenir Next LT Pro Light"/>
              </a:rPr>
              <a:t>+2 %</a:t>
            </a:r>
          </a:p>
        </p:txBody>
      </p:sp>
      <p:sp>
        <p:nvSpPr>
          <p:cNvPr id="19" name="Carte légende 1"/>
          <p:cNvSpPr txBox="1"/>
          <p:nvPr/>
        </p:nvSpPr>
        <p:spPr>
          <a:xfrm>
            <a:off x="640080" y="2642615"/>
            <a:ext cx="2286000" cy="182880"/>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de reste après AMO en 2024</a:t>
            </a:r>
          </a:p>
        </p:txBody>
      </p:sp>
      <p:sp>
        <p:nvSpPr>
          <p:cNvPr id="20" name="Carte verdict 1"/>
          <p:cNvSpPr txBox="1"/>
          <p:nvPr/>
        </p:nvSpPr>
        <p:spPr>
          <a:xfrm>
            <a:off x="640080" y="2862072"/>
            <a:ext cx="2286000" cy="22860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Stable. Le poste de référence.</a:t>
            </a:r>
          </a:p>
        </p:txBody>
      </p:sp>
      <p:pic>
        <p:nvPicPr>
          <p:cNvPr id="22" name="Icône 2" descr="icon_reeduc.png"/>
          <p:cNvPicPr>
            <a:picLocks noChangeAspect="1"/>
          </p:cNvPicPr>
          <p:nvPr/>
        </p:nvPicPr>
        <p:blipFill>
          <a:blip r:embed="rId4"/>
          <a:stretch>
            <a:fillRect/>
          </a:stretch>
        </p:blipFill>
        <p:spPr>
          <a:xfrm>
            <a:off x="3429000" y="1325880"/>
            <a:ext cx="384048" cy="384048"/>
          </a:xfrm>
          <a:prstGeom prst="rect">
            <a:avLst/>
          </a:prstGeom>
        </p:spPr>
      </p:pic>
      <p:sp>
        <p:nvSpPr>
          <p:cNvPr id="23" name="Carte titre 2"/>
          <p:cNvSpPr txBox="1"/>
          <p:nvPr/>
        </p:nvSpPr>
        <p:spPr>
          <a:xfrm>
            <a:off x="3904487" y="1325880"/>
            <a:ext cx="1810512" cy="384048"/>
          </a:xfrm>
          <a:prstGeom prst="rect">
            <a:avLst/>
          </a:prstGeom>
          <a:noFill/>
        </p:spPr>
        <p:txBody>
          <a:bodyPr wrap="square" lIns="0" tIns="0" rIns="0" bIns="0" anchor="ctr">
            <a:noAutofit/>
          </a:bodyPr>
          <a:lstStyle/>
          <a:p>
            <a:pPr>
              <a:lnSpc>
                <a:spcPct val="112000"/>
              </a:lnSpc>
              <a:spcBef>
                <a:spcPts val="0"/>
              </a:spcBef>
              <a:spcAft>
                <a:spcPts val="0"/>
              </a:spcAft>
            </a:pPr>
            <a:r>
              <a:rPr lang="fr-FR" sz="1100" b="1" cap="none">
                <a:solidFill>
                  <a:srgbClr val="5B0C02"/>
                </a:solidFill>
                <a:latin typeface="Avenir Next LT Pro Light"/>
              </a:rPr>
              <a:t>Rééducation</a:t>
            </a:r>
          </a:p>
        </p:txBody>
      </p:sp>
      <p:sp>
        <p:nvSpPr>
          <p:cNvPr id="24" name="Carte quoi 2"/>
          <p:cNvSpPr txBox="1"/>
          <p:nvPr/>
        </p:nvSpPr>
        <p:spPr>
          <a:xfrm>
            <a:off x="3429000" y="1828800"/>
            <a:ext cx="2286000" cy="45720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Rééducation et convalescence après une opération, un AVC ou un accident.</a:t>
            </a:r>
          </a:p>
        </p:txBody>
      </p:sp>
      <p:sp>
        <p:nvSpPr>
          <p:cNvPr id="25" name="Carte chiffre 2"/>
          <p:cNvSpPr txBox="1"/>
          <p:nvPr/>
        </p:nvSpPr>
        <p:spPr>
          <a:xfrm>
            <a:off x="3429000" y="2331720"/>
            <a:ext cx="2286000" cy="329184"/>
          </a:xfrm>
          <a:prstGeom prst="rect">
            <a:avLst/>
          </a:prstGeom>
          <a:noFill/>
        </p:spPr>
        <p:txBody>
          <a:bodyPr wrap="square" lIns="0" tIns="0" rIns="0" bIns="0">
            <a:noAutofit/>
          </a:bodyPr>
          <a:lstStyle/>
          <a:p>
            <a:pPr>
              <a:lnSpc>
                <a:spcPct val="112000"/>
              </a:lnSpc>
              <a:spcBef>
                <a:spcPts val="0"/>
              </a:spcBef>
              <a:spcAft>
                <a:spcPts val="0"/>
              </a:spcAft>
            </a:pPr>
            <a:r>
              <a:rPr lang="fr-FR" sz="1500" b="1" cap="none">
                <a:solidFill>
                  <a:srgbClr val="EF4647"/>
                </a:solidFill>
                <a:latin typeface="Avenir Next LT Pro Light"/>
              </a:rPr>
              <a:t>+8,5 % puis ≈ +20 %</a:t>
            </a:r>
          </a:p>
        </p:txBody>
      </p:sp>
      <p:sp>
        <p:nvSpPr>
          <p:cNvPr id="26" name="Carte légende 2"/>
          <p:cNvSpPr txBox="1"/>
          <p:nvPr/>
        </p:nvSpPr>
        <p:spPr>
          <a:xfrm>
            <a:off x="3429000" y="2642615"/>
            <a:ext cx="2286000" cy="182880"/>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de reste après AMO, 2024 puis 2025</a:t>
            </a:r>
          </a:p>
        </p:txBody>
      </p:sp>
      <p:sp>
        <p:nvSpPr>
          <p:cNvPr id="27" name="Carte verdict 2"/>
          <p:cNvSpPr txBox="1"/>
          <p:nvPr/>
        </p:nvSpPr>
        <p:spPr>
          <a:xfrm>
            <a:off x="3429000" y="2862072"/>
            <a:ext cx="2286000" cy="22860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En hausse, surtout avant 50 ans.</a:t>
            </a:r>
          </a:p>
        </p:txBody>
      </p:sp>
      <p:pic>
        <p:nvPicPr>
          <p:cNvPr id="29" name="Icône 3" descr="icon_seringue.png"/>
          <p:cNvPicPr>
            <a:picLocks noChangeAspect="1"/>
          </p:cNvPicPr>
          <p:nvPr/>
        </p:nvPicPr>
        <p:blipFill>
          <a:blip r:embed="rId5"/>
          <a:stretch>
            <a:fillRect/>
          </a:stretch>
        </p:blipFill>
        <p:spPr>
          <a:xfrm>
            <a:off x="6217920" y="1325880"/>
            <a:ext cx="384048" cy="384048"/>
          </a:xfrm>
          <a:prstGeom prst="rect">
            <a:avLst/>
          </a:prstGeom>
        </p:spPr>
      </p:pic>
      <p:sp>
        <p:nvSpPr>
          <p:cNvPr id="30" name="Carte titre 3"/>
          <p:cNvSpPr txBox="1"/>
          <p:nvPr/>
        </p:nvSpPr>
        <p:spPr>
          <a:xfrm>
            <a:off x="6693407" y="1325880"/>
            <a:ext cx="1810512" cy="384048"/>
          </a:xfrm>
          <a:prstGeom prst="rect">
            <a:avLst/>
          </a:prstGeom>
          <a:noFill/>
        </p:spPr>
        <p:txBody>
          <a:bodyPr wrap="square" lIns="0" tIns="0" rIns="0" bIns="0" anchor="ctr">
            <a:noAutofit/>
          </a:bodyPr>
          <a:lstStyle/>
          <a:p>
            <a:pPr>
              <a:lnSpc>
                <a:spcPct val="112000"/>
              </a:lnSpc>
              <a:spcBef>
                <a:spcPts val="0"/>
              </a:spcBef>
              <a:spcAft>
                <a:spcPts val="0"/>
              </a:spcAft>
            </a:pPr>
            <a:r>
              <a:rPr lang="fr-FR" sz="1100" b="1" cap="none">
                <a:solidFill>
                  <a:srgbClr val="5B0C02"/>
                </a:solidFill>
                <a:latin typeface="Avenir Next LT Pro Light"/>
              </a:rPr>
              <a:t>Honoraires d’anesthésie</a:t>
            </a:r>
          </a:p>
        </p:txBody>
      </p:sp>
      <p:sp>
        <p:nvSpPr>
          <p:cNvPr id="31" name="Carte quoi 3"/>
          <p:cNvSpPr txBox="1"/>
          <p:nvPr/>
        </p:nvSpPr>
        <p:spPr>
          <a:xfrm>
            <a:off x="6217920" y="1828800"/>
            <a:ext cx="2286000" cy="45720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La facture de l’anesthésiste pour une opération en clinique.</a:t>
            </a:r>
          </a:p>
        </p:txBody>
      </p:sp>
      <p:sp>
        <p:nvSpPr>
          <p:cNvPr id="32" name="Carte chiffre 3"/>
          <p:cNvSpPr txBox="1"/>
          <p:nvPr/>
        </p:nvSpPr>
        <p:spPr>
          <a:xfrm>
            <a:off x="6217920" y="2331720"/>
            <a:ext cx="2286000" cy="329184"/>
          </a:xfrm>
          <a:prstGeom prst="rect">
            <a:avLst/>
          </a:prstGeom>
          <a:noFill/>
        </p:spPr>
        <p:txBody>
          <a:bodyPr wrap="square" lIns="0" tIns="0" rIns="0" bIns="0">
            <a:noAutofit/>
          </a:bodyPr>
          <a:lstStyle/>
          <a:p>
            <a:pPr>
              <a:lnSpc>
                <a:spcPct val="112000"/>
              </a:lnSpc>
              <a:spcBef>
                <a:spcPts val="0"/>
              </a:spcBef>
              <a:spcAft>
                <a:spcPts val="0"/>
              </a:spcAft>
            </a:pPr>
            <a:r>
              <a:rPr lang="fr-FR" sz="1800" b="1" cap="none">
                <a:solidFill>
                  <a:srgbClr val="EF4647"/>
                </a:solidFill>
                <a:latin typeface="Avenir Next LT Pro Light"/>
              </a:rPr>
              <a:t>+10 % par an</a:t>
            </a:r>
          </a:p>
        </p:txBody>
      </p:sp>
      <p:sp>
        <p:nvSpPr>
          <p:cNvPr id="33" name="Carte légende 3"/>
          <p:cNvSpPr txBox="1"/>
          <p:nvPr/>
        </p:nvSpPr>
        <p:spPr>
          <a:xfrm>
            <a:off x="6217920" y="2642615"/>
            <a:ext cx="2286000" cy="182880"/>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de dépassements d’honoraires</a:t>
            </a:r>
          </a:p>
        </p:txBody>
      </p:sp>
      <p:sp>
        <p:nvSpPr>
          <p:cNvPr id="34" name="Carte verdict 3"/>
          <p:cNvSpPr txBox="1"/>
          <p:nvPr/>
        </p:nvSpPr>
        <p:spPr>
          <a:xfrm>
            <a:off x="6217920" y="2862072"/>
            <a:ext cx="2286000" cy="22860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En hausse régulière.</a:t>
            </a:r>
          </a:p>
        </p:txBody>
      </p:sp>
      <p:sp>
        <p:nvSpPr>
          <p:cNvPr id="35" name="Règles titre"/>
          <p:cNvSpPr txBox="1"/>
          <p:nvPr/>
        </p:nvSpPr>
        <p:spPr>
          <a:xfrm>
            <a:off x="457200" y="3429000"/>
            <a:ext cx="4754880" cy="274320"/>
          </a:xfrm>
          <a:prstGeom prst="rect">
            <a:avLst/>
          </a:prstGeom>
          <a:noFill/>
        </p:spPr>
        <p:txBody>
          <a:bodyPr wrap="square" lIns="0" tIns="0" rIns="0" bIns="0">
            <a:noAutofit/>
          </a:bodyPr>
          <a:lstStyle/>
          <a:p>
            <a:pPr>
              <a:lnSpc>
                <a:spcPct val="112000"/>
              </a:lnSpc>
              <a:spcBef>
                <a:spcPts val="0"/>
              </a:spcBef>
              <a:spcAft>
                <a:spcPts val="0"/>
              </a:spcAft>
            </a:pPr>
            <a:r>
              <a:rPr lang="fr-FR" sz="1150" b="1" cap="none">
                <a:solidFill>
                  <a:srgbClr val="5B0C02"/>
                </a:solidFill>
                <a:latin typeface="Avenir Next LT Pro Light"/>
              </a:rPr>
              <a:t>Les règles qui ont changé</a:t>
            </a:r>
          </a:p>
        </p:txBody>
      </p:sp>
      <p:sp>
        <p:nvSpPr>
          <p:cNvPr id="963" name="Pourquoi eux"/>
          <p:cNvSpPr txBox="1"/>
          <p:nvPr/>
        </p:nvSpPr>
        <p:spPr>
          <a:xfrm>
            <a:off x="457200" y="5029200"/>
            <a:ext cx="4754880" cy="274320"/>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Les autres postes de l’hospitalisation sont stables et pèsent peu, ou ne se lisent pas dans ces données.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dirty="0">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050" b="1" cap="none">
                <a:solidFill>
                  <a:srgbClr val="5B0C02"/>
                </a:solidFill>
                <a:latin typeface="Avenir Next LT Pro Light"/>
              </a:rPr>
              <a:t>En 2024 : volume +2,0 %, dépense moyenne +0,6 %. Pas de bosse de règlement en 2025.</a:t>
            </a:r>
          </a:p>
        </p:txBody>
      </p:sp>
      <p:sp>
        <p:nvSpPr>
          <p:cNvPr id="11" name="TextBox 10"/>
          <p:cNvSpPr txBox="1"/>
          <p:nvPr/>
        </p:nvSpPr>
        <p:spPr>
          <a:xfrm>
            <a:off x="457200" y="4901184"/>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Note : 2025 en année de soins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1" name="TextBox 10"/>
          <p:cNvSpPr txBox="1"/>
          <p:nvPr/>
        </p:nvSpPr>
        <p:spPr>
          <a:xfrm>
            <a:off x="457200" y="4992624"/>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Note : 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457200" y="5065776"/>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Note :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(sous-poste Anesthésie)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1 338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63,6 %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62,7 %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36,3 %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37,2 %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1 146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1 413</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775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888</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63,7 %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62,9 %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36,2 %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00000"/>
              </a:lnSpc>
              <a:spcBef>
                <a:spcPts val="0"/>
              </a:spcBef>
              <a:spcAft>
                <a:spcPts val="0"/>
              </a:spcAft>
            </a:pPr>
            <a:r>
              <a:rPr lang="fr-FR" sz="1050" b="1" dirty="0">
                <a:solidFill>
                  <a:srgbClr val="5B0C02"/>
                </a:solidFill>
                <a:latin typeface="Avenir Next LT Pro Light"/>
              </a:rPr>
              <a:t>En 2024, le nombre d’actes n’augmente que de 1,7 %, mais les dépassements progressent de 10 %, dans chaque tranche d’âge : ce sont les tarifs pratiqués qui montent, pas le nombre d’opérations.</a:t>
            </a:r>
          </a:p>
        </p:txBody>
      </p:sp>
      <p:sp>
        <p:nvSpPr>
          <p:cNvPr id="11" name="TextBox 10"/>
          <p:cNvSpPr txBox="1"/>
          <p:nvPr/>
        </p:nvSpPr>
        <p:spPr>
          <a:xfrm>
            <a:off x="457200" y="5056632"/>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Note : 2025 en année de soins observée, liquidée à environ 94 %. À maturité, reste après AMO de 532 M€ (+10,9 %).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hausse réelle sur deux postes, sans effet du ROC visible dans ces données</a:t>
            </a:r>
          </a:p>
        </p:txBody>
      </p:sp>
      <p:graphicFrame>
        <p:nvGraphicFramePr>
          <p:cNvPr id="4" name="Table 3"/>
          <p:cNvGraphicFramePr>
            <a:graphicFrameLocks noGrp="1"/>
          </p:cNvGraphicFramePr>
          <p:nvPr>
            <p:extLst>
              <p:ext uri="{D42A27DB-BD31-4B8C-83A1-F6EECF244321}">
                <p14:modId xmlns:p14="http://schemas.microsoft.com/office/powerpoint/2010/main" val="3699683725"/>
              </p:ext>
            </p:extLst>
          </p:nvPr>
        </p:nvGraphicFramePr>
        <p:xfrm>
          <a:off x="457200" y="1097280"/>
          <a:ext cx="8229600" cy="2029968"/>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Constat 2022 à 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502920">
                <a:tc>
                  <a:txBody>
                    <a:bodyPr/>
                    <a:lstStyle/>
                    <a:p>
                      <a:pPr algn="l">
                        <a:lnSpc>
                          <a:spcPct val="100000"/>
                        </a:lnSpc>
                        <a:spcBef>
                          <a:spcPts val="0"/>
                        </a:spcBef>
                        <a:spcAft>
                          <a:spcPts val="0"/>
                        </a:spcAft>
                      </a:pPr>
                      <a:r>
                        <a:rPr lang="fr-FR" sz="1000" b="0">
                          <a:solidFill>
                            <a:srgbClr val="404040"/>
                          </a:solidFill>
                          <a:latin typeface="Avenir Next LT Pro Light"/>
                        </a:rPr>
                        <a:t>Rééducation</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Reste après AMO +8,5 % en 2024, environ +20 % en 2025, surtout chez les moins de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Hausse réelle, liée à la réforme de 2024</a:t>
                      </a:r>
                    </a:p>
                  </a:txBody>
                  <a:tcPr marL="64008" marR="64008" marT="22860" marB="22860" anchor="ctr">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Hausse réelle et régulière</a:t>
                      </a:r>
                    </a:p>
                  </a:txBody>
                  <a:tcPr marL="64008" marR="64008" marT="22860" marB="22860"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Déployé en 2025 dans les hôpitaux publics, dont les séjours sont hors de ces données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Effet non mesurable ici</a:t>
                      </a:r>
                    </a:p>
                  </a:txBody>
                  <a:tcPr marL="64008" marR="64008" marT="22860" marB="22860"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57200" y="3337560"/>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En résumé</a:t>
            </a:r>
          </a:p>
        </p:txBody>
      </p:sp>
      <p:sp>
        <p:nvSpPr>
          <p:cNvPr id="6" name="TextBox 5"/>
          <p:cNvSpPr txBox="1"/>
          <p:nvPr/>
        </p:nvSpPr>
        <p:spPr>
          <a:xfrm>
            <a:off x="457200" y="3611880"/>
            <a:ext cx="8229600" cy="1463040"/>
          </a:xfrm>
          <a:prstGeom prst="rect">
            <a:avLst/>
          </a:prstGeom>
          <a:noFill/>
        </p:spPr>
        <p:txBody>
          <a:bodyPr wrap="square" lIns="0" tIns="0" rIns="0" bIns="0">
            <a:noAutofit/>
          </a:bodyPr>
          <a:lstStyle/>
          <a:p>
            <a:pPr>
              <a:lnSpc>
                <a:spcPct val="112000"/>
              </a:lnSpc>
              <a:spcBef>
                <a:spcPts val="0"/>
              </a:spcBef>
              <a:spcAft>
                <a:spcPts val="600"/>
              </a:spcAft>
            </a:pPr>
            <a:r>
              <a:rPr lang="fr-FR" sz="1050" b="0" cap="none" dirty="0">
                <a:solidFill>
                  <a:srgbClr val="404040"/>
                </a:solidFill>
                <a:latin typeface="Avenir Next LT Pro Light"/>
              </a:rPr>
              <a:t>La hausse de ce qui reste à payer après l’Assurance Maladie est réelle, mais elle se concentre sur deux postes : les dépassements d’honoraires en anesthésie et le ticket modérateur en rééducation. Elle est visible depuis 2023 et ne dépend pas du ROC.</a:t>
            </a:r>
          </a:p>
          <a:p>
            <a:pPr>
              <a:lnSpc>
                <a:spcPct val="112000"/>
              </a:lnSpc>
              <a:spcBef>
                <a:spcPts val="0"/>
              </a:spcBef>
              <a:spcAft>
                <a:spcPts val="600"/>
              </a:spcAft>
            </a:pPr>
            <a:r>
              <a:rPr lang="fr-FR" sz="1050" b="0" cap="none" dirty="0">
                <a:solidFill>
                  <a:srgbClr val="404040"/>
                </a:solidFill>
                <a:latin typeface="Avenir Next LT Pro Light"/>
              </a:rPr>
              <a:t>Le ROC ne change pas les soins, il change le moment où les factures arrivent. En 2025, il concerne les hôpitaux publics, dont les séjours ne figurent pas dans ces données</a:t>
            </a:r>
            <a:r>
              <a:rPr lang="fr-FR" sz="1050" dirty="0">
                <a:solidFill>
                  <a:srgbClr val="404040"/>
                </a:solidFill>
                <a:latin typeface="Avenir Next LT Pro Light"/>
              </a:rPr>
              <a:t> </a:t>
            </a:r>
            <a:r>
              <a:rPr lang="fr-FR" sz="1050" b="0" cap="none" dirty="0">
                <a:solidFill>
                  <a:srgbClr val="404040"/>
                </a:solidFill>
                <a:latin typeface="Avenir Next LT Pro Light"/>
              </a:rPr>
              <a:t>et le rythme de remboursement de l’Assurance Maladie n’a pas varié. Son effet ne peut donc pas être mesuré ici. S’il existe, il s’ajoute à cette hausse sous la forme d’un décalage de facturation, à lire dans les comptes d’une complémentaire en comparant la date des soins et la date du paiement.</a:t>
            </a:r>
          </a:p>
        </p:txBody>
      </p:sp>
      <p:sp>
        <p:nvSpPr>
          <p:cNvPr id="7" name="TextBox 6"/>
          <p:cNvSpPr txBox="1"/>
          <p:nvPr/>
        </p:nvSpPr>
        <p:spPr>
          <a:xfrm>
            <a:off x="457200" y="5138928"/>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Limites : ces données ne donnent ni la part du ROC en euros, ni les séjours de l’hôpital public, ni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0BA603A-71B9-440C-B1B9-F2383059DB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4034</TotalTime>
  <Words>1993</Words>
  <Application>Microsoft Office PowerPoint</Application>
  <PresentationFormat>Affichage à l'écran (16:10)</PresentationFormat>
  <Paragraphs>347</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Trois postes suivis, et les règles qui ont changé</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64</cp:revision>
  <dcterms:created xsi:type="dcterms:W3CDTF">2024-05-03T13:43:52Z</dcterms:created>
  <dcterms:modified xsi:type="dcterms:W3CDTF">2026-09-21T11:43:45Z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