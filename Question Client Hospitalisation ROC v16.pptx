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1533" r:id="rId5"/>
    <p:sldId id="11534" r:id="rId6"/>
    <p:sldId id="11535" r:id="rId7"/>
    <p:sldId id="11536" r:id="rId8"/>
    <p:sldId id="11537" r:id="rId9"/>
    <p:sldId id="11538" r:id="rId10"/>
    <p:sldId id="11539" r:id="rId11"/>
    <p:sldId id="11540" r:id="rId12"/>
    <p:sldId id="11541" r:id="rId13"/>
    <p:sldId id="11530" r:id="rId1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64" autoAdjust="0"/>
  </p:normalViewPr>
  <p:slideViewPr>
    <p:cSldViewPr snapToGrid="0">
      <p:cViewPr varScale="1">
        <p:scale>
          <a:sx n="100" d="100"/>
          <a:sy n="100" d="100"/>
        </p:scale>
        <p:origin x="9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8E8-4745-8C34-467979802B17}"/>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8E8-4745-8C34-467979802B17}"/>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4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1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5B1D-4421-91B5-42F2C972261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5B1D-4421-91B5-42F2C972261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8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2023</c:v>
                </c:pt>
              </c:strCache>
            </c:strRef>
          </c:tx>
          <c:spPr>
            <a:solidFill>
              <a:srgbClr val="A5B6C5"/>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8.1999999999999993</c:v>
                </c:pt>
                <c:pt idx="1">
                  <c:v>13.7</c:v>
                </c:pt>
                <c:pt idx="2">
                  <c:v>15.9</c:v>
                </c:pt>
                <c:pt idx="3">
                  <c:v>29.6</c:v>
                </c:pt>
                <c:pt idx="4">
                  <c:v>59.4</c:v>
                </c:pt>
                <c:pt idx="5">
                  <c:v>92.1</c:v>
                </c:pt>
                <c:pt idx="6">
                  <c:v>141</c:v>
                </c:pt>
                <c:pt idx="7">
                  <c:v>186.2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3E-49FA-88C0-7D4EB88542E8}"/>
            </c:ext>
          </c:extLst>
        </c:ser>
        <c:ser>
          <c:idx val="1"/>
          <c:order val="1"/>
          <c:tx>
            <c:strRef>
              <c:f>Sheet1!$C$1</c:f>
              <c:strCache>
                <c:ptCount val="1"/>
                <c:pt idx="0">
                  <c:v>2024</c:v>
                </c:pt>
              </c:strCache>
            </c:strRef>
          </c:tx>
          <c:spPr>
            <a:solidFill>
              <a:srgbClr val="EF4647"/>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c:v>
                </c:pt>
                <c:pt idx="5">
                  <c:v>94.2</c:v>
                </c:pt>
                <c:pt idx="6">
                  <c:v>124.6</c:v>
                </c:pt>
                <c:pt idx="7">
                  <c:v>127.9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93E-49FA-88C0-7D4EB88542E8}"/>
            </c:ext>
          </c:extLst>
        </c:ser>
        <c:ser>
          <c:idx val="2"/>
          <c:order val="2"/>
          <c:tx>
            <c:strRef>
              <c:f>Sheet1!$D$1</c:f>
              <c:strCache>
                <c:ptCount val="1"/>
                <c:pt idx="0">
                  <c:v>2025*</c:v>
                </c:pt>
              </c:strCache>
            </c:strRef>
          </c:tx>
          <c:spPr>
            <a:solidFill>
              <a:srgbClr val="5B0C02"/>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c:v>
                </c:pt>
                <c:pt idx="5">
                  <c:v>102</c:v>
                </c:pt>
                <c:pt idx="6">
                  <c:v>128.30000000000001</c:v>
                </c:pt>
                <c:pt idx="7">
                  <c:v>114.6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93E-49FA-88C0-7D4EB88542E8}"/>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2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5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A6-4E6B-B33D-4DDA173F7E8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A6-4E6B-B33D-4DDA173F7E8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6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sz="quarter" idx="13"/>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algn="l">
                        <a:lnSpc>
                          <a:spcPct val="100000"/>
                        </a:lnSpc>
                        <a:spcBef>
                          <a:spcPts val="0"/>
                        </a:spcBef>
                        <a:spcAft>
                          <a:spcPts val="0"/>
                        </a:spcAft>
                      </a:pPr>
                      <a:r>
                        <a:rPr lang="fr-FR" sz="1100" b="1" dirty="0">
                          <a:solidFill>
                            <a:srgbClr val="404040"/>
                          </a:solidFill>
                          <a:latin typeface="Avenir Next LT Pro Light"/>
                        </a:rPr>
                        <a:t>Ce que DAMIR contient</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100" b="1">
                          <a:solidFill>
                            <a:srgbClr val="404040"/>
                          </a:solidFill>
                          <a:latin typeface="Avenir Next LT Pro Light"/>
                        </a:rPr>
                        <a:t>Ce que DAMIR ne contient pas</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Soins de ville et séjours en clinique</a:t>
                      </a:r>
                    </a:p>
                    <a:p>
                      <a:pPr algn="l">
                        <a:lnSpc>
                          <a:spcPct val="100000"/>
                        </a:lnSpc>
                        <a:spcBef>
                          <a:spcPts val="0"/>
                        </a:spcBef>
                        <a:spcAft>
                          <a:spcPts val="0"/>
                        </a:spcAft>
                      </a:pPr>
                      <a:r>
                        <a:rPr lang="fr-FR" sz="1100" b="0">
                          <a:solidFill>
                            <a:srgbClr val="404040"/>
                          </a:solidFill>
                          <a:latin typeface="Avenir Next LT Pro Light"/>
                        </a:rPr>
                        <a:t>Dépense, remboursement AMO, dépassements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a:solidFill>
                            <a:srgbClr val="404040"/>
                          </a:solidFill>
                          <a:latin typeface="Avenir Next LT Pro Light"/>
                        </a:rPr>
                        <a:t>Séjours de l’hôpital public</a:t>
                      </a:r>
                    </a:p>
                    <a:p>
                      <a:pPr algn="l">
                        <a:lnSpc>
                          <a:spcPct val="100000"/>
                        </a:lnSpc>
                        <a:spcBef>
                          <a:spcPts val="0"/>
                        </a:spcBef>
                        <a:spcAft>
                          <a:spcPts val="0"/>
                        </a:spcAft>
                      </a:pPr>
                      <a:r>
                        <a:rPr lang="fr-FR" sz="1100" b="0">
                          <a:solidFill>
                            <a:srgbClr val="404040"/>
                          </a:solidFill>
                          <a:latin typeface="Avenir Next LT Pro Light"/>
                        </a:rPr>
                        <a:t>Chambre particulière, part payée par la complémentaire</a:t>
                      </a:r>
                    </a:p>
                  </a:txBody>
                  <a:tcPr marL="64008" marR="64008" marT="22860" marB="22860" anchor="ctr">
                    <a:solidFill>
                      <a:srgbClr val="FFFFFF"/>
                    </a:solidFill>
                  </a:tcPr>
                </a:tc>
                <a:extLst>
                  <a:ext uri="{0D108BD9-81ED-4DB2-BD59-A6C34878D82A}">
                    <a16:rowId xmlns:a16="http://schemas.microsoft.com/office/drawing/2014/main" val="10001"/>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Mois de soins, prestation, région, âge, sexe,</a:t>
                      </a:r>
                    </a:p>
                    <a:p>
                      <a:pPr algn="l">
                        <a:lnSpc>
                          <a:spcPct val="100000"/>
                        </a:lnSpc>
                        <a:spcBef>
                          <a:spcPts val="0"/>
                        </a:spcBef>
                        <a:spcAft>
                          <a:spcPts val="0"/>
                        </a:spcAft>
                      </a:pPr>
                      <a:r>
                        <a:rPr lang="fr-FR" sz="1100" b="0">
                          <a:solidFill>
                            <a:srgbClr val="404040"/>
                          </a:solidFill>
                          <a:latin typeface="Avenir Next LT Pro Light"/>
                        </a:rPr>
                        <a:t>nature d’assurance et ALD</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dirty="0">
                          <a:solidFill>
                            <a:srgbClr val="404040"/>
                          </a:solidFill>
                          <a:latin typeface="Avenir Next LT Pro Light"/>
                        </a:rPr>
                        <a:t>Établissement identifié</a:t>
                      </a:r>
                    </a:p>
                    <a:p>
                      <a:pPr algn="l">
                        <a:lnSpc>
                          <a:spcPct val="100000"/>
                        </a:lnSpc>
                        <a:spcBef>
                          <a:spcPts val="0"/>
                        </a:spcBef>
                        <a:spcAft>
                          <a:spcPts val="0"/>
                        </a:spcAft>
                      </a:pPr>
                      <a:r>
                        <a:rPr lang="fr-FR" sz="1100" b="0" dirty="0">
                          <a:solidFill>
                            <a:srgbClr val="404040"/>
                          </a:solidFill>
                          <a:latin typeface="Avenir Next LT Pro Light"/>
                        </a:rPr>
                        <a:t>Statut ROC ou non ROC</a:t>
                      </a:r>
                    </a:p>
                  </a:txBody>
                  <a:tcPr marL="64008" marR="64008" marT="22860" marB="22860"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639312"/>
            <a:ext cx="38404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lang="fr-FR" sz="950" b="0"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sz="quarter" idx="13"/>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tIns="0" rIns="0" bIns="0">
            <a:noAutofit/>
          </a:bodyPr>
          <a:lstStyle/>
          <a:p>
            <a:pPr>
              <a:lnSpc>
                <a:spcPct val="112000"/>
              </a:lnSpc>
              <a:spcBef>
                <a:spcPts val="0"/>
              </a:spcBef>
              <a:spcAft>
                <a:spcPts val="0"/>
              </a:spcAft>
            </a:pPr>
            <a:r>
              <a:rPr lang="fr-FR" sz="1200" b="0"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1000" b="0">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lnSpc>
                          <a:spcPct val="100000"/>
                        </a:lnSpc>
                        <a:spcBef>
                          <a:spcPts val="0"/>
                        </a:spcBef>
                        <a:spcAft>
                          <a:spcPts val="0"/>
                        </a:spcAft>
                      </a:pPr>
                      <a:r>
                        <a:rPr lang="fr-FR" sz="1000" b="0">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297680"/>
            <a:ext cx="3977639" cy="393192"/>
          </a:xfrm>
          <a:prstGeom prst="rect">
            <a:avLst/>
          </a:prstGeom>
          <a:noFill/>
        </p:spPr>
        <p:txBody>
          <a:bodyPr wrap="square" lIns="0" tIns="0" rIns="0" bIns="0">
            <a:noAutofit/>
          </a:bodyPr>
          <a:lstStyle/>
          <a:p>
            <a:pPr>
              <a:lnSpc>
                <a:spcPct val="112000"/>
              </a:lnSpc>
              <a:spcBef>
                <a:spcPts val="0"/>
              </a:spcBef>
              <a:spcAft>
                <a:spcPts val="0"/>
              </a:spcAft>
            </a:pPr>
            <a:r>
              <a:rPr lang="fr-FR" sz="2100" b="0"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tIns="0" rIns="0" bIns="0">
            <a:noAutofit/>
          </a:bodyPr>
          <a:lstStyle/>
          <a:p>
            <a:pPr>
              <a:lnSpc>
                <a:spcPct val="112000"/>
              </a:lnSpc>
              <a:spcBef>
                <a:spcPts val="0"/>
              </a:spcBef>
              <a:spcAft>
                <a:spcPts val="0"/>
              </a:spcAft>
            </a:pPr>
            <a:r>
              <a:rPr lang="fr-FR" sz="1000" b="1"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tIns="0" rIns="0" bIns="0">
            <a:noAutofit/>
          </a:bodyPr>
          <a:lstStyle/>
          <a:p>
            <a:pPr>
              <a:lnSpc>
                <a:spcPct val="100000"/>
              </a:lnSpc>
              <a:spcBef>
                <a:spcPts val="0"/>
              </a:spcBef>
              <a:spcAft>
                <a:spcPts val="0"/>
              </a:spcAft>
            </a:pPr>
            <a:r>
              <a:rPr lang="fr-FR" sz="950" b="0" cap="none" dirty="0">
                <a:solidFill>
                  <a:srgbClr val="5B0C02"/>
                </a:solidFill>
                <a:latin typeface="Avenir Next LT Pro Light"/>
              </a:rPr>
              <a:t>En 2025, le ROC joue à l’hôpital public, dont les séjours ne sont pas dans </a:t>
            </a:r>
            <a:r>
              <a:rPr lang="fr-FR" sz="950" dirty="0">
                <a:solidFill>
                  <a:srgbClr val="5B0C02"/>
                </a:solidFill>
                <a:latin typeface="Avenir Next LT Pro Light"/>
              </a:rPr>
              <a:t>DAMIR (DAMIR ne contient que les séjours des cliniques privées). Son </a:t>
            </a:r>
            <a:r>
              <a:rPr lang="fr-FR" sz="950" b="0" cap="none" dirty="0">
                <a:solidFill>
                  <a:srgbClr val="5B0C02"/>
                </a:solidFill>
                <a:latin typeface="Avenir Next LT Pro Light"/>
              </a:rPr>
              <a:t>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arte 3"/>
          <p:cNvSpPr/>
          <p:nvPr/>
        </p:nvSpPr>
        <p:spPr>
          <a:xfrm>
            <a:off x="6035040" y="1097280"/>
            <a:ext cx="2651760" cy="2148840"/>
          </a:xfrm>
          <a:prstGeom prst="roundRect">
            <a:avLst>
              <a:gd name="adj" fmla="val 6000"/>
            </a:avLst>
          </a:prstGeom>
          <a:solidFill>
            <a:srgbClr val="F4F2EF"/>
          </a:solidFill>
          <a:ln>
            <a:noFill/>
          </a:ln>
        </p:spPr>
        <p:txBody>
          <a:bodyPr rtlCol="0" anchor="ctr"/>
          <a:lstStyle/>
          <a:p>
            <a:pPr algn="ctr"/>
          </a:p>
        </p:txBody>
      </p:sp>
      <p:sp>
        <p:nvSpPr>
          <p:cNvPr id="21" name="Carte 2"/>
          <p:cNvSpPr/>
          <p:nvPr/>
        </p:nvSpPr>
        <p:spPr>
          <a:xfrm>
            <a:off x="3246120" y="1097280"/>
            <a:ext cx="2651760" cy="2148840"/>
          </a:xfrm>
          <a:prstGeom prst="roundRect">
            <a:avLst>
              <a:gd name="adj" fmla="val 6000"/>
            </a:avLst>
          </a:prstGeom>
          <a:solidFill>
            <a:srgbClr val="F4F2EF"/>
          </a:solidFill>
          <a:ln>
            <a:noFill/>
          </a:ln>
        </p:spPr>
        <p:txBody>
          <a:bodyPr rtlCol="0" anchor="ctr"/>
          <a:lstStyle/>
          <a:p>
            <a:pPr algn="ctr"/>
          </a:p>
        </p:txBody>
      </p:sp>
      <p:sp>
        <p:nvSpPr>
          <p:cNvPr id="14" name="Carte 1"/>
          <p:cNvSpPr/>
          <p:nvPr/>
        </p:nvSpPr>
        <p:spPr>
          <a:xfrm>
            <a:off x="457200" y="1097280"/>
            <a:ext cx="2651760" cy="2148840"/>
          </a:xfrm>
          <a:prstGeom prst="roundRect">
            <a:avLst>
              <a:gd name="adj" fmla="val 6000"/>
            </a:avLst>
          </a:prstGeom>
          <a:solidFill>
            <a:srgbClr val="F4F2EF"/>
          </a:solidFill>
          <a:ln>
            <a:no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Trois postes, et les règles qui ont changé</a:t>
            </a:r>
          </a:p>
        </p:txBody>
      </p:sp>
      <p:sp>
        <p:nvSpPr>
          <p:cNvPr id="3" name="Text Placeholder 2"/>
          <p:cNvSpPr>
            <a:spLocks noGrp="1"/>
          </p:cNvSpPr>
          <p:nvPr>
            <p:ph type="body" sz="quarter" idx="13"/>
          </p:nvPr>
        </p:nvSpPr>
        <p:spPr>
          <a:xfrm>
            <a:off x="466344" y="612648"/>
            <a:ext cx="6766560" cy="292608"/>
          </a:xfrm>
        </p:spPr>
        <p:txBody>
          <a:bodyPr/>
          <a:lstStyle/>
          <a:p>
            <a:r>
              <a:t>Ce que chaque poste recouvre, ce qu’il fait, et ce qui déforme la lecture de 2024 et 2025</a:t>
            </a:r>
          </a:p>
        </p:txBody>
      </p:sp>
      <p:sp>
        <p:nvSpPr>
          <p:cNvPr id="6" name="TextBox 5"/>
          <p:cNvSpPr txBox="1"/>
          <p:nvPr/>
        </p:nvSpPr>
        <p:spPr>
          <a:xfrm>
            <a:off x="5486400" y="3364992"/>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Cadence de l’Assurance Maladie</a:t>
            </a:r>
          </a:p>
        </p:txBody>
      </p:sp>
      <p:graphicFrame>
        <p:nvGraphicFramePr>
          <p:cNvPr id="7" name="Table 6"/>
          <p:cNvGraphicFramePr>
            <a:graphicFrameLocks noGrp="1"/>
          </p:cNvGraphicFramePr>
          <p:nvPr/>
        </p:nvGraphicFramePr>
        <p:xfrm>
          <a:off x="5486400" y="3675887"/>
          <a:ext cx="3200400" cy="987552"/>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tblGrid>
              <a:tr h="246888">
                <a:tc>
                  <a:txBody>
                    <a:bodyPr/>
                    <a:lstStyle/>
                    <a:p>
                      <a:pPr algn="l">
                        <a:lnSpc>
                          <a:spcPct val="100000"/>
                        </a:lnSpc>
                        <a:spcBef>
                          <a:spcPts val="0"/>
                        </a:spcBef>
                        <a:spcAft>
                          <a:spcPts val="0"/>
                        </a:spcAft>
                      </a:pPr>
                      <a:r>
                        <a:rPr lang="fr-FR" sz="950" b="1">
                          <a:solidFill>
                            <a:srgbClr val="404040"/>
                          </a:solidFill>
                          <a:latin typeface="Avenir Next LT Pro Light"/>
                        </a:rPr>
                        <a:t>Part réglée dans l’année</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46888">
                <a:tc>
                  <a:txBody>
                    <a:bodyPr/>
                    <a:lstStyle/>
                    <a:p>
                      <a:pPr algn="l">
                        <a:lnSpc>
                          <a:spcPct val="100000"/>
                        </a:lnSpc>
                        <a:spcBef>
                          <a:spcPts val="0"/>
                        </a:spcBef>
                        <a:spcAft>
                          <a:spcPts val="0"/>
                        </a:spcAft>
                      </a:pPr>
                      <a:r>
                        <a:rPr lang="fr-FR" sz="950" b="0">
                          <a:solidFill>
                            <a:srgbClr val="404040"/>
                          </a:solidFill>
                          <a:latin typeface="Avenir Next LT Pro Light"/>
                        </a:rPr>
                        <a:t>Séjours ordinaires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91,3 %</a:t>
                      </a:r>
                    </a:p>
                  </a:txBody>
                  <a:tcPr marL="64008" marR="64008" marT="22860" marB="22860" anchor="ctr">
                    <a:solidFill>
                      <a:srgbClr val="FFFFFF"/>
                    </a:solidFill>
                  </a:tcPr>
                </a:tc>
                <a:extLst>
                  <a:ext uri="{0D108BD9-81ED-4DB2-BD59-A6C34878D82A}">
                    <a16:rowId xmlns:a16="http://schemas.microsoft.com/office/drawing/2014/main" val="10001"/>
                  </a:ext>
                </a:extLst>
              </a:tr>
              <a:tr h="246888">
                <a:tc>
                  <a:txBody>
                    <a:bodyPr/>
                    <a:lstStyle/>
                    <a:p>
                      <a:pPr algn="l">
                        <a:lnSpc>
                          <a:spcPct val="100000"/>
                        </a:lnSpc>
                        <a:spcBef>
                          <a:spcPts val="0"/>
                        </a:spcBef>
                        <a:spcAft>
                          <a:spcPts val="0"/>
                        </a:spcAft>
                      </a:pPr>
                      <a:r>
                        <a:rPr lang="fr-FR" sz="950" b="0">
                          <a:solidFill>
                            <a:srgbClr val="404040"/>
                          </a:solidFill>
                          <a:latin typeface="Avenir Next LT Pro Light"/>
                        </a:rPr>
                        <a:t>Anesthésie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93,9 %</a:t>
                      </a:r>
                    </a:p>
                  </a:txBody>
                  <a:tcPr marL="64008" marR="64008" marT="22860" marB="22860" anchor="ctr">
                    <a:solidFill>
                      <a:srgbClr val="FFFFFF"/>
                    </a:solidFill>
                  </a:tcPr>
                </a:tc>
                <a:extLst>
                  <a:ext uri="{0D108BD9-81ED-4DB2-BD59-A6C34878D82A}">
                    <a16:rowId xmlns:a16="http://schemas.microsoft.com/office/drawing/2014/main" val="10002"/>
                  </a:ext>
                </a:extLst>
              </a:tr>
              <a:tr h="246888">
                <a:tc>
                  <a:txBody>
                    <a:bodyPr/>
                    <a:lstStyle/>
                    <a:p>
                      <a:pPr algn="l">
                        <a:lnSpc>
                          <a:spcPct val="100000"/>
                        </a:lnSpc>
                        <a:spcBef>
                          <a:spcPts val="0"/>
                        </a:spcBef>
                        <a:spcAft>
                          <a:spcPts val="0"/>
                        </a:spcAft>
                      </a:pPr>
                      <a:r>
                        <a:rPr lang="fr-FR" sz="950" b="0">
                          <a:solidFill>
                            <a:srgbClr val="404040"/>
                          </a:solidFill>
                          <a:latin typeface="Avenir Next LT Pro Light"/>
                        </a:rPr>
                        <a:t>Rééducation</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84,4 %</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900" name="Table règles"/>
          <p:cNvGraphicFramePr>
            <a:graphicFrameLocks noGrp="1"/>
          </p:cNvGraphicFramePr>
          <p:nvPr/>
        </p:nvGraphicFramePr>
        <p:xfrm>
          <a:off x="457200" y="3675887"/>
          <a:ext cx="4754880" cy="1344168"/>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tblGrid>
              <a:tr h="246888">
                <a:tc>
                  <a:txBody>
                    <a:bodyPr/>
                    <a:lstStyle/>
                    <a:p>
                      <a:pPr algn="l">
                        <a:lnSpc>
                          <a:spcPct val="100000"/>
                        </a:lnSpc>
                        <a:spcBef>
                          <a:spcPts val="0"/>
                        </a:spcBef>
                        <a:spcAft>
                          <a:spcPts val="0"/>
                        </a:spcAft>
                      </a:pPr>
                      <a:r>
                        <a:rPr lang="fr-FR" sz="950" b="1">
                          <a:solidFill>
                            <a:srgbClr val="404040"/>
                          </a:solidFill>
                          <a:latin typeface="Avenir Next LT Pro Light"/>
                        </a:rPr>
                        <a:t>Date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950" b="1">
                          <a:solidFill>
                            <a:srgbClr val="404040"/>
                          </a:solidFill>
                          <a:latin typeface="Avenir Next LT Pro Light"/>
                        </a:rPr>
                        <a:t>Ce qui change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411480">
                <a:tc>
                  <a:txBody>
                    <a:bodyPr/>
                    <a:lstStyle/>
                    <a:p>
                      <a:pPr algn="l">
                        <a:lnSpc>
                          <a:spcPct val="100000"/>
                        </a:lnSpc>
                        <a:spcBef>
                          <a:spcPts val="0"/>
                        </a:spcBef>
                        <a:spcAft>
                          <a:spcPts val="0"/>
                        </a:spcAft>
                      </a:pPr>
                      <a:r>
                        <a:rPr lang="fr-FR" sz="950" b="0">
                          <a:solidFill>
                            <a:srgbClr val="404040"/>
                          </a:solidFill>
                          <a:latin typeface="Avenir Next LT Pro Light"/>
                        </a:rPr>
                        <a:t>Janvier 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Réforme de la facturation des cliniques de rééducation : nouveaux tarifs, factures en retard</a:t>
                      </a:r>
                    </a:p>
                  </a:txBody>
                  <a:tcPr marL="64008" marR="64008" marT="22860" marB="22860"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Bef>
                          <a:spcPts val="0"/>
                        </a:spcBef>
                        <a:spcAft>
                          <a:spcPts val="0"/>
                        </a:spcAft>
                      </a:pPr>
                      <a:r>
                        <a:rPr lang="fr-FR" sz="950" b="0">
                          <a:solidFill>
                            <a:srgbClr val="404040"/>
                          </a:solidFill>
                          <a:latin typeface="Avenir Next LT Pro Light"/>
                        </a:rPr>
                        <a:t>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Franchises et participations forfaitaires doublées (1 € par boîte, 2 € par consultation)</a:t>
                      </a:r>
                    </a:p>
                  </a:txBody>
                  <a:tcPr marL="64008" marR="64008" marT="22860" marB="22860" anchor="ctr">
                    <a:solidFill>
                      <a:srgbClr val="FFFFFF"/>
                    </a:solidFill>
                  </a:tcPr>
                </a:tc>
                <a:extLst>
                  <a:ext uri="{0D108BD9-81ED-4DB2-BD59-A6C34878D82A}">
                    <a16:rowId xmlns:a16="http://schemas.microsoft.com/office/drawing/2014/main" val="10002"/>
                  </a:ext>
                </a:extLst>
              </a:tr>
              <a:tr h="274320">
                <a:tc>
                  <a:txBody>
                    <a:bodyPr/>
                    <a:lstStyle/>
                    <a:p>
                      <a:pPr algn="l">
                        <a:lnSpc>
                          <a:spcPct val="100000"/>
                        </a:lnSpc>
                        <a:spcBef>
                          <a:spcPts val="0"/>
                        </a:spcBef>
                        <a:spcAft>
                          <a:spcPts val="0"/>
                        </a:spcAft>
                      </a:pPr>
                      <a:r>
                        <a:rPr lang="fr-FR" sz="950" b="0">
                          <a:solidFill>
                            <a:srgbClr val="404040"/>
                          </a:solidFill>
                          <a:latin typeface="Avenir Next LT Pro Light"/>
                        </a:rPr>
                        <a:t>Novembre 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Le forfait journalier disparaît des dépenses de la base</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0" y="4709160"/>
            <a:ext cx="3200400" cy="457200"/>
          </a:xfrm>
          <a:prstGeom prst="rect">
            <a:avLst/>
          </a:prstGeom>
          <a:noFill/>
        </p:spPr>
        <p:txBody>
          <a:bodyPr wrap="square" lIns="0" tIns="0" rIns="0" bIns="0">
            <a:noAutofit/>
          </a:bodyPr>
          <a:lstStyle/>
          <a:p>
            <a:pPr>
              <a:lnSpc>
                <a:spcPct val="112000"/>
              </a:lnSpc>
              <a:spcBef>
                <a:spcPts val="0"/>
              </a:spcBef>
              <a:spcAft>
                <a:spcPts val="0"/>
              </a:spcAft>
            </a:pPr>
            <a:r>
              <a:rPr sz="900" b="0" lang="fr-FR" cap="none">
                <a:solidFill>
                  <a:srgbClr val="404040"/>
                </a:solidFill>
                <a:latin typeface="Avenir Next LT Pro Light"/>
              </a:rPr>
              <a:t>Part des soins d’une année remboursée au 31 décembre. Stable, sauf la rééducation en 2024 (réforme). Aucune accélération côté Assurance Maladie.</a:t>
            </a:r>
          </a:p>
        </p:txBody>
      </p:sp>
      <p:sp>
        <p:nvSpPr>
          <p:cNvPr id="12" name="TextBox 11"/>
          <p:cNvSpPr txBox="1"/>
          <p:nvPr/>
        </p:nvSpPr>
        <p:spPr>
          <a:xfrm>
            <a:off x="457200" y="5468112"/>
            <a:ext cx="813816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577840"/>
            <a:ext cx="800100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
        <p:nvSpPr>
          <p:cNvPr id="16" name="Carte titre 1"/>
          <p:cNvSpPr txBox="1"/>
          <p:nvPr/>
        </p:nvSpPr>
        <p:spPr>
          <a:xfrm>
            <a:off x="1005840" y="1225295"/>
            <a:ext cx="1965960" cy="365760"/>
          </a:xfrm>
          <a:prstGeom prst="rect">
            <a:avLst/>
          </a:prstGeom>
          <a:noFill/>
        </p:spPr>
        <p:txBody>
          <a:bodyPr wrap="square" lIns="0" rIns="0" tIns="0" bIns="0" anchor="ctr">
            <a:noAutofit/>
          </a:bodyPr>
          <a:lstStyle/>
          <a:p>
            <a:pPr>
              <a:lnSpc>
                <a:spcPct val="110000"/>
              </a:lnSpc>
              <a:spcBef>
                <a:spcPts val="0"/>
              </a:spcBef>
              <a:spcAft>
                <a:spcPts val="0"/>
              </a:spcAft>
            </a:pPr>
            <a:r>
              <a:rPr sz="1150" b="1" lang="fr-FR" cap="none">
                <a:solidFill>
                  <a:srgbClr val="5B0C02"/>
                </a:solidFill>
                <a:latin typeface="Avenir Next LT Pro Light"/>
              </a:rPr>
              <a:t>Séjours ordinaires en clinique</a:t>
            </a:r>
          </a:p>
        </p:txBody>
      </p:sp>
      <p:sp>
        <p:nvSpPr>
          <p:cNvPr id="17" name="Carte quoi 1"/>
          <p:cNvSpPr txBox="1"/>
          <p:nvPr/>
        </p:nvSpPr>
        <p:spPr>
          <a:xfrm>
            <a:off x="594360" y="1627631"/>
            <a:ext cx="2377440" cy="566928"/>
          </a:xfrm>
          <a:prstGeom prst="rect">
            <a:avLst/>
          </a:prstGeom>
          <a:noFill/>
        </p:spPr>
        <p:txBody>
          <a:bodyPr wrap="square" lIns="0" rIns="0" tIns="0" bIns="0">
            <a:noAutofit/>
          </a:bodyPr>
          <a:lstStyle/>
          <a:p>
            <a:pPr>
              <a:lnSpc>
                <a:spcPct val="110000"/>
              </a:lnSpc>
              <a:spcBef>
                <a:spcPts val="0"/>
              </a:spcBef>
              <a:spcAft>
                <a:spcPts val="0"/>
              </a:spcAft>
            </a:pPr>
            <a:r>
              <a:rPr sz="900" b="0" lang="fr-FR" cap="none">
                <a:solidFill>
                  <a:srgbClr val="404040"/>
                </a:solidFill>
                <a:latin typeface="Avenir Next LT Pro Light"/>
              </a:rPr>
              <a:t>Médecine, chirurgie, maternité : ce que la clinique facture pour le séjour, sans les honoraires des médecins.</a:t>
            </a:r>
          </a:p>
        </p:txBody>
      </p:sp>
      <p:sp>
        <p:nvSpPr>
          <p:cNvPr id="18" name="Carte chiffre 1"/>
          <p:cNvSpPr txBox="1"/>
          <p:nvPr/>
        </p:nvSpPr>
        <p:spPr>
          <a:xfrm>
            <a:off x="594360" y="2212848"/>
            <a:ext cx="2377440" cy="329184"/>
          </a:xfrm>
          <a:prstGeom prst="rect">
            <a:avLst/>
          </a:prstGeom>
          <a:noFill/>
        </p:spPr>
        <p:txBody>
          <a:bodyPr wrap="square" lIns="0" rIns="0" tIns="0" bIns="0">
            <a:noAutofit/>
          </a:bodyPr>
          <a:lstStyle/>
          <a:p>
            <a:pPr>
              <a:lnSpc>
                <a:spcPct val="110000"/>
              </a:lnSpc>
              <a:spcBef>
                <a:spcPts val="0"/>
              </a:spcBef>
              <a:spcAft>
                <a:spcPts val="0"/>
              </a:spcAft>
            </a:pPr>
            <a:r>
              <a:rPr sz="1700" b="1" lang="fr-FR" cap="none">
                <a:solidFill>
                  <a:srgbClr val="EF4647"/>
                </a:solidFill>
                <a:latin typeface="Avenir Next LT Pro Light"/>
              </a:rPr>
              <a:t>+2 %</a:t>
            </a:r>
          </a:p>
        </p:txBody>
      </p:sp>
      <p:sp>
        <p:nvSpPr>
          <p:cNvPr id="19" name="Carte légende 1"/>
          <p:cNvSpPr txBox="1"/>
          <p:nvPr/>
        </p:nvSpPr>
        <p:spPr>
          <a:xfrm>
            <a:off x="594360" y="2523744"/>
            <a:ext cx="2377440" cy="201168"/>
          </a:xfrm>
          <a:prstGeom prst="rect">
            <a:avLst/>
          </a:prstGeom>
          <a:noFill/>
        </p:spPr>
        <p:txBody>
          <a:bodyPr wrap="square" lIns="0" rIns="0" tIns="0" bIns="0">
            <a:noAutofit/>
          </a:bodyPr>
          <a:lstStyle/>
          <a:p>
            <a:pPr>
              <a:lnSpc>
                <a:spcPct val="110000"/>
              </a:lnSpc>
              <a:spcBef>
                <a:spcPts val="0"/>
              </a:spcBef>
              <a:spcAft>
                <a:spcPts val="0"/>
              </a:spcAft>
            </a:pPr>
            <a:r>
              <a:rPr sz="850" b="0" lang="fr-FR" cap="none">
                <a:solidFill>
                  <a:srgbClr val="808080"/>
                </a:solidFill>
                <a:latin typeface="Avenir Next LT Pro Light"/>
              </a:rPr>
              <a:t>de reste après AMO en 2024</a:t>
            </a:r>
          </a:p>
        </p:txBody>
      </p:sp>
      <p:sp>
        <p:nvSpPr>
          <p:cNvPr id="20" name="Carte verdict 1"/>
          <p:cNvSpPr txBox="1"/>
          <p:nvPr/>
        </p:nvSpPr>
        <p:spPr>
          <a:xfrm>
            <a:off x="594360" y="2743200"/>
            <a:ext cx="2377440" cy="457200"/>
          </a:xfrm>
          <a:prstGeom prst="rect">
            <a:avLst/>
          </a:prstGeom>
          <a:noFill/>
        </p:spPr>
        <p:txBody>
          <a:bodyPr wrap="square" lIns="0" rIns="0" tIns="0" bIns="0">
            <a:noAutofit/>
          </a:bodyPr>
          <a:lstStyle/>
          <a:p>
            <a:pPr>
              <a:lnSpc>
                <a:spcPct val="110000"/>
              </a:lnSpc>
              <a:spcBef>
                <a:spcPts val="0"/>
              </a:spcBef>
              <a:spcAft>
                <a:spcPts val="0"/>
              </a:spcAft>
            </a:pPr>
            <a:r>
              <a:rPr sz="950" b="1" lang="fr-FR" cap="none">
                <a:solidFill>
                  <a:srgbClr val="5B0C02"/>
                </a:solidFill>
                <a:latin typeface="Avenir Next LT Pro Light"/>
              </a:rPr>
              <a:t>Stable. Le poste le plus lourd (9 Md€) sert de repère.</a:t>
            </a:r>
          </a:p>
        </p:txBody>
      </p:sp>
      <p:sp>
        <p:nvSpPr>
          <p:cNvPr id="23" name="Carte titre 2"/>
          <p:cNvSpPr txBox="1"/>
          <p:nvPr/>
        </p:nvSpPr>
        <p:spPr>
          <a:xfrm>
            <a:off x="3794759" y="1225295"/>
            <a:ext cx="1965960" cy="365760"/>
          </a:xfrm>
          <a:prstGeom prst="rect">
            <a:avLst/>
          </a:prstGeom>
          <a:noFill/>
        </p:spPr>
        <p:txBody>
          <a:bodyPr wrap="square" lIns="0" rIns="0" tIns="0" bIns="0" anchor="ctr">
            <a:noAutofit/>
          </a:bodyPr>
          <a:lstStyle/>
          <a:p>
            <a:pPr>
              <a:lnSpc>
                <a:spcPct val="110000"/>
              </a:lnSpc>
              <a:spcBef>
                <a:spcPts val="0"/>
              </a:spcBef>
              <a:spcAft>
                <a:spcPts val="0"/>
              </a:spcAft>
            </a:pPr>
            <a:r>
              <a:rPr sz="1150" b="1" lang="fr-FR" cap="none">
                <a:solidFill>
                  <a:srgbClr val="5B0C02"/>
                </a:solidFill>
                <a:latin typeface="Avenir Next LT Pro Light"/>
              </a:rPr>
              <a:t>Rééducation</a:t>
            </a:r>
          </a:p>
        </p:txBody>
      </p:sp>
      <p:sp>
        <p:nvSpPr>
          <p:cNvPr id="24" name="Carte quoi 2"/>
          <p:cNvSpPr txBox="1"/>
          <p:nvPr/>
        </p:nvSpPr>
        <p:spPr>
          <a:xfrm>
            <a:off x="3383279" y="1627631"/>
            <a:ext cx="2377440" cy="566928"/>
          </a:xfrm>
          <a:prstGeom prst="rect">
            <a:avLst/>
          </a:prstGeom>
          <a:noFill/>
        </p:spPr>
        <p:txBody>
          <a:bodyPr wrap="square" lIns="0" rIns="0" tIns="0" bIns="0">
            <a:noAutofit/>
          </a:bodyPr>
          <a:lstStyle/>
          <a:p>
            <a:pPr>
              <a:lnSpc>
                <a:spcPct val="110000"/>
              </a:lnSpc>
              <a:spcBef>
                <a:spcPts val="0"/>
              </a:spcBef>
              <a:spcAft>
                <a:spcPts val="0"/>
              </a:spcAft>
            </a:pPr>
            <a:r>
              <a:rPr sz="900" b="0" lang="fr-FR" cap="none">
                <a:solidFill>
                  <a:srgbClr val="404040"/>
                </a:solidFill>
                <a:latin typeface="Avenir Next LT Pro Light"/>
              </a:rPr>
              <a:t>Convalescence et rééducation après une opération, un AVC ou un accident (SSR, renommés SMR).</a:t>
            </a:r>
          </a:p>
        </p:txBody>
      </p:sp>
      <p:sp>
        <p:nvSpPr>
          <p:cNvPr id="25" name="Carte chiffre 2"/>
          <p:cNvSpPr txBox="1"/>
          <p:nvPr/>
        </p:nvSpPr>
        <p:spPr>
          <a:xfrm>
            <a:off x="3383279" y="2212848"/>
            <a:ext cx="2377440" cy="329184"/>
          </a:xfrm>
          <a:prstGeom prst="rect">
            <a:avLst/>
          </a:prstGeom>
          <a:noFill/>
        </p:spPr>
        <p:txBody>
          <a:bodyPr wrap="square" lIns="0" rIns="0" tIns="0" bIns="0">
            <a:noAutofit/>
          </a:bodyPr>
          <a:lstStyle/>
          <a:p>
            <a:pPr>
              <a:lnSpc>
                <a:spcPct val="110000"/>
              </a:lnSpc>
              <a:spcBef>
                <a:spcPts val="0"/>
              </a:spcBef>
              <a:spcAft>
                <a:spcPts val="0"/>
              </a:spcAft>
            </a:pPr>
            <a:r>
              <a:rPr sz="1500" b="1" lang="fr-FR" cap="none">
                <a:solidFill>
                  <a:srgbClr val="EF4647"/>
                </a:solidFill>
                <a:latin typeface="Avenir Next LT Pro Light"/>
              </a:rPr>
              <a:t>+8,5 % puis ≈ +20 %</a:t>
            </a:r>
          </a:p>
        </p:txBody>
      </p:sp>
      <p:sp>
        <p:nvSpPr>
          <p:cNvPr id="26" name="Carte légende 2"/>
          <p:cNvSpPr txBox="1"/>
          <p:nvPr/>
        </p:nvSpPr>
        <p:spPr>
          <a:xfrm>
            <a:off x="3383279" y="2523744"/>
            <a:ext cx="2377440" cy="201168"/>
          </a:xfrm>
          <a:prstGeom prst="rect">
            <a:avLst/>
          </a:prstGeom>
          <a:noFill/>
        </p:spPr>
        <p:txBody>
          <a:bodyPr wrap="square" lIns="0" rIns="0" tIns="0" bIns="0">
            <a:noAutofit/>
          </a:bodyPr>
          <a:lstStyle/>
          <a:p>
            <a:pPr>
              <a:lnSpc>
                <a:spcPct val="110000"/>
              </a:lnSpc>
              <a:spcBef>
                <a:spcPts val="0"/>
              </a:spcBef>
              <a:spcAft>
                <a:spcPts val="0"/>
              </a:spcAft>
            </a:pPr>
            <a:r>
              <a:rPr sz="850" b="0" lang="fr-FR" cap="none">
                <a:solidFill>
                  <a:srgbClr val="808080"/>
                </a:solidFill>
                <a:latin typeface="Avenir Next LT Pro Light"/>
              </a:rPr>
              <a:t>de reste après AMO, 2024 puis 2025</a:t>
            </a:r>
          </a:p>
        </p:txBody>
      </p:sp>
      <p:sp>
        <p:nvSpPr>
          <p:cNvPr id="27" name="Carte verdict 2"/>
          <p:cNvSpPr txBox="1"/>
          <p:nvPr/>
        </p:nvSpPr>
        <p:spPr>
          <a:xfrm>
            <a:off x="3383279" y="2743200"/>
            <a:ext cx="2377440" cy="457200"/>
          </a:xfrm>
          <a:prstGeom prst="rect">
            <a:avLst/>
          </a:prstGeom>
          <a:noFill/>
        </p:spPr>
        <p:txBody>
          <a:bodyPr wrap="square" lIns="0" rIns="0" tIns="0" bIns="0">
            <a:noAutofit/>
          </a:bodyPr>
          <a:lstStyle/>
          <a:p>
            <a:pPr>
              <a:lnSpc>
                <a:spcPct val="110000"/>
              </a:lnSpc>
              <a:spcBef>
                <a:spcPts val="0"/>
              </a:spcBef>
              <a:spcAft>
                <a:spcPts val="0"/>
              </a:spcAft>
            </a:pPr>
            <a:r>
              <a:rPr sz="950" b="1" lang="fr-FR" cap="none">
                <a:solidFill>
                  <a:srgbClr val="5B0C02"/>
                </a:solidFill>
                <a:latin typeface="Avenir Next LT Pro Light"/>
              </a:rPr>
              <a:t>En hausse, et vers les plus jeunes. Nouvelles règles de facturation en 2024.</a:t>
            </a:r>
          </a:p>
        </p:txBody>
      </p:sp>
      <p:sp>
        <p:nvSpPr>
          <p:cNvPr id="30" name="Carte titre 3"/>
          <p:cNvSpPr txBox="1"/>
          <p:nvPr/>
        </p:nvSpPr>
        <p:spPr>
          <a:xfrm>
            <a:off x="6583679" y="1225295"/>
            <a:ext cx="1965960" cy="365760"/>
          </a:xfrm>
          <a:prstGeom prst="rect">
            <a:avLst/>
          </a:prstGeom>
          <a:noFill/>
        </p:spPr>
        <p:txBody>
          <a:bodyPr wrap="square" lIns="0" rIns="0" tIns="0" bIns="0" anchor="ctr">
            <a:noAutofit/>
          </a:bodyPr>
          <a:lstStyle/>
          <a:p>
            <a:pPr>
              <a:lnSpc>
                <a:spcPct val="110000"/>
              </a:lnSpc>
              <a:spcBef>
                <a:spcPts val="0"/>
              </a:spcBef>
              <a:spcAft>
                <a:spcPts val="0"/>
              </a:spcAft>
            </a:pPr>
            <a:r>
              <a:rPr sz="1150" b="1" lang="fr-FR" cap="none">
                <a:solidFill>
                  <a:srgbClr val="5B0C02"/>
                </a:solidFill>
                <a:latin typeface="Avenir Next LT Pro Light"/>
              </a:rPr>
              <a:t>Honoraires d’anesthésie</a:t>
            </a:r>
          </a:p>
        </p:txBody>
      </p:sp>
      <p:sp>
        <p:nvSpPr>
          <p:cNvPr id="31" name="Carte quoi 3"/>
          <p:cNvSpPr txBox="1"/>
          <p:nvPr/>
        </p:nvSpPr>
        <p:spPr>
          <a:xfrm>
            <a:off x="6172200" y="1627631"/>
            <a:ext cx="2377440" cy="566928"/>
          </a:xfrm>
          <a:prstGeom prst="rect">
            <a:avLst/>
          </a:prstGeom>
          <a:noFill/>
        </p:spPr>
        <p:txBody>
          <a:bodyPr wrap="square" lIns="0" rIns="0" tIns="0" bIns="0">
            <a:noAutofit/>
          </a:bodyPr>
          <a:lstStyle/>
          <a:p>
            <a:pPr>
              <a:lnSpc>
                <a:spcPct val="110000"/>
              </a:lnSpc>
              <a:spcBef>
                <a:spcPts val="0"/>
              </a:spcBef>
              <a:spcAft>
                <a:spcPts val="0"/>
              </a:spcAft>
            </a:pPr>
            <a:r>
              <a:rPr sz="900" b="0" lang="fr-FR" cap="none">
                <a:solidFill>
                  <a:srgbClr val="404040"/>
                </a:solidFill>
                <a:latin typeface="Avenir Next LT Pro Light"/>
              </a:rPr>
              <a:t>Ce que l’anesthésiste facture pour une opération en clinique.</a:t>
            </a:r>
          </a:p>
        </p:txBody>
      </p:sp>
      <p:sp>
        <p:nvSpPr>
          <p:cNvPr id="32" name="Carte chiffre 3"/>
          <p:cNvSpPr txBox="1"/>
          <p:nvPr/>
        </p:nvSpPr>
        <p:spPr>
          <a:xfrm>
            <a:off x="6172200" y="2212848"/>
            <a:ext cx="2377440" cy="329184"/>
          </a:xfrm>
          <a:prstGeom prst="rect">
            <a:avLst/>
          </a:prstGeom>
          <a:noFill/>
        </p:spPr>
        <p:txBody>
          <a:bodyPr wrap="square" lIns="0" rIns="0" tIns="0" bIns="0">
            <a:noAutofit/>
          </a:bodyPr>
          <a:lstStyle/>
          <a:p>
            <a:pPr>
              <a:lnSpc>
                <a:spcPct val="110000"/>
              </a:lnSpc>
              <a:spcBef>
                <a:spcPts val="0"/>
              </a:spcBef>
              <a:spcAft>
                <a:spcPts val="0"/>
              </a:spcAft>
            </a:pPr>
            <a:r>
              <a:rPr sz="1700" b="1" lang="fr-FR" cap="none">
                <a:solidFill>
                  <a:srgbClr val="EF4647"/>
                </a:solidFill>
                <a:latin typeface="Avenir Next LT Pro Light"/>
              </a:rPr>
              <a:t>+10 % par an</a:t>
            </a:r>
          </a:p>
        </p:txBody>
      </p:sp>
      <p:sp>
        <p:nvSpPr>
          <p:cNvPr id="33" name="Carte légende 3"/>
          <p:cNvSpPr txBox="1"/>
          <p:nvPr/>
        </p:nvSpPr>
        <p:spPr>
          <a:xfrm>
            <a:off x="6172200" y="2523744"/>
            <a:ext cx="2377440" cy="201168"/>
          </a:xfrm>
          <a:prstGeom prst="rect">
            <a:avLst/>
          </a:prstGeom>
          <a:noFill/>
        </p:spPr>
        <p:txBody>
          <a:bodyPr wrap="square" lIns="0" rIns="0" tIns="0" bIns="0">
            <a:noAutofit/>
          </a:bodyPr>
          <a:lstStyle/>
          <a:p>
            <a:pPr>
              <a:lnSpc>
                <a:spcPct val="110000"/>
              </a:lnSpc>
              <a:spcBef>
                <a:spcPts val="0"/>
              </a:spcBef>
              <a:spcAft>
                <a:spcPts val="0"/>
              </a:spcAft>
            </a:pPr>
            <a:r>
              <a:rPr sz="850" b="0" lang="fr-FR" cap="none">
                <a:solidFill>
                  <a:srgbClr val="808080"/>
                </a:solidFill>
                <a:latin typeface="Avenir Next LT Pro Light"/>
              </a:rPr>
              <a:t>de dépassements d’honoraires</a:t>
            </a:r>
          </a:p>
        </p:txBody>
      </p:sp>
      <p:sp>
        <p:nvSpPr>
          <p:cNvPr id="34" name="Carte verdict 3"/>
          <p:cNvSpPr txBox="1"/>
          <p:nvPr/>
        </p:nvSpPr>
        <p:spPr>
          <a:xfrm>
            <a:off x="6172200" y="2743200"/>
            <a:ext cx="2377440" cy="457200"/>
          </a:xfrm>
          <a:prstGeom prst="rect">
            <a:avLst/>
          </a:prstGeom>
          <a:noFill/>
        </p:spPr>
        <p:txBody>
          <a:bodyPr wrap="square" lIns="0" rIns="0" tIns="0" bIns="0">
            <a:noAutofit/>
          </a:bodyPr>
          <a:lstStyle/>
          <a:p>
            <a:pPr>
              <a:lnSpc>
                <a:spcPct val="110000"/>
              </a:lnSpc>
              <a:spcBef>
                <a:spcPts val="0"/>
              </a:spcBef>
              <a:spcAft>
                <a:spcPts val="0"/>
              </a:spcAft>
            </a:pPr>
            <a:r>
              <a:rPr sz="950" b="1" lang="fr-FR" cap="none">
                <a:solidFill>
                  <a:srgbClr val="5B0C02"/>
                </a:solidFill>
                <a:latin typeface="Avenir Next LT Pro Light"/>
              </a:rPr>
              <a:t>Le seul poste où les dépassements se voient. Ils montent chaque année.</a:t>
            </a:r>
          </a:p>
        </p:txBody>
      </p:sp>
      <p:sp>
        <p:nvSpPr>
          <p:cNvPr id="35" name="Règles titre"/>
          <p:cNvSpPr txBox="1"/>
          <p:nvPr/>
        </p:nvSpPr>
        <p:spPr>
          <a:xfrm>
            <a:off x="457200" y="3364992"/>
            <a:ext cx="4754880" cy="274320"/>
          </a:xfrm>
          <a:prstGeom prst="rect">
            <a:avLst/>
          </a:prstGeom>
          <a:noFill/>
        </p:spPr>
        <p:txBody>
          <a:bodyPr wrap="square" lIns="0" rIns="0" tIns="0" bIns="0">
            <a:noAutofit/>
          </a:bodyPr>
          <a:lstStyle/>
          <a:p>
            <a:pPr>
              <a:lnSpc>
                <a:spcPct val="110000"/>
              </a:lnSpc>
              <a:spcBef>
                <a:spcPts val="0"/>
              </a:spcBef>
              <a:spcAft>
                <a:spcPts val="0"/>
              </a:spcAft>
            </a:pPr>
            <a:r>
              <a:rPr sz="1200" b="1" lang="fr-FR" cap="none">
                <a:solidFill>
                  <a:srgbClr val="5B0C02"/>
                </a:solidFill>
                <a:latin typeface="Avenir Next LT Pro Light"/>
              </a:rPr>
              <a:t>Les règles qui ont changé</a:t>
            </a:r>
          </a:p>
        </p:txBody>
      </p:sp>
      <p:sp>
        <p:nvSpPr>
          <p:cNvPr id="42" name="Pourquoi eux"/>
          <p:cNvSpPr txBox="1"/>
          <p:nvPr/>
        </p:nvSpPr>
        <p:spPr>
          <a:xfrm>
            <a:off x="457200" y="5175504"/>
            <a:ext cx="8229600" cy="274320"/>
          </a:xfrm>
          <a:prstGeom prst="rect">
            <a:avLst/>
          </a:prstGeom>
          <a:noFill/>
        </p:spPr>
        <p:txBody>
          <a:bodyPr wrap="square" lIns="0" rIns="0" tIns="0" bIns="0">
            <a:noAutofit/>
          </a:bodyPr>
          <a:lstStyle/>
          <a:p>
            <a:pPr>
              <a:lnSpc>
                <a:spcPct val="110000"/>
              </a:lnSpc>
              <a:spcBef>
                <a:spcPts val="0"/>
              </a:spcBef>
              <a:spcAft>
                <a:spcPts val="0"/>
              </a:spcAft>
            </a:pPr>
            <a:r>
              <a:rPr sz="900" b="1" lang="fr-FR" cap="none">
                <a:solidFill>
                  <a:srgbClr val="5B0C02"/>
                </a:solidFill>
                <a:latin typeface="Avenir Next LT Pro Light"/>
              </a:rPr>
              <a:t>Pourquoi ces trois postes : </a:t>
            </a:r>
            <a:r>
              <a:rPr sz="900" b="0" lang="fr-FR" cap="none">
                <a:solidFill>
                  <a:srgbClr val="404040"/>
                </a:solidFill>
                <a:latin typeface="Avenir Next LT Pro Light"/>
              </a:rPr>
              <a:t>les autres postes de l’hospitalisation sont stables et pèsent peu (dialyse, domicile) ou ne se lisent pas dans ces données (forfait journalier, chambre particulière).</a:t>
            </a:r>
          </a:p>
        </p:txBody>
      </p:sp>
      <p:pic>
        <p:nvPicPr>
          <p:cNvPr id="43" name="Icône 1" descr="icon_hopital.png"/>
          <p:cNvPicPr>
            <a:picLocks noChangeAspect="1"/>
          </p:cNvPicPr>
          <p:nvPr/>
        </p:nvPicPr>
        <p:blipFill>
          <a:blip r:embed="rId3"/>
          <a:stretch>
            <a:fillRect/>
          </a:stretch>
        </p:blipFill>
        <p:spPr>
          <a:xfrm>
            <a:off x="594360" y="1225295"/>
            <a:ext cx="347472" cy="347472"/>
          </a:xfrm>
          <a:prstGeom prst="rect">
            <a:avLst/>
          </a:prstGeom>
        </p:spPr>
      </p:pic>
      <p:pic>
        <p:nvPicPr>
          <p:cNvPr id="44" name="Icône 2" descr="icon_reeduc.png"/>
          <p:cNvPicPr>
            <a:picLocks noChangeAspect="1"/>
          </p:cNvPicPr>
          <p:nvPr/>
        </p:nvPicPr>
        <p:blipFill>
          <a:blip r:embed="rId4"/>
          <a:stretch>
            <a:fillRect/>
          </a:stretch>
        </p:blipFill>
        <p:spPr>
          <a:xfrm>
            <a:off x="3383279" y="1225295"/>
            <a:ext cx="347472" cy="347472"/>
          </a:xfrm>
          <a:prstGeom prst="rect">
            <a:avLst/>
          </a:prstGeom>
        </p:spPr>
      </p:pic>
      <p:pic>
        <p:nvPicPr>
          <p:cNvPr id="45" name="Icône 3" descr="icon_seringue.png"/>
          <p:cNvPicPr>
            <a:picLocks noChangeAspect="1"/>
          </p:cNvPicPr>
          <p:nvPr/>
        </p:nvPicPr>
        <p:blipFill>
          <a:blip r:embed="rId5"/>
          <a:stretch>
            <a:fillRect/>
          </a:stretch>
        </p:blipFill>
        <p:spPr>
          <a:xfrm>
            <a:off x="6172200" y="1225295"/>
            <a:ext cx="347472" cy="3474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8 833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8 792</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7 823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8 488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8 463</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330</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9 405</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7 785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9 039</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329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366</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extLst>
              <p:ext uri="{D42A27DB-BD31-4B8C-83A1-F6EECF244321}">
                <p14:modId xmlns:p14="http://schemas.microsoft.com/office/powerpoint/2010/main" val="2974560922"/>
              </p:ext>
            </p:extLst>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sz="quarter" idx="13"/>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3 665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4 144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4 315</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3 682</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633</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3 893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4 953</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3 351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4 232</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721</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85,4 %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55664" y="1764792"/>
            <a:ext cx="2231136" cy="448056"/>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0–49 ans</a:t>
            </a:r>
          </a:p>
          <a:p>
            <a:pPr>
              <a:lnSpc>
                <a:spcPct val="112000"/>
              </a:lnSpc>
              <a:spcBef>
                <a:spcPts val="0"/>
              </a:spcBef>
              <a:spcAft>
                <a:spcPts val="0"/>
              </a:spcAft>
            </a:pPr>
            <a:r>
              <a:rPr lang="fr-FR" sz="1100" b="0"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37744">
                <a:tc>
                  <a:txBody>
                    <a:bodyPr/>
                    <a:lstStyle/>
                    <a:p>
                      <a:pPr algn="l">
                        <a:lnSpc>
                          <a:spcPct val="100000"/>
                        </a:lnSpc>
                        <a:spcBef>
                          <a:spcPts val="0"/>
                        </a:spcBef>
                        <a:spcAft>
                          <a:spcPts val="0"/>
                        </a:spcAft>
                      </a:pPr>
                      <a:r>
                        <a:rPr lang="fr-FR" sz="900" b="1">
                          <a:solidFill>
                            <a:srgbClr val="404040"/>
                          </a:solidFill>
                          <a:latin typeface="Avenir Next LT Pro Light"/>
                        </a:rPr>
                        <a:t>En M€</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0–19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20–29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30–39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40–49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50–59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60–69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70–79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80 +</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29,6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92,1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141,0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186,2</a:t>
                      </a:r>
                    </a:p>
                  </a:txBody>
                  <a:tcPr marL="64008" marR="64008" marT="22860" marB="22860" anchor="ctr">
                    <a:solidFill>
                      <a:srgbClr val="FFFFFF"/>
                    </a:solid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31,3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30,6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48,2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94,2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127,9</a:t>
                      </a:r>
                    </a:p>
                  </a:txBody>
                  <a:tcPr marL="64008" marR="64008" marT="22860" marB="22860" anchor="ctr">
                    <a:solidFill>
                      <a:srgbClr val="FFFFFF"/>
                    </a:solid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67,8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102,0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128,3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114,6</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57200" y="5029200"/>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27685">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1 322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1 398</a:t>
                      </a:r>
                    </a:p>
                  </a:txBody>
                  <a:tcPr marL="64008" marR="64008" marT="22860" marB="22860" anchor="ctr">
                    <a:solidFill>
                      <a:srgbClr val="FFFFFF"/>
                    </a:solidFill>
                  </a:tcPr>
                </a:tc>
                <a:extLst>
                  <a:ext uri="{0D108BD9-81ED-4DB2-BD59-A6C34878D82A}">
                    <a16:rowId xmlns:a16="http://schemas.microsoft.com/office/drawing/2014/main" val="1000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899</a:t>
                      </a:r>
                    </a:p>
                  </a:txBody>
                  <a:tcPr marL="64008" marR="64008" marT="22860" marB="22860" anchor="ctr">
                    <a:solidFill>
                      <a:srgbClr val="FFFFFF"/>
                    </a:solidFill>
                  </a:tcPr>
                </a:tc>
                <a:extLst>
                  <a:ext uri="{0D108BD9-81ED-4DB2-BD59-A6C34878D82A}">
                    <a16:rowId xmlns:a16="http://schemas.microsoft.com/office/drawing/2014/main" val="10003"/>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499</a:t>
                      </a:r>
                    </a:p>
                  </a:txBody>
                  <a:tcPr marL="64008" marR="64008" marT="22860" marB="22860" anchor="ctr">
                    <a:solidFill>
                      <a:srgbClr val="FFFFFF"/>
                    </a:solidFill>
                  </a:tcPr>
                </a:tc>
                <a:extLst>
                  <a:ext uri="{0D108BD9-81ED-4DB2-BD59-A6C34878D82A}">
                    <a16:rowId xmlns:a16="http://schemas.microsoft.com/office/drawing/2014/main" val="10004"/>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498</a:t>
                      </a:r>
                    </a:p>
                  </a:txBody>
                  <a:tcPr marL="64008" marR="64008" marT="22860" marB="22860" anchor="ctr">
                    <a:solidFill>
                      <a:srgbClr val="FFFFFF"/>
                    </a:solidFill>
                  </a:tcPr>
                </a:tc>
                <a:extLst>
                  <a:ext uri="{0D108BD9-81ED-4DB2-BD59-A6C34878D82A}">
                    <a16:rowId xmlns:a16="http://schemas.microsoft.com/office/drawing/2014/main" val="10005"/>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64,3 %</a:t>
                      </a:r>
                    </a:p>
                  </a:txBody>
                  <a:tcPr marL="64008" marR="64008" marT="22860" marB="22860" anchor="ctr">
                    <a:solidFill>
                      <a:srgbClr val="FFFFFF"/>
                    </a:solidFill>
                  </a:tcPr>
                </a:tc>
                <a:extLst>
                  <a:ext uri="{0D108BD9-81ED-4DB2-BD59-A6C34878D82A}">
                    <a16:rowId xmlns:a16="http://schemas.microsoft.com/office/drawing/2014/main" val="10006"/>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35,7 %</a:t>
                      </a:r>
                    </a:p>
                  </a:txBody>
                  <a:tcPr marL="64008" marR="64008" marT="22860" marB="22860" anchor="ctr">
                    <a:solidFill>
                      <a:srgbClr val="FFFFFF"/>
                    </a:solidFill>
                  </a:tcPr>
                </a:tc>
                <a:extLst>
                  <a:ext uri="{0D108BD9-81ED-4DB2-BD59-A6C34878D82A}">
                    <a16:rowId xmlns:a16="http://schemas.microsoft.com/office/drawing/2014/main" val="10007"/>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8"/>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1 478</a:t>
                      </a:r>
                    </a:p>
                  </a:txBody>
                  <a:tcPr marL="64008" marR="64008" marT="22860" marB="22860" anchor="ctr">
                    <a:solidFill>
                      <a:srgbClr val="FFFFFF"/>
                    </a:solidFill>
                  </a:tcPr>
                </a:tc>
                <a:extLst>
                  <a:ext uri="{0D108BD9-81ED-4DB2-BD59-A6C34878D82A}">
                    <a16:rowId xmlns:a16="http://schemas.microsoft.com/office/drawing/2014/main" val="10009"/>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954</a:t>
                      </a:r>
                    </a:p>
                  </a:txBody>
                  <a:tcPr marL="64008" marR="64008" marT="22860" marB="22860" anchor="ctr">
                    <a:solidFill>
                      <a:srgbClr val="FFFFFF"/>
                    </a:solidFill>
                  </a:tcPr>
                </a:tc>
                <a:extLst>
                  <a:ext uri="{0D108BD9-81ED-4DB2-BD59-A6C34878D82A}">
                    <a16:rowId xmlns:a16="http://schemas.microsoft.com/office/drawing/2014/main" val="10010"/>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524</a:t>
                      </a:r>
                    </a:p>
                  </a:txBody>
                  <a:tcPr marL="64008" marR="64008" marT="22860" marB="22860" anchor="ctr">
                    <a:solidFill>
                      <a:srgbClr val="FFFFFF"/>
                    </a:solidFill>
                  </a:tcPr>
                </a:tc>
                <a:extLst>
                  <a:ext uri="{0D108BD9-81ED-4DB2-BD59-A6C34878D82A}">
                    <a16:rowId xmlns:a16="http://schemas.microsoft.com/office/drawing/2014/main" val="1001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523</a:t>
                      </a:r>
                    </a:p>
                  </a:txBody>
                  <a:tcPr marL="64008" marR="64008" marT="22860" marB="22860" anchor="ctr">
                    <a:solidFill>
                      <a:srgbClr val="FFFFFF"/>
                    </a:solidFill>
                  </a:tcPr>
                </a:tc>
                <a:extLst>
                  <a:ext uri="{0D108BD9-81ED-4DB2-BD59-A6C34878D82A}">
                    <a16:rowId xmlns:a16="http://schemas.microsoft.com/office/drawing/2014/main" val="1001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69,2 %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64,5 %</a:t>
                      </a:r>
                    </a:p>
                  </a:txBody>
                  <a:tcPr marL="64008" marR="64008" marT="22860" marB="22860" anchor="ctr">
                    <a:solidFill>
                      <a:srgbClr val="FFFFFF"/>
                    </a:solidFill>
                  </a:tcPr>
                </a:tc>
                <a:extLst>
                  <a:ext uri="{0D108BD9-81ED-4DB2-BD59-A6C34878D82A}">
                    <a16:rowId xmlns:a16="http://schemas.microsoft.com/office/drawing/2014/main" val="10013"/>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35,4 %</a:t>
                      </a:r>
                    </a:p>
                  </a:txBody>
                  <a:tcPr marL="64008" marR="64008" marT="22860" marB="22860" anchor="ctr">
                    <a:solidFill>
                      <a:srgbClr val="FFFFFF"/>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414016"/>
        </p:xfrm>
        <a:graphic>
          <a:graphicData uri="http://schemas.openxmlformats.org/drawingml/2006/table">
            <a:tbl>
              <a:tblPr>
                <a:tableStyleId>{5C22544A-7EE6-4342-B048-85BDC9FD1C3A}</a:tableStyleId>
              </a:tblPr>
              <a:tblGrid>
                <a:gridCol w="1938528">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274320">
                <a:tc>
                  <a:txBody>
                    <a:bodyPr/>
                    <a:lstStyle/>
                    <a:p>
                      <a:pPr algn="l">
                        <a:lnSpc>
                          <a:spcPct val="100000"/>
                        </a:lnSpc>
                        <a:spcBef>
                          <a:spcPts val="0"/>
                        </a:spcBef>
                        <a:spcAft>
                          <a:spcPts val="0"/>
                        </a:spcAft>
                      </a:pPr>
                      <a:r>
                        <a:rPr lang="fr-FR" sz="1000" b="1">
                          <a:solidFill>
                            <a:srgbClr val="404040"/>
                          </a:solidFill>
                          <a:latin typeface="Avenir Next LT Pro Light"/>
                        </a:rPr>
                        <a:t>Poste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Observation 2022–2025</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Lecture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Séjours ordinaires en clinique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+2 % en 2024, sans effet de calendrier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Pas de dérive</a:t>
                      </a:r>
                    </a:p>
                  </a:txBody>
                  <a:tcPr marL="64008" marR="64008" marT="22860" marB="22860"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Honoraires d’anesthésie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Dépassements +10 % par an, en date de soins comme en date de paiement</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Dérive de sinistralité, indépendante du ROC</a:t>
                      </a:r>
                    </a:p>
                  </a:txBody>
                  <a:tcPr marL="64008" marR="64008" marT="22860" marB="22860" anchor="ctr">
                    <a:solidFill>
                      <a:srgbClr val="FFFFFF"/>
                    </a:solidFill>
                  </a:tcPr>
                </a:tc>
                <a:extLst>
                  <a:ext uri="{0D108BD9-81ED-4DB2-BD59-A6C34878D82A}">
                    <a16:rowId xmlns:a16="http://schemas.microsoft.com/office/drawing/2014/main" val="10002"/>
                  </a:ext>
                </a:extLst>
              </a:tr>
              <a:tr h="502920">
                <a:tc>
                  <a:txBody>
                    <a:bodyPr/>
                    <a:lstStyle/>
                    <a:p>
                      <a:pPr algn="l">
                        <a:lnSpc>
                          <a:spcPct val="100000"/>
                        </a:lnSpc>
                        <a:spcBef>
                          <a:spcPts val="0"/>
                        </a:spcBef>
                        <a:spcAft>
                          <a:spcPts val="0"/>
                        </a:spcAft>
                      </a:pPr>
                      <a:r>
                        <a:rPr lang="fr-FR" sz="950" b="0">
                          <a:solidFill>
                            <a:srgbClr val="404040"/>
                          </a:solidFill>
                          <a:latin typeface="Avenir Next LT Pro Light"/>
                        </a:rPr>
                        <a:t>Séjours de rééducation (SSR, SMR)</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Hausse réelle, née de la réforme SMR de 2024</a:t>
                      </a:r>
                    </a:p>
                  </a:txBody>
                  <a:tcPr marL="64008" marR="64008" marT="22860" marB="22860"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Bef>
                          <a:spcPts val="0"/>
                        </a:spcBef>
                        <a:spcAft>
                          <a:spcPts val="0"/>
                        </a:spcAft>
                      </a:pPr>
                      <a:r>
                        <a:rPr lang="fr-FR" sz="950" b="0">
                          <a:solidFill>
                            <a:srgbClr val="404040"/>
                          </a:solidFill>
                          <a:latin typeface="Avenir Next LT Pro Light"/>
                        </a:rPr>
                        <a:t>Rééducation, factures 2024 payées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+33 % en date de paiement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 des soins de 2024 payés en 2025, pas une hausse des soins</a:t>
                      </a:r>
                    </a:p>
                  </a:txBody>
                  <a:tcPr marL="64008" marR="64008" marT="22860" marB="22860" anchor="ctr">
                    <a:solidFill>
                      <a:srgbClr val="FFFFFF"/>
                    </a:solidFill>
                  </a:tcPr>
                </a:tc>
                <a:extLst>
                  <a:ext uri="{0D108BD9-81ED-4DB2-BD59-A6C34878D82A}">
                    <a16:rowId xmlns:a16="http://schemas.microsoft.com/office/drawing/2014/main" val="10004"/>
                  </a:ext>
                </a:extLst>
              </a:tr>
              <a:tr h="411480">
                <a:tc>
                  <a:txBody>
                    <a:bodyPr/>
                    <a:lstStyle/>
                    <a:p>
                      <a:pPr algn="l">
                        <a:lnSpc>
                          <a:spcPct val="100000"/>
                        </a:lnSpc>
                        <a:spcBef>
                          <a:spcPts val="0"/>
                        </a:spcBef>
                        <a:spcAft>
                          <a:spcPts val="0"/>
                        </a:spcAft>
                      </a:pPr>
                      <a:r>
                        <a:rPr lang="fr-FR" sz="950" b="0">
                          <a:solidFill>
                            <a:srgbClr val="404040"/>
                          </a:solidFill>
                          <a:latin typeface="Avenir Next LT Pro Light"/>
                        </a:rPr>
                        <a:t>ROC</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possible, non mesurable dans DAMIR</a:t>
                      </a:r>
                    </a:p>
                  </a:txBody>
                  <a:tcPr marL="64008" marR="64008"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376732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Ce que l’étude montre</a:t>
            </a:r>
          </a:p>
        </p:txBody>
      </p:sp>
      <p:sp>
        <p:nvSpPr>
          <p:cNvPr id="6" name="TextBox 5"/>
          <p:cNvSpPr txBox="1"/>
          <p:nvPr/>
        </p:nvSpPr>
        <p:spPr>
          <a:xfrm>
            <a:off x="457200" y="4041648"/>
            <a:ext cx="8229600" cy="1143000"/>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de facturation, des factures payées plus tôt qu’avant, qui s’ajoute à la dérive sans l’expliquer.</a:t>
            </a:r>
          </a:p>
        </p:txBody>
      </p:sp>
      <p:sp>
        <p:nvSpPr>
          <p:cNvPr id="7" name="TextBox 6"/>
          <p:cNvSpPr txBox="1"/>
          <p:nvPr/>
        </p:nvSpPr>
        <p:spPr>
          <a:xfrm>
            <a:off x="457200" y="5175504"/>
            <a:ext cx="8229600" cy="22860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0BA603A-71B9-440C-B1B9-F2383059DB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3887</TotalTime>
  <Words>2051</Words>
  <Application>Microsoft Office PowerPoint</Application>
  <PresentationFormat>Affichage à l'écran (16:10)</PresentationFormat>
  <Paragraphs>341</Paragraphs>
  <Slides>10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DAMIR : le périmètre de l’étude</vt:lpstr>
      <vt:lpstr>ROC : la facturation de la part complémentaire</vt:lpstr>
      <vt:lpstr>Les ruptures à prendre en compte</vt:lpstr>
      <vt:lpstr>Séjours ordinaires : une hausse modérée</vt:lpstr>
      <vt:lpstr>Rééducation : hausse et rattrapage</vt:lpstr>
      <vt:lpstr>Rééducation : un déplacement vers les moins de 60 ans</vt:lpstr>
      <vt:lpstr>Anesthésie : les dépassements augmentent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subject>Analyse par poste des remboursements AMO 2022–2025</dc:subject>
  <dc:creator>Forsides</dc:creator>
  <cp:keywords>Hospitalisation, Open DAMIR, ROC, SSR, SMR, anesthésie</cp:keywords>
  <cp:lastModifiedBy>Simon MALAURENT</cp:lastModifiedBy>
  <cp:revision>60</cp:revision>
  <dcterms:created xsi:type="dcterms:W3CDTF">2024-05-03T13:43:52Z</dcterms:created>
  <dcterms:modified xsi:type="dcterms:W3CDTF">2026-09-21T05:50:32Z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